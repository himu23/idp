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Nikhil. Introduce the team and the question in one line: when the Mahanadi rises, what floods, and who must be warned? Say that the work joins satellite AI with the department's seven specializations, for a real delta and a real industry partner.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Nikhil. ClimMaTech measures and forecasts the river at points: radar gauges, sirens, an app. A forecast says how much water reaches Naraj, not which villages go under. Our refined problem statement fills that gap for the Mahanadi delta: 4.1 million people in 3,038 km².</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Nikhil. Walk through the stakeholders: ClimMaTech needs a flood-extent layer and site plans; the guide's Mahanadi project needs inundation and impacts; the Water Resources Department needs to know which banks and roads fail; the district needs villages to warn. Each row is something we deliver.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Himanshu. One set of flood scenarios, one question per specialization. Read the headline column quickly and say the details follow. Mention that water resources includes the watershed above the delta, where about half of a flood peak comes from below Hirakud dam.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Vineet. Same data, same recipe, same decoder for every model: six foundation models, a CNN and a U-Net, three seeds each. The key design choice is leave-India-out: the test is an Indian flood no model saw. 92 runs in total.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Vineet. The surprise: a small U-Net (0.770) beat every foundation model (best 0.747). Water is spectrally simple and a few hundred labels are enough. Fusing the top three gives 0.776.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Vineet. Optical is better under clear sky, but the delta was 61–95 % cloud on flood dates. So the production model is radar-only: TerraMind, which takes radar natively, fused with a U-Net.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Himanshu. We re-checked all 92 runs from their saved outputs: right settings, no chip in two splits, no Indian chip in training, selection on validation only, every score recomputed. Our TerraMind matches the published paper within a point (89.7 against 90.62).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Prakhar. Every Sentinel-1 pass since 2017: 590 passes, mapped in about 5 seconds each. Flood means water outside the river bed and the dry-season water. 905 km² flooded at least once.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Nikhil. Each pixel gets the Naraj flow at which it starts to flood. Tested on years it never saw: IoU 0.23 against 0.07 for climatology at high flows. Past floods rank flood-prone land very well (AUC 0.91); how much floods on a given day is harder.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Nikhil. A gradient-boosted model adds 7-day rain and each pixel's flood history to the flow. It is better on heavy-rain passes (0.22 against 0.17) and ranks land best (AUC 0.95), and it catches more flooded villages at the cost of more false alarms. Its maps never show less flooding for more rain.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Himanshu. For each design flood: people on flooded land, farmland, roads, hospitals, bridges. In the 25-year flood 25,163 people live on 216 km² of flooded land. Floods above the largest seen since 2017 are lower bounds.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Himanshu. The road network becomes a graph; flooded sections are cut. 36,941 people lose road access to every hospital in the 25-year flood, and everyday trips grow by about 12,023 person-hours a day. The critical links are listed with coordinates.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Prabhat. Bank cells ranked by how often water stands behind the bank, the soil and the people nearby. Twenty inspection sites, at least 3 km apart, are on the field GPS file; the lab tests on their soil samples decide the ranking.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Himanshu. Flood depth from the elevation at the flood edge. A 230 mm brick wall cracks at about a metre of water; 3,626 people live where the 25-year flood is that deep. Pier scour reaches 7–24 m below the high flood level; the flow split between branches is the missing input.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Prabhat. Floodwater raises the groundwater under houses that stay dry: 415,549 people within 200 m of the 25-year flood on silty clay. Soaking cuts bearing capacity by about 55 %, and the clay settles when the water drops. Well levels at the site fix the 200 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Nikhil. 37 storms and depressions came within 300 km since 2016; 11 of the 20 largest floods followed one. The largest floods were rain-driven, not river-driven: read the rain forecast with the river forecast.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Prabhat. Build in December–April, the months with no flood days and few storms. Raising 8 critical roads takes about 17,442 m³ of earthwork; two more need a bridge or vented causeway. The schedule fits approvals, procurement and installation inside the window.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Prabhat. Sirens where exposed people live: 40 sirens reach 49% at 1.5 km, phones reach the rest. One radar gauge per distributary, on the bridge nearest Naraj whose approaches stay dry, measures how the flood splits.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Himanshu. A forecast flow goes in; a flood map, the settlements to warn and the roads under water come out in seconds, plus a CAP alert the Rakshak Control Centre can take (24 alert areas for the 25-year flow). The map viewer shows every scenario.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Himanshu. We read every page of their site. Each row is one of their services, the gap and what we add, with the number behind it: the flood-extent layer for River View, bulletins and CAP alerts, a real network of sites, a field method for discharge, rain-aware maps.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Nikhil. The visit measures what the models cannot know: accuracy at 40 random points, discharge and roughness at a bridge, bridge and bank inspections with soil samples, well levels, sensor sites and interviews. Every measurement has a script and changes a number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Prakhar. Sentinel-2 within a day of 60 radar passes: IoU 0.49 on all water, lower on the flood part, so the radar misses shallow water among crops. The mentor's PINN for the Saint-Venant equations was reproduced exactly and retrained.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Nikhil. Who built what: each member presents the part they own and can answer for the whole chain.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Nikhil. Five points: U-Net beats the foundation models on an unseen flood; radar maps the monsoon; a forecast flow becomes a flood map that beats climatology; the impacts reach every specialization; and the field visit is designed to change these numbers where they are wrong. Thank the guide and the mentors.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463040"/>
            <a:ext cx="10789920" cy="1097280"/>
          </a:xfrm>
          <a:prstGeom prst="rect">
            <a:avLst/>
          </a:prstGeom>
          <a:noFill/>
        </p:spPr>
        <p:txBody>
          <a:bodyPr wrap="square">
            <a:spAutoFit/>
          </a:bodyPr>
          <a:lstStyle/>
          <a:p>
            <a:pPr>
              <a:spcAft>
                <a:spcPts val="600"/>
              </a:spcAft>
              <a:defRPr sz="4400" b="1">
                <a:solidFill>
                  <a:srgbClr val="0B0B0B"/>
                </a:solidFill>
              </a:defRPr>
            </a:pPr>
            <a:r>
              <a:t>Prithvi Flood-IN</a:t>
            </a:r>
          </a:p>
        </p:txBody>
      </p:sp>
      <p:sp>
        <p:nvSpPr>
          <p:cNvPr id="3" name="TextBox 2"/>
          <p:cNvSpPr txBox="1"/>
          <p:nvPr/>
        </p:nvSpPr>
        <p:spPr>
          <a:xfrm>
            <a:off x="731520" y="2468880"/>
            <a:ext cx="10789920" cy="1463040"/>
          </a:xfrm>
          <a:prstGeom prst="rect">
            <a:avLst/>
          </a:prstGeom>
          <a:noFill/>
        </p:spPr>
        <p:txBody>
          <a:bodyPr wrap="square">
            <a:spAutoFit/>
          </a:bodyPr>
          <a:lstStyle/>
          <a:p>
            <a:pPr>
              <a:spcAft>
                <a:spcPts val="600"/>
              </a:spcAft>
              <a:defRPr sz="2400" b="0">
                <a:solidFill>
                  <a:srgbClr val="52514E"/>
                </a:solidFill>
              </a:defRPr>
            </a:pPr>
            <a:r>
              <a:t>From a river-flow forecast to who goes under water:</a:t>
            </a:r>
          </a:p>
          <a:p>
            <a:pPr>
              <a:spcAft>
                <a:spcPts val="600"/>
              </a:spcAft>
              <a:defRPr sz="2400" b="0">
                <a:solidFill>
                  <a:srgbClr val="52514E"/>
                </a:solidFill>
              </a:defRPr>
            </a:pPr>
            <a:r>
              <a:t>a satellite foundation model for the Mahanadi delta</a:t>
            </a:r>
          </a:p>
        </p:txBody>
      </p:sp>
      <p:sp>
        <p:nvSpPr>
          <p:cNvPr id="4" name="TextBox 3"/>
          <p:cNvSpPr txBox="1"/>
          <p:nvPr/>
        </p:nvSpPr>
        <p:spPr>
          <a:xfrm>
            <a:off x="731520" y="4114800"/>
            <a:ext cx="10789920" cy="1280160"/>
          </a:xfrm>
          <a:prstGeom prst="rect">
            <a:avLst/>
          </a:prstGeom>
          <a:noFill/>
        </p:spPr>
        <p:txBody>
          <a:bodyPr wrap="square">
            <a:spAutoFit/>
          </a:bodyPr>
          <a:lstStyle/>
          <a:p>
            <a:pPr>
              <a:spcAft>
                <a:spcPts val="600"/>
              </a:spcAft>
              <a:defRPr sz="1600" b="0">
                <a:solidFill>
                  <a:srgbClr val="52514E"/>
                </a:solidFill>
              </a:defRPr>
            </a:pPr>
            <a:r>
              <a:t>Nikhil Upadhyay (lead) · Prakhar Gupta · Prabhat Kumar · Vineet Jangir · Himanshu Shete</a:t>
            </a:r>
          </a:p>
          <a:p>
            <a:pPr>
              <a:spcAft>
                <a:spcPts val="600"/>
              </a:spcAft>
              <a:defRPr sz="1600" b="0">
                <a:solidFill>
                  <a:srgbClr val="52514E"/>
                </a:solidFill>
              </a:defRPr>
            </a:pPr>
            <a:r>
              <a:t>Guide: Prof. Basudev Biswal (IIT Bombay) · Industry: Dr. Vivek Gupta, Siddik Barbhuiya (ClimMaTech)</a:t>
            </a:r>
          </a:p>
          <a:p>
            <a:pPr>
              <a:spcAft>
                <a:spcPts val="600"/>
              </a:spcAft>
              <a:defRPr sz="1600" b="0">
                <a:solidFill>
                  <a:srgbClr val="52514E"/>
                </a:solidFill>
              </a:defRPr>
            </a:pPr>
            <a:r>
              <a:t>CE Integrated Design Project · final review · November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The problem in the field</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ClimMaTech forecasts the river at a point; nobody sees what that flow floods</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sp>
        <p:nvSpPr>
          <p:cNvPr id="5" name="TextBox 4"/>
          <p:cNvSpPr txBox="1"/>
          <p:nvPr/>
        </p:nvSpPr>
        <p:spPr>
          <a:xfrm>
            <a:off x="548640" y="1463040"/>
            <a:ext cx="5760720" cy="4754880"/>
          </a:xfrm>
          <a:prstGeom prst="rect">
            <a:avLst/>
          </a:prstGeom>
          <a:noFill/>
        </p:spPr>
        <p:txBody>
          <a:bodyPr wrap="square">
            <a:spAutoFit/>
          </a:bodyPr>
          <a:lstStyle/>
          <a:p>
            <a:pPr>
              <a:spcAft>
                <a:spcPts val="600"/>
              </a:spcAft>
              <a:defRPr sz="1600" b="0">
                <a:solidFill>
                  <a:srgbClr val="0B0B0B"/>
                </a:solidFill>
              </a:defRPr>
            </a:pPr>
            <a:r>
              <a:t>• ClimMaTech: radar gauges on bridges and spillways, sirens, Aagah app; forecasts 30 min – 48 h ahead.</a:t>
            </a:r>
          </a:p>
          <a:p>
            <a:pPr>
              <a:spcAft>
                <a:spcPts val="600"/>
              </a:spcAft>
              <a:defRPr sz="1600" b="0">
                <a:solidFill>
                  <a:srgbClr val="0B0B0B"/>
                </a:solidFill>
              </a:defRPr>
            </a:pPr>
            <a:r>
              <a:t>• Every product is a point: the level or flow at one gauge.</a:t>
            </a:r>
          </a:p>
          <a:p>
            <a:pPr>
              <a:spcAft>
                <a:spcPts val="600"/>
              </a:spcAft>
              <a:defRPr sz="1600" b="0">
                <a:solidFill>
                  <a:srgbClr val="0B0B0B"/>
                </a:solidFill>
              </a:defRPr>
            </a:pPr>
            <a:r>
              <a:t>• Missing: which land, villages, roads, bridges and embankments go under water at that flow.</a:t>
            </a:r>
          </a:p>
          <a:p>
            <a:pPr>
              <a:spcAft>
                <a:spcPts val="600"/>
              </a:spcAft>
              <a:defRPr sz="1600" b="0">
                <a:solidFill>
                  <a:srgbClr val="0B0B0B"/>
                </a:solidFill>
              </a:defRPr>
            </a:pPr>
            <a:r>
              <a:t>• Mahanadi delta below Naraj: 3,038 km² study box, 4.1 million people, floods in 2018, 2020, 2022…</a:t>
            </a:r>
          </a:p>
          <a:p>
            <a:pPr>
              <a:spcAft>
                <a:spcPts val="600"/>
              </a:spcAft>
              <a:defRPr sz="1600" b="0">
                <a:solidFill>
                  <a:srgbClr val="0B0B0B"/>
                </a:solidFill>
              </a:defRPr>
            </a:pPr>
            <a:r>
              <a:t>• Prof. Biswal's Mahanadi basin work, Odisha WRD and CWC (Naraj gauge, barrages) all meet here.</a:t>
            </a:r>
          </a:p>
        </p:txBody>
      </p:sp>
      <p:sp>
        <p:nvSpPr>
          <p:cNvPr id="6" name="TextBox 5"/>
          <p:cNvSpPr txBox="1"/>
          <p:nvPr/>
        </p:nvSpPr>
        <p:spPr>
          <a:xfrm>
            <a:off x="6583680" y="1463040"/>
            <a:ext cx="5120640" cy="4754880"/>
          </a:xfrm>
          <a:prstGeom prst="rect">
            <a:avLst/>
          </a:prstGeom>
          <a:noFill/>
        </p:spPr>
        <p:txBody>
          <a:bodyPr wrap="square">
            <a:spAutoFit/>
          </a:bodyPr>
          <a:lstStyle/>
          <a:p>
            <a:pPr>
              <a:spcAft>
                <a:spcPts val="600"/>
              </a:spcAft>
              <a:defRPr sz="1700" b="1">
                <a:solidFill>
                  <a:srgbClr val="0B0B0B"/>
                </a:solidFill>
              </a:defRPr>
            </a:pPr>
            <a:r>
              <a:t>Refined problem statement</a:t>
            </a:r>
          </a:p>
          <a:p>
            <a:pPr>
              <a:spcAft>
                <a:spcPts val="600"/>
              </a:spcAft>
              <a:defRPr sz="1700" b="0">
                <a:solidFill>
                  <a:srgbClr val="0B0B0B"/>
                </a:solidFill>
              </a:defRPr>
            </a:pPr>
            <a:r>
              <a:t>For the Mahanadi delta, turn a river-flow forecast at Naraj into a map of what floods and whom it affects, using a satellite foundation model chosen by a fair benchmark, and use that map to plan where warnings and sensors should go, checked and calibrated at the site.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Who needs what</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The project is built around the people who would use it</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graphicFrame>
        <p:nvGraphicFramePr>
          <p:cNvPr id="5" name="Table 4"/>
          <p:cNvGraphicFramePr>
            <a:graphicFrameLocks noGrp="1"/>
          </p:cNvGraphicFramePr>
          <p:nvPr/>
        </p:nvGraphicFramePr>
        <p:xfrm>
          <a:off x="548640" y="1463040"/>
          <a:ext cx="11064240" cy="1920239"/>
        </p:xfrm>
        <a:graphic>
          <a:graphicData uri="http://schemas.openxmlformats.org/drawingml/2006/table">
            <a:tbl>
              <a:tblPr firstRow="1" bandRow="1">
                <a:tableStyleId>{5C22544A-7EE6-4342-B048-85BDC9FD1C3A}</a:tableStyleId>
              </a:tblPr>
              <a:tblGrid>
                <a:gridCol w="3474720"/>
                <a:gridCol w="4023360"/>
                <a:gridCol w="3566160"/>
              </a:tblGrid>
              <a:tr h="320039">
                <a:tc>
                  <a:txBody>
                    <a:bodyPr/>
                    <a:lstStyle/>
                    <a:p>
                      <a:pPr>
                        <a:defRPr sz="1300" b="1"/>
                      </a:pPr>
                      <a:r>
                        <a:t>Stakeholder</a:t>
                      </a:r>
                    </a:p>
                  </a:txBody>
                  <a:tcPr/>
                </a:tc>
                <a:tc>
                  <a:txBody>
                    <a:bodyPr/>
                    <a:lstStyle/>
                    <a:p>
                      <a:pPr>
                        <a:defRPr sz="1300" b="1"/>
                      </a:pPr>
                      <a:r>
                        <a:t>Needs from us</a:t>
                      </a:r>
                    </a:p>
                  </a:txBody>
                  <a:tcPr/>
                </a:tc>
                <a:tc>
                  <a:txBody>
                    <a:bodyPr/>
                    <a:lstStyle/>
                    <a:p>
                      <a:pPr>
                        <a:defRPr sz="1300" b="1"/>
                      </a:pPr>
                      <a:r>
                        <a:t>We need from them</a:t>
                      </a:r>
                    </a:p>
                  </a:txBody>
                  <a:tcPr/>
                </a:tc>
              </a:tr>
              <a:tr h="320039">
                <a:tc>
                  <a:txBody>
                    <a:bodyPr/>
                    <a:lstStyle/>
                    <a:p>
                      <a:pPr>
                        <a:defRPr sz="1300" b="0"/>
                      </a:pPr>
                      <a:r>
                        <a:t>ClimMaTech (CTO Dr. Vivek Gupta; Siddik)</a:t>
                      </a:r>
                    </a:p>
                  </a:txBody>
                  <a:tcPr/>
                </a:tc>
                <a:tc>
                  <a:txBody>
                    <a:bodyPr/>
                    <a:lstStyle/>
                    <a:p>
                      <a:pPr>
                        <a:defRPr sz="1300" b="0"/>
                      </a:pPr>
                      <a:r>
                        <a:t>Flood-extent layer + village list per forecast; siren and sensor sites</a:t>
                      </a:r>
                    </a:p>
                  </a:txBody>
                  <a:tcPr/>
                </a:tc>
                <a:tc>
                  <a:txBody>
                    <a:bodyPr/>
                    <a:lstStyle/>
                    <a:p>
                      <a:pPr>
                        <a:defRPr sz="1300" b="0"/>
                      </a:pPr>
                      <a:r>
                        <a:t>Siren range, data formats, site-survey practice</a:t>
                      </a:r>
                    </a:p>
                  </a:txBody>
                  <a:tcPr/>
                </a:tc>
              </a:tr>
              <a:tr h="320039">
                <a:tc>
                  <a:txBody>
                    <a:bodyPr/>
                    <a:lstStyle/>
                    <a:p>
                      <a:pPr>
                        <a:defRPr sz="1300" b="0"/>
                      </a:pPr>
                      <a:r>
                        <a:t>Prof. Biswal's Mahanadi basin project</a:t>
                      </a:r>
                    </a:p>
                  </a:txBody>
                  <a:tcPr/>
                </a:tc>
                <a:tc>
                  <a:txBody>
                    <a:bodyPr/>
                    <a:lstStyle/>
                    <a:p>
                      <a:pPr>
                        <a:defRPr sz="1300" b="0"/>
                      </a:pPr>
                      <a:r>
                        <a:t>Inundation and impacts for the delta</a:t>
                      </a:r>
                    </a:p>
                  </a:txBody>
                  <a:tcPr/>
                </a:tc>
                <a:tc>
                  <a:txBody>
                    <a:bodyPr/>
                    <a:lstStyle/>
                    <a:p>
                      <a:pPr>
                        <a:defRPr sz="1300" b="0"/>
                      </a:pPr>
                      <a:r>
                        <a:t>Site access, introductions</a:t>
                      </a:r>
                    </a:p>
                  </a:txBody>
                  <a:tcPr/>
                </a:tc>
              </a:tr>
              <a:tr h="320039">
                <a:tc>
                  <a:txBody>
                    <a:bodyPr/>
                    <a:lstStyle/>
                    <a:p>
                      <a:pPr>
                        <a:defRPr sz="1300" b="0"/>
                      </a:pPr>
                      <a:r>
                        <a:t>Odisha WRD, CWC Mahanadi division</a:t>
                      </a:r>
                    </a:p>
                  </a:txBody>
                  <a:tcPr/>
                </a:tc>
                <a:tc>
                  <a:txBody>
                    <a:bodyPr/>
                    <a:lstStyle/>
                    <a:p>
                      <a:pPr>
                        <a:defRPr sz="1300" b="0"/>
                      </a:pPr>
                      <a:r>
                        <a:t>Which banks and roads fail at which flow</a:t>
                      </a:r>
                    </a:p>
                  </a:txBody>
                  <a:tcPr/>
                </a:tc>
                <a:tc>
                  <a:txBody>
                    <a:bodyPr/>
                    <a:lstStyle/>
                    <a:p>
                      <a:pPr>
                        <a:defRPr sz="1300" b="0"/>
                      </a:pPr>
                      <a:r>
                        <a:t>Naraj discharge, embankment inventory, breach history</a:t>
                      </a:r>
                    </a:p>
                  </a:txBody>
                  <a:tcPr/>
                </a:tc>
              </a:tr>
              <a:tr h="320039">
                <a:tc>
                  <a:txBody>
                    <a:bodyPr/>
                    <a:lstStyle/>
                    <a:p>
                      <a:pPr>
                        <a:defRPr sz="1300" b="0"/>
                      </a:pPr>
                      <a:r>
                        <a:t>OSDMA, Cuttack / Kendrapara / Jagatsinghpur</a:t>
                      </a:r>
                    </a:p>
                  </a:txBody>
                  <a:tcPr/>
                </a:tc>
                <a:tc>
                  <a:txBody>
                    <a:bodyPr/>
                    <a:lstStyle/>
                    <a:p>
                      <a:pPr>
                        <a:defRPr sz="1300" b="0"/>
                      </a:pPr>
                      <a:r>
                        <a:t>Villages to warn, roads that close</a:t>
                      </a:r>
                    </a:p>
                  </a:txBody>
                  <a:tcPr/>
                </a:tc>
                <a:tc>
                  <a:txBody>
                    <a:bodyPr/>
                    <a:lstStyle/>
                    <a:p>
                      <a:pPr>
                        <a:defRPr sz="1300" b="0"/>
                      </a:pPr>
                      <a:r>
                        <a:t>Evacuation records, shelters</a:t>
                      </a:r>
                    </a:p>
                  </a:txBody>
                  <a:tcPr/>
                </a:tc>
              </a:tr>
              <a:tr h="320044">
                <a:tc>
                  <a:txBody>
                    <a:bodyPr/>
                    <a:lstStyle/>
                    <a:p>
                      <a:pPr>
                        <a:defRPr sz="1300" b="0"/>
                      </a:pPr>
                      <a:r>
                        <a:t>Villages and farmers</a:t>
                      </a:r>
                    </a:p>
                  </a:txBody>
                  <a:tcPr/>
                </a:tc>
                <a:tc>
                  <a:txBody>
                    <a:bodyPr/>
                    <a:lstStyle/>
                    <a:p>
                      <a:pPr>
                        <a:defRPr sz="1300" b="0"/>
                      </a:pPr>
                      <a:r>
                        <a:t>Earlier, local warning</a:t>
                      </a:r>
                    </a:p>
                  </a:txBody>
                  <a:tcPr/>
                </a:tc>
                <a:tc>
                  <a:txBody>
                    <a:bodyPr/>
                    <a:lstStyle/>
                    <a:p>
                      <a:pPr>
                        <a:defRPr sz="1300" b="0"/>
                      </a:pPr>
                      <a:r>
                        <a:t>What flooded, when, how deep</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One flood, seven specializations</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Each specialization asks its own question of the same flood scenarios</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graphicFrame>
        <p:nvGraphicFramePr>
          <p:cNvPr id="5" name="Table 4"/>
          <p:cNvGraphicFramePr>
            <a:graphicFrameLocks noGrp="1"/>
          </p:cNvGraphicFramePr>
          <p:nvPr/>
        </p:nvGraphicFramePr>
        <p:xfrm>
          <a:off x="457200" y="1371600"/>
          <a:ext cx="11247120" cy="2560320"/>
        </p:xfrm>
        <a:graphic>
          <a:graphicData uri="http://schemas.openxmlformats.org/drawingml/2006/table">
            <a:tbl>
              <a:tblPr firstRow="1" bandRow="1">
                <a:tableStyleId>{5C22544A-7EE6-4342-B048-85BDC9FD1C3A}</a:tableStyleId>
              </a:tblPr>
              <a:tblGrid>
                <a:gridCol w="2103120"/>
                <a:gridCol w="3474720"/>
                <a:gridCol w="3840480"/>
                <a:gridCol w="1828800"/>
              </a:tblGrid>
              <a:tr h="320040">
                <a:tc>
                  <a:txBody>
                    <a:bodyPr/>
                    <a:lstStyle/>
                    <a:p>
                      <a:pPr>
                        <a:defRPr sz="1200" b="1"/>
                      </a:pPr>
                      <a:r>
                        <a:t>Specialization</a:t>
                      </a:r>
                    </a:p>
                  </a:txBody>
                  <a:tcPr/>
                </a:tc>
                <a:tc>
                  <a:txBody>
                    <a:bodyPr/>
                    <a:lstStyle/>
                    <a:p>
                      <a:pPr>
                        <a:defRPr sz="1200" b="1"/>
                      </a:pPr>
                      <a:r>
                        <a:t>Question</a:t>
                      </a:r>
                    </a:p>
                  </a:txBody>
                  <a:tcPr/>
                </a:tc>
                <a:tc>
                  <a:txBody>
                    <a:bodyPr/>
                    <a:lstStyle/>
                    <a:p>
                      <a:pPr>
                        <a:defRPr sz="1200" b="1"/>
                      </a:pPr>
                      <a:r>
                        <a:t>Headline (25-year flood)</a:t>
                      </a:r>
                    </a:p>
                  </a:txBody>
                  <a:tcPr/>
                </a:tc>
                <a:tc>
                  <a:txBody>
                    <a:bodyPr/>
                    <a:lstStyle/>
                    <a:p>
                      <a:pPr>
                        <a:defRPr sz="1200" b="1"/>
                      </a:pPr>
                      <a:r>
                        <a:t>Field check</a:t>
                      </a:r>
                    </a:p>
                  </a:txBody>
                  <a:tcPr/>
                </a:tc>
              </a:tr>
              <a:tr h="320040">
                <a:tc>
                  <a:txBody>
                    <a:bodyPr/>
                    <a:lstStyle/>
                    <a:p>
                      <a:pPr>
                        <a:defRPr sz="1200" b="0"/>
                      </a:pPr>
                      <a:r>
                        <a:t>Remote sensing</a:t>
                      </a:r>
                    </a:p>
                  </a:txBody>
                  <a:tcPr/>
                </a:tc>
                <a:tc>
                  <a:txBody>
                    <a:bodyPr/>
                    <a:lstStyle/>
                    <a:p>
                      <a:pPr>
                        <a:defRPr sz="1200" b="0"/>
                      </a:pPr>
                      <a:r>
                        <a:t>Which model maps floods through cloud?</a:t>
                      </a:r>
                    </a:p>
                  </a:txBody>
                  <a:tcPr/>
                </a:tc>
                <a:tc>
                  <a:txBody>
                    <a:bodyPr/>
                    <a:lstStyle/>
                    <a:p>
                      <a:pPr>
                        <a:defRPr sz="1200" b="0"/>
                      </a:pPr>
                      <a:r>
                        <a:t>590 radar passes mapped; U-Net beats FMs on unseen flood</a:t>
                      </a:r>
                    </a:p>
                  </a:txBody>
                  <a:tcPr/>
                </a:tc>
                <a:tc>
                  <a:txBody>
                    <a:bodyPr/>
                    <a:lstStyle/>
                    <a:p>
                      <a:pPr>
                        <a:defRPr sz="1200" b="0"/>
                      </a:pPr>
                      <a:r>
                        <a:t>40 random points</a:t>
                      </a:r>
                    </a:p>
                  </a:txBody>
                  <a:tcPr/>
                </a:tc>
              </a:tr>
              <a:tr h="320040">
                <a:tc>
                  <a:txBody>
                    <a:bodyPr/>
                    <a:lstStyle/>
                    <a:p>
                      <a:pPr>
                        <a:defRPr sz="1200" b="0"/>
                      </a:pPr>
                      <a:r>
                        <a:t>Water resources</a:t>
                      </a:r>
                    </a:p>
                  </a:txBody>
                  <a:tcPr/>
                </a:tc>
                <a:tc>
                  <a:txBody>
                    <a:bodyPr/>
                    <a:lstStyle/>
                    <a:p>
                      <a:pPr>
                        <a:defRPr sz="1200" b="0"/>
                      </a:pPr>
                      <a:r>
                        <a:t>Which flow floods which land; where does it come from?</a:t>
                      </a:r>
                    </a:p>
                  </a:txBody>
                  <a:tcPr/>
                </a:tc>
                <a:tc>
                  <a:txBody>
                    <a:bodyPr/>
                    <a:lstStyle/>
                    <a:p>
                      <a:pPr>
                        <a:defRPr sz="1200" b="0"/>
                      </a:pPr>
                      <a:r>
                        <a:t>Trigger map 0.23 vs 0.07 climatology; ~48% of a flood peak from Hirakud</a:t>
                      </a:r>
                    </a:p>
                  </a:txBody>
                  <a:tcPr/>
                </a:tc>
                <a:tc>
                  <a:txBody>
                    <a:bodyPr/>
                    <a:lstStyle/>
                    <a:p>
                      <a:pPr>
                        <a:defRPr sz="1200" b="0"/>
                      </a:pPr>
                      <a:r>
                        <a:t>Discharge, Manning's n</a:t>
                      </a:r>
                    </a:p>
                  </a:txBody>
                  <a:tcPr/>
                </a:tc>
              </a:tr>
              <a:tr h="320040">
                <a:tc>
                  <a:txBody>
                    <a:bodyPr/>
                    <a:lstStyle/>
                    <a:p>
                      <a:pPr>
                        <a:defRPr sz="1200" b="0"/>
                      </a:pPr>
                      <a:r>
                        <a:t>Transportation</a:t>
                      </a:r>
                    </a:p>
                  </a:txBody>
                  <a:tcPr/>
                </a:tc>
                <a:tc>
                  <a:txBody>
                    <a:bodyPr/>
                    <a:lstStyle/>
                    <a:p>
                      <a:pPr>
                        <a:defRPr sz="1200" b="0"/>
                      </a:pPr>
                      <a:r>
                        <a:t>Who loses the road to a hospital?</a:t>
                      </a:r>
                    </a:p>
                  </a:txBody>
                  <a:tcPr/>
                </a:tc>
                <a:tc>
                  <a:txBody>
                    <a:bodyPr/>
                    <a:lstStyle/>
                    <a:p>
                      <a:pPr>
                        <a:defRPr sz="1200" b="0"/>
                      </a:pPr>
                      <a:r>
                        <a:t>36,941 people cut off</a:t>
                      </a:r>
                    </a:p>
                  </a:txBody>
                  <a:tcPr/>
                </a:tc>
                <a:tc>
                  <a:txBody>
                    <a:bodyPr/>
                    <a:lstStyle/>
                    <a:p>
                      <a:pPr>
                        <a:defRPr sz="1200" b="0"/>
                      </a:pPr>
                      <a:r>
                        <a:t>Road closures</a:t>
                      </a:r>
                    </a:p>
                  </a:txBody>
                  <a:tcPr/>
                </a:tc>
              </a:tr>
              <a:tr h="320040">
                <a:tc>
                  <a:txBody>
                    <a:bodyPr/>
                    <a:lstStyle/>
                    <a:p>
                      <a:pPr>
                        <a:defRPr sz="1200" b="0"/>
                      </a:pPr>
                      <a:r>
                        <a:t>Structural</a:t>
                      </a:r>
                    </a:p>
                  </a:txBody>
                  <a:tcPr/>
                </a:tc>
                <a:tc>
                  <a:txBody>
                    <a:bodyPr/>
                    <a:lstStyle/>
                    <a:p>
                      <a:pPr>
                        <a:defRPr sz="1200" b="0"/>
                      </a:pPr>
                      <a:r>
                        <a:t>Where do walls crack; how deep must piers go?</a:t>
                      </a:r>
                    </a:p>
                  </a:txBody>
                  <a:tcPr/>
                </a:tc>
                <a:tc>
                  <a:txBody>
                    <a:bodyPr/>
                    <a:lstStyle/>
                    <a:p>
                      <a:pPr>
                        <a:defRPr sz="1200" b="0"/>
                      </a:pPr>
                      <a:r>
                        <a:t>3,626 people where depth &gt;= 1 m</a:t>
                      </a:r>
                    </a:p>
                  </a:txBody>
                  <a:tcPr/>
                </a:tc>
                <a:tc>
                  <a:txBody>
                    <a:bodyPr/>
                    <a:lstStyle/>
                    <a:p>
                      <a:pPr>
                        <a:defRPr sz="1200" b="0"/>
                      </a:pPr>
                      <a:r>
                        <a:t>HFL marks, foundations</a:t>
                      </a:r>
                    </a:p>
                  </a:txBody>
                  <a:tcPr/>
                </a:tc>
              </a:tr>
              <a:tr h="320040">
                <a:tc>
                  <a:txBody>
                    <a:bodyPr/>
                    <a:lstStyle/>
                    <a:p>
                      <a:pPr>
                        <a:defRPr sz="1200" b="0"/>
                      </a:pPr>
                      <a:r>
                        <a:t>Geotechnical</a:t>
                      </a:r>
                    </a:p>
                  </a:txBody>
                  <a:tcPr/>
                </a:tc>
                <a:tc>
                  <a:txBody>
                    <a:bodyPr/>
                    <a:lstStyle/>
                    <a:p>
                      <a:pPr>
                        <a:defRPr sz="1200" b="0"/>
                      </a:pPr>
                      <a:r>
                        <a:t>Which banks fail; which dry houses sit on soaked ground?</a:t>
                      </a:r>
                    </a:p>
                  </a:txBody>
                  <a:tcPr/>
                </a:tc>
                <a:tc>
                  <a:txBody>
                    <a:bodyPr/>
                    <a:lstStyle/>
                    <a:p>
                      <a:pPr>
                        <a:defRPr sz="1200" b="0"/>
                      </a:pPr>
                      <a:r>
                        <a:t>415,549 people in the 200 m advisory zone</a:t>
                      </a:r>
                    </a:p>
                  </a:txBody>
                  <a:tcPr/>
                </a:tc>
                <a:tc>
                  <a:txBody>
                    <a:bodyPr/>
                    <a:lstStyle/>
                    <a:p>
                      <a:pPr>
                        <a:defRPr sz="1200" b="0"/>
                      </a:pPr>
                      <a:r>
                        <a:t>Soil samples, wells</a:t>
                      </a:r>
                    </a:p>
                  </a:txBody>
                  <a:tcPr/>
                </a:tc>
              </a:tr>
              <a:tr h="320040">
                <a:tc>
                  <a:txBody>
                    <a:bodyPr/>
                    <a:lstStyle/>
                    <a:p>
                      <a:pPr>
                        <a:defRPr sz="1200" b="0"/>
                      </a:pPr>
                      <a:r>
                        <a:t>Ocean</a:t>
                      </a:r>
                    </a:p>
                  </a:txBody>
                  <a:tcPr/>
                </a:tc>
                <a:tc>
                  <a:txBody>
                    <a:bodyPr/>
                    <a:lstStyle/>
                    <a:p>
                      <a:pPr>
                        <a:defRPr sz="1200" b="0"/>
                      </a:pPr>
                      <a:r>
                        <a:t>What do Bay of Bengal storms add?</a:t>
                      </a:r>
                    </a:p>
                  </a:txBody>
                  <a:tcPr/>
                </a:tc>
                <a:tc>
                  <a:txBody>
                    <a:bodyPr/>
                    <a:lstStyle/>
                    <a:p>
                      <a:pPr>
                        <a:defRPr sz="1200" b="0"/>
                      </a:pPr>
                      <a:r>
                        <a:t>11 of 20 largest floods followed a storm</a:t>
                      </a:r>
                    </a:p>
                  </a:txBody>
                  <a:tcPr/>
                </a:tc>
                <a:tc>
                  <a:txBody>
                    <a:bodyPr/>
                    <a:lstStyle/>
                    <a:p>
                      <a:pPr>
                        <a:defRPr sz="1200" b="0"/>
                      </a:pPr>
                      <a:r>
                        <a:t>Surge, tidal drainage</a:t>
                      </a:r>
                    </a:p>
                  </a:txBody>
                  <a:tcPr/>
                </a:tc>
              </a:tr>
              <a:tr h="320040">
                <a:tc>
                  <a:txBody>
                    <a:bodyPr/>
                    <a:lstStyle/>
                    <a:p>
                      <a:pPr>
                        <a:defRPr sz="1200" b="0"/>
                      </a:pPr>
                      <a:r>
                        <a:t>Construction tech &amp; mgmt</a:t>
                      </a:r>
                    </a:p>
                  </a:txBody>
                  <a:tcPr/>
                </a:tc>
                <a:tc>
                  <a:txBody>
                    <a:bodyPr/>
                    <a:lstStyle/>
                    <a:p>
                      <a:pPr>
                        <a:defRPr sz="1200" b="0"/>
                      </a:pPr>
                      <a:r>
                        <a:t>When to build, what it costs?</a:t>
                      </a:r>
                    </a:p>
                  </a:txBody>
                  <a:tcPr/>
                </a:tc>
                <a:tc>
                  <a:txBody>
                    <a:bodyPr/>
                    <a:lstStyle/>
                    <a:p>
                      <a:pPr>
                        <a:defRPr sz="1200" b="0"/>
                      </a:pPr>
                      <a:r>
                        <a:t>Work window Dec–Apr; 17,442 m³ to raise 8 critical links</a:t>
                      </a:r>
                    </a:p>
                  </a:txBody>
                  <a:tcPr/>
                </a:tc>
                <a:tc>
                  <a:txBody>
                    <a:bodyPr/>
                    <a:lstStyle/>
                    <a:p>
                      <a:pPr>
                        <a:defRPr sz="1200" b="0"/>
                      </a:pPr>
                      <a:r>
                        <a:t>Site sheets</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Model selection: a fair benchmark</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Sen1Floods11 v1.1 · 446 hand-labelled chips · 13 optical bands + radar VV/VH · 11 flood events</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graphicFrame>
        <p:nvGraphicFramePr>
          <p:cNvPr id="5" name="Table 4"/>
          <p:cNvGraphicFramePr>
            <a:graphicFrameLocks noGrp="1"/>
          </p:cNvGraphicFramePr>
          <p:nvPr/>
        </p:nvGraphicFramePr>
        <p:xfrm>
          <a:off x="548640" y="1554480"/>
          <a:ext cx="6949440" cy="960119"/>
        </p:xfrm>
        <a:graphic>
          <a:graphicData uri="http://schemas.openxmlformats.org/drawingml/2006/table">
            <a:tbl>
              <a:tblPr firstRow="1" bandRow="1">
                <a:tableStyleId>{5C22544A-7EE6-4342-B048-85BDC9FD1C3A}</a:tableStyleId>
              </a:tblPr>
              <a:tblGrid>
                <a:gridCol w="1828800"/>
                <a:gridCol w="2743200"/>
                <a:gridCol w="2377440"/>
              </a:tblGrid>
              <a:tr h="320039">
                <a:tc>
                  <a:txBody>
                    <a:bodyPr/>
                    <a:lstStyle/>
                    <a:p>
                      <a:pPr>
                        <a:defRPr sz="1300" b="1"/>
                      </a:pPr>
                      <a:r>
                        <a:t>Protocol</a:t>
                      </a:r>
                    </a:p>
                  </a:txBody>
                  <a:tcPr/>
                </a:tc>
                <a:tc>
                  <a:txBody>
                    <a:bodyPr/>
                    <a:lstStyle/>
                    <a:p>
                      <a:pPr>
                        <a:defRPr sz="1300" b="1"/>
                      </a:pPr>
                      <a:r>
                        <a:t>Train</a:t>
                      </a:r>
                    </a:p>
                  </a:txBody>
                  <a:tcPr/>
                </a:tc>
                <a:tc>
                  <a:txBody>
                    <a:bodyPr/>
                    <a:lstStyle/>
                    <a:p>
                      <a:pPr>
                        <a:defRPr sz="1300" b="1"/>
                      </a:pPr>
                      <a:r>
                        <a:t>Test</a:t>
                      </a:r>
                    </a:p>
                  </a:txBody>
                  <a:tcPr/>
                </a:tc>
              </a:tr>
              <a:tr h="320039">
                <a:tc>
                  <a:txBody>
                    <a:bodyPr/>
                    <a:lstStyle/>
                    <a:p>
                      <a:pPr>
                        <a:defRPr sz="1300" b="0"/>
                      </a:pPr>
                      <a:r>
                        <a:t>Official</a:t>
                      </a:r>
                    </a:p>
                  </a:txBody>
                  <a:tcPr/>
                </a:tc>
                <a:tc>
                  <a:txBody>
                    <a:bodyPr/>
                    <a:lstStyle/>
                    <a:p>
                      <a:pPr>
                        <a:defRPr sz="1300" b="0"/>
                      </a:pPr>
                      <a:r>
                        <a:t>252 chips, 10 events (incl. India)</a:t>
                      </a:r>
                    </a:p>
                  </a:txBody>
                  <a:tcPr/>
                </a:tc>
                <a:tc>
                  <a:txBody>
                    <a:bodyPr/>
                    <a:lstStyle/>
                    <a:p>
                      <a:pPr>
                        <a:defRPr sz="1300" b="0"/>
                      </a:pPr>
                      <a:r>
                        <a:t>90 chips, same events</a:t>
                      </a:r>
                    </a:p>
                  </a:txBody>
                  <a:tcPr/>
                </a:tc>
              </a:tr>
              <a:tr h="320041">
                <a:tc>
                  <a:txBody>
                    <a:bodyPr/>
                    <a:lstStyle/>
                    <a:p>
                      <a:pPr>
                        <a:defRPr sz="1300" b="0"/>
                      </a:pPr>
                      <a:r>
                        <a:t>Leave-India-out</a:t>
                      </a:r>
                    </a:p>
                  </a:txBody>
                  <a:tcPr/>
                </a:tc>
                <a:tc>
                  <a:txBody>
                    <a:bodyPr/>
                    <a:lstStyle/>
                    <a:p>
                      <a:pPr>
                        <a:defRPr sz="1300" b="0"/>
                      </a:pPr>
                      <a:r>
                        <a:t>212 chips, 9 events, no India</a:t>
                      </a:r>
                    </a:p>
                  </a:txBody>
                  <a:tcPr/>
                </a:tc>
                <a:tc>
                  <a:txBody>
                    <a:bodyPr/>
                    <a:lstStyle/>
                    <a:p>
                      <a:pPr>
                        <a:defRPr sz="1300" b="0"/>
                      </a:pPr>
                      <a:r>
                        <a:t>all 68 Assam chips (unseen flood)</a:t>
                      </a:r>
                    </a:p>
                  </a:txBody>
                  <a:tcPr/>
                </a:tc>
              </a:tr>
            </a:tbl>
          </a:graphicData>
        </a:graphic>
      </p:graphicFrame>
      <p:sp>
        <p:nvSpPr>
          <p:cNvPr id="6" name="TextBox 5"/>
          <p:cNvSpPr txBox="1"/>
          <p:nvPr/>
        </p:nvSpPr>
        <p:spPr>
          <a:xfrm>
            <a:off x="548640" y="3200400"/>
            <a:ext cx="6949440" cy="3017520"/>
          </a:xfrm>
          <a:prstGeom prst="rect">
            <a:avLst/>
          </a:prstGeom>
          <a:noFill/>
        </p:spPr>
        <p:txBody>
          <a:bodyPr wrap="square">
            <a:spAutoFit/>
          </a:bodyPr>
          <a:lstStyle/>
          <a:p>
            <a:pPr>
              <a:spcAft>
                <a:spcPts val="600"/>
              </a:spcAft>
              <a:defRPr sz="1400" b="0">
                <a:solidFill>
                  <a:srgbClr val="0B0B0B"/>
                </a:solidFill>
              </a:defRPr>
            </a:pPr>
            <a:r>
              <a:t>• 8 trainable models, one recipe: same decoder, CE + Dice, D4 augmentation, AdamW + cosine, 40 epochs</a:t>
            </a:r>
          </a:p>
          <a:p>
            <a:pPr>
              <a:spcAft>
                <a:spcPts val="600"/>
              </a:spcAft>
              <a:defRPr sz="1400" b="0">
                <a:solidFill>
                  <a:srgbClr val="0B0B0B"/>
                </a:solidFill>
              </a:defRPr>
            </a:pPr>
            <a:r>
              <a:t>• Foundation models: Prithvi-EO-2.0-300M, TerraMind-B, DOFA-B, Clay-v1-B, Satlas Swin-B, DeCUR ResNet-50</a:t>
            </a:r>
          </a:p>
          <a:p>
            <a:pPr>
              <a:spcAft>
                <a:spcPts val="600"/>
              </a:spcAft>
              <a:defRPr sz="1400" b="0">
                <a:solidFill>
                  <a:srgbClr val="0B0B0B"/>
                </a:solidFill>
              </a:defRPr>
            </a:pPr>
            <a:r>
              <a:t>• Baselines: simple CNN, U-Net; Otsu, NDWI, published Prithvi checkpoint</a:t>
            </a:r>
          </a:p>
          <a:p>
            <a:pPr>
              <a:spcAft>
                <a:spcPts val="600"/>
              </a:spcAft>
              <a:defRPr sz="1400" b="0">
                <a:solidFill>
                  <a:srgbClr val="0B0B0B"/>
                </a:solidFill>
              </a:defRPr>
            </a:pPr>
            <a:r>
              <a:t>• 3 seeds each, frozen vs fine-tuned, fusion, radar vs optical, label efficiency: 92 runs</a:t>
            </a:r>
          </a:p>
        </p:txBody>
      </p:sp>
      <p:pic>
        <p:nvPicPr>
          <p:cNvPr id="7" name="Picture 6" descr="bars_official.png"/>
          <p:cNvPicPr>
            <a:picLocks noChangeAspect="1"/>
          </p:cNvPicPr>
          <p:nvPr/>
        </p:nvPicPr>
        <p:blipFill>
          <a:blip r:embed="rId2"/>
          <a:stretch>
            <a:fillRect/>
          </a:stretch>
        </p:blipFill>
        <p:spPr>
          <a:xfrm>
            <a:off x="7680960" y="1554480"/>
            <a:ext cx="4206240" cy="3947001"/>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Unseen Indian flood: U-Net beats every foundation model</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Assam 2016, never in training · U-Net 0.770 ± 0.006 · best FM Prithvi-EO-2.0-300M 0.747 ± 0.006 · top-3 fusion 0.776 ± 0.003</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pic>
        <p:nvPicPr>
          <p:cNvPr id="5" name="Picture 4" descr="bars_lio.png"/>
          <p:cNvPicPr>
            <a:picLocks noChangeAspect="1"/>
          </p:cNvPicPr>
          <p:nvPr/>
        </p:nvPicPr>
        <p:blipFill>
          <a:blip r:embed="rId2"/>
          <a:stretch>
            <a:fillRect/>
          </a:stretch>
        </p:blipFill>
        <p:spPr>
          <a:xfrm>
            <a:off x="457200" y="1463040"/>
            <a:ext cx="5164626" cy="4846320"/>
          </a:xfrm>
          <a:prstGeom prst="rect">
            <a:avLst/>
          </a:prstGeom>
        </p:spPr>
      </p:pic>
      <p:sp>
        <p:nvSpPr>
          <p:cNvPr id="6" name="TextBox 5"/>
          <p:cNvSpPr txBox="1"/>
          <p:nvPr/>
        </p:nvSpPr>
        <p:spPr>
          <a:xfrm>
            <a:off x="7863840" y="1554480"/>
            <a:ext cx="4023360" cy="4754880"/>
          </a:xfrm>
          <a:prstGeom prst="rect">
            <a:avLst/>
          </a:prstGeom>
          <a:noFill/>
        </p:spPr>
        <p:txBody>
          <a:bodyPr wrap="square">
            <a:spAutoFit/>
          </a:bodyPr>
          <a:lstStyle/>
          <a:p>
            <a:pPr>
              <a:spcAft>
                <a:spcPts val="600"/>
              </a:spcAft>
              <a:defRPr sz="1400" b="0">
                <a:solidFill>
                  <a:srgbClr val="0B0B0B"/>
                </a:solidFill>
              </a:defRPr>
            </a:pPr>
            <a:r>
              <a:t>• Every model loses 0.07–0.14 IoU when the flood is unseen (U-Net 0.840 → 0.770)</a:t>
            </a:r>
          </a:p>
          <a:p>
            <a:pPr>
              <a:spcAft>
                <a:spcPts val="600"/>
              </a:spcAft>
              <a:defRPr sz="1400" b="0">
                <a:solidFill>
                  <a:srgbClr val="0B0B0B"/>
                </a:solidFill>
              </a:defRPr>
            </a:pPr>
            <a:r>
              <a:t>• Fine-tuning helps every FM on the unseen flood (+0.003 to +0.048)</a:t>
            </a:r>
          </a:p>
          <a:p>
            <a:pPr>
              <a:spcAft>
                <a:spcPts val="600"/>
              </a:spcAft>
              <a:defRPr sz="1400" b="0">
                <a:solidFill>
                  <a:srgbClr val="0B0B0B"/>
                </a:solidFill>
              </a:defRPr>
            </a:pPr>
            <a:r>
              <a:t>• Fusing FMs alone does not beat the best FM; U-Net + CNN + best FM does</a:t>
            </a:r>
          </a:p>
          <a:p>
            <a:pPr>
              <a:spcAft>
                <a:spcPts val="600"/>
              </a:spcAft>
              <a:defRPr sz="1400" b="0">
                <a:solidFill>
                  <a:srgbClr val="0B0B0B"/>
                </a:solidFill>
              </a:defRPr>
            </a:pPr>
            <a:r>
              <a:t>• 21 labelled chips: U-Net 0.736 ≈ FMs with 212</a:t>
            </a:r>
          </a:p>
          <a:p>
            <a:pPr>
              <a:spcAft>
                <a:spcPts val="600"/>
              </a:spcAft>
              <a:defRPr sz="1400" b="0">
                <a:solidFill>
                  <a:srgbClr val="0B0B0B"/>
                </a:solidFill>
              </a:defRPr>
            </a:pPr>
            <a:r>
              <a:t>• Water is spectrally simple; ~250 chips suffice for a 7.8 M-parameter U-Net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Monsoon reality: radar only</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Optical is better when the sky is clear; on flood dates the delta was 61–95 % cloud</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pic>
        <p:nvPicPr>
          <p:cNvPr id="5" name="Picture 4" descr="modality_ablation.png"/>
          <p:cNvPicPr>
            <a:picLocks noChangeAspect="1"/>
          </p:cNvPicPr>
          <p:nvPr/>
        </p:nvPicPr>
        <p:blipFill>
          <a:blip r:embed="rId2"/>
          <a:stretch>
            <a:fillRect/>
          </a:stretch>
        </p:blipFill>
        <p:spPr>
          <a:xfrm>
            <a:off x="457200" y="1463040"/>
            <a:ext cx="5852160" cy="2560320"/>
          </a:xfrm>
          <a:prstGeom prst="rect">
            <a:avLst/>
          </a:prstGeom>
        </p:spPr>
      </p:pic>
      <p:graphicFrame>
        <p:nvGraphicFramePr>
          <p:cNvPr id="6" name="Table 5"/>
          <p:cNvGraphicFramePr>
            <a:graphicFrameLocks noGrp="1"/>
          </p:cNvGraphicFramePr>
          <p:nvPr/>
        </p:nvGraphicFramePr>
        <p:xfrm>
          <a:off x="6583680" y="1554480"/>
          <a:ext cx="5212080" cy="1920239"/>
        </p:xfrm>
        <a:graphic>
          <a:graphicData uri="http://schemas.openxmlformats.org/drawingml/2006/table">
            <a:tbl>
              <a:tblPr firstRow="1" bandRow="1">
                <a:tableStyleId>{5C22544A-7EE6-4342-B048-85BDC9FD1C3A}</a:tableStyleId>
              </a:tblPr>
              <a:tblGrid>
                <a:gridCol w="4023360"/>
                <a:gridCol w="1188720"/>
              </a:tblGrid>
              <a:tr h="320039">
                <a:tc>
                  <a:txBody>
                    <a:bodyPr/>
                    <a:lstStyle/>
                    <a:p>
                      <a:pPr>
                        <a:defRPr sz="1300" b="1"/>
                      </a:pPr>
                      <a:r>
                        <a:t>Radar-only model (official test)</a:t>
                      </a:r>
                    </a:p>
                  </a:txBody>
                  <a:tcPr/>
                </a:tc>
                <a:tc>
                  <a:txBody>
                    <a:bodyPr/>
                    <a:lstStyle/>
                    <a:p>
                      <a:pPr>
                        <a:defRPr sz="1300" b="1"/>
                      </a:pPr>
                      <a:r>
                        <a:t>IoU</a:t>
                      </a:r>
                    </a:p>
                  </a:txBody>
                  <a:tcPr/>
                </a:tc>
              </a:tr>
              <a:tr h="320039">
                <a:tc>
                  <a:txBody>
                    <a:bodyPr/>
                    <a:lstStyle/>
                    <a:p>
                      <a:pPr>
                        <a:defRPr sz="1300" b="0"/>
                      </a:pPr>
                      <a:r>
                        <a:t>U-Net, 10 m</a:t>
                      </a:r>
                    </a:p>
                  </a:txBody>
                  <a:tcPr/>
                </a:tc>
                <a:tc>
                  <a:txBody>
                    <a:bodyPr/>
                    <a:lstStyle/>
                    <a:p>
                      <a:pPr>
                        <a:defRPr sz="1300" b="0"/>
                      </a:pPr>
                      <a:r>
                        <a:t>0.649</a:t>
                      </a:r>
                    </a:p>
                  </a:txBody>
                  <a:tcPr/>
                </a:tc>
              </a:tr>
              <a:tr h="320039">
                <a:tc>
                  <a:txBody>
                    <a:bodyPr/>
                    <a:lstStyle/>
                    <a:p>
                      <a:pPr>
                        <a:defRPr sz="1300" b="0"/>
                      </a:pPr>
                      <a:r>
                        <a:t>TerraMind-B, 10 m</a:t>
                      </a:r>
                    </a:p>
                  </a:txBody>
                  <a:tcPr/>
                </a:tc>
                <a:tc>
                  <a:txBody>
                    <a:bodyPr/>
                    <a:lstStyle/>
                    <a:p>
                      <a:pPr>
                        <a:defRPr sz="1300" b="0"/>
                      </a:pPr>
                      <a:r>
                        <a:t>0.654</a:t>
                      </a:r>
                    </a:p>
                  </a:txBody>
                  <a:tcPr/>
                </a:tc>
              </a:tr>
              <a:tr h="320039">
                <a:tc>
                  <a:txBody>
                    <a:bodyPr/>
                    <a:lstStyle/>
                    <a:p>
                      <a:pPr>
                        <a:defRPr sz="1300" b="0"/>
                      </a:pPr>
                      <a:r>
                        <a:t>Fusion (mean), 10 m</a:t>
                      </a:r>
                    </a:p>
                  </a:txBody>
                  <a:tcPr/>
                </a:tc>
                <a:tc>
                  <a:txBody>
                    <a:bodyPr/>
                    <a:lstStyle/>
                    <a:p>
                      <a:pPr>
                        <a:defRPr sz="1300" b="0"/>
                      </a:pPr>
                      <a:r>
                        <a:t>0.664</a:t>
                      </a:r>
                    </a:p>
                  </a:txBody>
                  <a:tcPr/>
                </a:tc>
              </a:tr>
              <a:tr h="320039">
                <a:tc>
                  <a:txBody>
                    <a:bodyPr/>
                    <a:lstStyle/>
                    <a:p>
                      <a:pPr>
                        <a:defRPr sz="1300" b="0"/>
                      </a:pPr>
                      <a:r>
                        <a:t>Fusion, 20 m input (atlas)</a:t>
                      </a:r>
                    </a:p>
                  </a:txBody>
                  <a:tcPr/>
                </a:tc>
                <a:tc>
                  <a:txBody>
                    <a:bodyPr/>
                    <a:lstStyle/>
                    <a:p>
                      <a:pPr>
                        <a:defRPr sz="1300" b="0"/>
                      </a:pPr>
                      <a:r>
                        <a:t>0.640</a:t>
                      </a:r>
                    </a:p>
                  </a:txBody>
                  <a:tcPr/>
                </a:tc>
              </a:tr>
              <a:tr h="320044">
                <a:tc>
                  <a:txBody>
                    <a:bodyPr/>
                    <a:lstStyle/>
                    <a:p>
                      <a:pPr>
                        <a:defRPr sz="1300" b="0"/>
                      </a:pPr>
                      <a:r>
                        <a:t>Fusion, 20 m, threshold 0.30 (val.)</a:t>
                      </a:r>
                    </a:p>
                  </a:txBody>
                  <a:tcPr/>
                </a:tc>
                <a:tc>
                  <a:txBody>
                    <a:bodyPr/>
                    <a:lstStyle/>
                    <a:p>
                      <a:pPr>
                        <a:defRPr sz="1300" b="0"/>
                      </a:pPr>
                      <a:r>
                        <a:t>0.646</a:t>
                      </a:r>
                    </a:p>
                  </a:txBody>
                  <a:tcPr/>
                </a:tc>
              </a:tr>
            </a:tbl>
          </a:graphicData>
        </a:graphic>
      </p:graphicFrame>
      <p:sp>
        <p:nvSpPr>
          <p:cNvPr id="7" name="TextBox 6"/>
          <p:cNvSpPr txBox="1"/>
          <p:nvPr/>
        </p:nvSpPr>
        <p:spPr>
          <a:xfrm>
            <a:off x="6583680" y="4023360"/>
            <a:ext cx="5212080" cy="2194560"/>
          </a:xfrm>
          <a:prstGeom prst="rect">
            <a:avLst/>
          </a:prstGeom>
          <a:noFill/>
        </p:spPr>
        <p:txBody>
          <a:bodyPr wrap="square">
            <a:spAutoFit/>
          </a:bodyPr>
          <a:lstStyle/>
          <a:p>
            <a:pPr>
              <a:spcAft>
                <a:spcPts val="600"/>
              </a:spcAft>
              <a:defRPr sz="1400" b="0">
                <a:solidFill>
                  <a:srgbClr val="0B0B0B"/>
                </a:solidFill>
              </a:defRPr>
            </a:pPr>
            <a:r>
              <a:t>• TerraMind is the only FM that takes radar alone natively</a:t>
            </a:r>
          </a:p>
          <a:p>
            <a:pPr>
              <a:spcAft>
                <a:spcPts val="600"/>
              </a:spcAft>
              <a:defRPr sz="1400" b="0">
                <a:solidFill>
                  <a:srgbClr val="0B0B0B"/>
                </a:solidFill>
              </a:defRPr>
            </a:pPr>
            <a:r>
              <a:t>• Production model of the atlas = TerraMind-B + U-Net, radar only</a:t>
            </a:r>
          </a:p>
          <a:p>
            <a:pPr>
              <a:spcAft>
                <a:spcPts val="600"/>
              </a:spcAft>
              <a:defRPr sz="1400" b="0">
                <a:solidFill>
                  <a:srgbClr val="0B0B0B"/>
                </a:solidFill>
              </a:defRPr>
            </a:pPr>
            <a:r>
              <a:t>• 20 m input costs ~0.02 IoU, cuts the download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Checked, not assumed: the training audit</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scripts/audit_training.py re-checks all 92 runs from their stored outputs</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graphicFrame>
        <p:nvGraphicFramePr>
          <p:cNvPr id="5" name="Table 4"/>
          <p:cNvGraphicFramePr>
            <a:graphicFrameLocks noGrp="1"/>
          </p:cNvGraphicFramePr>
          <p:nvPr/>
        </p:nvGraphicFramePr>
        <p:xfrm>
          <a:off x="457200" y="1371600"/>
          <a:ext cx="6035040" cy="2560320"/>
        </p:xfrm>
        <a:graphic>
          <a:graphicData uri="http://schemas.openxmlformats.org/drawingml/2006/table">
            <a:tbl>
              <a:tblPr firstRow="1" bandRow="1">
                <a:tableStyleId>{5C22544A-7EE6-4342-B048-85BDC9FD1C3A}</a:tableStyleId>
              </a:tblPr>
              <a:tblGrid>
                <a:gridCol w="4023360"/>
                <a:gridCol w="2011680"/>
              </a:tblGrid>
              <a:tr h="320040">
                <a:tc>
                  <a:txBody>
                    <a:bodyPr/>
                    <a:lstStyle/>
                    <a:p>
                      <a:pPr>
                        <a:defRPr sz="1300" b="1"/>
                      </a:pPr>
                      <a:r>
                        <a:t>Check</a:t>
                      </a:r>
                    </a:p>
                  </a:txBody>
                  <a:tcPr/>
                </a:tc>
                <a:tc>
                  <a:txBody>
                    <a:bodyPr/>
                    <a:lstStyle/>
                    <a:p>
                      <a:pPr>
                        <a:defRPr sz="1300" b="1"/>
                      </a:pPr>
                      <a:r>
                        <a:t>Result</a:t>
                      </a:r>
                    </a:p>
                  </a:txBody>
                  <a:tcPr/>
                </a:tc>
              </a:tr>
              <a:tr h="320040">
                <a:tc>
                  <a:txBody>
                    <a:bodyPr/>
                    <a:lstStyle/>
                    <a:p>
                      <a:pPr>
                        <a:defRPr sz="1300" b="0"/>
                      </a:pPr>
                      <a:r>
                        <a:t>Runs made with the queued arguments</a:t>
                      </a:r>
                    </a:p>
                  </a:txBody>
                  <a:tcPr/>
                </a:tc>
                <a:tc>
                  <a:txBody>
                    <a:bodyPr/>
                    <a:lstStyle/>
                    <a:p>
                      <a:pPr>
                        <a:defRPr sz="1300" b="0"/>
                      </a:pPr>
                      <a:r>
                        <a:t>92 of 92</a:t>
                      </a:r>
                    </a:p>
                  </a:txBody>
                  <a:tcPr/>
                </a:tc>
              </a:tr>
              <a:tr h="320040">
                <a:tc>
                  <a:txBody>
                    <a:bodyPr/>
                    <a:lstStyle/>
                    <a:p>
                      <a:pPr>
                        <a:defRPr sz="1300" b="0"/>
                      </a:pPr>
                      <a:r>
                        <a:t>Chips in two splits</a:t>
                      </a:r>
                    </a:p>
                  </a:txBody>
                  <a:tcPr/>
                </a:tc>
                <a:tc>
                  <a:txBody>
                    <a:bodyPr/>
                    <a:lstStyle/>
                    <a:p>
                      <a:pPr>
                        <a:defRPr sz="1300" b="0"/>
                      </a:pPr>
                      <a:r>
                        <a:t>none</a:t>
                      </a:r>
                    </a:p>
                  </a:txBody>
                  <a:tcPr/>
                </a:tc>
              </a:tr>
              <a:tr h="320040">
                <a:tc>
                  <a:txBody>
                    <a:bodyPr/>
                    <a:lstStyle/>
                    <a:p>
                      <a:pPr>
                        <a:defRPr sz="1300" b="0"/>
                      </a:pPr>
                      <a:r>
                        <a:t>India chips in leave-India-out training</a:t>
                      </a:r>
                    </a:p>
                  </a:txBody>
                  <a:tcPr/>
                </a:tc>
                <a:tc>
                  <a:txBody>
                    <a:bodyPr/>
                    <a:lstStyle/>
                    <a:p>
                      <a:pPr>
                        <a:defRPr sz="1300" b="0"/>
                      </a:pPr>
                      <a:r>
                        <a:t>none</a:t>
                      </a:r>
                    </a:p>
                  </a:txBody>
                  <a:tcPr/>
                </a:tc>
              </a:tr>
              <a:tr h="320040">
                <a:tc>
                  <a:txBody>
                    <a:bodyPr/>
                    <a:lstStyle/>
                    <a:p>
                      <a:pPr>
                        <a:defRPr sz="1300" b="0"/>
                      </a:pPr>
                      <a:r>
                        <a:t>Model selection on validation only</a:t>
                      </a:r>
                    </a:p>
                  </a:txBody>
                  <a:tcPr/>
                </a:tc>
                <a:tc>
                  <a:txBody>
                    <a:bodyPr/>
                    <a:lstStyle/>
                    <a:p>
                      <a:pPr>
                        <a:defRPr sz="1300" b="0"/>
                      </a:pPr>
                      <a:r>
                        <a:t>every run</a:t>
                      </a:r>
                    </a:p>
                  </a:txBody>
                  <a:tcPr/>
                </a:tc>
              </a:tr>
              <a:tr h="320040">
                <a:tc>
                  <a:txBody>
                    <a:bodyPr/>
                    <a:lstStyle/>
                    <a:p>
                      <a:pPr>
                        <a:defRPr sz="1300" b="0"/>
                      </a:pPr>
                      <a:r>
                        <a:t>Test IoU recomputed = stored</a:t>
                      </a:r>
                    </a:p>
                  </a:txBody>
                  <a:tcPr/>
                </a:tc>
                <a:tc>
                  <a:txBody>
                    <a:bodyPr/>
                    <a:lstStyle/>
                    <a:p>
                      <a:pPr>
                        <a:defRPr sz="1300" b="0"/>
                      </a:pPr>
                      <a:r>
                        <a:t>every run</a:t>
                      </a:r>
                    </a:p>
                  </a:txBody>
                  <a:tcPr/>
                </a:tc>
              </a:tr>
              <a:tr h="320040">
                <a:tc>
                  <a:txBody>
                    <a:bodyPr/>
                    <a:lstStyle/>
                    <a:p>
                      <a:pPr>
                        <a:defRPr sz="1300" b="0"/>
                      </a:pPr>
                      <a:r>
                        <a:t>Seed spread (sd of test IoU)</a:t>
                      </a:r>
                    </a:p>
                  </a:txBody>
                  <a:tcPr/>
                </a:tc>
                <a:tc>
                  <a:txBody>
                    <a:bodyPr/>
                    <a:lstStyle/>
                    <a:p>
                      <a:pPr>
                        <a:defRPr sz="1300" b="0"/>
                      </a:pPr>
                      <a:r>
                        <a:t>at most 0.017</a:t>
                      </a:r>
                    </a:p>
                  </a:txBody>
                  <a:tcPr/>
                </a:tc>
              </a:tr>
              <a:tr h="320040">
                <a:tc>
                  <a:txBody>
                    <a:bodyPr/>
                    <a:lstStyle/>
                    <a:p>
                      <a:pPr>
                        <a:defRPr sz="1300" b="0"/>
                      </a:pPr>
                      <a:r>
                        <a:t>Problems found</a:t>
                      </a:r>
                    </a:p>
                  </a:txBody>
                  <a:tcPr/>
                </a:tc>
                <a:tc>
                  <a:txBody>
                    <a:bodyPr/>
                    <a:lstStyle/>
                    <a:p>
                      <a:pPr>
                        <a:defRPr sz="1300" b="0"/>
                      </a:pPr>
                      <a:r>
                        <a:t>0</a:t>
                      </a:r>
                    </a:p>
                  </a:txBody>
                  <a:tcPr/>
                </a:tc>
              </a:tr>
            </a:tbl>
          </a:graphicData>
        </a:graphic>
      </p:graphicFrame>
      <p:graphicFrame>
        <p:nvGraphicFramePr>
          <p:cNvPr id="6" name="Table 5"/>
          <p:cNvGraphicFramePr>
            <a:graphicFrameLocks noGrp="1"/>
          </p:cNvGraphicFramePr>
          <p:nvPr/>
        </p:nvGraphicFramePr>
        <p:xfrm>
          <a:off x="6766560" y="1371600"/>
          <a:ext cx="4937760" cy="960119"/>
        </p:xfrm>
        <a:graphic>
          <a:graphicData uri="http://schemas.openxmlformats.org/drawingml/2006/table">
            <a:tbl>
              <a:tblPr firstRow="1" bandRow="1">
                <a:tableStyleId>{5C22544A-7EE6-4342-B048-85BDC9FD1C3A}</a:tableStyleId>
              </a:tblPr>
              <a:tblGrid>
                <a:gridCol w="2560320"/>
                <a:gridCol w="1188720"/>
                <a:gridCol w="1188720"/>
              </a:tblGrid>
              <a:tr h="320039">
                <a:tc>
                  <a:txBody>
                    <a:bodyPr/>
                    <a:lstStyle/>
                    <a:p>
                      <a:pPr>
                        <a:defRPr sz="1300" b="1"/>
                      </a:pPr>
                      <a:r>
                        <a:t>TerraMind-B on Sen1Floods11</a:t>
                      </a:r>
                    </a:p>
                  </a:txBody>
                  <a:tcPr/>
                </a:tc>
                <a:tc>
                  <a:txBody>
                    <a:bodyPr/>
                    <a:lstStyle/>
                    <a:p>
                      <a:pPr>
                        <a:defRPr sz="1300" b="1"/>
                      </a:pPr>
                      <a:r>
                        <a:t>Ours, mIoU</a:t>
                      </a:r>
                    </a:p>
                  </a:txBody>
                  <a:tcPr/>
                </a:tc>
                <a:tc>
                  <a:txBody>
                    <a:bodyPr/>
                    <a:lstStyle/>
                    <a:p>
                      <a:pPr>
                        <a:defRPr sz="1300" b="1"/>
                      </a:pPr>
                      <a:r>
                        <a:t>Paper</a:t>
                      </a:r>
                    </a:p>
                  </a:txBody>
                  <a:tcPr/>
                </a:tc>
              </a:tr>
              <a:tr h="320039">
                <a:tc>
                  <a:txBody>
                    <a:bodyPr/>
                    <a:lstStyle/>
                    <a:p>
                      <a:pPr>
                        <a:defRPr sz="1300" b="0"/>
                      </a:pPr>
                      <a:r>
                        <a:t>Radar + optical</a:t>
                      </a:r>
                    </a:p>
                  </a:txBody>
                  <a:tcPr/>
                </a:tc>
                <a:tc>
                  <a:txBody>
                    <a:bodyPr/>
                    <a:lstStyle/>
                    <a:p>
                      <a:pPr>
                        <a:defRPr sz="1300" b="0"/>
                      </a:pPr>
                      <a:r>
                        <a:t>89.7</a:t>
                      </a:r>
                    </a:p>
                  </a:txBody>
                  <a:tcPr/>
                </a:tc>
                <a:tc>
                  <a:txBody>
                    <a:bodyPr/>
                    <a:lstStyle/>
                    <a:p>
                      <a:pPr>
                        <a:defRPr sz="1300" b="0"/>
                      </a:pPr>
                      <a:r>
                        <a:t>90.62</a:t>
                      </a:r>
                    </a:p>
                  </a:txBody>
                  <a:tcPr/>
                </a:tc>
              </a:tr>
              <a:tr h="320041">
                <a:tc>
                  <a:txBody>
                    <a:bodyPr/>
                    <a:lstStyle/>
                    <a:p>
                      <a:pPr>
                        <a:defRPr sz="1300" b="0"/>
                      </a:pPr>
                      <a:r>
                        <a:t>Radar only</a:t>
                      </a:r>
                    </a:p>
                  </a:txBody>
                  <a:tcPr/>
                </a:tc>
                <a:tc>
                  <a:txBody>
                    <a:bodyPr/>
                    <a:lstStyle/>
                    <a:p>
                      <a:pPr>
                        <a:defRPr sz="1300" b="0"/>
                      </a:pPr>
                      <a:r>
                        <a:t>79.8</a:t>
                      </a:r>
                    </a:p>
                  </a:txBody>
                  <a:tcPr/>
                </a:tc>
                <a:tc>
                  <a:txBody>
                    <a:bodyPr/>
                    <a:lstStyle/>
                    <a:p>
                      <a:pPr>
                        <a:defRPr sz="1300" b="0"/>
                      </a:pPr>
                      <a:r>
                        <a:t>80.39</a:t>
                      </a:r>
                    </a:p>
                  </a:txBody>
                  <a:tcPr/>
                </a:tc>
              </a:tr>
            </a:tbl>
          </a:graphicData>
        </a:graphic>
      </p:graphicFrame>
      <p:sp>
        <p:nvSpPr>
          <p:cNvPr id="7" name="TextBox 6"/>
          <p:cNvSpPr txBox="1"/>
          <p:nvPr/>
        </p:nvSpPr>
        <p:spPr>
          <a:xfrm>
            <a:off x="6766560" y="3017520"/>
            <a:ext cx="4937760" cy="2743200"/>
          </a:xfrm>
          <a:prstGeom prst="rect">
            <a:avLst/>
          </a:prstGeom>
          <a:noFill/>
        </p:spPr>
        <p:txBody>
          <a:bodyPr wrap="square">
            <a:spAutoFit/>
          </a:bodyPr>
          <a:lstStyle/>
          <a:p>
            <a:pPr>
              <a:spcAft>
                <a:spcPts val="600"/>
              </a:spcAft>
              <a:defRPr sz="1300" b="0">
                <a:solidFill>
                  <a:srgbClr val="0B0B0B"/>
                </a:solidFill>
              </a:defRPr>
            </a:pPr>
            <a:r>
              <a:t>• Published values: TerraMind paper (arXiv:2504.11171, PANGAEA protocol); ours are within one point</a:t>
            </a:r>
          </a:p>
          <a:p>
            <a:pPr>
              <a:spcAft>
                <a:spcPts val="600"/>
              </a:spcAft>
              <a:defRPr sz="1300" b="0">
                <a:solidFill>
                  <a:srgbClr val="0B0B0B"/>
                </a:solidFill>
              </a:defRPr>
            </a:pPr>
            <a:r>
              <a:t>• The delta's radar looks like the training radar: dry-land VV median -8.7 dB vs -9.7 dB; water 8-11 dB lower in both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Mahanadi flood atlas 2017–2026</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590 Sentinel-1 passes (457 monsoon, 133 dry season) · 3 tracks · Sentinel-1A/B/D · 20 m</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pic>
        <p:nvPicPr>
          <p:cNvPr id="5" name="Picture 4" descr="atlas_timeseries.png"/>
          <p:cNvPicPr>
            <a:picLocks noChangeAspect="1"/>
          </p:cNvPicPr>
          <p:nvPr/>
        </p:nvPicPr>
        <p:blipFill>
          <a:blip r:embed="rId2"/>
          <a:stretch>
            <a:fillRect/>
          </a:stretch>
        </p:blipFill>
        <p:spPr>
          <a:xfrm>
            <a:off x="365760" y="1371600"/>
            <a:ext cx="6949440" cy="3616752"/>
          </a:xfrm>
          <a:prstGeom prst="rect">
            <a:avLst/>
          </a:prstGeom>
        </p:spPr>
      </p:pic>
      <p:pic>
        <p:nvPicPr>
          <p:cNvPr id="6" name="Picture 5" descr="atlas_area_vs_discharge.png"/>
          <p:cNvPicPr>
            <a:picLocks noChangeAspect="1"/>
          </p:cNvPicPr>
          <p:nvPr/>
        </p:nvPicPr>
        <p:blipFill>
          <a:blip r:embed="rId3"/>
          <a:stretch>
            <a:fillRect/>
          </a:stretch>
        </p:blipFill>
        <p:spPr>
          <a:xfrm>
            <a:off x="7955279" y="1371600"/>
            <a:ext cx="4023360" cy="3268320"/>
          </a:xfrm>
          <a:prstGeom prst="rect">
            <a:avLst/>
          </a:prstGeom>
        </p:spPr>
      </p:pic>
      <p:sp>
        <p:nvSpPr>
          <p:cNvPr id="7" name="TextBox 6"/>
          <p:cNvSpPr txBox="1"/>
          <p:nvPr/>
        </p:nvSpPr>
        <p:spPr>
          <a:xfrm>
            <a:off x="548640" y="5349240"/>
            <a:ext cx="11064240" cy="1005840"/>
          </a:xfrm>
          <a:prstGeom prst="rect">
            <a:avLst/>
          </a:prstGeom>
          <a:noFill/>
        </p:spPr>
        <p:txBody>
          <a:bodyPr wrap="square">
            <a:spAutoFit/>
          </a:bodyPr>
          <a:lstStyle/>
          <a:p>
            <a:pPr>
              <a:spcAft>
                <a:spcPts val="600"/>
              </a:spcAft>
              <a:defRPr sz="1400" b="0">
                <a:solidFill>
                  <a:srgbClr val="0B0B0B"/>
                </a:solidFill>
              </a:defRPr>
            </a:pPr>
            <a:r>
              <a:t>• Flooded land follows the Naraj flow (Spearman ρ = 0.76, predictor: 5-day peak flow); river bed (178 km²) and normal water excluded; a 3 km swath-edge band removed per pass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From a flow forecast to a flood map</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Each 20 m pixel gets the Naraj flow at which it starts to flood</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pic>
        <p:nvPicPr>
          <p:cNvPr id="5" name="Picture 4" descr="atlas_trigger_map.png"/>
          <p:cNvPicPr>
            <a:picLocks noChangeAspect="1"/>
          </p:cNvPicPr>
          <p:nvPr/>
        </p:nvPicPr>
        <p:blipFill>
          <a:blip r:embed="rId2"/>
          <a:stretch>
            <a:fillRect/>
          </a:stretch>
        </p:blipFill>
        <p:spPr>
          <a:xfrm>
            <a:off x="365760" y="1371600"/>
            <a:ext cx="7315200" cy="4076892"/>
          </a:xfrm>
          <a:prstGeom prst="rect">
            <a:avLst/>
          </a:prstGeom>
        </p:spPr>
      </p:pic>
      <p:sp>
        <p:nvSpPr>
          <p:cNvPr id="6" name="TextBox 5"/>
          <p:cNvSpPr txBox="1"/>
          <p:nvPr/>
        </p:nvSpPr>
        <p:spPr>
          <a:xfrm>
            <a:off x="7863840" y="1371600"/>
            <a:ext cx="4114800" cy="2926080"/>
          </a:xfrm>
          <a:prstGeom prst="rect">
            <a:avLst/>
          </a:prstGeom>
          <a:noFill/>
        </p:spPr>
        <p:txBody>
          <a:bodyPr wrap="square">
            <a:spAutoFit/>
          </a:bodyPr>
          <a:lstStyle/>
          <a:p>
            <a:pPr>
              <a:spcAft>
                <a:spcPts val="600"/>
              </a:spcAft>
              <a:defRPr sz="1300" b="0">
                <a:solidFill>
                  <a:srgbClr val="0B0B0B"/>
                </a:solidFill>
              </a:defRPr>
            </a:pPr>
            <a:r>
              <a:t>• Years never seen in fitting, high flows (≥ 9,682 m³/s): IoU 0.23 vs 0.07 for climatology</a:t>
            </a:r>
          </a:p>
          <a:p>
            <a:pPr>
              <a:spcAft>
                <a:spcPts val="600"/>
              </a:spcAft>
              <a:defRPr sz="1300" b="0">
                <a:solidFill>
                  <a:srgbClr val="0B0B0B"/>
                </a:solidFill>
              </a:defRPr>
            </a:pPr>
            <a:r>
              <a:t>• Per settlement (≥ 10 % of people flooded), high flows: POD 17%, FAR 65% (climatology POD 3%)</a:t>
            </a:r>
          </a:p>
          <a:p>
            <a:pPr>
              <a:spcAft>
                <a:spcPts val="600"/>
              </a:spcAft>
              <a:defRPr sz="1300" b="0">
                <a:solidFill>
                  <a:srgbClr val="0B0B0B"/>
                </a:solidFill>
              </a:defRPr>
            </a:pPr>
            <a:r>
              <a:t>• Design floods (Gumbel): 2-yr 17,897, 25-yr 32,997 m³/s</a:t>
            </a:r>
          </a:p>
          <a:p>
            <a:pPr>
              <a:spcAft>
                <a:spcPts val="600"/>
              </a:spcAft>
              <a:defRPr sz="1300" b="0">
                <a:solidFill>
                  <a:srgbClr val="0B0B0B"/>
                </a:solidFill>
              </a:defRPr>
            </a:pPr>
            <a:r>
              <a:t>• Same 5-yr flow: 25 km² flooded in a dry week, 105 km² with 171 mm of rain — read the rain forecast too</a:t>
            </a:r>
          </a:p>
          <a:p>
            <a:pPr>
              <a:spcAft>
                <a:spcPts val="600"/>
              </a:spcAft>
              <a:defRPr sz="1300" b="0">
                <a:solidFill>
                  <a:srgbClr val="0B0B0B"/>
                </a:solidFill>
              </a:defRPr>
            </a:pPr>
            <a:r>
              <a:t>• Where it floods is predictable from the past (AUC 0.93); how much floods on a day only partly</a:t>
            </a:r>
          </a:p>
          <a:p>
            <a:pPr>
              <a:spcAft>
                <a:spcPts val="600"/>
              </a:spcAft>
              <a:defRPr sz="1300" b="0">
                <a:solidFill>
                  <a:srgbClr val="0B0B0B"/>
                </a:solidFill>
              </a:defRPr>
            </a:pPr>
            <a:r>
              <a:t>• Hirakud → Naraj ≈ 1 day</a:t>
            </a:r>
          </a:p>
        </p:txBody>
      </p:sp>
      <p:pic>
        <p:nvPicPr>
          <p:cNvPr id="7" name="Picture 6" descr="atlas_loyo.png"/>
          <p:cNvPicPr>
            <a:picLocks noChangeAspect="1"/>
          </p:cNvPicPr>
          <p:nvPr/>
        </p:nvPicPr>
        <p:blipFill>
          <a:blip r:embed="rId3"/>
          <a:stretch>
            <a:fillRect/>
          </a:stretch>
        </p:blipFill>
        <p:spPr>
          <a:xfrm>
            <a:off x="7863840" y="4206240"/>
            <a:ext cx="4114800" cy="160147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A learned flow + rain + history model</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Gradient boosting per pixel and pass; each year predicted from the other years</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graphicFrame>
        <p:nvGraphicFramePr>
          <p:cNvPr id="5" name="Table 4"/>
          <p:cNvGraphicFramePr>
            <a:graphicFrameLocks noGrp="1"/>
          </p:cNvGraphicFramePr>
          <p:nvPr/>
        </p:nvGraphicFramePr>
        <p:xfrm>
          <a:off x="457200" y="1371600"/>
          <a:ext cx="6949440" cy="1920239"/>
        </p:xfrm>
        <a:graphic>
          <a:graphicData uri="http://schemas.openxmlformats.org/drawingml/2006/table">
            <a:tbl>
              <a:tblPr firstRow="1" bandRow="1">
                <a:tableStyleId>{5C22544A-7EE6-4342-B048-85BDC9FD1C3A}</a:tableStyleId>
              </a:tblPr>
              <a:tblGrid>
                <a:gridCol w="2834640"/>
                <a:gridCol w="1371600"/>
                <a:gridCol w="1371600"/>
                <a:gridCol w="1371600"/>
              </a:tblGrid>
              <a:tr h="320039">
                <a:tc>
                  <a:txBody>
                    <a:bodyPr/>
                    <a:lstStyle/>
                    <a:p>
                      <a:pPr>
                        <a:defRPr sz="1300" b="1"/>
                      </a:pPr>
                      <a:r>
                        <a:t>Held-out passes, IoU</a:t>
                      </a:r>
                    </a:p>
                  </a:txBody>
                  <a:tcPr/>
                </a:tc>
                <a:tc>
                  <a:txBody>
                    <a:bodyPr/>
                    <a:lstStyle/>
                    <a:p>
                      <a:pPr>
                        <a:defRPr sz="1300" b="1"/>
                      </a:pPr>
                      <a:r>
                        <a:t>Learned</a:t>
                      </a:r>
                    </a:p>
                  </a:txBody>
                  <a:tcPr/>
                </a:tc>
                <a:tc>
                  <a:txBody>
                    <a:bodyPr/>
                    <a:lstStyle/>
                    <a:p>
                      <a:pPr>
                        <a:defRPr sz="1300" b="1"/>
                      </a:pPr>
                      <a:r>
                        <a:t>Trigger map</a:t>
                      </a:r>
                    </a:p>
                  </a:txBody>
                  <a:tcPr/>
                </a:tc>
                <a:tc>
                  <a:txBody>
                    <a:bodyPr/>
                    <a:lstStyle/>
                    <a:p>
                      <a:pPr>
                        <a:defRPr sz="1300" b="1"/>
                      </a:pPr>
                      <a:r>
                        <a:t>Climatology</a:t>
                      </a:r>
                    </a:p>
                  </a:txBody>
                  <a:tcPr/>
                </a:tc>
              </a:tr>
              <a:tr h="320039">
                <a:tc>
                  <a:txBody>
                    <a:bodyPr/>
                    <a:lstStyle/>
                    <a:p>
                      <a:pPr>
                        <a:defRPr sz="1300" b="0"/>
                      </a:pPr>
                      <a:r>
                        <a:t>All monsoon (457)</a:t>
                      </a:r>
                    </a:p>
                  </a:txBody>
                  <a:tcPr/>
                </a:tc>
                <a:tc>
                  <a:txBody>
                    <a:bodyPr/>
                    <a:lstStyle/>
                    <a:p>
                      <a:pPr>
                        <a:defRPr sz="1300" b="0"/>
                      </a:pPr>
                      <a:r>
                        <a:t>0.24</a:t>
                      </a:r>
                    </a:p>
                  </a:txBody>
                  <a:tcPr/>
                </a:tc>
                <a:tc>
                  <a:txBody>
                    <a:bodyPr/>
                    <a:lstStyle/>
                    <a:p>
                      <a:pPr>
                        <a:defRPr sz="1300" b="0"/>
                      </a:pPr>
                      <a:r>
                        <a:t>0.23</a:t>
                      </a:r>
                    </a:p>
                  </a:txBody>
                  <a:tcPr/>
                </a:tc>
                <a:tc>
                  <a:txBody>
                    <a:bodyPr/>
                    <a:lstStyle/>
                    <a:p>
                      <a:pPr>
                        <a:defRPr sz="1300" b="0"/>
                      </a:pPr>
                      <a:r>
                        <a:t>0.14</a:t>
                      </a:r>
                    </a:p>
                  </a:txBody>
                  <a:tcPr/>
                </a:tc>
              </a:tr>
              <a:tr h="320039">
                <a:tc>
                  <a:txBody>
                    <a:bodyPr/>
                    <a:lstStyle/>
                    <a:p>
                      <a:pPr>
                        <a:defRPr sz="1300" b="0"/>
                      </a:pPr>
                      <a:r>
                        <a:t>High flow (85)</a:t>
                      </a:r>
                    </a:p>
                  </a:txBody>
                  <a:tcPr/>
                </a:tc>
                <a:tc>
                  <a:txBody>
                    <a:bodyPr/>
                    <a:lstStyle/>
                    <a:p>
                      <a:pPr>
                        <a:defRPr sz="1300" b="0"/>
                      </a:pPr>
                      <a:r>
                        <a:t>0.24</a:t>
                      </a:r>
                    </a:p>
                  </a:txBody>
                  <a:tcPr/>
                </a:tc>
                <a:tc>
                  <a:txBody>
                    <a:bodyPr/>
                    <a:lstStyle/>
                    <a:p>
                      <a:pPr>
                        <a:defRPr sz="1300" b="0"/>
                      </a:pPr>
                      <a:r>
                        <a:t>0.23</a:t>
                      </a:r>
                    </a:p>
                  </a:txBody>
                  <a:tcPr/>
                </a:tc>
                <a:tc>
                  <a:txBody>
                    <a:bodyPr/>
                    <a:lstStyle/>
                    <a:p>
                      <a:pPr>
                        <a:defRPr sz="1300" b="0"/>
                      </a:pPr>
                      <a:r>
                        <a:t>0.07</a:t>
                      </a:r>
                    </a:p>
                  </a:txBody>
                  <a:tcPr/>
                </a:tc>
              </a:tr>
              <a:tr h="320039">
                <a:tc>
                  <a:txBody>
                    <a:bodyPr/>
                    <a:lstStyle/>
                    <a:p>
                      <a:pPr>
                        <a:defRPr sz="1300" b="0"/>
                      </a:pPr>
                      <a:r>
                        <a:t>Heavy rain (46)</a:t>
                      </a:r>
                    </a:p>
                  </a:txBody>
                  <a:tcPr/>
                </a:tc>
                <a:tc>
                  <a:txBody>
                    <a:bodyPr/>
                    <a:lstStyle/>
                    <a:p>
                      <a:pPr>
                        <a:defRPr sz="1300" b="0"/>
                      </a:pPr>
                      <a:r>
                        <a:t>0.22</a:t>
                      </a:r>
                    </a:p>
                  </a:txBody>
                  <a:tcPr/>
                </a:tc>
                <a:tc>
                  <a:txBody>
                    <a:bodyPr/>
                    <a:lstStyle/>
                    <a:p>
                      <a:pPr>
                        <a:defRPr sz="1300" b="0"/>
                      </a:pPr>
                      <a:r>
                        <a:t>0.17</a:t>
                      </a:r>
                    </a:p>
                  </a:txBody>
                  <a:tcPr/>
                </a:tc>
                <a:tc>
                  <a:txBody>
                    <a:bodyPr/>
                    <a:lstStyle/>
                    <a:p>
                      <a:pPr>
                        <a:defRPr sz="1300" b="0"/>
                      </a:pPr>
                      <a:r>
                        <a:t>0.05</a:t>
                      </a:r>
                    </a:p>
                  </a:txBody>
                  <a:tcPr/>
                </a:tc>
              </a:tr>
              <a:tr h="320039">
                <a:tc>
                  <a:txBody>
                    <a:bodyPr/>
                    <a:lstStyle/>
                    <a:p>
                      <a:pPr>
                        <a:defRPr sz="1300" b="0"/>
                      </a:pPr>
                      <a:r>
                        <a:t>Villages, high flow: POD / FAR</a:t>
                      </a:r>
                    </a:p>
                  </a:txBody>
                  <a:tcPr/>
                </a:tc>
                <a:tc>
                  <a:txBody>
                    <a:bodyPr/>
                    <a:lstStyle/>
                    <a:p>
                      <a:pPr>
                        <a:defRPr sz="1300" b="0"/>
                      </a:pPr>
                      <a:r>
                        <a:t>21% / 71%</a:t>
                      </a:r>
                    </a:p>
                  </a:txBody>
                  <a:tcPr/>
                </a:tc>
                <a:tc>
                  <a:txBody>
                    <a:bodyPr/>
                    <a:lstStyle/>
                    <a:p>
                      <a:pPr>
                        <a:defRPr sz="1300" b="0"/>
                      </a:pPr>
                      <a:r>
                        <a:t>17% / 65%</a:t>
                      </a:r>
                    </a:p>
                  </a:txBody>
                  <a:tcPr/>
                </a:tc>
                <a:tc>
                  <a:txBody>
                    <a:bodyPr/>
                    <a:lstStyle/>
                    <a:p>
                      <a:pPr>
                        <a:defRPr sz="1300" b="0"/>
                      </a:pPr>
                      <a:r>
                        <a:t>3% / 23%</a:t>
                      </a:r>
                    </a:p>
                  </a:txBody>
                  <a:tcPr/>
                </a:tc>
              </a:tr>
              <a:tr h="320044">
                <a:tc>
                  <a:txBody>
                    <a:bodyPr/>
                    <a:lstStyle/>
                    <a:p>
                      <a:pPr>
                        <a:defRPr sz="1300" b="0"/>
                      </a:pPr>
                      <a:r>
                        <a:t>Ranking AUC, all passes</a:t>
                      </a:r>
                    </a:p>
                  </a:txBody>
                  <a:tcPr/>
                </a:tc>
                <a:tc>
                  <a:txBody>
                    <a:bodyPr/>
                    <a:lstStyle/>
                    <a:p>
                      <a:pPr>
                        <a:defRPr sz="1300" b="0"/>
                      </a:pPr>
                      <a:r>
                        <a:t>0.95</a:t>
                      </a:r>
                    </a:p>
                  </a:txBody>
                  <a:tcPr/>
                </a:tc>
                <a:tc>
                  <a:txBody>
                    <a:bodyPr/>
                    <a:lstStyle/>
                    <a:p>
                      <a:pPr>
                        <a:defRPr sz="1300" b="0"/>
                      </a:pPr>
                      <a:r>
                        <a:t>0.79</a:t>
                      </a:r>
                    </a:p>
                  </a:txBody>
                  <a:tcPr/>
                </a:tc>
                <a:tc>
                  <a:txBody>
                    <a:bodyPr/>
                    <a:lstStyle/>
                    <a:p>
                      <a:pPr>
                        <a:defRPr sz="1300" b="0"/>
                      </a:pPr>
                      <a:r>
                        <a:t>0.93</a:t>
                      </a:r>
                    </a:p>
                  </a:txBody>
                  <a:tcPr/>
                </a:tc>
              </a:tr>
            </a:tbl>
          </a:graphicData>
        </a:graphic>
      </p:graphicFrame>
      <p:sp>
        <p:nvSpPr>
          <p:cNvPr id="6" name="TextBox 5"/>
          <p:cNvSpPr txBox="1"/>
          <p:nvPr/>
        </p:nvSpPr>
        <p:spPr>
          <a:xfrm>
            <a:off x="7772400" y="1371600"/>
            <a:ext cx="4023360" cy="4754880"/>
          </a:xfrm>
          <a:prstGeom prst="rect">
            <a:avLst/>
          </a:prstGeom>
          <a:noFill/>
        </p:spPr>
        <p:txBody>
          <a:bodyPr wrap="square">
            <a:spAutoFit/>
          </a:bodyPr>
          <a:lstStyle/>
          <a:p>
            <a:pPr>
              <a:spcAft>
                <a:spcPts val="600"/>
              </a:spcAft>
              <a:defRPr sz="1300" b="0">
                <a:solidFill>
                  <a:srgbClr val="0B0B0B"/>
                </a:solidFill>
              </a:defRPr>
            </a:pPr>
            <a:r>
              <a:t>• Inputs: flow and 7-day rain of the pass, month, radar track; per pixel the training years' trigger flow, flood frequency (all, high flow, heavy rain), height above and distance to the river bed</a:t>
            </a:r>
          </a:p>
          <a:p>
            <a:pPr>
              <a:spcAft>
                <a:spcPts val="600"/>
              </a:spcAft>
              <a:defRPr sz="1300" b="0">
                <a:solidFill>
                  <a:srgbClr val="0B0B0B"/>
                </a:solidFill>
              </a:defRPr>
            </a:pPr>
            <a:r>
              <a:t>• Leans most on: flood frequency, Naraj flow, 7-day rain, month</a:t>
            </a:r>
          </a:p>
          <a:p>
            <a:pPr>
              <a:spcAft>
                <a:spcPts val="600"/>
              </a:spcAft>
              <a:defRPr sz="1300" b="0">
                <a:solidFill>
                  <a:srgbClr val="0B0B0B"/>
                </a:solidFill>
              </a:defRPr>
            </a:pPr>
            <a:r>
              <a:t>• 5-year flow: 44 km² in a dry week, 172 km² with heavy rain: one model for the river forecast plus a rain gauge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What floods: people, farmland, roads, hospitals</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Per design flood; land outside the river bed and normal water</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graphicFrame>
        <p:nvGraphicFramePr>
          <p:cNvPr id="5" name="Table 4"/>
          <p:cNvGraphicFramePr>
            <a:graphicFrameLocks noGrp="1"/>
          </p:cNvGraphicFramePr>
          <p:nvPr/>
        </p:nvGraphicFramePr>
        <p:xfrm>
          <a:off x="548640" y="1463040"/>
          <a:ext cx="11064240" cy="2240279"/>
        </p:xfrm>
        <a:graphic>
          <a:graphicData uri="http://schemas.openxmlformats.org/drawingml/2006/table">
            <a:tbl>
              <a:tblPr firstRow="1" bandRow="1">
                <a:tableStyleId>{5C22544A-7EE6-4342-B048-85BDC9FD1C3A}</a:tableStyleId>
              </a:tblPr>
              <a:tblGrid>
                <a:gridCol w="1554480"/>
                <a:gridCol w="1463040"/>
                <a:gridCol w="1463040"/>
                <a:gridCol w="1280160"/>
                <a:gridCol w="1371600"/>
                <a:gridCol w="1097280"/>
                <a:gridCol w="1188720"/>
                <a:gridCol w="1645920"/>
              </a:tblGrid>
              <a:tr h="320039">
                <a:tc>
                  <a:txBody>
                    <a:bodyPr/>
                    <a:lstStyle/>
                    <a:p>
                      <a:pPr>
                        <a:defRPr sz="1300" b="1"/>
                      </a:pPr>
                      <a:r>
                        <a:t>Scenario</a:t>
                      </a:r>
                    </a:p>
                  </a:txBody>
                  <a:tcPr/>
                </a:tc>
                <a:tc>
                  <a:txBody>
                    <a:bodyPr/>
                    <a:lstStyle/>
                    <a:p>
                      <a:pPr>
                        <a:defRPr sz="1300" b="1"/>
                      </a:pPr>
                      <a:r>
                        <a:t>Naraj flow (m³/s)</a:t>
                      </a:r>
                    </a:p>
                  </a:txBody>
                  <a:tcPr/>
                </a:tc>
                <a:tc>
                  <a:txBody>
                    <a:bodyPr/>
                    <a:lstStyle/>
                    <a:p>
                      <a:pPr>
                        <a:defRPr sz="1300" b="1"/>
                      </a:pPr>
                      <a:r>
                        <a:t>Flooded land (km²)</a:t>
                      </a:r>
                    </a:p>
                  </a:txBody>
                  <a:tcPr/>
                </a:tc>
                <a:tc>
                  <a:txBody>
                    <a:bodyPr/>
                    <a:lstStyle/>
                    <a:p>
                      <a:pPr>
                        <a:defRPr sz="1300" b="1"/>
                      </a:pPr>
                      <a:r>
                        <a:t>People</a:t>
                      </a:r>
                    </a:p>
                  </a:txBody>
                  <a:tcPr/>
                </a:tc>
                <a:tc>
                  <a:txBody>
                    <a:bodyPr/>
                    <a:lstStyle/>
                    <a:p>
                      <a:pPr>
                        <a:defRPr sz="1300" b="1"/>
                      </a:pPr>
                      <a:r>
                        <a:t>Cropland (km²)</a:t>
                      </a:r>
                    </a:p>
                  </a:txBody>
                  <a:tcPr/>
                </a:tc>
                <a:tc>
                  <a:txBody>
                    <a:bodyPr/>
                    <a:lstStyle/>
                    <a:p>
                      <a:pPr>
                        <a:defRPr sz="1300" b="1"/>
                      </a:pPr>
                      <a:r>
                        <a:t>Road km</a:t>
                      </a:r>
                    </a:p>
                  </a:txBody>
                  <a:tcPr/>
                </a:tc>
                <a:tc>
                  <a:txBody>
                    <a:bodyPr/>
                    <a:lstStyle/>
                    <a:p>
                      <a:pPr>
                        <a:defRPr sz="1300" b="1"/>
                      </a:pPr>
                      <a:r>
                        <a:t>Health fac.</a:t>
                      </a:r>
                    </a:p>
                  </a:txBody>
                  <a:tcPr/>
                </a:tc>
                <a:tc>
                  <a:txBody>
                    <a:bodyPr/>
                    <a:lstStyle/>
                    <a:p>
                      <a:pPr>
                        <a:defRPr sz="1300" b="1"/>
                      </a:pPr>
                      <a:r>
                        <a:t>Cut off from hospital</a:t>
                      </a:r>
                    </a:p>
                  </a:txBody>
                  <a:tcPr/>
                </a:tc>
              </a:tr>
              <a:tr h="320039">
                <a:tc>
                  <a:txBody>
                    <a:bodyPr/>
                    <a:lstStyle/>
                    <a:p>
                      <a:pPr>
                        <a:defRPr sz="1300" b="0"/>
                      </a:pPr>
                      <a:r>
                        <a:t>2-yr</a:t>
                      </a:r>
                    </a:p>
                  </a:txBody>
                  <a:tcPr/>
                </a:tc>
                <a:tc>
                  <a:txBody>
                    <a:bodyPr/>
                    <a:lstStyle/>
                    <a:p>
                      <a:pPr>
                        <a:defRPr sz="1300" b="0"/>
                      </a:pPr>
                      <a:r>
                        <a:t>17,897</a:t>
                      </a:r>
                    </a:p>
                  </a:txBody>
                  <a:tcPr/>
                </a:tc>
                <a:tc>
                  <a:txBody>
                    <a:bodyPr/>
                    <a:lstStyle/>
                    <a:p>
                      <a:pPr>
                        <a:defRPr sz="1300" b="0"/>
                      </a:pPr>
                      <a:r>
                        <a:t>38</a:t>
                      </a:r>
                    </a:p>
                  </a:txBody>
                  <a:tcPr/>
                </a:tc>
                <a:tc>
                  <a:txBody>
                    <a:bodyPr/>
                    <a:lstStyle/>
                    <a:p>
                      <a:pPr>
                        <a:defRPr sz="1300" b="0"/>
                      </a:pPr>
                      <a:r>
                        <a:t>6,086</a:t>
                      </a:r>
                    </a:p>
                  </a:txBody>
                  <a:tcPr/>
                </a:tc>
                <a:tc>
                  <a:txBody>
                    <a:bodyPr/>
                    <a:lstStyle/>
                    <a:p>
                      <a:pPr>
                        <a:defRPr sz="1300" b="0"/>
                      </a:pPr>
                      <a:r>
                        <a:t>16</a:t>
                      </a:r>
                    </a:p>
                  </a:txBody>
                  <a:tcPr/>
                </a:tc>
                <a:tc>
                  <a:txBody>
                    <a:bodyPr/>
                    <a:lstStyle/>
                    <a:p>
                      <a:pPr>
                        <a:defRPr sz="1300" b="0"/>
                      </a:pPr>
                      <a:r>
                        <a:t>3</a:t>
                      </a:r>
                    </a:p>
                  </a:txBody>
                  <a:tcPr/>
                </a:tc>
                <a:tc>
                  <a:txBody>
                    <a:bodyPr/>
                    <a:lstStyle/>
                    <a:p>
                      <a:pPr>
                        <a:defRPr sz="1300" b="0"/>
                      </a:pPr>
                      <a:r>
                        <a:t>5</a:t>
                      </a:r>
                    </a:p>
                  </a:txBody>
                  <a:tcPr/>
                </a:tc>
                <a:tc>
                  <a:txBody>
                    <a:bodyPr/>
                    <a:lstStyle/>
                    <a:p>
                      <a:pPr>
                        <a:defRPr sz="1300" b="0"/>
                      </a:pPr>
                      <a:r>
                        <a:t>0</a:t>
                      </a:r>
                    </a:p>
                  </a:txBody>
                  <a:tcPr/>
                </a:tc>
              </a:tr>
              <a:tr h="320039">
                <a:tc>
                  <a:txBody>
                    <a:bodyPr/>
                    <a:lstStyle/>
                    <a:p>
                      <a:pPr>
                        <a:defRPr sz="1300" b="0"/>
                      </a:pPr>
                      <a:r>
                        <a:t>5-yr</a:t>
                      </a:r>
                    </a:p>
                  </a:txBody>
                  <a:tcPr/>
                </a:tc>
                <a:tc>
                  <a:txBody>
                    <a:bodyPr/>
                    <a:lstStyle/>
                    <a:p>
                      <a:pPr>
                        <a:defRPr sz="1300" b="0"/>
                      </a:pPr>
                      <a:r>
                        <a:t>23,940</a:t>
                      </a:r>
                    </a:p>
                  </a:txBody>
                  <a:tcPr/>
                </a:tc>
                <a:tc>
                  <a:txBody>
                    <a:bodyPr/>
                    <a:lstStyle/>
                    <a:p>
                      <a:pPr>
                        <a:defRPr sz="1300" b="0"/>
                      </a:pPr>
                      <a:r>
                        <a:t>203</a:t>
                      </a:r>
                    </a:p>
                  </a:txBody>
                  <a:tcPr/>
                </a:tc>
                <a:tc>
                  <a:txBody>
                    <a:bodyPr/>
                    <a:lstStyle/>
                    <a:p>
                      <a:pPr>
                        <a:defRPr sz="1300" b="0"/>
                      </a:pPr>
                      <a:r>
                        <a:t>22,545</a:t>
                      </a:r>
                    </a:p>
                  </a:txBody>
                  <a:tcPr/>
                </a:tc>
                <a:tc>
                  <a:txBody>
                    <a:bodyPr/>
                    <a:lstStyle/>
                    <a:p>
                      <a:pPr>
                        <a:defRPr sz="1300" b="0"/>
                      </a:pPr>
                      <a:r>
                        <a:t>152</a:t>
                      </a:r>
                    </a:p>
                  </a:txBody>
                  <a:tcPr/>
                </a:tc>
                <a:tc>
                  <a:txBody>
                    <a:bodyPr/>
                    <a:lstStyle/>
                    <a:p>
                      <a:pPr>
                        <a:defRPr sz="1300" b="0"/>
                      </a:pPr>
                      <a:r>
                        <a:t>30</a:t>
                      </a:r>
                    </a:p>
                  </a:txBody>
                  <a:tcPr/>
                </a:tc>
                <a:tc>
                  <a:txBody>
                    <a:bodyPr/>
                    <a:lstStyle/>
                    <a:p>
                      <a:pPr>
                        <a:defRPr sz="1300" b="0"/>
                      </a:pPr>
                      <a:r>
                        <a:t>5</a:t>
                      </a:r>
                    </a:p>
                  </a:txBody>
                  <a:tcPr/>
                </a:tc>
                <a:tc>
                  <a:txBody>
                    <a:bodyPr/>
                    <a:lstStyle/>
                    <a:p>
                      <a:pPr>
                        <a:defRPr sz="1300" b="0"/>
                      </a:pPr>
                      <a:r>
                        <a:t>36,941</a:t>
                      </a:r>
                    </a:p>
                  </a:txBody>
                  <a:tcPr/>
                </a:tc>
              </a:tr>
              <a:tr h="320039">
                <a:tc>
                  <a:txBody>
                    <a:bodyPr/>
                    <a:lstStyle/>
                    <a:p>
                      <a:pPr>
                        <a:defRPr sz="1300" b="0"/>
                      </a:pPr>
                      <a:r>
                        <a:t>10-yr</a:t>
                      </a:r>
                    </a:p>
                  </a:txBody>
                  <a:tcPr/>
                </a:tc>
                <a:tc>
                  <a:txBody>
                    <a:bodyPr/>
                    <a:lstStyle/>
                    <a:p>
                      <a:pPr>
                        <a:defRPr sz="1300" b="0"/>
                      </a:pPr>
                      <a:r>
                        <a:t>27,941</a:t>
                      </a:r>
                    </a:p>
                  </a:txBody>
                  <a:tcPr/>
                </a:tc>
                <a:tc>
                  <a:txBody>
                    <a:bodyPr/>
                    <a:lstStyle/>
                    <a:p>
                      <a:pPr>
                        <a:defRPr sz="1300" b="0"/>
                      </a:pPr>
                      <a:r>
                        <a:t>216</a:t>
                      </a:r>
                    </a:p>
                  </a:txBody>
                  <a:tcPr/>
                </a:tc>
                <a:tc>
                  <a:txBody>
                    <a:bodyPr/>
                    <a:lstStyle/>
                    <a:p>
                      <a:pPr>
                        <a:defRPr sz="1300" b="0"/>
                      </a:pPr>
                      <a:r>
                        <a:t>25,163</a:t>
                      </a:r>
                    </a:p>
                  </a:txBody>
                  <a:tcPr/>
                </a:tc>
                <a:tc>
                  <a:txBody>
                    <a:bodyPr/>
                    <a:lstStyle/>
                    <a:p>
                      <a:pPr>
                        <a:defRPr sz="1300" b="0"/>
                      </a:pPr>
                      <a:r>
                        <a:t>164</a:t>
                      </a:r>
                    </a:p>
                  </a:txBody>
                  <a:tcPr/>
                </a:tc>
                <a:tc>
                  <a:txBody>
                    <a:bodyPr/>
                    <a:lstStyle/>
                    <a:p>
                      <a:pPr>
                        <a:defRPr sz="1300" b="0"/>
                      </a:pPr>
                      <a:r>
                        <a:t>32</a:t>
                      </a:r>
                    </a:p>
                  </a:txBody>
                  <a:tcPr/>
                </a:tc>
                <a:tc>
                  <a:txBody>
                    <a:bodyPr/>
                    <a:lstStyle/>
                    <a:p>
                      <a:pPr>
                        <a:defRPr sz="1300" b="0"/>
                      </a:pPr>
                      <a:r>
                        <a:t>6</a:t>
                      </a:r>
                    </a:p>
                  </a:txBody>
                  <a:tcPr/>
                </a:tc>
                <a:tc>
                  <a:txBody>
                    <a:bodyPr/>
                    <a:lstStyle/>
                    <a:p>
                      <a:pPr>
                        <a:defRPr sz="1300" b="0"/>
                      </a:pPr>
                      <a:r>
                        <a:t>36,941</a:t>
                      </a:r>
                    </a:p>
                  </a:txBody>
                  <a:tcPr/>
                </a:tc>
              </a:tr>
              <a:tr h="320039">
                <a:tc>
                  <a:txBody>
                    <a:bodyPr/>
                    <a:lstStyle/>
                    <a:p>
                      <a:pPr>
                        <a:defRPr sz="1300" b="0"/>
                      </a:pPr>
                      <a:r>
                        <a:t>25-yr</a:t>
                      </a:r>
                    </a:p>
                  </a:txBody>
                  <a:tcPr/>
                </a:tc>
                <a:tc>
                  <a:txBody>
                    <a:bodyPr/>
                    <a:lstStyle/>
                    <a:p>
                      <a:pPr>
                        <a:defRPr sz="1300" b="0"/>
                      </a:pPr>
                      <a:r>
                        <a:t>32,997</a:t>
                      </a:r>
                    </a:p>
                  </a:txBody>
                  <a:tcPr/>
                </a:tc>
                <a:tc>
                  <a:txBody>
                    <a:bodyPr/>
                    <a:lstStyle/>
                    <a:p>
                      <a:pPr>
                        <a:defRPr sz="1300" b="0"/>
                      </a:pPr>
                      <a:r>
                        <a:t>216</a:t>
                      </a:r>
                    </a:p>
                  </a:txBody>
                  <a:tcPr/>
                </a:tc>
                <a:tc>
                  <a:txBody>
                    <a:bodyPr/>
                    <a:lstStyle/>
                    <a:p>
                      <a:pPr>
                        <a:defRPr sz="1300" b="0"/>
                      </a:pPr>
                      <a:r>
                        <a:t>25,163</a:t>
                      </a:r>
                    </a:p>
                  </a:txBody>
                  <a:tcPr/>
                </a:tc>
                <a:tc>
                  <a:txBody>
                    <a:bodyPr/>
                    <a:lstStyle/>
                    <a:p>
                      <a:pPr>
                        <a:defRPr sz="1300" b="0"/>
                      </a:pPr>
                      <a:r>
                        <a:t>164</a:t>
                      </a:r>
                    </a:p>
                  </a:txBody>
                  <a:tcPr/>
                </a:tc>
                <a:tc>
                  <a:txBody>
                    <a:bodyPr/>
                    <a:lstStyle/>
                    <a:p>
                      <a:pPr>
                        <a:defRPr sz="1300" b="0"/>
                      </a:pPr>
                      <a:r>
                        <a:t>32</a:t>
                      </a:r>
                    </a:p>
                  </a:txBody>
                  <a:tcPr/>
                </a:tc>
                <a:tc>
                  <a:txBody>
                    <a:bodyPr/>
                    <a:lstStyle/>
                    <a:p>
                      <a:pPr>
                        <a:defRPr sz="1300" b="0"/>
                      </a:pPr>
                      <a:r>
                        <a:t>6</a:t>
                      </a:r>
                    </a:p>
                  </a:txBody>
                  <a:tcPr/>
                </a:tc>
                <a:tc>
                  <a:txBody>
                    <a:bodyPr/>
                    <a:lstStyle/>
                    <a:p>
                      <a:pPr>
                        <a:defRPr sz="1300" b="0"/>
                      </a:pPr>
                      <a:r>
                        <a:t>36,941</a:t>
                      </a:r>
                    </a:p>
                  </a:txBody>
                  <a:tcPr/>
                </a:tc>
              </a:tr>
              <a:tr h="320039">
                <a:tc>
                  <a:txBody>
                    <a:bodyPr/>
                    <a:lstStyle/>
                    <a:p>
                      <a:pPr>
                        <a:defRPr sz="1300" b="0"/>
                      </a:pPr>
                      <a:r>
                        <a:t>100-yr</a:t>
                      </a:r>
                    </a:p>
                  </a:txBody>
                  <a:tcPr/>
                </a:tc>
                <a:tc>
                  <a:txBody>
                    <a:bodyPr/>
                    <a:lstStyle/>
                    <a:p>
                      <a:pPr>
                        <a:defRPr sz="1300" b="0"/>
                      </a:pPr>
                      <a:r>
                        <a:t>40,470</a:t>
                      </a:r>
                    </a:p>
                  </a:txBody>
                  <a:tcPr/>
                </a:tc>
                <a:tc>
                  <a:txBody>
                    <a:bodyPr/>
                    <a:lstStyle/>
                    <a:p>
                      <a:pPr>
                        <a:defRPr sz="1300" b="0"/>
                      </a:pPr>
                      <a:r>
                        <a:t>216</a:t>
                      </a:r>
                    </a:p>
                  </a:txBody>
                  <a:tcPr/>
                </a:tc>
                <a:tc>
                  <a:txBody>
                    <a:bodyPr/>
                    <a:lstStyle/>
                    <a:p>
                      <a:pPr>
                        <a:defRPr sz="1300" b="0"/>
                      </a:pPr>
                      <a:r>
                        <a:t>25,163</a:t>
                      </a:r>
                    </a:p>
                  </a:txBody>
                  <a:tcPr/>
                </a:tc>
                <a:tc>
                  <a:txBody>
                    <a:bodyPr/>
                    <a:lstStyle/>
                    <a:p>
                      <a:pPr>
                        <a:defRPr sz="1300" b="0"/>
                      </a:pPr>
                      <a:r>
                        <a:t>164</a:t>
                      </a:r>
                    </a:p>
                  </a:txBody>
                  <a:tcPr/>
                </a:tc>
                <a:tc>
                  <a:txBody>
                    <a:bodyPr/>
                    <a:lstStyle/>
                    <a:p>
                      <a:pPr>
                        <a:defRPr sz="1300" b="0"/>
                      </a:pPr>
                      <a:r>
                        <a:t>32</a:t>
                      </a:r>
                    </a:p>
                  </a:txBody>
                  <a:tcPr/>
                </a:tc>
                <a:tc>
                  <a:txBody>
                    <a:bodyPr/>
                    <a:lstStyle/>
                    <a:p>
                      <a:pPr>
                        <a:defRPr sz="1300" b="0"/>
                      </a:pPr>
                      <a:r>
                        <a:t>6</a:t>
                      </a:r>
                    </a:p>
                  </a:txBody>
                  <a:tcPr/>
                </a:tc>
                <a:tc>
                  <a:txBody>
                    <a:bodyPr/>
                    <a:lstStyle/>
                    <a:p>
                      <a:pPr>
                        <a:defRPr sz="1300" b="0"/>
                      </a:pPr>
                      <a:r>
                        <a:t>36,941</a:t>
                      </a:r>
                    </a:p>
                  </a:txBody>
                  <a:tcPr/>
                </a:tc>
              </a:tr>
              <a:tr h="320045">
                <a:tc>
                  <a:txBody>
                    <a:bodyPr/>
                    <a:lstStyle/>
                    <a:p>
                      <a:pPr>
                        <a:defRPr sz="1300" b="0"/>
                      </a:pPr>
                      <a:r>
                        <a:t>largest seen 2018</a:t>
                      </a:r>
                    </a:p>
                  </a:txBody>
                  <a:tcPr/>
                </a:tc>
                <a:tc>
                  <a:txBody>
                    <a:bodyPr/>
                    <a:lstStyle/>
                    <a:p>
                      <a:pPr>
                        <a:defRPr sz="1300" b="0"/>
                      </a:pPr>
                      <a:r>
                        <a:t>—</a:t>
                      </a:r>
                    </a:p>
                  </a:txBody>
                  <a:tcPr/>
                </a:tc>
                <a:tc>
                  <a:txBody>
                    <a:bodyPr/>
                    <a:lstStyle/>
                    <a:p>
                      <a:pPr>
                        <a:defRPr sz="1300" b="0"/>
                      </a:pPr>
                      <a:r>
                        <a:t>275</a:t>
                      </a:r>
                    </a:p>
                  </a:txBody>
                  <a:tcPr/>
                </a:tc>
                <a:tc>
                  <a:txBody>
                    <a:bodyPr/>
                    <a:lstStyle/>
                    <a:p>
                      <a:pPr>
                        <a:defRPr sz="1300" b="0"/>
                      </a:pPr>
                      <a:r>
                        <a:t>28,826</a:t>
                      </a:r>
                    </a:p>
                  </a:txBody>
                  <a:tcPr/>
                </a:tc>
                <a:tc>
                  <a:txBody>
                    <a:bodyPr/>
                    <a:lstStyle/>
                    <a:p>
                      <a:pPr>
                        <a:defRPr sz="1300" b="0"/>
                      </a:pPr>
                      <a:r>
                        <a:t>232</a:t>
                      </a:r>
                    </a:p>
                  </a:txBody>
                  <a:tcPr/>
                </a:tc>
                <a:tc>
                  <a:txBody>
                    <a:bodyPr/>
                    <a:lstStyle/>
                    <a:p>
                      <a:pPr>
                        <a:defRPr sz="1300" b="0"/>
                      </a:pPr>
                      <a:r>
                        <a:t>23</a:t>
                      </a:r>
                    </a:p>
                  </a:txBody>
                  <a:tcPr/>
                </a:tc>
                <a:tc>
                  <a:txBody>
                    <a:bodyPr/>
                    <a:lstStyle/>
                    <a:p>
                      <a:pPr>
                        <a:defRPr sz="1300" b="0"/>
                      </a:pPr>
                      <a:r>
                        <a:t>6</a:t>
                      </a:r>
                    </a:p>
                  </a:txBody>
                  <a:tcPr/>
                </a:tc>
                <a:tc>
                  <a:txBody>
                    <a:bodyPr/>
                    <a:lstStyle/>
                    <a:p>
                      <a:pPr>
                        <a:defRPr sz="1300" b="0"/>
                      </a:pPr>
                      <a:r>
                        <a:t>15,784</a:t>
                      </a:r>
                    </a:p>
                  </a:txBody>
                  <a:tcPr/>
                </a:tc>
              </a:tr>
            </a:tbl>
          </a:graphicData>
        </a:graphic>
      </p:graphicFrame>
      <p:sp>
        <p:nvSpPr>
          <p:cNvPr id="6" name="TextBox 5"/>
          <p:cNvSpPr txBox="1"/>
          <p:nvPr/>
        </p:nvSpPr>
        <p:spPr>
          <a:xfrm>
            <a:off x="548640" y="4206240"/>
            <a:ext cx="11064240" cy="2011680"/>
          </a:xfrm>
          <a:prstGeom prst="rect">
            <a:avLst/>
          </a:prstGeom>
          <a:noFill/>
        </p:spPr>
        <p:txBody>
          <a:bodyPr wrap="square">
            <a:spAutoFit/>
          </a:bodyPr>
          <a:lstStyle/>
          <a:p>
            <a:pPr>
              <a:spcAft>
                <a:spcPts val="600"/>
              </a:spcAft>
              <a:defRPr sz="1400" b="0">
                <a:solidFill>
                  <a:srgbClr val="0B0B0B"/>
                </a:solidFill>
              </a:defRPr>
            </a:pPr>
            <a:r>
              <a:t>• People: GHSL 2020; roads, bridges, hospitals, schools: OpenStreetMap</a:t>
            </a:r>
          </a:p>
          <a:p>
            <a:pPr>
              <a:spcAft>
                <a:spcPts val="600"/>
              </a:spcAft>
              <a:defRPr sz="1400" b="0">
                <a:solidFill>
                  <a:srgbClr val="0B0B0B"/>
                </a:solidFill>
              </a:defRPr>
            </a:pPr>
            <a:r>
              <a:t>• Flows above the largest in the 2017–2026 radar record give lower-bound maps</a:t>
            </a:r>
          </a:p>
          <a:p>
            <a:pPr>
              <a:spcAft>
                <a:spcPts val="600"/>
              </a:spcAft>
              <a:defRPr sz="1400" b="0">
                <a:solidFill>
                  <a:srgbClr val="0B0B0B"/>
                </a:solidFill>
              </a:defRPr>
            </a:pPr>
            <a:r>
              <a:t>• Mapped building footprints are incomplete here (~120 k for 4.1 M people), so people, not buildings, are counted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Transportation: who is cut off from a hospital</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Road graph of 6,383 km; a road is cut when ≥ 20 m is under water</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pic>
        <p:nvPicPr>
          <p:cNvPr id="5" name="Picture 4" descr="impact_T25_map.png"/>
          <p:cNvPicPr>
            <a:picLocks noChangeAspect="1"/>
          </p:cNvPicPr>
          <p:nvPr/>
        </p:nvPicPr>
        <p:blipFill>
          <a:blip r:embed="rId2"/>
          <a:stretch>
            <a:fillRect/>
          </a:stretch>
        </p:blipFill>
        <p:spPr>
          <a:xfrm>
            <a:off x="365760" y="1371600"/>
            <a:ext cx="7315200" cy="4887243"/>
          </a:xfrm>
          <a:prstGeom prst="rect">
            <a:avLst/>
          </a:prstGeom>
        </p:spPr>
      </p:pic>
      <p:sp>
        <p:nvSpPr>
          <p:cNvPr id="6" name="TextBox 5"/>
          <p:cNvSpPr txBox="1"/>
          <p:nvPr/>
        </p:nvSpPr>
        <p:spPr>
          <a:xfrm>
            <a:off x="7863840" y="1463040"/>
            <a:ext cx="4023360" cy="4846320"/>
          </a:xfrm>
          <a:prstGeom prst="rect">
            <a:avLst/>
          </a:prstGeom>
          <a:noFill/>
        </p:spPr>
        <p:txBody>
          <a:bodyPr wrap="square">
            <a:spAutoFit/>
          </a:bodyPr>
          <a:lstStyle/>
          <a:p>
            <a:pPr>
              <a:spcAft>
                <a:spcPts val="600"/>
              </a:spcAft>
              <a:defRPr sz="1400" b="0">
                <a:solidFill>
                  <a:srgbClr val="0B0B0B"/>
                </a:solidFill>
              </a:defRPr>
            </a:pPr>
            <a:r>
              <a:t>• 25-year flood: 36,941 people in 32 settlements lose road access to any hospital or clinic</a:t>
            </a:r>
          </a:p>
          <a:p>
            <a:pPr>
              <a:spcAft>
                <a:spcPts val="600"/>
              </a:spcAft>
              <a:defRPr sz="1400" b="0">
                <a:solidFill>
                  <a:srgbClr val="0B0B0B"/>
                </a:solidFill>
              </a:defRPr>
            </a:pPr>
            <a:r>
              <a:t>• 24,345 more reach one only by a detour (median +9.1 min)</a:t>
            </a:r>
          </a:p>
          <a:p>
            <a:pPr>
              <a:spcAft>
                <a:spcPts val="600"/>
              </a:spcAft>
              <a:defRPr sz="1400" b="0">
                <a:solidFill>
                  <a:srgbClr val="0B0B0B"/>
                </a:solidFill>
              </a:defRPr>
            </a:pPr>
            <a:r>
              <a:t>• 40,836 people can reach no dry school (relief camp); 12,023 extra person-hours of travel a day</a:t>
            </a:r>
          </a:p>
          <a:p>
            <a:pPr>
              <a:spcAft>
                <a:spcPts val="600"/>
              </a:spcAft>
              <a:defRPr sz="1400" b="0">
                <a:solidFill>
                  <a:srgbClr val="0B0B0B"/>
                </a:solidFill>
              </a:defRPr>
            </a:pPr>
            <a:r>
              <a:t>• Critical links = flooded roads that carry most people's hospital route (circled)</a:t>
            </a:r>
          </a:p>
          <a:p>
            <a:pPr>
              <a:spcAft>
                <a:spcPts val="600"/>
              </a:spcAft>
              <a:defRPr sz="1400" b="0">
                <a:solidFill>
                  <a:srgbClr val="0B0B0B"/>
                </a:solidFill>
              </a:defRPr>
            </a:pPr>
            <a:r>
              <a:t>• Field: confirm closures with locals and PWD at the 10 critical links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Geotechnical: which river banks to inspect first</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1 km cells along the main channels</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pic>
        <p:nvPicPr>
          <p:cNvPr id="5" name="Picture 4" descr="geotech_map.png"/>
          <p:cNvPicPr>
            <a:picLocks noChangeAspect="1"/>
          </p:cNvPicPr>
          <p:nvPr/>
        </p:nvPicPr>
        <p:blipFill>
          <a:blip r:embed="rId2"/>
          <a:stretch>
            <a:fillRect/>
          </a:stretch>
        </p:blipFill>
        <p:spPr>
          <a:xfrm>
            <a:off x="365760" y="1371600"/>
            <a:ext cx="7315200" cy="4431544"/>
          </a:xfrm>
          <a:prstGeom prst="rect">
            <a:avLst/>
          </a:prstGeom>
        </p:spPr>
      </p:pic>
      <p:sp>
        <p:nvSpPr>
          <p:cNvPr id="6" name="TextBox 5"/>
          <p:cNvSpPr txBox="1"/>
          <p:nvPr/>
        </p:nvSpPr>
        <p:spPr>
          <a:xfrm>
            <a:off x="7863840" y="1463040"/>
            <a:ext cx="4023360" cy="4846320"/>
          </a:xfrm>
          <a:prstGeom prst="rect">
            <a:avLst/>
          </a:prstGeom>
          <a:noFill/>
        </p:spPr>
        <p:txBody>
          <a:bodyPr wrap="square">
            <a:spAutoFit/>
          </a:bodyPr>
          <a:lstStyle/>
          <a:p>
            <a:pPr>
              <a:spcAft>
                <a:spcPts val="600"/>
              </a:spcAft>
              <a:defRPr sz="1400" b="0">
                <a:solidFill>
                  <a:srgbClr val="0B0B0B"/>
                </a:solidFill>
              </a:defRPr>
            </a:pPr>
            <a:r>
              <a:t>• Priority = water behind the bank (frequency, years) + erodibility + people within 2 km</a:t>
            </a:r>
          </a:p>
          <a:p>
            <a:pPr>
              <a:spcAft>
                <a:spcPts val="600"/>
              </a:spcAft>
              <a:defRPr sz="1400" b="0">
                <a:solidFill>
                  <a:srgbClr val="0B0B0B"/>
                </a:solidFill>
              </a:defRPr>
            </a:pPr>
            <a:r>
              <a:t>• SoilGrids is too coarse to separate banks (all clay loam here) → field samples decide</a:t>
            </a:r>
          </a:p>
          <a:p>
            <a:pPr>
              <a:spcAft>
                <a:spcPts val="600"/>
              </a:spcAft>
              <a:defRPr sz="1400" b="0">
                <a:solidFill>
                  <a:srgbClr val="0B0B0B"/>
                </a:solidFill>
              </a:defRPr>
            </a:pPr>
            <a:r>
              <a:t>• Lab plan: wet sieve + Atterberg (IS 2720) → IS 1498 class, Kenney–Lau stability, piping flag</a:t>
            </a:r>
          </a:p>
          <a:p>
            <a:pPr>
              <a:spcAft>
                <a:spcPts val="600"/>
              </a:spcAft>
              <a:defRPr sz="1400" b="0">
                <a:solidFill>
                  <a:srgbClr val="0B0B0B"/>
                </a:solidFill>
              </a:defRPr>
            </a:pPr>
            <a:r>
              <a:t>• Top cell: 20.429 N, 85.909 E, water behind the bank in 4% of passes, 10 years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Structural: walls crack at about a metre, piers must go deep</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Flood depth from the flood-edge elevation; IRC:78 Lacey scour</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pic>
        <p:nvPicPr>
          <p:cNvPr id="5" name="Picture 4" descr="depth_T25_map.png"/>
          <p:cNvPicPr>
            <a:picLocks noChangeAspect="1"/>
          </p:cNvPicPr>
          <p:nvPr/>
        </p:nvPicPr>
        <p:blipFill>
          <a:blip r:embed="rId2"/>
          <a:stretch>
            <a:fillRect/>
          </a:stretch>
        </p:blipFill>
        <p:spPr>
          <a:xfrm>
            <a:off x="365760" y="1371600"/>
            <a:ext cx="6949440" cy="4167507"/>
          </a:xfrm>
          <a:prstGeom prst="rect">
            <a:avLst/>
          </a:prstGeom>
        </p:spPr>
      </p:pic>
      <p:pic>
        <p:nvPicPr>
          <p:cNvPr id="6" name="Picture 5" descr="bridge_scour.png"/>
          <p:cNvPicPr>
            <a:picLocks noChangeAspect="1"/>
          </p:cNvPicPr>
          <p:nvPr/>
        </p:nvPicPr>
        <p:blipFill>
          <a:blip r:embed="rId3"/>
          <a:stretch>
            <a:fillRect/>
          </a:stretch>
        </p:blipFill>
        <p:spPr>
          <a:xfrm>
            <a:off x="7498079" y="3840480"/>
            <a:ext cx="4480560" cy="2471453"/>
          </a:xfrm>
          <a:prstGeom prst="rect">
            <a:avLst/>
          </a:prstGeom>
        </p:spPr>
      </p:pic>
      <p:sp>
        <p:nvSpPr>
          <p:cNvPr id="7" name="TextBox 6"/>
          <p:cNvSpPr txBox="1"/>
          <p:nvPr/>
        </p:nvSpPr>
        <p:spPr>
          <a:xfrm>
            <a:off x="7498079" y="1371600"/>
            <a:ext cx="4480560" cy="2468880"/>
          </a:xfrm>
          <a:prstGeom prst="rect">
            <a:avLst/>
          </a:prstGeom>
          <a:noFill/>
        </p:spPr>
        <p:txBody>
          <a:bodyPr wrap="square">
            <a:spAutoFit/>
          </a:bodyPr>
          <a:lstStyle/>
          <a:p>
            <a:pPr>
              <a:spcAft>
                <a:spcPts val="600"/>
              </a:spcAft>
              <a:defRPr sz="1300" b="0">
                <a:solidFill>
                  <a:srgbClr val="0B0B0B"/>
                </a:solidFill>
              </a:defRPr>
            </a:pPr>
            <a:r>
              <a:t>• Hydrostatic moment &gt; out-of-plane capacity: a 230 mm brick wall cracks at 0.8-1.0 m of water</a:t>
            </a:r>
          </a:p>
          <a:p>
            <a:pPr>
              <a:spcAft>
                <a:spcPts val="600"/>
              </a:spcAft>
              <a:defRPr sz="1300" b="0">
                <a:solidFill>
                  <a:srgbClr val="0B0B0B"/>
                </a:solidFill>
              </a:defRPr>
            </a:pPr>
            <a:r>
              <a:t>• 3,626 people live where the 25-yr flood is &gt;= 1 m deep</a:t>
            </a:r>
          </a:p>
          <a:p>
            <a:pPr>
              <a:spcAft>
                <a:spcPts val="600"/>
              </a:spcAft>
              <a:defRPr sz="1300" b="0">
                <a:solidFill>
                  <a:srgbClr val="0B0B0B"/>
                </a:solidFill>
              </a:defRPr>
            </a:pPr>
            <a:r>
              <a:t>• Pier scour 7-24 m below HFL at a quarter of the 100-yr flow (branch split asked from WRD)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Geotechnical: dry houses on soaked ground</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Within 200 m of flood water on silty clay: bearing capacity drops, then the clay settles</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pic>
        <p:nvPicPr>
          <p:cNvPr id="5" name="Picture 4" descr="ground_advisory_map.png"/>
          <p:cNvPicPr>
            <a:picLocks noChangeAspect="1"/>
          </p:cNvPicPr>
          <p:nvPr/>
        </p:nvPicPr>
        <p:blipFill>
          <a:blip r:embed="rId2"/>
          <a:stretch>
            <a:fillRect/>
          </a:stretch>
        </p:blipFill>
        <p:spPr>
          <a:xfrm>
            <a:off x="365760" y="1371600"/>
            <a:ext cx="7315200" cy="4887243"/>
          </a:xfrm>
          <a:prstGeom prst="rect">
            <a:avLst/>
          </a:prstGeom>
        </p:spPr>
      </p:pic>
      <p:sp>
        <p:nvSpPr>
          <p:cNvPr id="6" name="TextBox 5"/>
          <p:cNvSpPr txBox="1"/>
          <p:nvPr/>
        </p:nvSpPr>
        <p:spPr>
          <a:xfrm>
            <a:off x="7863840" y="1463040"/>
            <a:ext cx="4023360" cy="4846320"/>
          </a:xfrm>
          <a:prstGeom prst="rect">
            <a:avLst/>
          </a:prstGeom>
          <a:noFill/>
        </p:spPr>
        <p:txBody>
          <a:bodyPr wrap="square">
            <a:spAutoFit/>
          </a:bodyPr>
          <a:lstStyle/>
          <a:p>
            <a:pPr>
              <a:spcAft>
                <a:spcPts val="600"/>
              </a:spcAft>
              <a:defRPr sz="1400" b="0">
                <a:solidFill>
                  <a:srgbClr val="0B0B0B"/>
                </a:solidFill>
              </a:defRPr>
            </a:pPr>
            <a:r>
              <a:t>• 415,549 people in the advisory zone of the 25-yr flood; 310 settlements advised to check foundations</a:t>
            </a:r>
          </a:p>
          <a:p>
            <a:pPr>
              <a:spcAft>
                <a:spcPts val="600"/>
              </a:spcAft>
              <a:defRPr sz="1400" b="0">
                <a:solidFill>
                  <a:srgbClr val="0B0B0B"/>
                </a:solidFill>
              </a:defRPr>
            </a:pPr>
            <a:r>
              <a:t>• Footing on silty sand: bearing capacity -55 % with water at the surface</a:t>
            </a:r>
          </a:p>
          <a:p>
            <a:pPr>
              <a:spcAft>
                <a:spcPts val="600"/>
              </a:spcAft>
              <a:defRPr sz="1400" b="0">
                <a:solidFill>
                  <a:srgbClr val="0B0B0B"/>
                </a:solidFill>
              </a:defRPr>
            </a:pPr>
            <a:r>
              <a:t>• Soaked clay: -37 %; drawdown settlement 20 to 39 mm</a:t>
            </a:r>
          </a:p>
          <a:p>
            <a:pPr>
              <a:spcAft>
                <a:spcPts val="600"/>
              </a:spcAft>
              <a:defRPr sz="1400" b="0">
                <a:solidFill>
                  <a:srgbClr val="0B0B0B"/>
                </a:solidFill>
              </a:defRPr>
            </a:pPr>
            <a:r>
              <a:t>• Field: well levels at 0-500 m from the flood edge fix the 200 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Ocean: Bay of Bengal storms and the largest floods</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IBTrACS tracks matched to the radar atlas</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pic>
        <p:nvPicPr>
          <p:cNvPr id="5" name="Picture 4" descr="flood_drivers.png"/>
          <p:cNvPicPr>
            <a:picLocks noChangeAspect="1"/>
          </p:cNvPicPr>
          <p:nvPr/>
        </p:nvPicPr>
        <p:blipFill>
          <a:blip r:embed="rId2"/>
          <a:stretch>
            <a:fillRect/>
          </a:stretch>
        </p:blipFill>
        <p:spPr>
          <a:xfrm>
            <a:off x="1097280" y="1325880"/>
            <a:ext cx="7824370" cy="3886200"/>
          </a:xfrm>
          <a:prstGeom prst="rect">
            <a:avLst/>
          </a:prstGeom>
        </p:spPr>
      </p:pic>
      <p:sp>
        <p:nvSpPr>
          <p:cNvPr id="6" name="TextBox 5"/>
          <p:cNvSpPr txBox="1"/>
          <p:nvPr/>
        </p:nvSpPr>
        <p:spPr>
          <a:xfrm>
            <a:off x="548640" y="5349240"/>
            <a:ext cx="11064240" cy="1005840"/>
          </a:xfrm>
          <a:prstGeom prst="rect">
            <a:avLst/>
          </a:prstGeom>
          <a:noFill/>
        </p:spPr>
        <p:txBody>
          <a:bodyPr wrap="square">
            <a:spAutoFit/>
          </a:bodyPr>
          <a:lstStyle/>
          <a:p>
            <a:pPr>
              <a:spcAft>
                <a:spcPts val="600"/>
              </a:spcAft>
              <a:defRPr sz="1400" b="0">
                <a:solidFill>
                  <a:srgbClr val="0B0B0B"/>
                </a:solidFill>
              </a:defRPr>
            </a:pPr>
            <a:r>
              <a:t>• 37 storms and depressions within 300 km since 2016 · of the 20 largest floods: 18 high river, 14 heavy rain, 11 after a storm</a:t>
            </a:r>
          </a:p>
          <a:p>
            <a:pPr>
              <a:spcAft>
                <a:spcPts val="600"/>
              </a:spcAft>
              <a:defRPr sz="1400" b="0">
                <a:solidFill>
                  <a:srgbClr val="0B0B0B"/>
                </a:solidFill>
              </a:defRPr>
            </a:pPr>
            <a:r>
              <a:t>• Surge and high tide hold back the drainage of the lower delta: a Paradip tide record is the next dataset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Construction management: when to build, what it costs</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42 years of flows and storm tracks; earthwork take-off for the critical links</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pic>
        <p:nvPicPr>
          <p:cNvPr id="5" name="Picture 4" descr="construction_windows.png"/>
          <p:cNvPicPr>
            <a:picLocks noChangeAspect="1"/>
          </p:cNvPicPr>
          <p:nvPr/>
        </p:nvPicPr>
        <p:blipFill>
          <a:blip r:embed="rId2"/>
          <a:stretch>
            <a:fillRect/>
          </a:stretch>
        </p:blipFill>
        <p:spPr>
          <a:xfrm>
            <a:off x="365760" y="1371600"/>
            <a:ext cx="7498079" cy="2188068"/>
          </a:xfrm>
          <a:prstGeom prst="rect">
            <a:avLst/>
          </a:prstGeom>
        </p:spPr>
      </p:pic>
      <p:pic>
        <p:nvPicPr>
          <p:cNvPr id="6" name="Picture 5" descr="gantt.png"/>
          <p:cNvPicPr>
            <a:picLocks noChangeAspect="1"/>
          </p:cNvPicPr>
          <p:nvPr/>
        </p:nvPicPr>
        <p:blipFill>
          <a:blip r:embed="rId3"/>
          <a:stretch>
            <a:fillRect/>
          </a:stretch>
        </p:blipFill>
        <p:spPr>
          <a:xfrm>
            <a:off x="365760" y="3931920"/>
            <a:ext cx="6949440" cy="2500299"/>
          </a:xfrm>
          <a:prstGeom prst="rect">
            <a:avLst/>
          </a:prstGeom>
        </p:spPr>
      </p:pic>
      <p:sp>
        <p:nvSpPr>
          <p:cNvPr id="7" name="TextBox 6"/>
          <p:cNvSpPr txBox="1"/>
          <p:nvPr/>
        </p:nvSpPr>
        <p:spPr>
          <a:xfrm>
            <a:off x="8046720" y="1463040"/>
            <a:ext cx="3840480" cy="4846320"/>
          </a:xfrm>
          <a:prstGeom prst="rect">
            <a:avLst/>
          </a:prstGeom>
          <a:noFill/>
        </p:spPr>
        <p:txBody>
          <a:bodyPr wrap="square">
            <a:spAutoFit/>
          </a:bodyPr>
          <a:lstStyle/>
          <a:p>
            <a:pPr>
              <a:spcAft>
                <a:spcPts val="600"/>
              </a:spcAft>
              <a:defRPr sz="1300" b="0">
                <a:solidFill>
                  <a:srgbClr val="0B0B0B"/>
                </a:solidFill>
              </a:defRPr>
            </a:pPr>
            <a:r>
              <a:t>• Work window: Dec–Apr (no flood days, few storms)</a:t>
            </a:r>
          </a:p>
          <a:p>
            <a:pPr>
              <a:spcAft>
                <a:spcPts val="600"/>
              </a:spcAft>
              <a:defRPr sz="1300" b="0">
                <a:solidFill>
                  <a:srgbClr val="0B0B0B"/>
                </a:solidFill>
              </a:defRPr>
            </a:pPr>
            <a:r>
              <a:t>• Raising 8 critical links above the 25-yr flood + 0.6 m: 17,442 m³, about Rs 0.6 crore (assumed Rs 350/m³)</a:t>
            </a:r>
          </a:p>
          <a:p>
            <a:pPr>
              <a:spcAft>
                <a:spcPts val="600"/>
              </a:spcAft>
              <a:defRPr sz="1300" b="0">
                <a:solidFill>
                  <a:srgbClr val="0B0B0B"/>
                </a:solidFill>
              </a:defRPr>
            </a:pPr>
            <a:r>
              <a:t>• Links 6 and 9 would need 4.9 and 3.9 m: a bridge or vented causeway, depth checked on site</a:t>
            </a:r>
          </a:p>
          <a:p>
            <a:pPr>
              <a:spcAft>
                <a:spcPts val="600"/>
              </a:spcAft>
              <a:defRPr sz="1300" b="0">
                <a:solidFill>
                  <a:srgbClr val="0B0B0B"/>
                </a:solidFill>
              </a:defRPr>
            </a:pPr>
            <a:r>
              <a:t>• Each link carries the hospital route of 4,638–10,351 people</a:t>
            </a:r>
          </a:p>
          <a:p>
            <a:pPr>
              <a:spcAft>
                <a:spcPts val="600"/>
              </a:spcAft>
              <a:defRPr sz="1300" b="0">
                <a:solidFill>
                  <a:srgbClr val="0B0B0B"/>
                </a:solidFill>
              </a:defRPr>
            </a:pPr>
            <a:r>
              <a:t>• Deployment: 40 sirens cover 49% of exposed people at 1.5 km, 6 river sensors, 78 crew-days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Deployment plan for a ClimMaTech-type system</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Sirens where exposed people live; one river sensor per distributary</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pic>
        <p:nvPicPr>
          <p:cNvPr id="5" name="Picture 4" descr="siting_map.png"/>
          <p:cNvPicPr>
            <a:picLocks noChangeAspect="1"/>
          </p:cNvPicPr>
          <p:nvPr/>
        </p:nvPicPr>
        <p:blipFill>
          <a:blip r:embed="rId2"/>
          <a:stretch>
            <a:fillRect/>
          </a:stretch>
        </p:blipFill>
        <p:spPr>
          <a:xfrm>
            <a:off x="365760" y="1371600"/>
            <a:ext cx="7315200" cy="4887243"/>
          </a:xfrm>
          <a:prstGeom prst="rect">
            <a:avLst/>
          </a:prstGeom>
        </p:spPr>
      </p:pic>
      <p:sp>
        <p:nvSpPr>
          <p:cNvPr id="6" name="TextBox 5"/>
          <p:cNvSpPr txBox="1"/>
          <p:nvPr/>
        </p:nvSpPr>
        <p:spPr>
          <a:xfrm>
            <a:off x="7863840" y="1463040"/>
            <a:ext cx="4023360" cy="4846320"/>
          </a:xfrm>
          <a:prstGeom prst="rect">
            <a:avLst/>
          </a:prstGeom>
          <a:noFill/>
        </p:spPr>
        <p:txBody>
          <a:bodyPr wrap="square">
            <a:spAutoFit/>
          </a:bodyPr>
          <a:lstStyle/>
          <a:p>
            <a:pPr>
              <a:spcAft>
                <a:spcPts val="600"/>
              </a:spcAft>
              <a:defRPr sz="1400" b="0">
                <a:solidFill>
                  <a:srgbClr val="0B0B0B"/>
                </a:solidFill>
              </a:defRPr>
            </a:pPr>
            <a:r>
              <a:t>• Exposed people (25-yr flood or ≥ 10 % frequency): 27,371</a:t>
            </a:r>
          </a:p>
          <a:p>
            <a:pPr>
              <a:spcAft>
                <a:spcPts val="600"/>
              </a:spcAft>
              <a:defRPr sz="1400" b="0">
                <a:solidFill>
                  <a:srgbClr val="0B0B0B"/>
                </a:solidFill>
              </a:defRPr>
            </a:pPr>
            <a:r>
              <a:t>• 40 sirens cover 34% / 49% / 62% at 1.0 / 1.5 / 2.0 km audible range</a:t>
            </a:r>
          </a:p>
          <a:p>
            <a:pPr>
              <a:spcAft>
                <a:spcPts val="600"/>
              </a:spcAft>
              <a:defRPr sz="1400" b="0">
                <a:solidFill>
                  <a:srgbClr val="0B0B0B"/>
                </a:solidFill>
              </a:defRPr>
            </a:pPr>
            <a:r>
              <a:t>• River sensors on 6 bridges: Devi River, Kathajodi, Birupa, Luna, Mahanadi, Biropa</a:t>
            </a:r>
          </a:p>
          <a:p>
            <a:pPr>
              <a:spcAft>
                <a:spcPts val="600"/>
              </a:spcAft>
              <a:defRPr sz="1400" b="0">
                <a:solidFill>
                  <a:srgbClr val="0B0B0B"/>
                </a:solidFill>
              </a:defRPr>
            </a:pPr>
            <a:r>
              <a:t>• Approach roads checked dry in the 25-year flood (reachable during floods)</a:t>
            </a:r>
          </a:p>
          <a:p>
            <a:pPr>
              <a:spcAft>
                <a:spcPts val="600"/>
              </a:spcAft>
              <a:defRPr sz="1400" b="0">
                <a:solidFill>
                  <a:srgbClr val="0B0B0B"/>
                </a:solidFill>
              </a:defRPr>
            </a:pPr>
            <a:r>
              <a:t>• Field: mobile signal, mounting, access → final list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Implementation: forecast → bulletin in seconds</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mahanadi/forecast_to_impact.py · interactive viewer dashboard/index.html</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sp>
        <p:nvSpPr>
          <p:cNvPr id="5" name="TextBox 4"/>
          <p:cNvSpPr txBox="1"/>
          <p:nvPr/>
        </p:nvSpPr>
        <p:spPr>
          <a:xfrm>
            <a:off x="548640" y="1463040"/>
            <a:ext cx="6766560" cy="4846320"/>
          </a:xfrm>
          <a:prstGeom prst="rect">
            <a:avLst/>
          </a:prstGeom>
          <a:noFill/>
        </p:spPr>
        <p:txBody>
          <a:bodyPr wrap="square">
            <a:spAutoFit/>
          </a:bodyPr>
          <a:lstStyle/>
          <a:p>
            <a:pPr>
              <a:spcAft>
                <a:spcPts val="600"/>
              </a:spcAft>
              <a:defRPr sz="1100" b="0">
                <a:solidFill>
                  <a:srgbClr val="0B0B0B"/>
                </a:solidFill>
              </a:defRPr>
            </a:pPr>
            <a:r>
              <a:t>MAHANADI DELTA - EXPECTED FLOODING FOR A NARAJ FLOW OF 23,940 m3/s (8.5 lakh cusec), lead time 24 h</a:t>
            </a:r>
          </a:p>
          <a:p>
            <a:pPr>
              <a:spcAft>
                <a:spcPts val="600"/>
              </a:spcAft>
              <a:defRPr sz="1100" b="0">
                <a:solidFill>
                  <a:srgbClr val="0B0B0B"/>
                </a:solidFill>
              </a:defRPr>
            </a:pPr>
            <a:r>
              <a:t>(flow = highest daily flow over 5 days at Naraj, the measure the atlas is fitted on; method: trigger-discharge map, river flow only)</a:t>
            </a:r>
          </a:p>
          <a:p>
            <a:pPr>
              <a:spcAft>
                <a:spcPts val="600"/>
              </a:spcAft>
              <a:defRPr sz="1100" b="0">
                <a:solidFill>
                  <a:srgbClr val="0B0B0B"/>
                </a:solidFill>
              </a:defRPr>
            </a:pPr>
            <a:r>
              <a:t>Expected flooded land: 203 km2</a:t>
            </a:r>
          </a:p>
          <a:p>
            <a:pPr>
              <a:spcAft>
                <a:spcPts val="600"/>
              </a:spcAft>
              <a:defRPr sz="1100" b="0">
                <a:solidFill>
                  <a:srgbClr val="0B0B0B"/>
                </a:solidFill>
              </a:defRPr>
            </a:pPr>
            <a:r>
              <a:t>People living on that land: 22,545</a:t>
            </a:r>
          </a:p>
          <a:p>
            <a:pPr>
              <a:spcAft>
                <a:spcPts val="600"/>
              </a:spcAft>
              <a:defRPr sz="1100" b="0">
                <a:solidFill>
                  <a:srgbClr val="0B0B0B"/>
                </a:solidFill>
              </a:defRPr>
            </a:pPr>
            <a:r>
              <a:t>Settlements with at least 10 % of people on flooded land: 20</a:t>
            </a:r>
          </a:p>
          <a:p>
            <a:pPr>
              <a:spcAft>
                <a:spcPts val="600"/>
              </a:spcAft>
              <a:defRPr sz="1100" b="0">
                <a:solidFill>
                  <a:srgbClr val="0B0B0B"/>
                </a:solidFill>
              </a:defRPr>
            </a:pPr>
            <a:r>
              <a:t>  - near Patkura (9.7 km): about 321 people (46% of 704) at 20.3133 N, 86.3615 E</a:t>
            </a:r>
          </a:p>
          <a:p>
            <a:pPr>
              <a:spcAft>
                <a:spcPts val="600"/>
              </a:spcAft>
              <a:defRPr sz="1100" b="0">
                <a:solidFill>
                  <a:srgbClr val="0B0B0B"/>
                </a:solidFill>
              </a:defRPr>
            </a:pPr>
            <a:r>
              <a:t>  - near Biridi (1.4 km): about 309 people (54% of 574) at 20.3319 N, 86.0429 E</a:t>
            </a:r>
          </a:p>
          <a:p>
            <a:pPr>
              <a:spcAft>
                <a:spcPts val="600"/>
              </a:spcAft>
              <a:defRPr sz="1100" b="0">
                <a:solidFill>
                  <a:srgbClr val="0B0B0B"/>
                </a:solidFill>
              </a:defRPr>
            </a:pPr>
            <a:r>
              <a:t>  - near Bhattasagar Square (7.0 km): about 234 people (15% of 1,613) at 20.6301 N, 86.1248 E</a:t>
            </a:r>
          </a:p>
          <a:p>
            <a:pPr>
              <a:spcAft>
                <a:spcPts val="600"/>
              </a:spcAft>
              <a:defRPr sz="1100" b="0">
                <a:solidFill>
                  <a:srgbClr val="0B0B0B"/>
                </a:solidFill>
              </a:defRPr>
            </a:pPr>
            <a:r>
              <a:t>  - near Patkura (2.7 km): about 152 people (24% of 647) at 20.4002 N, 86.3823 E</a:t>
            </a:r>
          </a:p>
          <a:p>
            <a:pPr>
              <a:spcAft>
                <a:spcPts val="600"/>
              </a:spcAft>
              <a:defRPr sz="1100" b="0">
                <a:solidFill>
                  <a:srgbClr val="0B0B0B"/>
                </a:solidFill>
              </a:defRPr>
            </a:pPr>
            <a:r>
              <a:t>  - near Patkura (1.5 km): about 78 people (28% of 281) at 20.3855 N, 86.3917 E</a:t>
            </a:r>
          </a:p>
          <a:p>
            <a:pPr>
              <a:spcAft>
                <a:spcPts val="600"/>
              </a:spcAft>
              <a:defRPr sz="1100" b="0">
                <a:solidFill>
                  <a:srgbClr val="0B0B0B"/>
                </a:solidFill>
              </a:defRPr>
            </a:pPr>
            <a:r>
              <a:t>  - near Dhuria (8.6 km): about 76 people (14% of 529) at 20.4610 N, 86.3444 E</a:t>
            </a:r>
          </a:p>
        </p:txBody>
      </p:sp>
      <p:sp>
        <p:nvSpPr>
          <p:cNvPr id="6" name="TextBox 5"/>
          <p:cNvSpPr txBox="1"/>
          <p:nvPr/>
        </p:nvSpPr>
        <p:spPr>
          <a:xfrm>
            <a:off x="7589520" y="1463040"/>
            <a:ext cx="4206240" cy="4846320"/>
          </a:xfrm>
          <a:prstGeom prst="rect">
            <a:avLst/>
          </a:prstGeom>
          <a:noFill/>
        </p:spPr>
        <p:txBody>
          <a:bodyPr wrap="square">
            <a:spAutoFit/>
          </a:bodyPr>
          <a:lstStyle/>
          <a:p>
            <a:pPr>
              <a:spcAft>
                <a:spcPts val="600"/>
              </a:spcAft>
              <a:defRPr sz="1400" b="0">
                <a:solidFill>
                  <a:srgbClr val="0B0B0B"/>
                </a:solidFill>
              </a:defRPr>
            </a:pPr>
            <a:r>
              <a:t>• Input: forecast flow at Naraj (m³/s or lakh cusec), e.g. from ClimMaTech or CWC</a:t>
            </a:r>
          </a:p>
          <a:p>
            <a:pPr>
              <a:spcAft>
                <a:spcPts val="600"/>
              </a:spcAft>
              <a:defRPr sz="1400" b="0">
                <a:solidFill>
                  <a:srgbClr val="0B0B0B"/>
                </a:solidFill>
              </a:defRPr>
            </a:pPr>
            <a:r>
              <a:t>• Output: flood GeoTIFF, settlements GeoJSON (for Rakshak Control Centre / Aagah), text bulletin</a:t>
            </a:r>
          </a:p>
          <a:p>
            <a:pPr>
              <a:spcAft>
                <a:spcPts val="600"/>
              </a:spcAft>
              <a:defRPr sz="1400" b="0">
                <a:solidFill>
                  <a:srgbClr val="0B0B0B"/>
                </a:solidFill>
              </a:defRPr>
            </a:pPr>
            <a:r>
              <a:t>• Viewer: pick a design flood → flooded land, cut roads, villages, sirens, sensors</a:t>
            </a:r>
          </a:p>
          <a:p>
            <a:pPr>
              <a:spcAft>
                <a:spcPts val="600"/>
              </a:spcAft>
              <a:defRPr sz="1400" b="0">
                <a:solidFill>
                  <a:srgbClr val="0B0B0B"/>
                </a:solidFill>
              </a:defRPr>
            </a:pPr>
            <a:r>
              <a:t>• Fills the map layer ('River View') that ClimMaTech's architecture lists for flood risk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What ClimMaTech's system lacks, and what we add</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From all 50 pages of climmatech.com; every row has a number behind it</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graphicFrame>
        <p:nvGraphicFramePr>
          <p:cNvPr id="5" name="Table 4"/>
          <p:cNvGraphicFramePr>
            <a:graphicFrameLocks noGrp="1"/>
          </p:cNvGraphicFramePr>
          <p:nvPr/>
        </p:nvGraphicFramePr>
        <p:xfrm>
          <a:off x="365760" y="1280160"/>
          <a:ext cx="11430000" cy="2560320"/>
        </p:xfrm>
        <a:graphic>
          <a:graphicData uri="http://schemas.openxmlformats.org/drawingml/2006/table">
            <a:tbl>
              <a:tblPr firstRow="1" bandRow="1">
                <a:tableStyleId>{5C22544A-7EE6-4342-B048-85BDC9FD1C3A}</a:tableStyleId>
              </a:tblPr>
              <a:tblGrid>
                <a:gridCol w="2651760"/>
                <a:gridCol w="3017520"/>
                <a:gridCol w="5760720"/>
              </a:tblGrid>
              <a:tr h="320040">
                <a:tc>
                  <a:txBody>
                    <a:bodyPr/>
                    <a:lstStyle/>
                    <a:p>
                      <a:pPr>
                        <a:defRPr sz="1200" b="1"/>
                      </a:pPr>
                      <a:r>
                        <a:t>Their service</a:t>
                      </a:r>
                    </a:p>
                  </a:txBody>
                  <a:tcPr/>
                </a:tc>
                <a:tc>
                  <a:txBody>
                    <a:bodyPr/>
                    <a:lstStyle/>
                    <a:p>
                      <a:pPr>
                        <a:defRPr sz="1200" b="1"/>
                      </a:pPr>
                      <a:r>
                        <a:t>Gap</a:t>
                      </a:r>
                    </a:p>
                  </a:txBody>
                  <a:tcPr/>
                </a:tc>
                <a:tc>
                  <a:txBody>
                    <a:bodyPr/>
                    <a:lstStyle/>
                    <a:p>
                      <a:pPr>
                        <a:defRPr sz="1200" b="1"/>
                      </a:pPr>
                      <a:r>
                        <a:t>What we add (evidence)</a:t>
                      </a:r>
                    </a:p>
                  </a:txBody>
                  <a:tcPr/>
                </a:tc>
              </a:tr>
              <a:tr h="320040">
                <a:tc>
                  <a:txBody>
                    <a:bodyPr/>
                    <a:lstStyle/>
                    <a:p>
                      <a:pPr>
                        <a:defRPr sz="1200" b="0"/>
                      </a:pPr>
                      <a:r>
                        <a:t>River View map layer</a:t>
                      </a:r>
                    </a:p>
                  </a:txBody>
                  <a:tcPr/>
                </a:tc>
                <a:tc>
                  <a:txBody>
                    <a:bodyPr/>
                    <a:lstStyle/>
                    <a:p>
                      <a:pPr>
                        <a:defRPr sz="1200" b="0"/>
                      </a:pPr>
                      <a:r>
                        <a:t>No flood extent behind it</a:t>
                      </a:r>
                    </a:p>
                  </a:txBody>
                  <a:tcPr/>
                </a:tc>
                <a:tc>
                  <a:txBody>
                    <a:bodyPr/>
                    <a:lstStyle/>
                    <a:p>
                      <a:pPr>
                        <a:defRPr sz="1200" b="0"/>
                      </a:pPr>
                      <a:r>
                        <a:t>Flood frequency, trigger flow and impact layers (590 passes; IoU 0.23 vs 0.07)</a:t>
                      </a:r>
                    </a:p>
                  </a:txBody>
                  <a:tcPr/>
                </a:tc>
              </a:tr>
              <a:tr h="320040">
                <a:tc>
                  <a:txBody>
                    <a:bodyPr/>
                    <a:lstStyle/>
                    <a:p>
                      <a:pPr>
                        <a:defRPr sz="1200" b="0"/>
                      </a:pPr>
                      <a:r>
                        <a:t>AI forecast, 30 min-48 h</a:t>
                      </a:r>
                    </a:p>
                  </a:txBody>
                  <a:tcPr/>
                </a:tc>
                <a:tc>
                  <a:txBody>
                    <a:bodyPr/>
                    <a:lstStyle/>
                    <a:p>
                      <a:pPr>
                        <a:defRPr sz="1200" b="0"/>
                      </a:pPr>
                      <a:r>
                        <a:t>A level is not a list of villages</a:t>
                      </a:r>
                    </a:p>
                  </a:txBody>
                  <a:tcPr/>
                </a:tc>
                <a:tc>
                  <a:txBody>
                    <a:bodyPr/>
                    <a:lstStyle/>
                    <a:p>
                      <a:pPr>
                        <a:defRPr sz="1200" b="0"/>
                      </a:pPr>
                      <a:r>
                        <a:t>Forecast-to-bulletin: 25-yr flow -&gt; 216 km², 25,163 people, 24 settlements</a:t>
                      </a:r>
                    </a:p>
                  </a:txBody>
                  <a:tcPr/>
                </a:tc>
              </a:tr>
              <a:tr h="320040">
                <a:tc>
                  <a:txBody>
                    <a:bodyPr/>
                    <a:lstStyle/>
                    <a:p>
                      <a:pPr>
                        <a:defRPr sz="1200" b="0"/>
                      </a:pPr>
                      <a:r>
                        <a:t>Research group reconstructions</a:t>
                      </a:r>
                    </a:p>
                  </a:txBody>
                  <a:tcPr/>
                </a:tc>
                <a:tc>
                  <a:txBody>
                    <a:bodyPr/>
                    <a:lstStyle/>
                    <a:p>
                      <a:pPr>
                        <a:defRPr sz="1200" b="0"/>
                      </a:pPr>
                      <a:r>
                        <a:t>Width by hand; optical 75-79 % cloud</a:t>
                      </a:r>
                    </a:p>
                  </a:txBody>
                  <a:tcPr/>
                </a:tc>
                <a:tc>
                  <a:txBody>
                    <a:bodyPr/>
                    <a:lstStyle/>
                    <a:p>
                      <a:pPr>
                        <a:defRPr sz="1200" b="0"/>
                      </a:pPr>
                      <a:r>
                        <a:t>Benchmarked radar model maps every Sentinel-1 pass through cloud, ~5 s per pass</a:t>
                      </a:r>
                    </a:p>
                  </a:txBody>
                  <a:tcPr/>
                </a:tc>
              </a:tr>
              <a:tr h="320040">
                <a:tc>
                  <a:txBody>
                    <a:bodyPr/>
                    <a:lstStyle/>
                    <a:p>
                      <a:pPr>
                        <a:defRPr sz="1200" b="0"/>
                      </a:pPr>
                      <a:r>
                        <a:t>Solution pages</a:t>
                      </a:r>
                    </a:p>
                  </a:txBody>
                  <a:tcPr/>
                </a:tc>
                <a:tc>
                  <a:txBody>
                    <a:bodyPr/>
                    <a:lstStyle/>
                    <a:p>
                      <a:pPr>
                        <a:defRPr sz="1200" b="0"/>
                      </a:pPr>
                      <a:r>
                        <a:t>Illustrative site layouts</a:t>
                      </a:r>
                    </a:p>
                  </a:txBody>
                  <a:tcPr/>
                </a:tc>
                <a:tc>
                  <a:txBody>
                    <a:bodyPr/>
                    <a:lstStyle/>
                    <a:p>
                      <a:pPr>
                        <a:defRPr sz="1200" b="0"/>
                      </a:pPr>
                      <a:r>
                        <a:t>Data-backed siting: 40 sirens reach 49% of exposed people; 6 sensor bridges</a:t>
                      </a:r>
                    </a:p>
                  </a:txBody>
                  <a:tcPr/>
                </a:tc>
              </a:tr>
              <a:tr h="320040">
                <a:tc>
                  <a:txBody>
                    <a:bodyPr/>
                    <a:lstStyle/>
                    <a:p>
                      <a:pPr>
                        <a:defRPr sz="1200" b="0"/>
                      </a:pPr>
                      <a:r>
                        <a:t>Pravaah discharge</a:t>
                      </a:r>
                    </a:p>
                  </a:txBody>
                  <a:tcPr/>
                </a:tc>
                <a:tc>
                  <a:txBody>
                    <a:bodyPr/>
                    <a:lstStyle/>
                    <a:p>
                      <a:pPr>
                        <a:defRPr sz="1200" b="0"/>
                      </a:pPr>
                      <a:r>
                        <a:t>Needs section + velocity factor</a:t>
                      </a:r>
                    </a:p>
                  </a:txBody>
                  <a:tcPr/>
                </a:tc>
                <a:tc>
                  <a:txBody>
                    <a:bodyPr/>
                    <a:lstStyle/>
                    <a:p>
                      <a:pPr>
                        <a:defRPr sz="1200" b="0"/>
                      </a:pPr>
                      <a:r>
                        <a:t>Field protocols B and C measure both, plus Manning's n</a:t>
                      </a:r>
                    </a:p>
                  </a:txBody>
                  <a:tcPr/>
                </a:tc>
              </a:tr>
              <a:tr h="320040">
                <a:tc>
                  <a:txBody>
                    <a:bodyPr/>
                    <a:lstStyle/>
                    <a:p>
                      <a:pPr>
                        <a:defRPr sz="1200" b="0"/>
                      </a:pPr>
                      <a:r>
                        <a:t>Varshaq rain gauge</a:t>
                      </a:r>
                    </a:p>
                  </a:txBody>
                  <a:tcPr/>
                </a:tc>
                <a:tc>
                  <a:txBody>
                    <a:bodyPr/>
                    <a:lstStyle/>
                    <a:p>
                      <a:pPr>
                        <a:defRPr sz="1200" b="0"/>
                      </a:pPr>
                      <a:r>
                        <a:t>Rain not linked to flooded land</a:t>
                      </a:r>
                    </a:p>
                  </a:txBody>
                  <a:tcPr/>
                </a:tc>
                <a:tc>
                  <a:txBody>
                    <a:bodyPr/>
                    <a:lstStyle/>
                    <a:p>
                      <a:pPr>
                        <a:defRPr sz="1200" b="0"/>
                      </a:pPr>
                      <a:r>
                        <a:t>Rain-aware maps: analogs and the learned flow + rain model</a:t>
                      </a:r>
                    </a:p>
                  </a:txBody>
                  <a:tcPr/>
                </a:tc>
              </a:tr>
              <a:tr h="320040">
                <a:tc>
                  <a:txBody>
                    <a:bodyPr/>
                    <a:lstStyle/>
                    <a:p>
                      <a:pPr>
                        <a:defRPr sz="1200" b="0"/>
                      </a:pPr>
                      <a:r>
                        <a:t>Rakshak Control Centre</a:t>
                      </a:r>
                    </a:p>
                  </a:txBody>
                  <a:tcPr/>
                </a:tc>
                <a:tc>
                  <a:txBody>
                    <a:bodyPr/>
                    <a:lstStyle/>
                    <a:p>
                      <a:pPr>
                        <a:defRPr sz="1200" b="0"/>
                      </a:pPr>
                      <a:r>
                        <a:t>Alert areas drawn by hand</a:t>
                      </a:r>
                    </a:p>
                  </a:txBody>
                  <a:tcPr/>
                </a:tc>
                <a:tc>
                  <a:txBody>
                    <a:bodyPr/>
                    <a:lstStyle/>
                    <a:p>
                      <a:pPr>
                        <a:defRPr sz="1200" b="0"/>
                      </a:pPr>
                      <a:r>
                        <a:t>CAP 1.2 alert per forecast, one area per settlement to warn</a:t>
                      </a:r>
                    </a:p>
                  </a:txBody>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Field visit: measure what the models cannot know</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Every measurement has a script and changes a number in the report</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graphicFrame>
        <p:nvGraphicFramePr>
          <p:cNvPr id="5" name="Table 4"/>
          <p:cNvGraphicFramePr>
            <a:graphicFrameLocks noGrp="1"/>
          </p:cNvGraphicFramePr>
          <p:nvPr/>
        </p:nvGraphicFramePr>
        <p:xfrm>
          <a:off x="548640" y="1463040"/>
          <a:ext cx="11064240" cy="2240279"/>
        </p:xfrm>
        <a:graphic>
          <a:graphicData uri="http://schemas.openxmlformats.org/drawingml/2006/table">
            <a:tbl>
              <a:tblPr firstRow="1" bandRow="1">
                <a:tableStyleId>{5C22544A-7EE6-4342-B048-85BDC9FD1C3A}</a:tableStyleId>
              </a:tblPr>
              <a:tblGrid>
                <a:gridCol w="4206240"/>
                <a:gridCol w="2651760"/>
                <a:gridCol w="4206240"/>
              </a:tblGrid>
              <a:tr h="320039">
                <a:tc>
                  <a:txBody>
                    <a:bodyPr/>
                    <a:lstStyle/>
                    <a:p>
                      <a:pPr>
                        <a:defRPr sz="1300" b="1"/>
                      </a:pPr>
                      <a:r>
                        <a:t>At the site</a:t>
                      </a:r>
                    </a:p>
                  </a:txBody>
                  <a:tcPr/>
                </a:tc>
                <a:tc>
                  <a:txBody>
                    <a:bodyPr/>
                    <a:lstStyle/>
                    <a:p>
                      <a:pPr>
                        <a:defRPr sz="1300" b="1"/>
                      </a:pPr>
                      <a:r>
                        <a:t>Feeds</a:t>
                      </a:r>
                    </a:p>
                  </a:txBody>
                  <a:tcPr/>
                </a:tc>
                <a:tc>
                  <a:txBody>
                    <a:bodyPr/>
                    <a:lstStyle/>
                    <a:p>
                      <a:pPr>
                        <a:defRPr sz="1300" b="1"/>
                      </a:pPr>
                      <a:r>
                        <a:t>What it can change</a:t>
                      </a:r>
                    </a:p>
                  </a:txBody>
                  <a:tcPr/>
                </a:tc>
              </a:tr>
              <a:tr h="320039">
                <a:tc>
                  <a:txBody>
                    <a:bodyPr/>
                    <a:lstStyle/>
                    <a:p>
                      <a:pPr>
                        <a:defRPr sz="1300" b="0"/>
                      </a:pPr>
                      <a:r>
                        <a:t>40 random ground-truth points, flood marks, villagers' years</a:t>
                      </a:r>
                    </a:p>
                  </a:txBody>
                  <a:tcPr/>
                </a:tc>
                <a:tc>
                  <a:txBody>
                    <a:bodyPr/>
                    <a:lstStyle/>
                    <a:p>
                      <a:pPr>
                        <a:defRPr sz="1300" b="0"/>
                      </a:pPr>
                      <a:r>
                        <a:t>field_validate_map.py</a:t>
                      </a:r>
                    </a:p>
                  </a:txBody>
                  <a:tcPr/>
                </a:tc>
                <a:tc>
                  <a:txBody>
                    <a:bodyPr/>
                    <a:lstStyle/>
                    <a:p>
                      <a:pPr>
                        <a:defRPr sz="1300" b="0"/>
                      </a:pPr>
                      <a:r>
                        <a:t>Atlas accuracy (POD / FAR / CSI) for ClimMaTech</a:t>
                      </a:r>
                    </a:p>
                  </a:txBody>
                  <a:tcPr/>
                </a:tc>
              </a:tr>
              <a:tr h="320039">
                <a:tc>
                  <a:txBody>
                    <a:bodyPr/>
                    <a:lstStyle/>
                    <a:p>
                      <a:pPr>
                        <a:defRPr sz="1300" b="0"/>
                      </a:pPr>
                      <a:r>
                        <a:t>Cross-section + floats + slope at a bridge</a:t>
                      </a:r>
                    </a:p>
                  </a:txBody>
                  <a:tcPr/>
                </a:tc>
                <a:tc>
                  <a:txBody>
                    <a:bodyPr/>
                    <a:lstStyle/>
                    <a:p>
                      <a:pPr>
                        <a:defRPr sz="1300" b="0"/>
                      </a:pPr>
                      <a:r>
                        <a:t>discharge_velocity_area.py</a:t>
                      </a:r>
                    </a:p>
                  </a:txBody>
                  <a:tcPr/>
                </a:tc>
                <a:tc>
                  <a:txBody>
                    <a:bodyPr/>
                    <a:lstStyle/>
                    <a:p>
                      <a:pPr>
                        <a:defRPr sz="1300" b="0"/>
                      </a:pPr>
                      <a:r>
                        <a:t>GloFAS check; Manning's n for the PINN (now 0.015 assumed)</a:t>
                      </a:r>
                    </a:p>
                  </a:txBody>
                  <a:tcPr/>
                </a:tc>
              </a:tr>
              <a:tr h="320039">
                <a:tc>
                  <a:txBody>
                    <a:bodyPr/>
                    <a:lstStyle/>
                    <a:p>
                      <a:pPr>
                        <a:defRPr sz="1300" b="0"/>
                      </a:pPr>
                      <a:r>
                        <a:t>Bridge deck, HFL marks, scour, closures</a:t>
                      </a:r>
                    </a:p>
                  </a:txBody>
                  <a:tcPr/>
                </a:tc>
                <a:tc>
                  <a:txBody>
                    <a:bodyPr/>
                    <a:lstStyle/>
                    <a:p>
                      <a:pPr>
                        <a:defRPr sz="1300" b="0"/>
                      </a:pPr>
                      <a:r>
                        <a:t>bridge_clearance.py</a:t>
                      </a:r>
                    </a:p>
                  </a:txBody>
                  <a:tcPr/>
                </a:tc>
                <a:tc>
                  <a:txBody>
                    <a:bodyPr/>
                    <a:lstStyle/>
                    <a:p>
                      <a:pPr>
                        <a:defRPr sz="1300" b="0"/>
                      </a:pPr>
                      <a:r>
                        <a:t>IRC:5 clearance; critical-link ranking</a:t>
                      </a:r>
                    </a:p>
                  </a:txBody>
                  <a:tcPr/>
                </a:tc>
              </a:tr>
              <a:tr h="320039">
                <a:tc>
                  <a:txBody>
                    <a:bodyPr/>
                    <a:lstStyle/>
                    <a:p>
                      <a:pPr>
                        <a:defRPr sz="1300" b="0"/>
                      </a:pPr>
                      <a:r>
                        <a:t>Bank inspection + soil samples → IITB lab</a:t>
                      </a:r>
                    </a:p>
                  </a:txBody>
                  <a:tcPr/>
                </a:tc>
                <a:tc>
                  <a:txBody>
                    <a:bodyPr/>
                    <a:lstStyle/>
                    <a:p>
                      <a:pPr>
                        <a:defRPr sz="1300" b="0"/>
                      </a:pPr>
                      <a:r>
                        <a:t>soil_gradation.py</a:t>
                      </a:r>
                    </a:p>
                  </a:txBody>
                  <a:tcPr/>
                </a:tc>
                <a:tc>
                  <a:txBody>
                    <a:bodyPr/>
                    <a:lstStyle/>
                    <a:p>
                      <a:pPr>
                        <a:defRPr sz="1300" b="0"/>
                      </a:pPr>
                      <a:r>
                        <a:t>Bank inspection ranking (replaces SoilGrids)</a:t>
                      </a:r>
                    </a:p>
                  </a:txBody>
                  <a:tcPr/>
                </a:tc>
              </a:tr>
              <a:tr h="320039">
                <a:tc>
                  <a:txBody>
                    <a:bodyPr/>
                    <a:lstStyle/>
                    <a:p>
                      <a:pPr>
                        <a:defRPr sz="1300" b="0"/>
                      </a:pPr>
                      <a:r>
                        <a:t>Siren / sensor site sheets</a:t>
                      </a:r>
                    </a:p>
                  </a:txBody>
                  <a:tcPr/>
                </a:tc>
                <a:tc>
                  <a:txBody>
                    <a:bodyPr/>
                    <a:lstStyle/>
                    <a:p>
                      <a:pPr>
                        <a:defRPr sz="1300" b="0"/>
                      </a:pPr>
                      <a:r>
                        <a:t>sensor_site_assessment.csv</a:t>
                      </a:r>
                    </a:p>
                  </a:txBody>
                  <a:tcPr/>
                </a:tc>
                <a:tc>
                  <a:txBody>
                    <a:bodyPr/>
                    <a:lstStyle/>
                    <a:p>
                      <a:pPr>
                        <a:defRPr sz="1300" b="0"/>
                      </a:pPr>
                      <a:r>
                        <a:t>Final deployment list</a:t>
                      </a:r>
                    </a:p>
                  </a:txBody>
                  <a:tcPr/>
                </a:tc>
              </a:tr>
              <a:tr h="320045">
                <a:tc>
                  <a:txBody>
                    <a:bodyPr/>
                    <a:lstStyle/>
                    <a:p>
                      <a:pPr>
                        <a:defRPr sz="1300" b="0"/>
                      </a:pPr>
                      <a:r>
                        <a:t>Interviews: WRD, CWC, ClimMaTech, villages</a:t>
                      </a:r>
                    </a:p>
                  </a:txBody>
                  <a:tcPr/>
                </a:tc>
                <a:tc>
                  <a:txBody>
                    <a:bodyPr/>
                    <a:lstStyle/>
                    <a:p>
                      <a:pPr>
                        <a:defRPr sz="1300" b="0"/>
                      </a:pPr>
                      <a:r>
                        <a:t>interviews.csv</a:t>
                      </a:r>
                    </a:p>
                  </a:txBody>
                  <a:tcPr/>
                </a:tc>
                <a:tc>
                  <a:txBody>
                    <a:bodyPr/>
                    <a:lstStyle/>
                    <a:p>
                      <a:pPr>
                        <a:defRPr sz="1300" b="0"/>
                      </a:pPr>
                      <a:r>
                        <a:t>Problem statement; 'which flow floods which village'</a:t>
                      </a:r>
                    </a:p>
                  </a:txBody>
                  <a:tcPr/>
                </a:tc>
              </a:tr>
            </a:tbl>
          </a:graphicData>
        </a:graphic>
      </p:graphicFrame>
      <p:sp>
        <p:nvSpPr>
          <p:cNvPr id="6" name="TextBox 5"/>
          <p:cNvSpPr txBox="1"/>
          <p:nvPr/>
        </p:nvSpPr>
        <p:spPr>
          <a:xfrm>
            <a:off x="548640" y="5120640"/>
            <a:ext cx="11064240" cy="1097280"/>
          </a:xfrm>
          <a:prstGeom prst="rect">
            <a:avLst/>
          </a:prstGeom>
          <a:noFill/>
        </p:spPr>
        <p:txBody>
          <a:bodyPr wrap="square">
            <a:spAutoFit/>
          </a:bodyPr>
          <a:lstStyle/>
          <a:p>
            <a:pPr>
              <a:spcAft>
                <a:spcPts val="600"/>
              </a:spcAft>
              <a:defRPr sz="1400" b="0">
                <a:solidFill>
                  <a:srgbClr val="0B0B0B"/>
                </a:solidFill>
              </a:defRPr>
            </a:pPr>
            <a:r>
              <a:t>• GPS check points (GPX / KML), printed dossier, protocols, safety rules: fieldkit/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Checks of our own numbers</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Independent sensor in the delta; physics track</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sp>
        <p:nvSpPr>
          <p:cNvPr id="5" name="TextBox 4"/>
          <p:cNvSpPr txBox="1"/>
          <p:nvPr/>
        </p:nvSpPr>
        <p:spPr>
          <a:xfrm>
            <a:off x="548640" y="1463040"/>
            <a:ext cx="5486400" cy="4754880"/>
          </a:xfrm>
          <a:prstGeom prst="rect">
            <a:avLst/>
          </a:prstGeom>
          <a:noFill/>
        </p:spPr>
        <p:txBody>
          <a:bodyPr wrap="square">
            <a:spAutoFit/>
          </a:bodyPr>
          <a:lstStyle/>
          <a:p>
            <a:pPr>
              <a:spcAft>
                <a:spcPts val="600"/>
              </a:spcAft>
              <a:defRPr sz="1400" b="0">
                <a:solidFill>
                  <a:srgbClr val="0B0B0B"/>
                </a:solidFill>
              </a:defRPr>
            </a:pPr>
            <a:r>
              <a:t>• Sentinel-2 within ±1 day, clear pixels: 60 pairs</a:t>
            </a:r>
          </a:p>
          <a:p>
            <a:pPr>
              <a:spcAft>
                <a:spcPts val="600"/>
              </a:spcAft>
              <a:defRPr sz="1400" b="0">
                <a:solidFill>
                  <a:srgbClr val="0B0B0B"/>
                </a:solidFill>
              </a:defRPr>
            </a:pPr>
            <a:r>
              <a:t>• Radar atlas vs optical water, all water: IoU 0.49 (precision 0.60, recall 0.73)</a:t>
            </a:r>
          </a:p>
          <a:p>
            <a:pPr>
              <a:spcAft>
                <a:spcPts val="600"/>
              </a:spcAft>
              <a:defRPr sz="1400" b="0">
                <a:solidFill>
                  <a:srgbClr val="0B0B0B"/>
                </a:solidFill>
              </a:defRPr>
            </a:pPr>
            <a:r>
              <a:t>• Outside normal water, Jun–Nov: IoU 0.18 over 60 pairs</a:t>
            </a:r>
          </a:p>
          <a:p>
            <a:pPr>
              <a:spcAft>
                <a:spcPts val="600"/>
              </a:spcAft>
              <a:defRPr sz="1400" b="0">
                <a:solidFill>
                  <a:srgbClr val="0B0B0B"/>
                </a:solidFill>
              </a:defRPr>
            </a:pPr>
            <a:r>
              <a:t>• PINN (Saint-Venant): 6 published cases reproduced (0.0 % deviation); case 3 retrained 2.7 % better than the paper; L-BFGS-B stage adds nothing</a:t>
            </a:r>
          </a:p>
          <a:p>
            <a:pPr>
              <a:spcAft>
                <a:spcPts val="600"/>
              </a:spcAft>
              <a:defRPr sz="1400" b="0">
                <a:solidFill>
                  <a:srgbClr val="0B0B0B"/>
                </a:solidFill>
              </a:defRPr>
            </a:pPr>
            <a:r>
              <a:t>• Field Manning's n will replace the assumed 0.015</a:t>
            </a:r>
          </a:p>
        </p:txBody>
      </p:sp>
      <p:pic>
        <p:nvPicPr>
          <p:cNvPr id="6" name="Picture 5" descr="case3_trained_profiles.png"/>
          <p:cNvPicPr>
            <a:picLocks noChangeAspect="1"/>
          </p:cNvPicPr>
          <p:nvPr/>
        </p:nvPicPr>
        <p:blipFill>
          <a:blip r:embed="rId2"/>
          <a:stretch>
            <a:fillRect/>
          </a:stretch>
        </p:blipFill>
        <p:spPr>
          <a:xfrm>
            <a:off x="6309360" y="1554480"/>
            <a:ext cx="5486400" cy="2351314"/>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Team and contributions</a:t>
            </a:r>
          </a:p>
        </p:txBody>
      </p:sp>
      <p:sp>
        <p:nvSpPr>
          <p:cNvPr id="3" name="TextBox 2"/>
          <p:cNvSpPr txBox="1"/>
          <p:nvPr/>
        </p:nvSpPr>
        <p:spPr>
          <a:xfrm>
            <a:off x="457200" y="914400"/>
            <a:ext cx="11247120" cy="548640"/>
          </a:xfrm>
          <a:prstGeom prst="rect">
            <a:avLst/>
          </a:prstGeom>
          <a:noFill/>
        </p:spPr>
        <p:txBody>
          <a:bodyPr wrap="square">
            <a:spAutoFit/>
          </a:bodyPr>
          <a:lstStyle/>
          <a:p>
            <a:pPr>
              <a:spcAft>
                <a:spcPts val="600"/>
              </a:spcAft>
              <a:defRPr sz="1600" b="0">
                <a:solidFill>
                  <a:srgbClr val="52514E"/>
                </a:solidFill>
              </a:defRPr>
            </a:pPr>
            <a:r>
              <a:t>Five students, seven specializations; each presents the part they built</a:t>
            </a:r>
          </a:p>
        </p:txBody>
      </p:sp>
      <p:sp>
        <p:nvSpPr>
          <p:cNvPr id="4" name="TextBox 3"/>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graphicFrame>
        <p:nvGraphicFramePr>
          <p:cNvPr id="5" name="Table 4"/>
          <p:cNvGraphicFramePr>
            <a:graphicFrameLocks noGrp="1"/>
          </p:cNvGraphicFramePr>
          <p:nvPr/>
        </p:nvGraphicFramePr>
        <p:xfrm>
          <a:off x="457200" y="1371600"/>
          <a:ext cx="11247120" cy="1920239"/>
        </p:xfrm>
        <a:graphic>
          <a:graphicData uri="http://schemas.openxmlformats.org/drawingml/2006/table">
            <a:tbl>
              <a:tblPr firstRow="1" bandRow="1">
                <a:tableStyleId>{5C22544A-7EE6-4342-B048-85BDC9FD1C3A}</a:tableStyleId>
              </a:tblPr>
              <a:tblGrid>
                <a:gridCol w="2377440"/>
                <a:gridCol w="2560320"/>
                <a:gridCol w="6309360"/>
              </a:tblGrid>
              <a:tr h="320039">
                <a:tc>
                  <a:txBody>
                    <a:bodyPr/>
                    <a:lstStyle/>
                    <a:p>
                      <a:pPr>
                        <a:defRPr sz="1300" b="1"/>
                      </a:pPr>
                      <a:r>
                        <a:t>Member</a:t>
                      </a:r>
                    </a:p>
                  </a:txBody>
                  <a:tcPr/>
                </a:tc>
                <a:tc>
                  <a:txBody>
                    <a:bodyPr/>
                    <a:lstStyle/>
                    <a:p>
                      <a:pPr>
                        <a:defRPr sz="1300" b="1"/>
                      </a:pPr>
                      <a:r>
                        <a:t>Specializations</a:t>
                      </a:r>
                    </a:p>
                  </a:txBody>
                  <a:tcPr/>
                </a:tc>
                <a:tc>
                  <a:txBody>
                    <a:bodyPr/>
                    <a:lstStyle/>
                    <a:p>
                      <a:pPr>
                        <a:defRPr sz="1300" b="1"/>
                      </a:pPr>
                      <a:r>
                        <a:t>What they built</a:t>
                      </a:r>
                    </a:p>
                  </a:txBody>
                  <a:tcPr/>
                </a:tc>
              </a:tr>
              <a:tr h="320039">
                <a:tc>
                  <a:txBody>
                    <a:bodyPr/>
                    <a:lstStyle/>
                    <a:p>
                      <a:pPr>
                        <a:defRPr sz="1300" b="0"/>
                      </a:pPr>
                      <a:r>
                        <a:t>Nikhil Upadhyay (lead)</a:t>
                      </a:r>
                    </a:p>
                  </a:txBody>
                  <a:tcPr/>
                </a:tc>
                <a:tc>
                  <a:txBody>
                    <a:bodyPr/>
                    <a:lstStyle/>
                    <a:p>
                      <a:pPr>
                        <a:defRPr sz="1300" b="0"/>
                      </a:pPr>
                      <a:r>
                        <a:t>Water resources, Ocean</a:t>
                      </a:r>
                    </a:p>
                  </a:txBody>
                  <a:tcPr/>
                </a:tc>
                <a:tc>
                  <a:txBody>
                    <a:bodyPr/>
                    <a:lstStyle/>
                    <a:p>
                      <a:pPr>
                        <a:defRPr sz="1300" b="0"/>
                      </a:pPr>
                      <a:r>
                        <a:t>Flow-to-flood model, design floods, travel time, Saint-Venant PINN, storm drivers; organises the visit</a:t>
                      </a:r>
                    </a:p>
                  </a:txBody>
                  <a:tcPr/>
                </a:tc>
              </a:tr>
              <a:tr h="320039">
                <a:tc>
                  <a:txBody>
                    <a:bodyPr/>
                    <a:lstStyle/>
                    <a:p>
                      <a:pPr>
                        <a:defRPr sz="1300" b="0"/>
                      </a:pPr>
                      <a:r>
                        <a:t>Vineet Jangir</a:t>
                      </a:r>
                    </a:p>
                  </a:txBody>
                  <a:tcPr/>
                </a:tc>
                <a:tc>
                  <a:txBody>
                    <a:bodyPr/>
                    <a:lstStyle/>
                    <a:p>
                      <a:pPr>
                        <a:defRPr sz="1300" b="0"/>
                      </a:pPr>
                      <a:r>
                        <a:t>Remote sensing</a:t>
                      </a:r>
                    </a:p>
                  </a:txBody>
                  <a:tcPr/>
                </a:tc>
                <a:tc>
                  <a:txBody>
                    <a:bodyPr/>
                    <a:lstStyle/>
                    <a:p>
                      <a:pPr>
                        <a:defRPr sz="1300" b="0"/>
                      </a:pPr>
                      <a:r>
                        <a:t>Benchmark of six foundation models (92 runs), fusion, the 20 m radar model</a:t>
                      </a:r>
                    </a:p>
                  </a:txBody>
                  <a:tcPr/>
                </a:tc>
              </a:tr>
              <a:tr h="320039">
                <a:tc>
                  <a:txBody>
                    <a:bodyPr/>
                    <a:lstStyle/>
                    <a:p>
                      <a:pPr>
                        <a:defRPr sz="1300" b="0"/>
                      </a:pPr>
                      <a:r>
                        <a:t>Prakhar Gupta</a:t>
                      </a:r>
                    </a:p>
                  </a:txBody>
                  <a:tcPr/>
                </a:tc>
                <a:tc>
                  <a:txBody>
                    <a:bodyPr/>
                    <a:lstStyle/>
                    <a:p>
                      <a:pPr>
                        <a:defRPr sz="1300" b="0"/>
                      </a:pPr>
                      <a:r>
                        <a:t>Remote sensing</a:t>
                      </a:r>
                    </a:p>
                  </a:txBody>
                  <a:tcPr/>
                </a:tc>
                <a:tc>
                  <a:txBody>
                    <a:bodyPr/>
                    <a:lstStyle/>
                    <a:p>
                      <a:pPr>
                        <a:defRPr sz="1300" b="0"/>
                      </a:pPr>
                      <a:r>
                        <a:t>Flood atlas from 590 Sentinel-1 passes, Sentinel-2 check, map viewer</a:t>
                      </a:r>
                    </a:p>
                  </a:txBody>
                  <a:tcPr/>
                </a:tc>
              </a:tr>
              <a:tr h="320039">
                <a:tc>
                  <a:txBody>
                    <a:bodyPr/>
                    <a:lstStyle/>
                    <a:p>
                      <a:pPr>
                        <a:defRPr sz="1300" b="0"/>
                      </a:pPr>
                      <a:r>
                        <a:t>Himanshu Shete</a:t>
                      </a:r>
                    </a:p>
                  </a:txBody>
                  <a:tcPr/>
                </a:tc>
                <a:tc>
                  <a:txBody>
                    <a:bodyPr/>
                    <a:lstStyle/>
                    <a:p>
                      <a:pPr>
                        <a:defRPr sz="1300" b="0"/>
                      </a:pPr>
                      <a:r>
                        <a:t>Transportation, Structural</a:t>
                      </a:r>
                    </a:p>
                  </a:txBody>
                  <a:tcPr/>
                </a:tc>
                <a:tc>
                  <a:txBody>
                    <a:bodyPr/>
                    <a:lstStyle/>
                    <a:p>
                      <a:pPr>
                        <a:defRPr sz="1300" b="0"/>
                      </a:pPr>
                      <a:r>
                        <a:t>Hospital access, critical links, flood depth, walls, bridge scour; integration of the impact chain, forecast-to-bulletin tool, website, report and slides</a:t>
                      </a:r>
                    </a:p>
                  </a:txBody>
                  <a:tcPr/>
                </a:tc>
              </a:tr>
              <a:tr h="320044">
                <a:tc>
                  <a:txBody>
                    <a:bodyPr/>
                    <a:lstStyle/>
                    <a:p>
                      <a:pPr>
                        <a:defRPr sz="1300" b="0"/>
                      </a:pPr>
                      <a:r>
                        <a:t>Prabhat Kumar</a:t>
                      </a:r>
                    </a:p>
                  </a:txBody>
                  <a:tcPr/>
                </a:tc>
                <a:tc>
                  <a:txBody>
                    <a:bodyPr/>
                    <a:lstStyle/>
                    <a:p>
                      <a:pPr>
                        <a:defRPr sz="1300" b="0"/>
                      </a:pPr>
                      <a:r>
                        <a:t>Geotechnical, Construction mgmt</a:t>
                      </a:r>
                    </a:p>
                  </a:txBody>
                  <a:tcPr/>
                </a:tc>
                <a:tc>
                  <a:txBody>
                    <a:bodyPr/>
                    <a:lstStyle/>
                    <a:p>
                      <a:pPr>
                        <a:defRPr sz="1300" b="0"/>
                      </a:pPr>
                      <a:r>
                        <a:t>Bank screening, ground saturation, foundations; work windows, earthwork, siren and sensor plan</a:t>
                      </a:r>
                    </a:p>
                  </a:txBody>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spcAft>
                <a:spcPts val="600"/>
              </a:spcAft>
              <a:defRPr sz="3000" b="1">
                <a:solidFill>
                  <a:srgbClr val="0B0B0B"/>
                </a:solidFill>
              </a:defRPr>
            </a:pPr>
            <a:r>
              <a:t>What we conclude</a:t>
            </a:r>
          </a:p>
        </p:txBody>
      </p:sp>
      <p:sp>
        <p:nvSpPr>
          <p:cNvPr id="3" name="TextBox 2"/>
          <p:cNvSpPr txBox="1"/>
          <p:nvPr/>
        </p:nvSpPr>
        <p:spPr>
          <a:xfrm>
            <a:off x="457200" y="6400800"/>
            <a:ext cx="11247120" cy="365760"/>
          </a:xfrm>
          <a:prstGeom prst="rect">
            <a:avLst/>
          </a:prstGeom>
          <a:noFill/>
        </p:spPr>
        <p:txBody>
          <a:bodyPr wrap="square">
            <a:spAutoFit/>
          </a:bodyPr>
          <a:lstStyle/>
          <a:p>
            <a:pPr>
              <a:spcAft>
                <a:spcPts val="600"/>
              </a:spcAft>
              <a:defRPr sz="1000" b="0">
                <a:solidFill>
                  <a:srgbClr val="52514E"/>
                </a:solidFill>
              </a:defRPr>
            </a:pPr>
            <a:r>
              <a:t>Prithvi Flood-IN · CE 491 IDP · IIT Bombay × ClimMaTech · final review</a:t>
            </a:r>
          </a:p>
        </p:txBody>
      </p:sp>
      <p:sp>
        <p:nvSpPr>
          <p:cNvPr id="4" name="TextBox 3"/>
          <p:cNvSpPr txBox="1"/>
          <p:nvPr/>
        </p:nvSpPr>
        <p:spPr>
          <a:xfrm>
            <a:off x="548640" y="1188720"/>
            <a:ext cx="11064240" cy="5120640"/>
          </a:xfrm>
          <a:prstGeom prst="rect">
            <a:avLst/>
          </a:prstGeom>
          <a:noFill/>
        </p:spPr>
        <p:txBody>
          <a:bodyPr wrap="square">
            <a:spAutoFit/>
          </a:bodyPr>
          <a:lstStyle/>
          <a:p>
            <a:pPr>
              <a:spcAft>
                <a:spcPts val="600"/>
              </a:spcAft>
              <a:defRPr sz="1700" b="0">
                <a:solidFill>
                  <a:srgbClr val="0B0B0B"/>
                </a:solidFill>
              </a:defRPr>
            </a:pPr>
            <a:r>
              <a:t>• Model choice: on an unseen Indian flood U-Net (0.770 ± 0.006) beats every foundation model; the FM's value here is that one network takes radar alone when monsoon cloud removes the optical image.</a:t>
            </a:r>
          </a:p>
          <a:p>
            <a:pPr>
              <a:spcAft>
                <a:spcPts val="600"/>
              </a:spcAft>
              <a:defRPr sz="1700" b="0">
                <a:solidFill>
                  <a:srgbClr val="0B0B0B"/>
                </a:solidFill>
              </a:defRPr>
            </a:pPr>
            <a:r>
              <a:t>• The delta's flood atlas from 590 radar passes turns a Naraj flow forecast into a map; on held-out years it beats flood climatology at high flows (0.23 vs 0.07).</a:t>
            </a:r>
          </a:p>
          <a:p>
            <a:pPr>
              <a:spcAft>
                <a:spcPts val="600"/>
              </a:spcAft>
              <a:defRPr sz="1700" b="0">
                <a:solidFill>
                  <a:srgbClr val="0B0B0B"/>
                </a:solidFill>
              </a:defRPr>
            </a:pPr>
            <a:r>
              <a:t>• In a 25-year flood about 25,163 people live on flooded land and 36,941 lose road access to a hospital; the critical links and banks to inspect are listed with coordinates.</a:t>
            </a:r>
          </a:p>
          <a:p>
            <a:pPr>
              <a:spcAft>
                <a:spcPts val="600"/>
              </a:spcAft>
              <a:defRPr sz="1700" b="0">
                <a:solidFill>
                  <a:srgbClr val="0B0B0B"/>
                </a:solidFill>
              </a:defRPr>
            </a:pPr>
            <a:r>
              <a:t>• Deployment: siren and sensor sites, and a forecast-to-bulletin tool, ready for ClimMaTech's platform.</a:t>
            </a:r>
          </a:p>
          <a:p>
            <a:pPr>
              <a:spcAft>
                <a:spcPts val="600"/>
              </a:spcAft>
              <a:defRPr sz="1700" b="0">
                <a:solidFill>
                  <a:srgbClr val="0B0B0B"/>
                </a:solidFill>
              </a:defRPr>
            </a:pPr>
            <a:r>
              <a:t>• Next: the field visit closes the loop — accuracy at random points, measured discharge and roughness, soil classes.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