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 id="262" r:id="rId13"/>
    <p:sldId id="263" r:id="rId14"/>
    <p:sldId id="264" r:id="rId15"/>
    <p:sldId id="265" r:id="rId16"/>
    <p:sldId id="266" r:id="rId17"/>
    <p:sldId id="267" r:id="rId18"/>
    <p:sldId id="268" r:id="rId19"/>
    <p:sldId id="269" r:id="rId20"/>
    <p:sldId id="270" r:id="rId21"/>
    <p:sldId id="271" r:id="rId22"/>
    <p:sldId id="272" r:id="rId23"/>
    <p:sldId id="273" r:id="rId24"/>
    <p:sldId id="274" r:id="rId25"/>
    <p:sldId id="275" r:id="rId26"/>
    <p:sldId id="276" r:id="rId27"/>
    <p:sldId id="277" r:id="rId28"/>
    <p:sldId id="278" r:id="rId29"/>
    <p:sldId id="279" r:id="rId30"/>
    <p:sldId id="280" r:id="rId31"/>
    <p:sldId id="281" r:id="rId32"/>
    <p:sldId id="282" r:id="rId33"/>
    <p:sldId id="283" r:id="rId34"/>
    <p:sldId id="284" r:id="rId35"/>
    <p:sldId id="285" r:id="rId36"/>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slide" Target="slides/slide10.xml"/><Relationship Id="rId17" Type="http://schemas.openxmlformats.org/officeDocument/2006/relationships/slide" Target="slides/slide11.xml"/><Relationship Id="rId18" Type="http://schemas.openxmlformats.org/officeDocument/2006/relationships/slide" Target="slides/slide12.xml"/><Relationship Id="rId19" Type="http://schemas.openxmlformats.org/officeDocument/2006/relationships/slide" Target="slides/slide13.xml"/><Relationship Id="rId20" Type="http://schemas.openxmlformats.org/officeDocument/2006/relationships/slide" Target="slides/slide14.xml"/><Relationship Id="rId21" Type="http://schemas.openxmlformats.org/officeDocument/2006/relationships/slide" Target="slides/slide15.xml"/><Relationship Id="rId22" Type="http://schemas.openxmlformats.org/officeDocument/2006/relationships/slide" Target="slides/slide16.xml"/><Relationship Id="rId23" Type="http://schemas.openxmlformats.org/officeDocument/2006/relationships/slide" Target="slides/slide17.xml"/><Relationship Id="rId24" Type="http://schemas.openxmlformats.org/officeDocument/2006/relationships/slide" Target="slides/slide18.xml"/><Relationship Id="rId25" Type="http://schemas.openxmlformats.org/officeDocument/2006/relationships/slide" Target="slides/slide19.xml"/><Relationship Id="rId26" Type="http://schemas.openxmlformats.org/officeDocument/2006/relationships/slide" Target="slides/slide20.xml"/><Relationship Id="rId27" Type="http://schemas.openxmlformats.org/officeDocument/2006/relationships/slide" Target="slides/slide21.xml"/><Relationship Id="rId28" Type="http://schemas.openxmlformats.org/officeDocument/2006/relationships/slide" Target="slides/slide22.xml"/><Relationship Id="rId29" Type="http://schemas.openxmlformats.org/officeDocument/2006/relationships/slide" Target="slides/slide23.xml"/><Relationship Id="rId30" Type="http://schemas.openxmlformats.org/officeDocument/2006/relationships/slide" Target="slides/slide24.xml"/><Relationship Id="rId31" Type="http://schemas.openxmlformats.org/officeDocument/2006/relationships/slide" Target="slides/slide25.xml"/><Relationship Id="rId32" Type="http://schemas.openxmlformats.org/officeDocument/2006/relationships/slide" Target="slides/slide26.xml"/><Relationship Id="rId33" Type="http://schemas.openxmlformats.org/officeDocument/2006/relationships/slide" Target="slides/slide27.xml"/><Relationship Id="rId34" Type="http://schemas.openxmlformats.org/officeDocument/2006/relationships/slide" Target="slides/slide28.xml"/><Relationship Id="rId35" Type="http://schemas.openxmlformats.org/officeDocument/2006/relationships/slide" Target="slides/slide29.xml"/><Relationship Id="rId36" Type="http://schemas.openxmlformats.org/officeDocument/2006/relationships/slide" Target="slides/slide30.xml"/><Relationship Id="rId37" Type="http://schemas.openxmlformats.org/officeDocument/2006/relationships/notesMaster" Target="notesMasters/notesMaster1.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Presenter: Nikhil. Introduce the team and the question in one line: when the Mahanadi rises, what floods, and who must be warned? Say that the work joins satellite AI with the department's seven specializations, for a real delta and a real industry partner.</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Presenter: Nikhil. ClimMaTech measures and forecasts the river at points: radar gauges, sirens, an app. A forecast says how much water reaches Naraj, not which villages go under. Our refined problem statement fills that gap for the Mahanadi delta: 4.1 million people in 3,038 km².</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Presenter: Nikhil. Walk through the stakeholders: ClimMaTech needs a flood-extent layer and site plans; the guide's Mahanadi project needs inundation and impacts; the Water Resources Department needs to know which banks and roads fail; the district needs villages to warn. Each row is something we deliver.</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Presenter: Himanshu. One set of flood scenarios, one question per specialization. Read the headline column quickly and say the details follow. Mention that water resources includes the watershed above the delta, where about half of a flood peak comes from below Hirakud dam.</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Presenter: Vineet. Same data, same recipe, same decoder for every model: six foundation models, a CNN and a U-Net, three seeds each. The key design choice is leave-India-out: the test is an Indian flood no model saw. 92 runs in total.</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Presenter: Vineet. The surprise: a small U-Net (0.770) beat every foundation model (best 0.747). Water is spectrally simple and a few hundred labels are enough. Fusing the top three gives 0.776.</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Presenter: Vineet. Optical is better under clear sky, but the delta was 61–95 % cloud on flood dates. So the production model is radar-only: TerraMind, which takes radar natively, fused with a U-Net.</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Presenter: Himanshu. We re-checked all 92 runs from their saved outputs: right settings, no chip in two splits, no Indian chip in training, selection on validation only, every score recomputed. Our TerraMind matches the published paper within a point (89.7 against 90.62).</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Presenter: Prakhar. Every Sentinel-1 pass since 2017: 590 passes, mapped in about 5 seconds each. Flood means water outside the river bed and the dry-season water. 1,137 km² flooded at least once.</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Presenter: Nikhil. Each pixel gets the Naraj flow at which it starts to flood. Tested on years it never saw: IoU 0.20 against 0.04 for climatology at high flows. Past floods rank flood-prone land very well (AUC 0.90); how much floods on a given day is harder.</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Presenter: Nikhil. A gradient-boosted model adds 7-day rain and each pixel's flood history to the flow. It is better on heavy-rain passes (0.22 against 0.15) and ranks land best (AUC 0.95), and it catches more flooded villages at the cost of more false alarms. Its maps never show less flooding for more rain.</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Presenter: Nikhil. How far ahead does the warning see? A model per lead time reads today's upstream flows and the catchment rain. On the test monsoons it beats assuming no change at every lead, most at three days (0.89 against 0.79). A rain forecast catches more 2-year floods two and three days ahead. With real gauges upstream the same code trains on measured flows.</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Presenter: Himanshu. For each design flood: people on flooded land, farmland, roads, hospitals, bridges. In the 25-year flood 30,427 people live on 240 km² of flooded land. Floods above the largest seen since 2017 are lower bounds.</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Presenter: Himanshu. The road network becomes a graph; flooded sections are cut. 52,423 people lose road access to every hospital in the 25-year flood, and everyday trips grow by about 10,077 person-hours a day. The critical links are listed with coordinates.</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Presenter: Prabhat. Bank cells ranked by how often water stands behind the bank, the soil and the people nearby. Twenty inspection sites at least 3 km apart are listed, and the top twelve are on the field GPS file; the lab tests on their soil samples decide the ranking.</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Presenter: Himanshu. Flood depth from the elevation at the flood edge. A 230 mm brick wall cracks at about a metre of water; 4,080 people live where the 25-year flood is that deep. Pier scour reaches 7–24 m below the high flood level; the flow split between branches is the missing input.</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Presenter: Prabhat. Floodwater raises the groundwater under houses that stay dry: 441,605 people within 200 m of the 25-year flood on silty clay. Soaking cuts bearing capacity by about 55 %, and the clay settles when the water drops. Well levels at the site fix the 200 m.</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Presenter: Nikhil. 37 storms and depressions came within 300 km since 2016; 11 of the 20 largest floods followed one. The two largest came at Naraj flows of 11,614 and 14,487 m³/s, below the 2-year flood (17,897), with 231 and 187 mm of rain that week: read the rain forecast with the river forecast.</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Presenter: Prabhat. Build in December–April, the months with no flood days and few storms. Raising 10 critical roads takes about 27,603 m³ of earthwork, all as road embankments (none needs more than 3 m). The schedule fits approvals, procurement and installation inside the window.</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Presenter: Himanshu. Depth times a published damage curve gives the houses damaged; flooded paddy at the support price gives the crop lost. Running every day since 1997 through the impact table gives an average year: at least the expected damage on the slide, and the person-days without a hospital. Raising ten roads repays its cost many times over; the field interviews check the losses.</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Presenter: Prabhat. Sirens where exposed people live: 40 sirens reach 48% at 1.5 km, phones reach the rest. One radar gauge per distributary, on the bridge nearest Naraj whose approaches stay dry, measures how the flood splits.</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Presenter: Himanshu. A forecast flow goes in; a flood map, the settlements to warn and the roads under water come out in seconds, plus a CAP alert the Rakshak Control Centre can take (32 alert areas for the 25-year flow). The map viewer shows every scenario.</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Presenter: Himanshu. Show today's run: 51 GloFAS runs become flows at Naraj, the flow–impact table turns them into people, villages and hospital access, and the level comes from the impact. Point at the villages with their first flood day, the official alerts the feed picked up, and the CAP alert and Atom feed the control centre can subscribe to. It runs in about 15 seconds.</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Presenter: Himanshu. Today is quiet, so here is the feed on the morning of the largest flood of the radar era. With the flows that came it says 'Act now' four days before the crest and names the villages with dates. The upstream model, which never saw 2022, under-forecasts the steep rise but still says 'Act now' three days ahead. The radar table shows the honest part: rain flooded more land before the crest than the crest itself.</a:t>
            </a:r>
          </a:p>
        </p:txBody>
      </p:sp>
      <p:sp>
        <p:nvSpPr>
          <p:cNvPr id="4" name="Slide Number Placeholder 3"/>
          <p:cNvSpPr>
            <a:spLocks noGrp="1"/>
          </p:cNvSpPr>
          <p:nvPr>
            <p:ph type="sldNum" idx="5" sz="quarter"/>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Presenter: Prakhar. A basin is a box, a gauge on the main river and the flood season. The same radar models mapped every pass since 2017 on the Brahmani-Baitarani delta and on the Brahmaputra at Majuli, the region of our unseen Indian test flood, and both run in the live feed.</a:t>
            </a:r>
          </a:p>
        </p:txBody>
      </p:sp>
      <p:sp>
        <p:nvSpPr>
          <p:cNvPr id="4" name="Slide Number Placeholder 3"/>
          <p:cNvSpPr>
            <a:spLocks noGrp="1"/>
          </p:cNvSpPr>
          <p:nvPr>
            <p:ph type="sldNum" idx="5" sz="quarter"/>
          </p:nvPr>
        </p:nvSpPr>
        <p:spPr/>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Presenter: Himanshu. We read every page of their site. Each row is one of their services, the gap and what we add, with the number behind it: the flood-extent layer for River View, bulletins and CAP alerts, a real network of sites, a field method for discharge, rain-aware maps.</a:t>
            </a:r>
          </a:p>
        </p:txBody>
      </p:sp>
      <p:sp>
        <p:nvSpPr>
          <p:cNvPr id="4" name="Slide Number Placeholder 3"/>
          <p:cNvSpPr>
            <a:spLocks noGrp="1"/>
          </p:cNvSpPr>
          <p:nvPr>
            <p:ph type="sldNum" idx="5" sz="quarter"/>
          </p:nvPr>
        </p:nvSpPr>
        <p:spPr/>
      </p:sp>
    </p:spTree>
  </p:cSld>
  <p:clrMapOvr>
    <a:masterClrMapping/>
  </p:clrMapOvr>
</p:notes>
</file>

<file path=ppt/notesSlides/notesSlide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Presenter: Nikhil. The visit measures what the models cannot know: accuracy at 40 random points, discharge and roughness at a bridge, bridge and bank inspections with soil samples, well levels, sensor sites and interviews. Every measurement has a script and changes a number in the report.</a:t>
            </a:r>
          </a:p>
        </p:txBody>
      </p:sp>
      <p:sp>
        <p:nvSpPr>
          <p:cNvPr id="4" name="Slide Number Placeholder 3"/>
          <p:cNvSpPr>
            <a:spLocks noGrp="1"/>
          </p:cNvSpPr>
          <p:nvPr>
            <p:ph type="sldNum" idx="5" sz="quarter"/>
          </p:nvPr>
        </p:nvSpPr>
        <p:spPr/>
      </p:sp>
    </p:spTree>
  </p:cSld>
  <p:clrMapOvr>
    <a:masterClrMapping/>
  </p:clrMapOvr>
</p:notes>
</file>

<file path=ppt/notesSlides/notesSlide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Presenter: Prakhar. Sentinel-2 within a day of 60 radar passes: IoU 0.56 on all water, lower on the flood part, so the radar misses shallow water among crops. The mentor's PINN for the Saint-Venant equations was reproduced exactly and retrained.</a:t>
            </a:r>
          </a:p>
        </p:txBody>
      </p:sp>
      <p:sp>
        <p:nvSpPr>
          <p:cNvPr id="4" name="Slide Number Placeholder 3"/>
          <p:cNvSpPr>
            <a:spLocks noGrp="1"/>
          </p:cNvSpPr>
          <p:nvPr>
            <p:ph type="sldNum" idx="5" sz="quarter"/>
          </p:nvPr>
        </p:nvSpPr>
        <p:spPr/>
      </p:sp>
    </p:spTree>
  </p:cSld>
  <p:clrMapOvr>
    <a:masterClrMapping/>
  </p:clrMapOvr>
</p:notes>
</file>

<file path=ppt/notesSlides/notesSlide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Presenter: Nikhil. Who built what: each member presents the part they own and can answer for the whole chain.</a:t>
            </a:r>
          </a:p>
        </p:txBody>
      </p:sp>
      <p:sp>
        <p:nvSpPr>
          <p:cNvPr id="4" name="Slide Number Placeholder 3"/>
          <p:cNvSpPr>
            <a:spLocks noGrp="1"/>
          </p:cNvSpPr>
          <p:nvPr>
            <p:ph type="sldNum" idx="5" sz="quarter"/>
          </p:nvPr>
        </p:nvSpPr>
        <p:spPr/>
      </p:sp>
    </p:spTree>
  </p:cSld>
  <p:clrMapOvr>
    <a:masterClrMapping/>
  </p:clrMapOvr>
</p:notes>
</file>

<file path=ppt/notesSlides/notesSlide3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Presenter: Nikhil. Seven points, one sentence each: the U-Net beats the foundation models on an unseen flood; the radar atlas turns a flow forecast into a map that beats climatology; rain matters, and the learned model uses it; the 25-year flood's people and roads, with an answer for every specialization; half of a flood peak comes from below Hirakud dam; every training run was re-checked; the tools are ready and the field visit closes the loop. Thank the guide and the mentors.</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 Id="rId3" Type="http://schemas.openxmlformats.org/officeDocument/2006/relationships/image" Target="../media/image5.png"/><Relationship Id="rId4"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png"/><Relationship Id="rId3" Type="http://schemas.openxmlformats.org/officeDocument/2006/relationships/image" Target="../media/image7.png"/><Relationship Id="rId4"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8.png"/><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9.png"/><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0.png"/><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1.png"/><Relationship Id="rId3" Type="http://schemas.openxmlformats.org/officeDocument/2006/relationships/image" Target="../media/image12.png"/><Relationship Id="rId4"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3.png"/><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4.png"/><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5.png"/><Relationship Id="rId3" Type="http://schemas.openxmlformats.org/officeDocument/2006/relationships/image" Target="../media/image16.png"/><Relationship Id="rId4"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7.png"/><Relationship Id="rId3"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8.png"/><Relationship Id="rId3"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9.png"/><Relationship Id="rId3"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0.png"/><Relationship Id="rId3" Type="http://schemas.openxmlformats.org/officeDocument/2006/relationships/image" Target="../media/image21.png"/><Relationship Id="rId4" Type="http://schemas.openxmlformats.org/officeDocument/2006/relationships/image" Target="../media/image22.png"/><Relationship Id="rId5"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3.png"/><Relationship Id="rId3"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0.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731520" y="1463040"/>
            <a:ext cx="10789920" cy="1097280"/>
          </a:xfrm>
          <a:prstGeom prst="rect">
            <a:avLst/>
          </a:prstGeom>
          <a:noFill/>
        </p:spPr>
        <p:txBody>
          <a:bodyPr wrap="square">
            <a:spAutoFit/>
          </a:bodyPr>
          <a:lstStyle/>
          <a:p>
            <a:pPr>
              <a:spcAft>
                <a:spcPts val="600"/>
              </a:spcAft>
              <a:defRPr sz="4400" b="1">
                <a:solidFill>
                  <a:srgbClr val="0B0B0B"/>
                </a:solidFill>
              </a:defRPr>
            </a:pPr>
            <a:r>
              <a:t>Prithvi Flood-IN</a:t>
            </a:r>
          </a:p>
        </p:txBody>
      </p:sp>
      <p:sp>
        <p:nvSpPr>
          <p:cNvPr id="3" name="TextBox 2"/>
          <p:cNvSpPr txBox="1"/>
          <p:nvPr/>
        </p:nvSpPr>
        <p:spPr>
          <a:xfrm>
            <a:off x="731520" y="2468880"/>
            <a:ext cx="10789920" cy="1463040"/>
          </a:xfrm>
          <a:prstGeom prst="rect">
            <a:avLst/>
          </a:prstGeom>
          <a:noFill/>
        </p:spPr>
        <p:txBody>
          <a:bodyPr wrap="square">
            <a:spAutoFit/>
          </a:bodyPr>
          <a:lstStyle/>
          <a:p>
            <a:pPr>
              <a:spcAft>
                <a:spcPts val="600"/>
              </a:spcAft>
              <a:defRPr sz="2400" b="0">
                <a:solidFill>
                  <a:srgbClr val="52514E"/>
                </a:solidFill>
              </a:defRPr>
            </a:pPr>
            <a:r>
              <a:t>From a river-flow forecast to who goes under water:</a:t>
            </a:r>
          </a:p>
          <a:p>
            <a:pPr>
              <a:spcAft>
                <a:spcPts val="600"/>
              </a:spcAft>
              <a:defRPr sz="2400" b="0">
                <a:solidFill>
                  <a:srgbClr val="52514E"/>
                </a:solidFill>
              </a:defRPr>
            </a:pPr>
            <a:r>
              <a:t>a satellite foundation model for the Mahanadi delta</a:t>
            </a:r>
          </a:p>
        </p:txBody>
      </p:sp>
      <p:sp>
        <p:nvSpPr>
          <p:cNvPr id="4" name="TextBox 3"/>
          <p:cNvSpPr txBox="1"/>
          <p:nvPr/>
        </p:nvSpPr>
        <p:spPr>
          <a:xfrm>
            <a:off x="731520" y="4114800"/>
            <a:ext cx="10789920" cy="1280160"/>
          </a:xfrm>
          <a:prstGeom prst="rect">
            <a:avLst/>
          </a:prstGeom>
          <a:noFill/>
        </p:spPr>
        <p:txBody>
          <a:bodyPr wrap="square">
            <a:spAutoFit/>
          </a:bodyPr>
          <a:lstStyle/>
          <a:p>
            <a:pPr>
              <a:spcAft>
                <a:spcPts val="600"/>
              </a:spcAft>
              <a:defRPr sz="1600" b="0">
                <a:solidFill>
                  <a:srgbClr val="52514E"/>
                </a:solidFill>
              </a:defRPr>
            </a:pPr>
            <a:r>
              <a:t>Nikhil Upadhyay (lead) · Prakhar Gupta · Prabhat Kumar · Vineet Jangir · Himanshu Shete</a:t>
            </a:r>
          </a:p>
          <a:p>
            <a:pPr>
              <a:spcAft>
                <a:spcPts val="600"/>
              </a:spcAft>
              <a:defRPr sz="1600" b="0">
                <a:solidFill>
                  <a:srgbClr val="52514E"/>
                </a:solidFill>
              </a:defRPr>
            </a:pPr>
            <a:r>
              <a:t>Guide: Prof. Basudev Biswal (IIT Bombay) · Industry: Dr. Vivek Gupta, Siddik Barbhuiya (ClimMaTech)</a:t>
            </a:r>
          </a:p>
          <a:p>
            <a:pPr>
              <a:spcAft>
                <a:spcPts val="600"/>
              </a:spcAft>
              <a:defRPr sz="1600" b="0">
                <a:solidFill>
                  <a:srgbClr val="52514E"/>
                </a:solidFill>
              </a:defRPr>
            </a:pPr>
            <a:r>
              <a:t>CE Integrated Design Project · final review · November 2026</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274320"/>
            <a:ext cx="11247120" cy="731520"/>
          </a:xfrm>
          <a:prstGeom prst="rect">
            <a:avLst/>
          </a:prstGeom>
          <a:noFill/>
        </p:spPr>
        <p:txBody>
          <a:bodyPr wrap="square">
            <a:spAutoFit/>
          </a:bodyPr>
          <a:lstStyle/>
          <a:p>
            <a:pPr>
              <a:spcAft>
                <a:spcPts val="600"/>
              </a:spcAft>
              <a:defRPr sz="3000" b="1">
                <a:solidFill>
                  <a:srgbClr val="0B0B0B"/>
                </a:solidFill>
              </a:defRPr>
            </a:pPr>
            <a:r>
              <a:t>The problem in the field</a:t>
            </a:r>
          </a:p>
        </p:txBody>
      </p:sp>
      <p:sp>
        <p:nvSpPr>
          <p:cNvPr id="3" name="TextBox 2"/>
          <p:cNvSpPr txBox="1"/>
          <p:nvPr/>
        </p:nvSpPr>
        <p:spPr>
          <a:xfrm>
            <a:off x="457200" y="914400"/>
            <a:ext cx="11247120" cy="548640"/>
          </a:xfrm>
          <a:prstGeom prst="rect">
            <a:avLst/>
          </a:prstGeom>
          <a:noFill/>
        </p:spPr>
        <p:txBody>
          <a:bodyPr wrap="square">
            <a:spAutoFit/>
          </a:bodyPr>
          <a:lstStyle/>
          <a:p>
            <a:pPr>
              <a:spcAft>
                <a:spcPts val="600"/>
              </a:spcAft>
              <a:defRPr sz="1600" b="0">
                <a:solidFill>
                  <a:srgbClr val="52514E"/>
                </a:solidFill>
              </a:defRPr>
            </a:pPr>
            <a:r>
              <a:t>ClimMaTech forecasts the river at a point; nobody sees what that flow floods</a:t>
            </a:r>
          </a:p>
        </p:txBody>
      </p:sp>
      <p:sp>
        <p:nvSpPr>
          <p:cNvPr id="4" name="TextBox 3"/>
          <p:cNvSpPr txBox="1"/>
          <p:nvPr/>
        </p:nvSpPr>
        <p:spPr>
          <a:xfrm>
            <a:off x="457200" y="6400800"/>
            <a:ext cx="11247120" cy="365760"/>
          </a:xfrm>
          <a:prstGeom prst="rect">
            <a:avLst/>
          </a:prstGeom>
          <a:noFill/>
        </p:spPr>
        <p:txBody>
          <a:bodyPr wrap="square">
            <a:spAutoFit/>
          </a:bodyPr>
          <a:lstStyle/>
          <a:p>
            <a:pPr>
              <a:spcAft>
                <a:spcPts val="600"/>
              </a:spcAft>
              <a:defRPr sz="1000" b="0">
                <a:solidFill>
                  <a:srgbClr val="52514E"/>
                </a:solidFill>
              </a:defRPr>
            </a:pPr>
            <a:r>
              <a:t>Prithvi Flood-IN · CE 491 IDP · IIT Bombay × ClimMaTech · final review</a:t>
            </a:r>
          </a:p>
        </p:txBody>
      </p:sp>
      <p:sp>
        <p:nvSpPr>
          <p:cNvPr id="5" name="TextBox 4"/>
          <p:cNvSpPr txBox="1"/>
          <p:nvPr/>
        </p:nvSpPr>
        <p:spPr>
          <a:xfrm>
            <a:off x="548640" y="1463040"/>
            <a:ext cx="5760720" cy="4754880"/>
          </a:xfrm>
          <a:prstGeom prst="rect">
            <a:avLst/>
          </a:prstGeom>
          <a:noFill/>
        </p:spPr>
        <p:txBody>
          <a:bodyPr wrap="square">
            <a:spAutoFit/>
          </a:bodyPr>
          <a:lstStyle/>
          <a:p>
            <a:pPr>
              <a:spcAft>
                <a:spcPts val="600"/>
              </a:spcAft>
              <a:defRPr sz="1600" b="0">
                <a:solidFill>
                  <a:srgbClr val="0B0B0B"/>
                </a:solidFill>
              </a:defRPr>
            </a:pPr>
            <a:r>
              <a:t>• ClimMaTech: radar gauges on bridges and spillways, sirens, Aagah app; forecasts 30 min – 48 h ahead.</a:t>
            </a:r>
          </a:p>
          <a:p>
            <a:pPr>
              <a:spcAft>
                <a:spcPts val="600"/>
              </a:spcAft>
              <a:defRPr sz="1600" b="0">
                <a:solidFill>
                  <a:srgbClr val="0B0B0B"/>
                </a:solidFill>
              </a:defRPr>
            </a:pPr>
            <a:r>
              <a:t>• Every product is a point: the level or flow at one gauge.</a:t>
            </a:r>
          </a:p>
          <a:p>
            <a:pPr>
              <a:spcAft>
                <a:spcPts val="600"/>
              </a:spcAft>
              <a:defRPr sz="1600" b="0">
                <a:solidFill>
                  <a:srgbClr val="0B0B0B"/>
                </a:solidFill>
              </a:defRPr>
            </a:pPr>
            <a:r>
              <a:t>• Missing: which land, villages, roads, bridges and embankments go under water at that flow.</a:t>
            </a:r>
          </a:p>
          <a:p>
            <a:pPr>
              <a:spcAft>
                <a:spcPts val="600"/>
              </a:spcAft>
              <a:defRPr sz="1600" b="0">
                <a:solidFill>
                  <a:srgbClr val="0B0B0B"/>
                </a:solidFill>
              </a:defRPr>
            </a:pPr>
            <a:r>
              <a:t>• Mahanadi delta below Naraj: 3,038 km² study box, 4.1 million people, floods in 2018, 2020, 2022…</a:t>
            </a:r>
          </a:p>
          <a:p>
            <a:pPr>
              <a:spcAft>
                <a:spcPts val="600"/>
              </a:spcAft>
              <a:defRPr sz="1600" b="0">
                <a:solidFill>
                  <a:srgbClr val="0B0B0B"/>
                </a:solidFill>
              </a:defRPr>
            </a:pPr>
            <a:r>
              <a:t>• Prof. Biswal's Mahanadi basin work, Odisha WRD and CWC (Naraj gauge, barrages) all meet here.</a:t>
            </a:r>
          </a:p>
        </p:txBody>
      </p:sp>
      <p:sp>
        <p:nvSpPr>
          <p:cNvPr id="6" name="TextBox 5"/>
          <p:cNvSpPr txBox="1"/>
          <p:nvPr/>
        </p:nvSpPr>
        <p:spPr>
          <a:xfrm>
            <a:off x="6583680" y="1463040"/>
            <a:ext cx="5120640" cy="4754880"/>
          </a:xfrm>
          <a:prstGeom prst="rect">
            <a:avLst/>
          </a:prstGeom>
          <a:noFill/>
        </p:spPr>
        <p:txBody>
          <a:bodyPr wrap="square">
            <a:spAutoFit/>
          </a:bodyPr>
          <a:lstStyle/>
          <a:p>
            <a:pPr>
              <a:spcAft>
                <a:spcPts val="600"/>
              </a:spcAft>
              <a:defRPr sz="1700" b="1">
                <a:solidFill>
                  <a:srgbClr val="0B0B0B"/>
                </a:solidFill>
              </a:defRPr>
            </a:pPr>
            <a:r>
              <a:t>Refined problem statement</a:t>
            </a:r>
          </a:p>
          <a:p>
            <a:pPr>
              <a:spcAft>
                <a:spcPts val="600"/>
              </a:spcAft>
              <a:defRPr sz="1700" b="0">
                <a:solidFill>
                  <a:srgbClr val="0B0B0B"/>
                </a:solidFill>
              </a:defRPr>
            </a:pPr>
            <a:r>
              <a:t>For the Mahanadi delta, turn a river-flow forecast at Naraj into a map of what floods and whom it affects, using a satellite foundation model chosen by a fair benchmark, and use that map to plan where warnings and sensors should go, checked and calibrated at the site.</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274320"/>
            <a:ext cx="11247120" cy="731520"/>
          </a:xfrm>
          <a:prstGeom prst="rect">
            <a:avLst/>
          </a:prstGeom>
          <a:noFill/>
        </p:spPr>
        <p:txBody>
          <a:bodyPr wrap="square">
            <a:spAutoFit/>
          </a:bodyPr>
          <a:lstStyle/>
          <a:p>
            <a:pPr>
              <a:spcAft>
                <a:spcPts val="600"/>
              </a:spcAft>
              <a:defRPr sz="3000" b="1">
                <a:solidFill>
                  <a:srgbClr val="0B0B0B"/>
                </a:solidFill>
              </a:defRPr>
            </a:pPr>
            <a:r>
              <a:t>Who needs what</a:t>
            </a:r>
          </a:p>
        </p:txBody>
      </p:sp>
      <p:sp>
        <p:nvSpPr>
          <p:cNvPr id="3" name="TextBox 2"/>
          <p:cNvSpPr txBox="1"/>
          <p:nvPr/>
        </p:nvSpPr>
        <p:spPr>
          <a:xfrm>
            <a:off x="457200" y="914400"/>
            <a:ext cx="11247120" cy="548640"/>
          </a:xfrm>
          <a:prstGeom prst="rect">
            <a:avLst/>
          </a:prstGeom>
          <a:noFill/>
        </p:spPr>
        <p:txBody>
          <a:bodyPr wrap="square">
            <a:spAutoFit/>
          </a:bodyPr>
          <a:lstStyle/>
          <a:p>
            <a:pPr>
              <a:spcAft>
                <a:spcPts val="600"/>
              </a:spcAft>
              <a:defRPr sz="1600" b="0">
                <a:solidFill>
                  <a:srgbClr val="52514E"/>
                </a:solidFill>
              </a:defRPr>
            </a:pPr>
            <a:r>
              <a:t>The project is built around the people who would use it</a:t>
            </a:r>
          </a:p>
        </p:txBody>
      </p:sp>
      <p:sp>
        <p:nvSpPr>
          <p:cNvPr id="4" name="TextBox 3"/>
          <p:cNvSpPr txBox="1"/>
          <p:nvPr/>
        </p:nvSpPr>
        <p:spPr>
          <a:xfrm>
            <a:off x="457200" y="6400800"/>
            <a:ext cx="11247120" cy="365760"/>
          </a:xfrm>
          <a:prstGeom prst="rect">
            <a:avLst/>
          </a:prstGeom>
          <a:noFill/>
        </p:spPr>
        <p:txBody>
          <a:bodyPr wrap="square">
            <a:spAutoFit/>
          </a:bodyPr>
          <a:lstStyle/>
          <a:p>
            <a:pPr>
              <a:spcAft>
                <a:spcPts val="600"/>
              </a:spcAft>
              <a:defRPr sz="1000" b="0">
                <a:solidFill>
                  <a:srgbClr val="52514E"/>
                </a:solidFill>
              </a:defRPr>
            </a:pPr>
            <a:r>
              <a:t>Prithvi Flood-IN · CE 491 IDP · IIT Bombay × ClimMaTech · final review</a:t>
            </a:r>
          </a:p>
        </p:txBody>
      </p:sp>
      <p:graphicFrame>
        <p:nvGraphicFramePr>
          <p:cNvPr id="5" name="Table 4"/>
          <p:cNvGraphicFramePr>
            <a:graphicFrameLocks noGrp="1"/>
          </p:cNvGraphicFramePr>
          <p:nvPr/>
        </p:nvGraphicFramePr>
        <p:xfrm>
          <a:off x="548640" y="1463040"/>
          <a:ext cx="11064240" cy="1920239"/>
        </p:xfrm>
        <a:graphic>
          <a:graphicData uri="http://schemas.openxmlformats.org/drawingml/2006/table">
            <a:tbl>
              <a:tblPr firstRow="1" bandRow="1">
                <a:tableStyleId>{5C22544A-7EE6-4342-B048-85BDC9FD1C3A}</a:tableStyleId>
              </a:tblPr>
              <a:tblGrid>
                <a:gridCol w="3474720"/>
                <a:gridCol w="4023360"/>
                <a:gridCol w="3566160"/>
              </a:tblGrid>
              <a:tr h="320039">
                <a:tc>
                  <a:txBody>
                    <a:bodyPr/>
                    <a:lstStyle/>
                    <a:p>
                      <a:pPr>
                        <a:defRPr sz="1300" b="1"/>
                      </a:pPr>
                      <a:r>
                        <a:t>Stakeholder</a:t>
                      </a:r>
                    </a:p>
                  </a:txBody>
                  <a:tcPr/>
                </a:tc>
                <a:tc>
                  <a:txBody>
                    <a:bodyPr/>
                    <a:lstStyle/>
                    <a:p>
                      <a:pPr>
                        <a:defRPr sz="1300" b="1"/>
                      </a:pPr>
                      <a:r>
                        <a:t>Needs from us</a:t>
                      </a:r>
                    </a:p>
                  </a:txBody>
                  <a:tcPr/>
                </a:tc>
                <a:tc>
                  <a:txBody>
                    <a:bodyPr/>
                    <a:lstStyle/>
                    <a:p>
                      <a:pPr>
                        <a:defRPr sz="1300" b="1"/>
                      </a:pPr>
                      <a:r>
                        <a:t>We need from them</a:t>
                      </a:r>
                    </a:p>
                  </a:txBody>
                  <a:tcPr/>
                </a:tc>
              </a:tr>
              <a:tr h="320039">
                <a:tc>
                  <a:txBody>
                    <a:bodyPr/>
                    <a:lstStyle/>
                    <a:p>
                      <a:pPr>
                        <a:defRPr sz="1300" b="0"/>
                      </a:pPr>
                      <a:r>
                        <a:t>ClimMaTech (CTO Dr. Vivek Gupta; Siddik)</a:t>
                      </a:r>
                    </a:p>
                  </a:txBody>
                  <a:tcPr/>
                </a:tc>
                <a:tc>
                  <a:txBody>
                    <a:bodyPr/>
                    <a:lstStyle/>
                    <a:p>
                      <a:pPr>
                        <a:defRPr sz="1300" b="0"/>
                      </a:pPr>
                      <a:r>
                        <a:t>Flood-extent layer + village list per forecast; siren and sensor sites</a:t>
                      </a:r>
                    </a:p>
                  </a:txBody>
                  <a:tcPr/>
                </a:tc>
                <a:tc>
                  <a:txBody>
                    <a:bodyPr/>
                    <a:lstStyle/>
                    <a:p>
                      <a:pPr>
                        <a:defRPr sz="1300" b="0"/>
                      </a:pPr>
                      <a:r>
                        <a:t>Siren range, data formats, site-survey practice</a:t>
                      </a:r>
                    </a:p>
                  </a:txBody>
                  <a:tcPr/>
                </a:tc>
              </a:tr>
              <a:tr h="320039">
                <a:tc>
                  <a:txBody>
                    <a:bodyPr/>
                    <a:lstStyle/>
                    <a:p>
                      <a:pPr>
                        <a:defRPr sz="1300" b="0"/>
                      </a:pPr>
                      <a:r>
                        <a:t>Prof. Biswal's Mahanadi basin project</a:t>
                      </a:r>
                    </a:p>
                  </a:txBody>
                  <a:tcPr/>
                </a:tc>
                <a:tc>
                  <a:txBody>
                    <a:bodyPr/>
                    <a:lstStyle/>
                    <a:p>
                      <a:pPr>
                        <a:defRPr sz="1300" b="0"/>
                      </a:pPr>
                      <a:r>
                        <a:t>Inundation and impacts for the delta</a:t>
                      </a:r>
                    </a:p>
                  </a:txBody>
                  <a:tcPr/>
                </a:tc>
                <a:tc>
                  <a:txBody>
                    <a:bodyPr/>
                    <a:lstStyle/>
                    <a:p>
                      <a:pPr>
                        <a:defRPr sz="1300" b="0"/>
                      </a:pPr>
                      <a:r>
                        <a:t>Site access, introductions</a:t>
                      </a:r>
                    </a:p>
                  </a:txBody>
                  <a:tcPr/>
                </a:tc>
              </a:tr>
              <a:tr h="320039">
                <a:tc>
                  <a:txBody>
                    <a:bodyPr/>
                    <a:lstStyle/>
                    <a:p>
                      <a:pPr>
                        <a:defRPr sz="1300" b="0"/>
                      </a:pPr>
                      <a:r>
                        <a:t>Odisha WRD, CWC Mahanadi division</a:t>
                      </a:r>
                    </a:p>
                  </a:txBody>
                  <a:tcPr/>
                </a:tc>
                <a:tc>
                  <a:txBody>
                    <a:bodyPr/>
                    <a:lstStyle/>
                    <a:p>
                      <a:pPr>
                        <a:defRPr sz="1300" b="0"/>
                      </a:pPr>
                      <a:r>
                        <a:t>Which banks and roads fail at which flow</a:t>
                      </a:r>
                    </a:p>
                  </a:txBody>
                  <a:tcPr/>
                </a:tc>
                <a:tc>
                  <a:txBody>
                    <a:bodyPr/>
                    <a:lstStyle/>
                    <a:p>
                      <a:pPr>
                        <a:defRPr sz="1300" b="0"/>
                      </a:pPr>
                      <a:r>
                        <a:t>Naraj discharge, embankment inventory, breach history</a:t>
                      </a:r>
                    </a:p>
                  </a:txBody>
                  <a:tcPr/>
                </a:tc>
              </a:tr>
              <a:tr h="320039">
                <a:tc>
                  <a:txBody>
                    <a:bodyPr/>
                    <a:lstStyle/>
                    <a:p>
                      <a:pPr>
                        <a:defRPr sz="1300" b="0"/>
                      </a:pPr>
                      <a:r>
                        <a:t>OSDMA, Cuttack / Kendrapara / Jagatsinghpur</a:t>
                      </a:r>
                    </a:p>
                  </a:txBody>
                  <a:tcPr/>
                </a:tc>
                <a:tc>
                  <a:txBody>
                    <a:bodyPr/>
                    <a:lstStyle/>
                    <a:p>
                      <a:pPr>
                        <a:defRPr sz="1300" b="0"/>
                      </a:pPr>
                      <a:r>
                        <a:t>Villages to warn, roads that close</a:t>
                      </a:r>
                    </a:p>
                  </a:txBody>
                  <a:tcPr/>
                </a:tc>
                <a:tc>
                  <a:txBody>
                    <a:bodyPr/>
                    <a:lstStyle/>
                    <a:p>
                      <a:pPr>
                        <a:defRPr sz="1300" b="0"/>
                      </a:pPr>
                      <a:r>
                        <a:t>Evacuation records, shelters</a:t>
                      </a:r>
                    </a:p>
                  </a:txBody>
                  <a:tcPr/>
                </a:tc>
              </a:tr>
              <a:tr h="320044">
                <a:tc>
                  <a:txBody>
                    <a:bodyPr/>
                    <a:lstStyle/>
                    <a:p>
                      <a:pPr>
                        <a:defRPr sz="1300" b="0"/>
                      </a:pPr>
                      <a:r>
                        <a:t>Villages and farmers</a:t>
                      </a:r>
                    </a:p>
                  </a:txBody>
                  <a:tcPr/>
                </a:tc>
                <a:tc>
                  <a:txBody>
                    <a:bodyPr/>
                    <a:lstStyle/>
                    <a:p>
                      <a:pPr>
                        <a:defRPr sz="1300" b="0"/>
                      </a:pPr>
                      <a:r>
                        <a:t>Earlier, local warning</a:t>
                      </a:r>
                    </a:p>
                  </a:txBody>
                  <a:tcPr/>
                </a:tc>
                <a:tc>
                  <a:txBody>
                    <a:bodyPr/>
                    <a:lstStyle/>
                    <a:p>
                      <a:pPr>
                        <a:defRPr sz="1300" b="0"/>
                      </a:pPr>
                      <a:r>
                        <a:t>What flooded, when, how deep</a:t>
                      </a:r>
                    </a:p>
                  </a:txBody>
                  <a:tcPr/>
                </a:tc>
              </a:tr>
            </a:tbl>
          </a:graphicData>
        </a:graphic>
      </p:graphicFrame>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274320"/>
            <a:ext cx="11247120" cy="731520"/>
          </a:xfrm>
          <a:prstGeom prst="rect">
            <a:avLst/>
          </a:prstGeom>
          <a:noFill/>
        </p:spPr>
        <p:txBody>
          <a:bodyPr wrap="square">
            <a:spAutoFit/>
          </a:bodyPr>
          <a:lstStyle/>
          <a:p>
            <a:pPr>
              <a:spcAft>
                <a:spcPts val="600"/>
              </a:spcAft>
              <a:defRPr sz="3000" b="1">
                <a:solidFill>
                  <a:srgbClr val="0B0B0B"/>
                </a:solidFill>
              </a:defRPr>
            </a:pPr>
            <a:r>
              <a:t>One flood, seven specializations</a:t>
            </a:r>
          </a:p>
        </p:txBody>
      </p:sp>
      <p:sp>
        <p:nvSpPr>
          <p:cNvPr id="3" name="TextBox 2"/>
          <p:cNvSpPr txBox="1"/>
          <p:nvPr/>
        </p:nvSpPr>
        <p:spPr>
          <a:xfrm>
            <a:off x="457200" y="914400"/>
            <a:ext cx="11247120" cy="548640"/>
          </a:xfrm>
          <a:prstGeom prst="rect">
            <a:avLst/>
          </a:prstGeom>
          <a:noFill/>
        </p:spPr>
        <p:txBody>
          <a:bodyPr wrap="square">
            <a:spAutoFit/>
          </a:bodyPr>
          <a:lstStyle/>
          <a:p>
            <a:pPr>
              <a:spcAft>
                <a:spcPts val="600"/>
              </a:spcAft>
              <a:defRPr sz="1600" b="0">
                <a:solidFill>
                  <a:srgbClr val="52514E"/>
                </a:solidFill>
              </a:defRPr>
            </a:pPr>
            <a:r>
              <a:t>Each specialization asks its own question of the same flood scenarios</a:t>
            </a:r>
          </a:p>
        </p:txBody>
      </p:sp>
      <p:sp>
        <p:nvSpPr>
          <p:cNvPr id="4" name="TextBox 3"/>
          <p:cNvSpPr txBox="1"/>
          <p:nvPr/>
        </p:nvSpPr>
        <p:spPr>
          <a:xfrm>
            <a:off x="457200" y="6400800"/>
            <a:ext cx="11247120" cy="365760"/>
          </a:xfrm>
          <a:prstGeom prst="rect">
            <a:avLst/>
          </a:prstGeom>
          <a:noFill/>
        </p:spPr>
        <p:txBody>
          <a:bodyPr wrap="square">
            <a:spAutoFit/>
          </a:bodyPr>
          <a:lstStyle/>
          <a:p>
            <a:pPr>
              <a:spcAft>
                <a:spcPts val="600"/>
              </a:spcAft>
              <a:defRPr sz="1000" b="0">
                <a:solidFill>
                  <a:srgbClr val="52514E"/>
                </a:solidFill>
              </a:defRPr>
            </a:pPr>
            <a:r>
              <a:t>Prithvi Flood-IN · CE 491 IDP · IIT Bombay × ClimMaTech · final review</a:t>
            </a:r>
          </a:p>
        </p:txBody>
      </p:sp>
      <p:graphicFrame>
        <p:nvGraphicFramePr>
          <p:cNvPr id="5" name="Table 4"/>
          <p:cNvGraphicFramePr>
            <a:graphicFrameLocks noGrp="1"/>
          </p:cNvGraphicFramePr>
          <p:nvPr/>
        </p:nvGraphicFramePr>
        <p:xfrm>
          <a:off x="457200" y="1371600"/>
          <a:ext cx="11247120" cy="2560320"/>
        </p:xfrm>
        <a:graphic>
          <a:graphicData uri="http://schemas.openxmlformats.org/drawingml/2006/table">
            <a:tbl>
              <a:tblPr firstRow="1" bandRow="1">
                <a:tableStyleId>{5C22544A-7EE6-4342-B048-85BDC9FD1C3A}</a:tableStyleId>
              </a:tblPr>
              <a:tblGrid>
                <a:gridCol w="2103120"/>
                <a:gridCol w="3474720"/>
                <a:gridCol w="3840480"/>
                <a:gridCol w="1828800"/>
              </a:tblGrid>
              <a:tr h="320040">
                <a:tc>
                  <a:txBody>
                    <a:bodyPr/>
                    <a:lstStyle/>
                    <a:p>
                      <a:pPr>
                        <a:defRPr sz="1200" b="1"/>
                      </a:pPr>
                      <a:r>
                        <a:t>Specialization</a:t>
                      </a:r>
                    </a:p>
                  </a:txBody>
                  <a:tcPr/>
                </a:tc>
                <a:tc>
                  <a:txBody>
                    <a:bodyPr/>
                    <a:lstStyle/>
                    <a:p>
                      <a:pPr>
                        <a:defRPr sz="1200" b="1"/>
                      </a:pPr>
                      <a:r>
                        <a:t>Question</a:t>
                      </a:r>
                    </a:p>
                  </a:txBody>
                  <a:tcPr/>
                </a:tc>
                <a:tc>
                  <a:txBody>
                    <a:bodyPr/>
                    <a:lstStyle/>
                    <a:p>
                      <a:pPr>
                        <a:defRPr sz="1200" b="1"/>
                      </a:pPr>
                      <a:r>
                        <a:t>Headline (25-year flood)</a:t>
                      </a:r>
                    </a:p>
                  </a:txBody>
                  <a:tcPr/>
                </a:tc>
                <a:tc>
                  <a:txBody>
                    <a:bodyPr/>
                    <a:lstStyle/>
                    <a:p>
                      <a:pPr>
                        <a:defRPr sz="1200" b="1"/>
                      </a:pPr>
                      <a:r>
                        <a:t>Field check</a:t>
                      </a:r>
                    </a:p>
                  </a:txBody>
                  <a:tcPr/>
                </a:tc>
              </a:tr>
              <a:tr h="320040">
                <a:tc>
                  <a:txBody>
                    <a:bodyPr/>
                    <a:lstStyle/>
                    <a:p>
                      <a:pPr>
                        <a:defRPr sz="1200" b="0"/>
                      </a:pPr>
                      <a:r>
                        <a:t>Remote sensing</a:t>
                      </a:r>
                    </a:p>
                  </a:txBody>
                  <a:tcPr/>
                </a:tc>
                <a:tc>
                  <a:txBody>
                    <a:bodyPr/>
                    <a:lstStyle/>
                    <a:p>
                      <a:pPr>
                        <a:defRPr sz="1200" b="0"/>
                      </a:pPr>
                      <a:r>
                        <a:t>Which model maps floods through cloud?</a:t>
                      </a:r>
                    </a:p>
                  </a:txBody>
                  <a:tcPr/>
                </a:tc>
                <a:tc>
                  <a:txBody>
                    <a:bodyPr/>
                    <a:lstStyle/>
                    <a:p>
                      <a:pPr>
                        <a:defRPr sz="1200" b="0"/>
                      </a:pPr>
                      <a:r>
                        <a:t>590 radar passes mapped; U-Net beats FMs on unseen flood</a:t>
                      </a:r>
                    </a:p>
                  </a:txBody>
                  <a:tcPr/>
                </a:tc>
                <a:tc>
                  <a:txBody>
                    <a:bodyPr/>
                    <a:lstStyle/>
                    <a:p>
                      <a:pPr>
                        <a:defRPr sz="1200" b="0"/>
                      </a:pPr>
                      <a:r>
                        <a:t>40 random points</a:t>
                      </a:r>
                    </a:p>
                  </a:txBody>
                  <a:tcPr/>
                </a:tc>
              </a:tr>
              <a:tr h="320040">
                <a:tc>
                  <a:txBody>
                    <a:bodyPr/>
                    <a:lstStyle/>
                    <a:p>
                      <a:pPr>
                        <a:defRPr sz="1200" b="0"/>
                      </a:pPr>
                      <a:r>
                        <a:t>Water resources</a:t>
                      </a:r>
                    </a:p>
                  </a:txBody>
                  <a:tcPr/>
                </a:tc>
                <a:tc>
                  <a:txBody>
                    <a:bodyPr/>
                    <a:lstStyle/>
                    <a:p>
                      <a:pPr>
                        <a:defRPr sz="1200" b="0"/>
                      </a:pPr>
                      <a:r>
                        <a:t>Which flow floods which land; where does it come from?</a:t>
                      </a:r>
                    </a:p>
                  </a:txBody>
                  <a:tcPr/>
                </a:tc>
                <a:tc>
                  <a:txBody>
                    <a:bodyPr/>
                    <a:lstStyle/>
                    <a:p>
                      <a:pPr>
                        <a:defRPr sz="1200" b="0"/>
                      </a:pPr>
                      <a:r>
                        <a:t>Trigger map 0.20 vs 0.04 climatology; ~48% of a flood peak from Hirakud</a:t>
                      </a:r>
                    </a:p>
                  </a:txBody>
                  <a:tcPr/>
                </a:tc>
                <a:tc>
                  <a:txBody>
                    <a:bodyPr/>
                    <a:lstStyle/>
                    <a:p>
                      <a:pPr>
                        <a:defRPr sz="1200" b="0"/>
                      </a:pPr>
                      <a:r>
                        <a:t>Discharge, Manning's n</a:t>
                      </a:r>
                    </a:p>
                  </a:txBody>
                  <a:tcPr/>
                </a:tc>
              </a:tr>
              <a:tr h="320040">
                <a:tc>
                  <a:txBody>
                    <a:bodyPr/>
                    <a:lstStyle/>
                    <a:p>
                      <a:pPr>
                        <a:defRPr sz="1200" b="0"/>
                      </a:pPr>
                      <a:r>
                        <a:t>Transportation</a:t>
                      </a:r>
                    </a:p>
                  </a:txBody>
                  <a:tcPr/>
                </a:tc>
                <a:tc>
                  <a:txBody>
                    <a:bodyPr/>
                    <a:lstStyle/>
                    <a:p>
                      <a:pPr>
                        <a:defRPr sz="1200" b="0"/>
                      </a:pPr>
                      <a:r>
                        <a:t>Who loses the road to a hospital?</a:t>
                      </a:r>
                    </a:p>
                  </a:txBody>
                  <a:tcPr/>
                </a:tc>
                <a:tc>
                  <a:txBody>
                    <a:bodyPr/>
                    <a:lstStyle/>
                    <a:p>
                      <a:pPr>
                        <a:defRPr sz="1200" b="0"/>
                      </a:pPr>
                      <a:r>
                        <a:t>52,423 people cut off</a:t>
                      </a:r>
                    </a:p>
                  </a:txBody>
                  <a:tcPr/>
                </a:tc>
                <a:tc>
                  <a:txBody>
                    <a:bodyPr/>
                    <a:lstStyle/>
                    <a:p>
                      <a:pPr>
                        <a:defRPr sz="1200" b="0"/>
                      </a:pPr>
                      <a:r>
                        <a:t>Road closures</a:t>
                      </a:r>
                    </a:p>
                  </a:txBody>
                  <a:tcPr/>
                </a:tc>
              </a:tr>
              <a:tr h="320040">
                <a:tc>
                  <a:txBody>
                    <a:bodyPr/>
                    <a:lstStyle/>
                    <a:p>
                      <a:pPr>
                        <a:defRPr sz="1200" b="0"/>
                      </a:pPr>
                      <a:r>
                        <a:t>Structural</a:t>
                      </a:r>
                    </a:p>
                  </a:txBody>
                  <a:tcPr/>
                </a:tc>
                <a:tc>
                  <a:txBody>
                    <a:bodyPr/>
                    <a:lstStyle/>
                    <a:p>
                      <a:pPr>
                        <a:defRPr sz="1200" b="0"/>
                      </a:pPr>
                      <a:r>
                        <a:t>Where do walls crack; how deep must piers go?</a:t>
                      </a:r>
                    </a:p>
                  </a:txBody>
                  <a:tcPr/>
                </a:tc>
                <a:tc>
                  <a:txBody>
                    <a:bodyPr/>
                    <a:lstStyle/>
                    <a:p>
                      <a:pPr>
                        <a:defRPr sz="1200" b="0"/>
                      </a:pPr>
                      <a:r>
                        <a:t>4,080 people where depth &gt;= 1 m</a:t>
                      </a:r>
                    </a:p>
                  </a:txBody>
                  <a:tcPr/>
                </a:tc>
                <a:tc>
                  <a:txBody>
                    <a:bodyPr/>
                    <a:lstStyle/>
                    <a:p>
                      <a:pPr>
                        <a:defRPr sz="1200" b="0"/>
                      </a:pPr>
                      <a:r>
                        <a:t>HFL marks, foundations</a:t>
                      </a:r>
                    </a:p>
                  </a:txBody>
                  <a:tcPr/>
                </a:tc>
              </a:tr>
              <a:tr h="320040">
                <a:tc>
                  <a:txBody>
                    <a:bodyPr/>
                    <a:lstStyle/>
                    <a:p>
                      <a:pPr>
                        <a:defRPr sz="1200" b="0"/>
                      </a:pPr>
                      <a:r>
                        <a:t>Geotechnical</a:t>
                      </a:r>
                    </a:p>
                  </a:txBody>
                  <a:tcPr/>
                </a:tc>
                <a:tc>
                  <a:txBody>
                    <a:bodyPr/>
                    <a:lstStyle/>
                    <a:p>
                      <a:pPr>
                        <a:defRPr sz="1200" b="0"/>
                      </a:pPr>
                      <a:r>
                        <a:t>Which banks fail; which dry houses sit on soaked ground?</a:t>
                      </a:r>
                    </a:p>
                  </a:txBody>
                  <a:tcPr/>
                </a:tc>
                <a:tc>
                  <a:txBody>
                    <a:bodyPr/>
                    <a:lstStyle/>
                    <a:p>
                      <a:pPr>
                        <a:defRPr sz="1200" b="0"/>
                      </a:pPr>
                      <a:r>
                        <a:t>441,605 people in the 200 m advisory zone</a:t>
                      </a:r>
                    </a:p>
                  </a:txBody>
                  <a:tcPr/>
                </a:tc>
                <a:tc>
                  <a:txBody>
                    <a:bodyPr/>
                    <a:lstStyle/>
                    <a:p>
                      <a:pPr>
                        <a:defRPr sz="1200" b="0"/>
                      </a:pPr>
                      <a:r>
                        <a:t>Soil samples, wells</a:t>
                      </a:r>
                    </a:p>
                  </a:txBody>
                  <a:tcPr/>
                </a:tc>
              </a:tr>
              <a:tr h="320040">
                <a:tc>
                  <a:txBody>
                    <a:bodyPr/>
                    <a:lstStyle/>
                    <a:p>
                      <a:pPr>
                        <a:defRPr sz="1200" b="0"/>
                      </a:pPr>
                      <a:r>
                        <a:t>Ocean</a:t>
                      </a:r>
                    </a:p>
                  </a:txBody>
                  <a:tcPr/>
                </a:tc>
                <a:tc>
                  <a:txBody>
                    <a:bodyPr/>
                    <a:lstStyle/>
                    <a:p>
                      <a:pPr>
                        <a:defRPr sz="1200" b="0"/>
                      </a:pPr>
                      <a:r>
                        <a:t>What do Bay of Bengal storms add?</a:t>
                      </a:r>
                    </a:p>
                  </a:txBody>
                  <a:tcPr/>
                </a:tc>
                <a:tc>
                  <a:txBody>
                    <a:bodyPr/>
                    <a:lstStyle/>
                    <a:p>
                      <a:pPr>
                        <a:defRPr sz="1200" b="0"/>
                      </a:pPr>
                      <a:r>
                        <a:t>11 of 20 largest floods followed a storm</a:t>
                      </a:r>
                    </a:p>
                  </a:txBody>
                  <a:tcPr/>
                </a:tc>
                <a:tc>
                  <a:txBody>
                    <a:bodyPr/>
                    <a:lstStyle/>
                    <a:p>
                      <a:pPr>
                        <a:defRPr sz="1200" b="0"/>
                      </a:pPr>
                      <a:r>
                        <a:t>Surge, tidal drainage</a:t>
                      </a:r>
                    </a:p>
                  </a:txBody>
                  <a:tcPr/>
                </a:tc>
              </a:tr>
              <a:tr h="320040">
                <a:tc>
                  <a:txBody>
                    <a:bodyPr/>
                    <a:lstStyle/>
                    <a:p>
                      <a:pPr>
                        <a:defRPr sz="1200" b="0"/>
                      </a:pPr>
                      <a:r>
                        <a:t>Construction tech &amp; mgmt</a:t>
                      </a:r>
                    </a:p>
                  </a:txBody>
                  <a:tcPr/>
                </a:tc>
                <a:tc>
                  <a:txBody>
                    <a:bodyPr/>
                    <a:lstStyle/>
                    <a:p>
                      <a:pPr>
                        <a:defRPr sz="1200" b="0"/>
                      </a:pPr>
                      <a:r>
                        <a:t>When to build, what it costs?</a:t>
                      </a:r>
                    </a:p>
                  </a:txBody>
                  <a:tcPr/>
                </a:tc>
                <a:tc>
                  <a:txBody>
                    <a:bodyPr/>
                    <a:lstStyle/>
                    <a:p>
                      <a:pPr>
                        <a:defRPr sz="1200" b="0"/>
                      </a:pPr>
                      <a:r>
                        <a:t>Work window Dec–Apr; 27,603 m³ to raise 10 critical links</a:t>
                      </a:r>
                    </a:p>
                  </a:txBody>
                  <a:tcPr/>
                </a:tc>
                <a:tc>
                  <a:txBody>
                    <a:bodyPr/>
                    <a:lstStyle/>
                    <a:p>
                      <a:pPr>
                        <a:defRPr sz="1200" b="0"/>
                      </a:pPr>
                      <a:r>
                        <a:t>Site sheets</a:t>
                      </a:r>
                    </a:p>
                  </a:txBody>
                  <a:tcPr/>
                </a:tc>
              </a:tr>
            </a:tbl>
          </a:graphicData>
        </a:graphic>
      </p:graphicFrame>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274320"/>
            <a:ext cx="11247120" cy="731520"/>
          </a:xfrm>
          <a:prstGeom prst="rect">
            <a:avLst/>
          </a:prstGeom>
          <a:noFill/>
        </p:spPr>
        <p:txBody>
          <a:bodyPr wrap="square">
            <a:spAutoFit/>
          </a:bodyPr>
          <a:lstStyle/>
          <a:p>
            <a:pPr>
              <a:spcAft>
                <a:spcPts val="600"/>
              </a:spcAft>
              <a:defRPr sz="3000" b="1">
                <a:solidFill>
                  <a:srgbClr val="0B0B0B"/>
                </a:solidFill>
              </a:defRPr>
            </a:pPr>
            <a:r>
              <a:t>Model selection: a fair benchmark</a:t>
            </a:r>
          </a:p>
        </p:txBody>
      </p:sp>
      <p:sp>
        <p:nvSpPr>
          <p:cNvPr id="3" name="TextBox 2"/>
          <p:cNvSpPr txBox="1"/>
          <p:nvPr/>
        </p:nvSpPr>
        <p:spPr>
          <a:xfrm>
            <a:off x="457200" y="914400"/>
            <a:ext cx="11247120" cy="548640"/>
          </a:xfrm>
          <a:prstGeom prst="rect">
            <a:avLst/>
          </a:prstGeom>
          <a:noFill/>
        </p:spPr>
        <p:txBody>
          <a:bodyPr wrap="square">
            <a:spAutoFit/>
          </a:bodyPr>
          <a:lstStyle/>
          <a:p>
            <a:pPr>
              <a:spcAft>
                <a:spcPts val="600"/>
              </a:spcAft>
              <a:defRPr sz="1600" b="0">
                <a:solidFill>
                  <a:srgbClr val="52514E"/>
                </a:solidFill>
              </a:defRPr>
            </a:pPr>
            <a:r>
              <a:t>Sen1Floods11 v1.1 · 446 hand-labelled chips · 13 optical bands + radar VV/VH · 11 flood events</a:t>
            </a:r>
          </a:p>
        </p:txBody>
      </p:sp>
      <p:sp>
        <p:nvSpPr>
          <p:cNvPr id="4" name="TextBox 3"/>
          <p:cNvSpPr txBox="1"/>
          <p:nvPr/>
        </p:nvSpPr>
        <p:spPr>
          <a:xfrm>
            <a:off x="457200" y="6400800"/>
            <a:ext cx="11247120" cy="365760"/>
          </a:xfrm>
          <a:prstGeom prst="rect">
            <a:avLst/>
          </a:prstGeom>
          <a:noFill/>
        </p:spPr>
        <p:txBody>
          <a:bodyPr wrap="square">
            <a:spAutoFit/>
          </a:bodyPr>
          <a:lstStyle/>
          <a:p>
            <a:pPr>
              <a:spcAft>
                <a:spcPts val="600"/>
              </a:spcAft>
              <a:defRPr sz="1000" b="0">
                <a:solidFill>
                  <a:srgbClr val="52514E"/>
                </a:solidFill>
              </a:defRPr>
            </a:pPr>
            <a:r>
              <a:t>Prithvi Flood-IN · CE 491 IDP · IIT Bombay × ClimMaTech · final review</a:t>
            </a:r>
          </a:p>
        </p:txBody>
      </p:sp>
      <p:graphicFrame>
        <p:nvGraphicFramePr>
          <p:cNvPr id="5" name="Table 4"/>
          <p:cNvGraphicFramePr>
            <a:graphicFrameLocks noGrp="1"/>
          </p:cNvGraphicFramePr>
          <p:nvPr/>
        </p:nvGraphicFramePr>
        <p:xfrm>
          <a:off x="548640" y="1554480"/>
          <a:ext cx="6949440" cy="960119"/>
        </p:xfrm>
        <a:graphic>
          <a:graphicData uri="http://schemas.openxmlformats.org/drawingml/2006/table">
            <a:tbl>
              <a:tblPr firstRow="1" bandRow="1">
                <a:tableStyleId>{5C22544A-7EE6-4342-B048-85BDC9FD1C3A}</a:tableStyleId>
              </a:tblPr>
              <a:tblGrid>
                <a:gridCol w="1828800"/>
                <a:gridCol w="2743200"/>
                <a:gridCol w="2377440"/>
              </a:tblGrid>
              <a:tr h="320039">
                <a:tc>
                  <a:txBody>
                    <a:bodyPr/>
                    <a:lstStyle/>
                    <a:p>
                      <a:pPr>
                        <a:defRPr sz="1300" b="1"/>
                      </a:pPr>
                      <a:r>
                        <a:t>Protocol</a:t>
                      </a:r>
                    </a:p>
                  </a:txBody>
                  <a:tcPr/>
                </a:tc>
                <a:tc>
                  <a:txBody>
                    <a:bodyPr/>
                    <a:lstStyle/>
                    <a:p>
                      <a:pPr>
                        <a:defRPr sz="1300" b="1"/>
                      </a:pPr>
                      <a:r>
                        <a:t>Train</a:t>
                      </a:r>
                    </a:p>
                  </a:txBody>
                  <a:tcPr/>
                </a:tc>
                <a:tc>
                  <a:txBody>
                    <a:bodyPr/>
                    <a:lstStyle/>
                    <a:p>
                      <a:pPr>
                        <a:defRPr sz="1300" b="1"/>
                      </a:pPr>
                      <a:r>
                        <a:t>Test</a:t>
                      </a:r>
                    </a:p>
                  </a:txBody>
                  <a:tcPr/>
                </a:tc>
              </a:tr>
              <a:tr h="320039">
                <a:tc>
                  <a:txBody>
                    <a:bodyPr/>
                    <a:lstStyle/>
                    <a:p>
                      <a:pPr>
                        <a:defRPr sz="1300" b="0"/>
                      </a:pPr>
                      <a:r>
                        <a:t>Official</a:t>
                      </a:r>
                    </a:p>
                  </a:txBody>
                  <a:tcPr/>
                </a:tc>
                <a:tc>
                  <a:txBody>
                    <a:bodyPr/>
                    <a:lstStyle/>
                    <a:p>
                      <a:pPr>
                        <a:defRPr sz="1300" b="0"/>
                      </a:pPr>
                      <a:r>
                        <a:t>252 chips, 10 events (incl. India)</a:t>
                      </a:r>
                    </a:p>
                  </a:txBody>
                  <a:tcPr/>
                </a:tc>
                <a:tc>
                  <a:txBody>
                    <a:bodyPr/>
                    <a:lstStyle/>
                    <a:p>
                      <a:pPr>
                        <a:defRPr sz="1300" b="0"/>
                      </a:pPr>
                      <a:r>
                        <a:t>90 chips, same events</a:t>
                      </a:r>
                    </a:p>
                  </a:txBody>
                  <a:tcPr/>
                </a:tc>
              </a:tr>
              <a:tr h="320041">
                <a:tc>
                  <a:txBody>
                    <a:bodyPr/>
                    <a:lstStyle/>
                    <a:p>
                      <a:pPr>
                        <a:defRPr sz="1300" b="0"/>
                      </a:pPr>
                      <a:r>
                        <a:t>Leave-India-out</a:t>
                      </a:r>
                    </a:p>
                  </a:txBody>
                  <a:tcPr/>
                </a:tc>
                <a:tc>
                  <a:txBody>
                    <a:bodyPr/>
                    <a:lstStyle/>
                    <a:p>
                      <a:pPr>
                        <a:defRPr sz="1300" b="0"/>
                      </a:pPr>
                      <a:r>
                        <a:t>212 chips, 9 events, no India</a:t>
                      </a:r>
                    </a:p>
                  </a:txBody>
                  <a:tcPr/>
                </a:tc>
                <a:tc>
                  <a:txBody>
                    <a:bodyPr/>
                    <a:lstStyle/>
                    <a:p>
                      <a:pPr>
                        <a:defRPr sz="1300" b="0"/>
                      </a:pPr>
                      <a:r>
                        <a:t>all 68 Assam chips (unseen flood)</a:t>
                      </a:r>
                    </a:p>
                  </a:txBody>
                  <a:tcPr/>
                </a:tc>
              </a:tr>
            </a:tbl>
          </a:graphicData>
        </a:graphic>
      </p:graphicFrame>
      <p:sp>
        <p:nvSpPr>
          <p:cNvPr id="6" name="TextBox 5"/>
          <p:cNvSpPr txBox="1"/>
          <p:nvPr/>
        </p:nvSpPr>
        <p:spPr>
          <a:xfrm>
            <a:off x="548640" y="3200400"/>
            <a:ext cx="6949440" cy="3017520"/>
          </a:xfrm>
          <a:prstGeom prst="rect">
            <a:avLst/>
          </a:prstGeom>
          <a:noFill/>
        </p:spPr>
        <p:txBody>
          <a:bodyPr wrap="square">
            <a:spAutoFit/>
          </a:bodyPr>
          <a:lstStyle/>
          <a:p>
            <a:pPr>
              <a:spcAft>
                <a:spcPts val="600"/>
              </a:spcAft>
              <a:defRPr sz="1400" b="0">
                <a:solidFill>
                  <a:srgbClr val="0B0B0B"/>
                </a:solidFill>
              </a:defRPr>
            </a:pPr>
            <a:r>
              <a:t>• 8 trainable models, one recipe: same decoder, CE + Dice, D4 augmentation, AdamW + cosine, 40 epochs</a:t>
            </a:r>
          </a:p>
          <a:p>
            <a:pPr>
              <a:spcAft>
                <a:spcPts val="600"/>
              </a:spcAft>
              <a:defRPr sz="1400" b="0">
                <a:solidFill>
                  <a:srgbClr val="0B0B0B"/>
                </a:solidFill>
              </a:defRPr>
            </a:pPr>
            <a:r>
              <a:t>• Foundation models: Prithvi-EO-2.0-300M, TerraMind-B, DOFA-B, Clay-v1-B, Satlas Swin-B, DeCUR ResNet-50</a:t>
            </a:r>
          </a:p>
          <a:p>
            <a:pPr>
              <a:spcAft>
                <a:spcPts val="600"/>
              </a:spcAft>
              <a:defRPr sz="1400" b="0">
                <a:solidFill>
                  <a:srgbClr val="0B0B0B"/>
                </a:solidFill>
              </a:defRPr>
            </a:pPr>
            <a:r>
              <a:t>• Baselines: simple CNN, U-Net; Otsu, NDWI, published Prithvi checkpoint</a:t>
            </a:r>
          </a:p>
          <a:p>
            <a:pPr>
              <a:spcAft>
                <a:spcPts val="600"/>
              </a:spcAft>
              <a:defRPr sz="1400" b="0">
                <a:solidFill>
                  <a:srgbClr val="0B0B0B"/>
                </a:solidFill>
              </a:defRPr>
            </a:pPr>
            <a:r>
              <a:t>• 3 seeds each, frozen vs fine-tuned, fusion, radar vs optical, label efficiency: 92 runs</a:t>
            </a:r>
          </a:p>
        </p:txBody>
      </p:sp>
      <p:pic>
        <p:nvPicPr>
          <p:cNvPr id="7" name="Picture 6" descr="bars_official.png"/>
          <p:cNvPicPr>
            <a:picLocks noChangeAspect="1"/>
          </p:cNvPicPr>
          <p:nvPr/>
        </p:nvPicPr>
        <p:blipFill>
          <a:blip r:embed="rId2"/>
          <a:stretch>
            <a:fillRect/>
          </a:stretch>
        </p:blipFill>
        <p:spPr>
          <a:xfrm>
            <a:off x="7680960" y="1554480"/>
            <a:ext cx="4206240" cy="3947001"/>
          </a:xfrm>
          <a:prstGeom prst="rect">
            <a:avLst/>
          </a:prstGeom>
        </p:spPr>
      </p:pic>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274320"/>
            <a:ext cx="11247120" cy="731520"/>
          </a:xfrm>
          <a:prstGeom prst="rect">
            <a:avLst/>
          </a:prstGeom>
          <a:noFill/>
        </p:spPr>
        <p:txBody>
          <a:bodyPr wrap="square">
            <a:spAutoFit/>
          </a:bodyPr>
          <a:lstStyle/>
          <a:p>
            <a:pPr>
              <a:spcAft>
                <a:spcPts val="600"/>
              </a:spcAft>
              <a:defRPr sz="3000" b="1">
                <a:solidFill>
                  <a:srgbClr val="0B0B0B"/>
                </a:solidFill>
              </a:defRPr>
            </a:pPr>
            <a:r>
              <a:t>Unseen Indian flood: U-Net beats every foundation model</a:t>
            </a:r>
          </a:p>
        </p:txBody>
      </p:sp>
      <p:sp>
        <p:nvSpPr>
          <p:cNvPr id="3" name="TextBox 2"/>
          <p:cNvSpPr txBox="1"/>
          <p:nvPr/>
        </p:nvSpPr>
        <p:spPr>
          <a:xfrm>
            <a:off x="457200" y="914400"/>
            <a:ext cx="11247120" cy="548640"/>
          </a:xfrm>
          <a:prstGeom prst="rect">
            <a:avLst/>
          </a:prstGeom>
          <a:noFill/>
        </p:spPr>
        <p:txBody>
          <a:bodyPr wrap="square">
            <a:spAutoFit/>
          </a:bodyPr>
          <a:lstStyle/>
          <a:p>
            <a:pPr>
              <a:spcAft>
                <a:spcPts val="600"/>
              </a:spcAft>
              <a:defRPr sz="1600" b="0">
                <a:solidFill>
                  <a:srgbClr val="52514E"/>
                </a:solidFill>
              </a:defRPr>
            </a:pPr>
            <a:r>
              <a:t>Assam 2016, never in training · U-Net 0.770 ± 0.006 · best FM Prithvi-EO-2.0-300M 0.747 ± 0.006 · top-3 fusion 0.776 ± 0.003</a:t>
            </a:r>
          </a:p>
        </p:txBody>
      </p:sp>
      <p:sp>
        <p:nvSpPr>
          <p:cNvPr id="4" name="TextBox 3"/>
          <p:cNvSpPr txBox="1"/>
          <p:nvPr/>
        </p:nvSpPr>
        <p:spPr>
          <a:xfrm>
            <a:off x="457200" y="6400800"/>
            <a:ext cx="11247120" cy="365760"/>
          </a:xfrm>
          <a:prstGeom prst="rect">
            <a:avLst/>
          </a:prstGeom>
          <a:noFill/>
        </p:spPr>
        <p:txBody>
          <a:bodyPr wrap="square">
            <a:spAutoFit/>
          </a:bodyPr>
          <a:lstStyle/>
          <a:p>
            <a:pPr>
              <a:spcAft>
                <a:spcPts val="600"/>
              </a:spcAft>
              <a:defRPr sz="1000" b="0">
                <a:solidFill>
                  <a:srgbClr val="52514E"/>
                </a:solidFill>
              </a:defRPr>
            </a:pPr>
            <a:r>
              <a:t>Prithvi Flood-IN · CE 491 IDP · IIT Bombay × ClimMaTech · final review</a:t>
            </a:r>
          </a:p>
        </p:txBody>
      </p:sp>
      <p:pic>
        <p:nvPicPr>
          <p:cNvPr id="5" name="Picture 4" descr="bars_lio.png"/>
          <p:cNvPicPr>
            <a:picLocks noChangeAspect="1"/>
          </p:cNvPicPr>
          <p:nvPr/>
        </p:nvPicPr>
        <p:blipFill>
          <a:blip r:embed="rId2"/>
          <a:stretch>
            <a:fillRect/>
          </a:stretch>
        </p:blipFill>
        <p:spPr>
          <a:xfrm>
            <a:off x="457200" y="1463040"/>
            <a:ext cx="5164626" cy="4846320"/>
          </a:xfrm>
          <a:prstGeom prst="rect">
            <a:avLst/>
          </a:prstGeom>
        </p:spPr>
      </p:pic>
      <p:sp>
        <p:nvSpPr>
          <p:cNvPr id="6" name="TextBox 5"/>
          <p:cNvSpPr txBox="1"/>
          <p:nvPr/>
        </p:nvSpPr>
        <p:spPr>
          <a:xfrm>
            <a:off x="7863840" y="1554480"/>
            <a:ext cx="4023360" cy="4754880"/>
          </a:xfrm>
          <a:prstGeom prst="rect">
            <a:avLst/>
          </a:prstGeom>
          <a:noFill/>
        </p:spPr>
        <p:txBody>
          <a:bodyPr wrap="square">
            <a:spAutoFit/>
          </a:bodyPr>
          <a:lstStyle/>
          <a:p>
            <a:pPr>
              <a:spcAft>
                <a:spcPts val="600"/>
              </a:spcAft>
              <a:defRPr sz="1400" b="0">
                <a:solidFill>
                  <a:srgbClr val="0B0B0B"/>
                </a:solidFill>
              </a:defRPr>
            </a:pPr>
            <a:r>
              <a:t>• Every model loses 0.07–0.14 IoU when the flood is unseen (U-Net 0.840 → 0.770)</a:t>
            </a:r>
          </a:p>
          <a:p>
            <a:pPr>
              <a:spcAft>
                <a:spcPts val="600"/>
              </a:spcAft>
              <a:defRPr sz="1400" b="0">
                <a:solidFill>
                  <a:srgbClr val="0B0B0B"/>
                </a:solidFill>
              </a:defRPr>
            </a:pPr>
            <a:r>
              <a:t>• Fine-tuning helps every FM on the unseen flood (+0.003 to +0.048)</a:t>
            </a:r>
          </a:p>
          <a:p>
            <a:pPr>
              <a:spcAft>
                <a:spcPts val="600"/>
              </a:spcAft>
              <a:defRPr sz="1400" b="0">
                <a:solidFill>
                  <a:srgbClr val="0B0B0B"/>
                </a:solidFill>
              </a:defRPr>
            </a:pPr>
            <a:r>
              <a:t>• Fusing FMs alone does not beat the best FM; U-Net + CNN + best FM does</a:t>
            </a:r>
          </a:p>
          <a:p>
            <a:pPr>
              <a:spcAft>
                <a:spcPts val="600"/>
              </a:spcAft>
              <a:defRPr sz="1400" b="0">
                <a:solidFill>
                  <a:srgbClr val="0B0B0B"/>
                </a:solidFill>
              </a:defRPr>
            </a:pPr>
            <a:r>
              <a:t>• 21 labelled chips: U-Net 0.736 ≈ FMs with 212</a:t>
            </a:r>
          </a:p>
          <a:p>
            <a:pPr>
              <a:spcAft>
                <a:spcPts val="600"/>
              </a:spcAft>
              <a:defRPr sz="1400" b="0">
                <a:solidFill>
                  <a:srgbClr val="0B0B0B"/>
                </a:solidFill>
              </a:defRPr>
            </a:pPr>
            <a:r>
              <a:t>• Water is spectrally simple; ~250 chips suffice for a 7.8 M-parameter U-Net</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274320"/>
            <a:ext cx="11247120" cy="731520"/>
          </a:xfrm>
          <a:prstGeom prst="rect">
            <a:avLst/>
          </a:prstGeom>
          <a:noFill/>
        </p:spPr>
        <p:txBody>
          <a:bodyPr wrap="square">
            <a:spAutoFit/>
          </a:bodyPr>
          <a:lstStyle/>
          <a:p>
            <a:pPr>
              <a:spcAft>
                <a:spcPts val="600"/>
              </a:spcAft>
              <a:defRPr sz="3000" b="1">
                <a:solidFill>
                  <a:srgbClr val="0B0B0B"/>
                </a:solidFill>
              </a:defRPr>
            </a:pPr>
            <a:r>
              <a:t>Monsoon reality: radar only</a:t>
            </a:r>
          </a:p>
        </p:txBody>
      </p:sp>
      <p:sp>
        <p:nvSpPr>
          <p:cNvPr id="3" name="TextBox 2"/>
          <p:cNvSpPr txBox="1"/>
          <p:nvPr/>
        </p:nvSpPr>
        <p:spPr>
          <a:xfrm>
            <a:off x="457200" y="914400"/>
            <a:ext cx="11247120" cy="548640"/>
          </a:xfrm>
          <a:prstGeom prst="rect">
            <a:avLst/>
          </a:prstGeom>
          <a:noFill/>
        </p:spPr>
        <p:txBody>
          <a:bodyPr wrap="square">
            <a:spAutoFit/>
          </a:bodyPr>
          <a:lstStyle/>
          <a:p>
            <a:pPr>
              <a:spcAft>
                <a:spcPts val="600"/>
              </a:spcAft>
              <a:defRPr sz="1600" b="0">
                <a:solidFill>
                  <a:srgbClr val="52514E"/>
                </a:solidFill>
              </a:defRPr>
            </a:pPr>
            <a:r>
              <a:t>Optical is better when the sky is clear; on flood dates the delta was 61–95 % cloud</a:t>
            </a:r>
          </a:p>
        </p:txBody>
      </p:sp>
      <p:sp>
        <p:nvSpPr>
          <p:cNvPr id="4" name="TextBox 3"/>
          <p:cNvSpPr txBox="1"/>
          <p:nvPr/>
        </p:nvSpPr>
        <p:spPr>
          <a:xfrm>
            <a:off x="457200" y="6400800"/>
            <a:ext cx="11247120" cy="365760"/>
          </a:xfrm>
          <a:prstGeom prst="rect">
            <a:avLst/>
          </a:prstGeom>
          <a:noFill/>
        </p:spPr>
        <p:txBody>
          <a:bodyPr wrap="square">
            <a:spAutoFit/>
          </a:bodyPr>
          <a:lstStyle/>
          <a:p>
            <a:pPr>
              <a:spcAft>
                <a:spcPts val="600"/>
              </a:spcAft>
              <a:defRPr sz="1000" b="0">
                <a:solidFill>
                  <a:srgbClr val="52514E"/>
                </a:solidFill>
              </a:defRPr>
            </a:pPr>
            <a:r>
              <a:t>Prithvi Flood-IN · CE 491 IDP · IIT Bombay × ClimMaTech · final review</a:t>
            </a:r>
          </a:p>
        </p:txBody>
      </p:sp>
      <p:pic>
        <p:nvPicPr>
          <p:cNvPr id="5" name="Picture 4" descr="modality_ablation.png"/>
          <p:cNvPicPr>
            <a:picLocks noChangeAspect="1"/>
          </p:cNvPicPr>
          <p:nvPr/>
        </p:nvPicPr>
        <p:blipFill>
          <a:blip r:embed="rId2"/>
          <a:stretch>
            <a:fillRect/>
          </a:stretch>
        </p:blipFill>
        <p:spPr>
          <a:xfrm>
            <a:off x="457200" y="1463040"/>
            <a:ext cx="5852160" cy="2560320"/>
          </a:xfrm>
          <a:prstGeom prst="rect">
            <a:avLst/>
          </a:prstGeom>
        </p:spPr>
      </p:pic>
      <p:graphicFrame>
        <p:nvGraphicFramePr>
          <p:cNvPr id="6" name="Table 5"/>
          <p:cNvGraphicFramePr>
            <a:graphicFrameLocks noGrp="1"/>
          </p:cNvGraphicFramePr>
          <p:nvPr/>
        </p:nvGraphicFramePr>
        <p:xfrm>
          <a:off x="6583680" y="1554480"/>
          <a:ext cx="5212080" cy="2240279"/>
        </p:xfrm>
        <a:graphic>
          <a:graphicData uri="http://schemas.openxmlformats.org/drawingml/2006/table">
            <a:tbl>
              <a:tblPr firstRow="1" bandRow="1">
                <a:tableStyleId>{5C22544A-7EE6-4342-B048-85BDC9FD1C3A}</a:tableStyleId>
              </a:tblPr>
              <a:tblGrid>
                <a:gridCol w="4023360"/>
                <a:gridCol w="1188720"/>
              </a:tblGrid>
              <a:tr h="320039">
                <a:tc>
                  <a:txBody>
                    <a:bodyPr/>
                    <a:lstStyle/>
                    <a:p>
                      <a:pPr>
                        <a:defRPr sz="1300" b="1"/>
                      </a:pPr>
                      <a:r>
                        <a:t>Radar-only model (official test)</a:t>
                      </a:r>
                    </a:p>
                  </a:txBody>
                  <a:tcPr/>
                </a:tc>
                <a:tc>
                  <a:txBody>
                    <a:bodyPr/>
                    <a:lstStyle/>
                    <a:p>
                      <a:pPr>
                        <a:defRPr sz="1300" b="1"/>
                      </a:pPr>
                      <a:r>
                        <a:t>IoU</a:t>
                      </a:r>
                    </a:p>
                  </a:txBody>
                  <a:tcPr/>
                </a:tc>
              </a:tr>
              <a:tr h="320039">
                <a:tc>
                  <a:txBody>
                    <a:bodyPr/>
                    <a:lstStyle/>
                    <a:p>
                      <a:pPr>
                        <a:defRPr sz="1300" b="0"/>
                      </a:pPr>
                      <a:r>
                        <a:t>U-Net, 10 m</a:t>
                      </a:r>
                    </a:p>
                  </a:txBody>
                  <a:tcPr/>
                </a:tc>
                <a:tc>
                  <a:txBody>
                    <a:bodyPr/>
                    <a:lstStyle/>
                    <a:p>
                      <a:pPr>
                        <a:defRPr sz="1300" b="0"/>
                      </a:pPr>
                      <a:r>
                        <a:t>0.649</a:t>
                      </a:r>
                    </a:p>
                  </a:txBody>
                  <a:tcPr/>
                </a:tc>
              </a:tr>
              <a:tr h="320039">
                <a:tc>
                  <a:txBody>
                    <a:bodyPr/>
                    <a:lstStyle/>
                    <a:p>
                      <a:pPr>
                        <a:defRPr sz="1300" b="0"/>
                      </a:pPr>
                      <a:r>
                        <a:t>TerraMind-B, 10 m</a:t>
                      </a:r>
                    </a:p>
                  </a:txBody>
                  <a:tcPr/>
                </a:tc>
                <a:tc>
                  <a:txBody>
                    <a:bodyPr/>
                    <a:lstStyle/>
                    <a:p>
                      <a:pPr>
                        <a:defRPr sz="1300" b="0"/>
                      </a:pPr>
                      <a:r>
                        <a:t>0.654</a:t>
                      </a:r>
                    </a:p>
                  </a:txBody>
                  <a:tcPr/>
                </a:tc>
              </a:tr>
              <a:tr h="320039">
                <a:tc>
                  <a:txBody>
                    <a:bodyPr/>
                    <a:lstStyle/>
                    <a:p>
                      <a:pPr>
                        <a:defRPr sz="1300" b="0"/>
                      </a:pPr>
                      <a:r>
                        <a:t>Fusion (mean), 10 m</a:t>
                      </a:r>
                    </a:p>
                  </a:txBody>
                  <a:tcPr/>
                </a:tc>
                <a:tc>
                  <a:txBody>
                    <a:bodyPr/>
                    <a:lstStyle/>
                    <a:p>
                      <a:pPr>
                        <a:defRPr sz="1300" b="0"/>
                      </a:pPr>
                      <a:r>
                        <a:t>0.664</a:t>
                      </a:r>
                    </a:p>
                  </a:txBody>
                  <a:tcPr/>
                </a:tc>
              </a:tr>
              <a:tr h="320039">
                <a:tc>
                  <a:txBody>
                    <a:bodyPr/>
                    <a:lstStyle/>
                    <a:p>
                      <a:pPr>
                        <a:defRPr sz="1300" b="0"/>
                      </a:pPr>
                      <a:r>
                        <a:t>Fusion, 20 m input (atlas)</a:t>
                      </a:r>
                    </a:p>
                  </a:txBody>
                  <a:tcPr/>
                </a:tc>
                <a:tc>
                  <a:txBody>
                    <a:bodyPr/>
                    <a:lstStyle/>
                    <a:p>
                      <a:pPr>
                        <a:defRPr sz="1300" b="0"/>
                      </a:pPr>
                      <a:r>
                        <a:t>0.640</a:t>
                      </a:r>
                    </a:p>
                  </a:txBody>
                  <a:tcPr/>
                </a:tc>
              </a:tr>
              <a:tr h="320039">
                <a:tc>
                  <a:txBody>
                    <a:bodyPr/>
                    <a:lstStyle/>
                    <a:p>
                      <a:pPr>
                        <a:defRPr sz="1300" b="0"/>
                      </a:pPr>
                      <a:r>
                        <a:t>Fusion, 20 m, threshold 0.30 (val.)</a:t>
                      </a:r>
                    </a:p>
                  </a:txBody>
                  <a:tcPr/>
                </a:tc>
                <a:tc>
                  <a:txBody>
                    <a:bodyPr/>
                    <a:lstStyle/>
                    <a:p>
                      <a:pPr>
                        <a:defRPr sz="1300" b="0"/>
                      </a:pPr>
                      <a:r>
                        <a:t>0.646</a:t>
                      </a:r>
                    </a:p>
                  </a:txBody>
                  <a:tcPr/>
                </a:tc>
              </a:tr>
              <a:tr h="320045">
                <a:tc>
                  <a:txBody>
                    <a:bodyPr/>
                    <a:lstStyle/>
                    <a:p>
                      <a:pPr>
                        <a:defRPr sz="1300" b="0"/>
                      </a:pPr>
                      <a:r>
                        <a:t>Fusion trained at 20 m, threshold 0.45</a:t>
                      </a:r>
                    </a:p>
                  </a:txBody>
                  <a:tcPr/>
                </a:tc>
                <a:tc>
                  <a:txBody>
                    <a:bodyPr/>
                    <a:lstStyle/>
                    <a:p>
                      <a:pPr>
                        <a:defRPr sz="1300" b="0"/>
                      </a:pPr>
                      <a:r>
                        <a:t>0.681</a:t>
                      </a:r>
                    </a:p>
                  </a:txBody>
                  <a:tcPr/>
                </a:tc>
              </a:tr>
            </a:tbl>
          </a:graphicData>
        </a:graphic>
      </p:graphicFrame>
      <p:sp>
        <p:nvSpPr>
          <p:cNvPr id="7" name="TextBox 6"/>
          <p:cNvSpPr txBox="1"/>
          <p:nvPr/>
        </p:nvSpPr>
        <p:spPr>
          <a:xfrm>
            <a:off x="6583680" y="4023360"/>
            <a:ext cx="5212080" cy="2194560"/>
          </a:xfrm>
          <a:prstGeom prst="rect">
            <a:avLst/>
          </a:prstGeom>
          <a:noFill/>
        </p:spPr>
        <p:txBody>
          <a:bodyPr wrap="square">
            <a:spAutoFit/>
          </a:bodyPr>
          <a:lstStyle/>
          <a:p>
            <a:pPr>
              <a:spcAft>
                <a:spcPts val="600"/>
              </a:spcAft>
              <a:defRPr sz="1400" b="0">
                <a:solidFill>
                  <a:srgbClr val="0B0B0B"/>
                </a:solidFill>
              </a:defRPr>
            </a:pPr>
            <a:r>
              <a:t>• TerraMind is the only FM that takes radar alone natively</a:t>
            </a:r>
          </a:p>
          <a:p>
            <a:pPr>
              <a:spcAft>
                <a:spcPts val="600"/>
              </a:spcAft>
              <a:defRPr sz="1400" b="0">
                <a:solidFill>
                  <a:srgbClr val="0B0B0B"/>
                </a:solidFill>
              </a:defRPr>
            </a:pPr>
            <a:r>
              <a:t>• Production model of the atlas = TerraMind-B + U-Net, radar only, trained on 20 m input</a:t>
            </a:r>
          </a:p>
          <a:p>
            <a:pPr>
              <a:spcAft>
                <a:spcPts val="600"/>
              </a:spcAft>
              <a:defRPr sz="1400" b="0">
                <a:solidFill>
                  <a:srgbClr val="0B0B0B"/>
                </a:solidFill>
              </a:defRPr>
            </a:pPr>
            <a:r>
              <a:t>• Trained at 20 m it beats the 10 m pair on 20 m input (0.681 vs 0.646); the 20 m overview cuts the download 4×</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274320"/>
            <a:ext cx="11247120" cy="731520"/>
          </a:xfrm>
          <a:prstGeom prst="rect">
            <a:avLst/>
          </a:prstGeom>
          <a:noFill/>
        </p:spPr>
        <p:txBody>
          <a:bodyPr wrap="square">
            <a:spAutoFit/>
          </a:bodyPr>
          <a:lstStyle/>
          <a:p>
            <a:pPr>
              <a:spcAft>
                <a:spcPts val="600"/>
              </a:spcAft>
              <a:defRPr sz="3000" b="1">
                <a:solidFill>
                  <a:srgbClr val="0B0B0B"/>
                </a:solidFill>
              </a:defRPr>
            </a:pPr>
            <a:r>
              <a:t>Checked, not assumed: the training audit</a:t>
            </a:r>
          </a:p>
        </p:txBody>
      </p:sp>
      <p:sp>
        <p:nvSpPr>
          <p:cNvPr id="3" name="TextBox 2"/>
          <p:cNvSpPr txBox="1"/>
          <p:nvPr/>
        </p:nvSpPr>
        <p:spPr>
          <a:xfrm>
            <a:off x="457200" y="914400"/>
            <a:ext cx="11247120" cy="548640"/>
          </a:xfrm>
          <a:prstGeom prst="rect">
            <a:avLst/>
          </a:prstGeom>
          <a:noFill/>
        </p:spPr>
        <p:txBody>
          <a:bodyPr wrap="square">
            <a:spAutoFit/>
          </a:bodyPr>
          <a:lstStyle/>
          <a:p>
            <a:pPr>
              <a:spcAft>
                <a:spcPts val="600"/>
              </a:spcAft>
              <a:defRPr sz="1600" b="0">
                <a:solidFill>
                  <a:srgbClr val="52514E"/>
                </a:solidFill>
              </a:defRPr>
            </a:pPr>
            <a:r>
              <a:t>scripts/audit_training.py re-checks all 92 runs from their stored outputs</a:t>
            </a:r>
          </a:p>
        </p:txBody>
      </p:sp>
      <p:sp>
        <p:nvSpPr>
          <p:cNvPr id="4" name="TextBox 3"/>
          <p:cNvSpPr txBox="1"/>
          <p:nvPr/>
        </p:nvSpPr>
        <p:spPr>
          <a:xfrm>
            <a:off x="457200" y="6400800"/>
            <a:ext cx="11247120" cy="365760"/>
          </a:xfrm>
          <a:prstGeom prst="rect">
            <a:avLst/>
          </a:prstGeom>
          <a:noFill/>
        </p:spPr>
        <p:txBody>
          <a:bodyPr wrap="square">
            <a:spAutoFit/>
          </a:bodyPr>
          <a:lstStyle/>
          <a:p>
            <a:pPr>
              <a:spcAft>
                <a:spcPts val="600"/>
              </a:spcAft>
              <a:defRPr sz="1000" b="0">
                <a:solidFill>
                  <a:srgbClr val="52514E"/>
                </a:solidFill>
              </a:defRPr>
            </a:pPr>
            <a:r>
              <a:t>Prithvi Flood-IN · CE 491 IDP · IIT Bombay × ClimMaTech · final review</a:t>
            </a:r>
          </a:p>
        </p:txBody>
      </p:sp>
      <p:graphicFrame>
        <p:nvGraphicFramePr>
          <p:cNvPr id="5" name="Table 4"/>
          <p:cNvGraphicFramePr>
            <a:graphicFrameLocks noGrp="1"/>
          </p:cNvGraphicFramePr>
          <p:nvPr/>
        </p:nvGraphicFramePr>
        <p:xfrm>
          <a:off x="457200" y="1371600"/>
          <a:ext cx="6035040" cy="2560320"/>
        </p:xfrm>
        <a:graphic>
          <a:graphicData uri="http://schemas.openxmlformats.org/drawingml/2006/table">
            <a:tbl>
              <a:tblPr firstRow="1" bandRow="1">
                <a:tableStyleId>{5C22544A-7EE6-4342-B048-85BDC9FD1C3A}</a:tableStyleId>
              </a:tblPr>
              <a:tblGrid>
                <a:gridCol w="4023360"/>
                <a:gridCol w="2011680"/>
              </a:tblGrid>
              <a:tr h="320040">
                <a:tc>
                  <a:txBody>
                    <a:bodyPr/>
                    <a:lstStyle/>
                    <a:p>
                      <a:pPr>
                        <a:defRPr sz="1300" b="1"/>
                      </a:pPr>
                      <a:r>
                        <a:t>Check</a:t>
                      </a:r>
                    </a:p>
                  </a:txBody>
                  <a:tcPr/>
                </a:tc>
                <a:tc>
                  <a:txBody>
                    <a:bodyPr/>
                    <a:lstStyle/>
                    <a:p>
                      <a:pPr>
                        <a:defRPr sz="1300" b="1"/>
                      </a:pPr>
                      <a:r>
                        <a:t>Result</a:t>
                      </a:r>
                    </a:p>
                  </a:txBody>
                  <a:tcPr/>
                </a:tc>
              </a:tr>
              <a:tr h="320040">
                <a:tc>
                  <a:txBody>
                    <a:bodyPr/>
                    <a:lstStyle/>
                    <a:p>
                      <a:pPr>
                        <a:defRPr sz="1300" b="0"/>
                      </a:pPr>
                      <a:r>
                        <a:t>Runs made with the queued arguments</a:t>
                      </a:r>
                    </a:p>
                  </a:txBody>
                  <a:tcPr/>
                </a:tc>
                <a:tc>
                  <a:txBody>
                    <a:bodyPr/>
                    <a:lstStyle/>
                    <a:p>
                      <a:pPr>
                        <a:defRPr sz="1300" b="0"/>
                      </a:pPr>
                      <a:r>
                        <a:t>92 of 92</a:t>
                      </a:r>
                    </a:p>
                  </a:txBody>
                  <a:tcPr/>
                </a:tc>
              </a:tr>
              <a:tr h="320040">
                <a:tc>
                  <a:txBody>
                    <a:bodyPr/>
                    <a:lstStyle/>
                    <a:p>
                      <a:pPr>
                        <a:defRPr sz="1300" b="0"/>
                      </a:pPr>
                      <a:r>
                        <a:t>Chips in two splits</a:t>
                      </a:r>
                    </a:p>
                  </a:txBody>
                  <a:tcPr/>
                </a:tc>
                <a:tc>
                  <a:txBody>
                    <a:bodyPr/>
                    <a:lstStyle/>
                    <a:p>
                      <a:pPr>
                        <a:defRPr sz="1300" b="0"/>
                      </a:pPr>
                      <a:r>
                        <a:t>none</a:t>
                      </a:r>
                    </a:p>
                  </a:txBody>
                  <a:tcPr/>
                </a:tc>
              </a:tr>
              <a:tr h="320040">
                <a:tc>
                  <a:txBody>
                    <a:bodyPr/>
                    <a:lstStyle/>
                    <a:p>
                      <a:pPr>
                        <a:defRPr sz="1300" b="0"/>
                      </a:pPr>
                      <a:r>
                        <a:t>India chips in leave-India-out training</a:t>
                      </a:r>
                    </a:p>
                  </a:txBody>
                  <a:tcPr/>
                </a:tc>
                <a:tc>
                  <a:txBody>
                    <a:bodyPr/>
                    <a:lstStyle/>
                    <a:p>
                      <a:pPr>
                        <a:defRPr sz="1300" b="0"/>
                      </a:pPr>
                      <a:r>
                        <a:t>none</a:t>
                      </a:r>
                    </a:p>
                  </a:txBody>
                  <a:tcPr/>
                </a:tc>
              </a:tr>
              <a:tr h="320040">
                <a:tc>
                  <a:txBody>
                    <a:bodyPr/>
                    <a:lstStyle/>
                    <a:p>
                      <a:pPr>
                        <a:defRPr sz="1300" b="0"/>
                      </a:pPr>
                      <a:r>
                        <a:t>Model selection on validation only</a:t>
                      </a:r>
                    </a:p>
                  </a:txBody>
                  <a:tcPr/>
                </a:tc>
                <a:tc>
                  <a:txBody>
                    <a:bodyPr/>
                    <a:lstStyle/>
                    <a:p>
                      <a:pPr>
                        <a:defRPr sz="1300" b="0"/>
                      </a:pPr>
                      <a:r>
                        <a:t>every run</a:t>
                      </a:r>
                    </a:p>
                  </a:txBody>
                  <a:tcPr/>
                </a:tc>
              </a:tr>
              <a:tr h="320040">
                <a:tc>
                  <a:txBody>
                    <a:bodyPr/>
                    <a:lstStyle/>
                    <a:p>
                      <a:pPr>
                        <a:defRPr sz="1300" b="0"/>
                      </a:pPr>
                      <a:r>
                        <a:t>Test IoU recomputed = stored</a:t>
                      </a:r>
                    </a:p>
                  </a:txBody>
                  <a:tcPr/>
                </a:tc>
                <a:tc>
                  <a:txBody>
                    <a:bodyPr/>
                    <a:lstStyle/>
                    <a:p>
                      <a:pPr>
                        <a:defRPr sz="1300" b="0"/>
                      </a:pPr>
                      <a:r>
                        <a:t>every run</a:t>
                      </a:r>
                    </a:p>
                  </a:txBody>
                  <a:tcPr/>
                </a:tc>
              </a:tr>
              <a:tr h="320040">
                <a:tc>
                  <a:txBody>
                    <a:bodyPr/>
                    <a:lstStyle/>
                    <a:p>
                      <a:pPr>
                        <a:defRPr sz="1300" b="0"/>
                      </a:pPr>
                      <a:r>
                        <a:t>Seed spread (sd of test IoU)</a:t>
                      </a:r>
                    </a:p>
                  </a:txBody>
                  <a:tcPr/>
                </a:tc>
                <a:tc>
                  <a:txBody>
                    <a:bodyPr/>
                    <a:lstStyle/>
                    <a:p>
                      <a:pPr>
                        <a:defRPr sz="1300" b="0"/>
                      </a:pPr>
                      <a:r>
                        <a:t>at most 0.017</a:t>
                      </a:r>
                    </a:p>
                  </a:txBody>
                  <a:tcPr/>
                </a:tc>
              </a:tr>
              <a:tr h="320040">
                <a:tc>
                  <a:txBody>
                    <a:bodyPr/>
                    <a:lstStyle/>
                    <a:p>
                      <a:pPr>
                        <a:defRPr sz="1300" b="0"/>
                      </a:pPr>
                      <a:r>
                        <a:t>Problems found</a:t>
                      </a:r>
                    </a:p>
                  </a:txBody>
                  <a:tcPr/>
                </a:tc>
                <a:tc>
                  <a:txBody>
                    <a:bodyPr/>
                    <a:lstStyle/>
                    <a:p>
                      <a:pPr>
                        <a:defRPr sz="1300" b="0"/>
                      </a:pPr>
                      <a:r>
                        <a:t>0</a:t>
                      </a:r>
                    </a:p>
                  </a:txBody>
                  <a:tcPr/>
                </a:tc>
              </a:tr>
            </a:tbl>
          </a:graphicData>
        </a:graphic>
      </p:graphicFrame>
      <p:graphicFrame>
        <p:nvGraphicFramePr>
          <p:cNvPr id="6" name="Table 5"/>
          <p:cNvGraphicFramePr>
            <a:graphicFrameLocks noGrp="1"/>
          </p:cNvGraphicFramePr>
          <p:nvPr/>
        </p:nvGraphicFramePr>
        <p:xfrm>
          <a:off x="6766560" y="1371600"/>
          <a:ext cx="4937760" cy="960119"/>
        </p:xfrm>
        <a:graphic>
          <a:graphicData uri="http://schemas.openxmlformats.org/drawingml/2006/table">
            <a:tbl>
              <a:tblPr firstRow="1" bandRow="1">
                <a:tableStyleId>{5C22544A-7EE6-4342-B048-85BDC9FD1C3A}</a:tableStyleId>
              </a:tblPr>
              <a:tblGrid>
                <a:gridCol w="2560320"/>
                <a:gridCol w="1188720"/>
                <a:gridCol w="1188720"/>
              </a:tblGrid>
              <a:tr h="320039">
                <a:tc>
                  <a:txBody>
                    <a:bodyPr/>
                    <a:lstStyle/>
                    <a:p>
                      <a:pPr>
                        <a:defRPr sz="1300" b="1"/>
                      </a:pPr>
                      <a:r>
                        <a:t>TerraMind-B on Sen1Floods11</a:t>
                      </a:r>
                    </a:p>
                  </a:txBody>
                  <a:tcPr/>
                </a:tc>
                <a:tc>
                  <a:txBody>
                    <a:bodyPr/>
                    <a:lstStyle/>
                    <a:p>
                      <a:pPr>
                        <a:defRPr sz="1300" b="1"/>
                      </a:pPr>
                      <a:r>
                        <a:t>Ours, mIoU</a:t>
                      </a:r>
                    </a:p>
                  </a:txBody>
                  <a:tcPr/>
                </a:tc>
                <a:tc>
                  <a:txBody>
                    <a:bodyPr/>
                    <a:lstStyle/>
                    <a:p>
                      <a:pPr>
                        <a:defRPr sz="1300" b="1"/>
                      </a:pPr>
                      <a:r>
                        <a:t>Paper</a:t>
                      </a:r>
                    </a:p>
                  </a:txBody>
                  <a:tcPr/>
                </a:tc>
              </a:tr>
              <a:tr h="320039">
                <a:tc>
                  <a:txBody>
                    <a:bodyPr/>
                    <a:lstStyle/>
                    <a:p>
                      <a:pPr>
                        <a:defRPr sz="1300" b="0"/>
                      </a:pPr>
                      <a:r>
                        <a:t>Radar + optical</a:t>
                      </a:r>
                    </a:p>
                  </a:txBody>
                  <a:tcPr/>
                </a:tc>
                <a:tc>
                  <a:txBody>
                    <a:bodyPr/>
                    <a:lstStyle/>
                    <a:p>
                      <a:pPr>
                        <a:defRPr sz="1300" b="0"/>
                      </a:pPr>
                      <a:r>
                        <a:t>89.7</a:t>
                      </a:r>
                    </a:p>
                  </a:txBody>
                  <a:tcPr/>
                </a:tc>
                <a:tc>
                  <a:txBody>
                    <a:bodyPr/>
                    <a:lstStyle/>
                    <a:p>
                      <a:pPr>
                        <a:defRPr sz="1300" b="0"/>
                      </a:pPr>
                      <a:r>
                        <a:t>90.62</a:t>
                      </a:r>
                    </a:p>
                  </a:txBody>
                  <a:tcPr/>
                </a:tc>
              </a:tr>
              <a:tr h="320041">
                <a:tc>
                  <a:txBody>
                    <a:bodyPr/>
                    <a:lstStyle/>
                    <a:p>
                      <a:pPr>
                        <a:defRPr sz="1300" b="0"/>
                      </a:pPr>
                      <a:r>
                        <a:t>Radar only</a:t>
                      </a:r>
                    </a:p>
                  </a:txBody>
                  <a:tcPr/>
                </a:tc>
                <a:tc>
                  <a:txBody>
                    <a:bodyPr/>
                    <a:lstStyle/>
                    <a:p>
                      <a:pPr>
                        <a:defRPr sz="1300" b="0"/>
                      </a:pPr>
                      <a:r>
                        <a:t>79.8</a:t>
                      </a:r>
                    </a:p>
                  </a:txBody>
                  <a:tcPr/>
                </a:tc>
                <a:tc>
                  <a:txBody>
                    <a:bodyPr/>
                    <a:lstStyle/>
                    <a:p>
                      <a:pPr>
                        <a:defRPr sz="1300" b="0"/>
                      </a:pPr>
                      <a:r>
                        <a:t>80.39</a:t>
                      </a:r>
                    </a:p>
                  </a:txBody>
                  <a:tcPr/>
                </a:tc>
              </a:tr>
            </a:tbl>
          </a:graphicData>
        </a:graphic>
      </p:graphicFrame>
      <p:sp>
        <p:nvSpPr>
          <p:cNvPr id="7" name="TextBox 6"/>
          <p:cNvSpPr txBox="1"/>
          <p:nvPr/>
        </p:nvSpPr>
        <p:spPr>
          <a:xfrm>
            <a:off x="6766560" y="3017520"/>
            <a:ext cx="4937760" cy="2743200"/>
          </a:xfrm>
          <a:prstGeom prst="rect">
            <a:avLst/>
          </a:prstGeom>
          <a:noFill/>
        </p:spPr>
        <p:txBody>
          <a:bodyPr wrap="square">
            <a:spAutoFit/>
          </a:bodyPr>
          <a:lstStyle/>
          <a:p>
            <a:pPr>
              <a:spcAft>
                <a:spcPts val="600"/>
              </a:spcAft>
              <a:defRPr sz="1300" b="0">
                <a:solidFill>
                  <a:srgbClr val="0B0B0B"/>
                </a:solidFill>
              </a:defRPr>
            </a:pPr>
            <a:r>
              <a:t>• Published values: TerraMind paper (arXiv:2504.11171, PANGAEA protocol); ours are within one point</a:t>
            </a:r>
          </a:p>
          <a:p>
            <a:pPr>
              <a:spcAft>
                <a:spcPts val="600"/>
              </a:spcAft>
              <a:defRPr sz="1300" b="0">
                <a:solidFill>
                  <a:srgbClr val="0B0B0B"/>
                </a:solidFill>
              </a:defRPr>
            </a:pPr>
            <a:r>
              <a:t>• The delta's radar looks like the training radar: dry-land VV median -8.7 dB vs -9.7 dB; water 8-11 dB lower in both</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274320"/>
            <a:ext cx="11247120" cy="731520"/>
          </a:xfrm>
          <a:prstGeom prst="rect">
            <a:avLst/>
          </a:prstGeom>
          <a:noFill/>
        </p:spPr>
        <p:txBody>
          <a:bodyPr wrap="square">
            <a:spAutoFit/>
          </a:bodyPr>
          <a:lstStyle/>
          <a:p>
            <a:pPr>
              <a:spcAft>
                <a:spcPts val="600"/>
              </a:spcAft>
              <a:defRPr sz="3000" b="1">
                <a:solidFill>
                  <a:srgbClr val="0B0B0B"/>
                </a:solidFill>
              </a:defRPr>
            </a:pPr>
            <a:r>
              <a:t>Mahanadi flood atlas 2017–2026</a:t>
            </a:r>
          </a:p>
        </p:txBody>
      </p:sp>
      <p:sp>
        <p:nvSpPr>
          <p:cNvPr id="3" name="TextBox 2"/>
          <p:cNvSpPr txBox="1"/>
          <p:nvPr/>
        </p:nvSpPr>
        <p:spPr>
          <a:xfrm>
            <a:off x="457200" y="914400"/>
            <a:ext cx="11247120" cy="548640"/>
          </a:xfrm>
          <a:prstGeom prst="rect">
            <a:avLst/>
          </a:prstGeom>
          <a:noFill/>
        </p:spPr>
        <p:txBody>
          <a:bodyPr wrap="square">
            <a:spAutoFit/>
          </a:bodyPr>
          <a:lstStyle/>
          <a:p>
            <a:pPr>
              <a:spcAft>
                <a:spcPts val="600"/>
              </a:spcAft>
              <a:defRPr sz="1600" b="0">
                <a:solidFill>
                  <a:srgbClr val="52514E"/>
                </a:solidFill>
              </a:defRPr>
            </a:pPr>
            <a:r>
              <a:t>590 Sentinel-1 passes (457 monsoon, 133 dry season) · 3 tracks · Sentinel-1A/B/D · 20 m</a:t>
            </a:r>
          </a:p>
        </p:txBody>
      </p:sp>
      <p:sp>
        <p:nvSpPr>
          <p:cNvPr id="4" name="TextBox 3"/>
          <p:cNvSpPr txBox="1"/>
          <p:nvPr/>
        </p:nvSpPr>
        <p:spPr>
          <a:xfrm>
            <a:off x="457200" y="6400800"/>
            <a:ext cx="11247120" cy="365760"/>
          </a:xfrm>
          <a:prstGeom prst="rect">
            <a:avLst/>
          </a:prstGeom>
          <a:noFill/>
        </p:spPr>
        <p:txBody>
          <a:bodyPr wrap="square">
            <a:spAutoFit/>
          </a:bodyPr>
          <a:lstStyle/>
          <a:p>
            <a:pPr>
              <a:spcAft>
                <a:spcPts val="600"/>
              </a:spcAft>
              <a:defRPr sz="1000" b="0">
                <a:solidFill>
                  <a:srgbClr val="52514E"/>
                </a:solidFill>
              </a:defRPr>
            </a:pPr>
            <a:r>
              <a:t>Prithvi Flood-IN · CE 491 IDP · IIT Bombay × ClimMaTech · final review</a:t>
            </a:r>
          </a:p>
        </p:txBody>
      </p:sp>
      <p:pic>
        <p:nvPicPr>
          <p:cNvPr id="5" name="Picture 4" descr="atlas_timeseries.png"/>
          <p:cNvPicPr>
            <a:picLocks noChangeAspect="1"/>
          </p:cNvPicPr>
          <p:nvPr/>
        </p:nvPicPr>
        <p:blipFill>
          <a:blip r:embed="rId2"/>
          <a:stretch>
            <a:fillRect/>
          </a:stretch>
        </p:blipFill>
        <p:spPr>
          <a:xfrm>
            <a:off x="365760" y="1371600"/>
            <a:ext cx="6949440" cy="3616752"/>
          </a:xfrm>
          <a:prstGeom prst="rect">
            <a:avLst/>
          </a:prstGeom>
        </p:spPr>
      </p:pic>
      <p:pic>
        <p:nvPicPr>
          <p:cNvPr id="6" name="Picture 5" descr="atlas_area_vs_discharge.png"/>
          <p:cNvPicPr>
            <a:picLocks noChangeAspect="1"/>
          </p:cNvPicPr>
          <p:nvPr/>
        </p:nvPicPr>
        <p:blipFill>
          <a:blip r:embed="rId3"/>
          <a:stretch>
            <a:fillRect/>
          </a:stretch>
        </p:blipFill>
        <p:spPr>
          <a:xfrm>
            <a:off x="7955279" y="1371600"/>
            <a:ext cx="4023360" cy="3268320"/>
          </a:xfrm>
          <a:prstGeom prst="rect">
            <a:avLst/>
          </a:prstGeom>
        </p:spPr>
      </p:pic>
      <p:sp>
        <p:nvSpPr>
          <p:cNvPr id="7" name="TextBox 6"/>
          <p:cNvSpPr txBox="1"/>
          <p:nvPr/>
        </p:nvSpPr>
        <p:spPr>
          <a:xfrm>
            <a:off x="548640" y="5349240"/>
            <a:ext cx="11064240" cy="1005840"/>
          </a:xfrm>
          <a:prstGeom prst="rect">
            <a:avLst/>
          </a:prstGeom>
          <a:noFill/>
        </p:spPr>
        <p:txBody>
          <a:bodyPr wrap="square">
            <a:spAutoFit/>
          </a:bodyPr>
          <a:lstStyle/>
          <a:p>
            <a:pPr>
              <a:spcAft>
                <a:spcPts val="600"/>
              </a:spcAft>
              <a:defRPr sz="1400" b="0">
                <a:solidFill>
                  <a:srgbClr val="0B0B0B"/>
                </a:solidFill>
              </a:defRPr>
            </a:pPr>
            <a:r>
              <a:t>• Flooded land follows the Naraj flow (Spearman ρ = 0.76, predictor: 3-day peak flow); river bed (178 km²) and normal water excluded; a 3 km swath-edge band removed per pass</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274320"/>
            <a:ext cx="11247120" cy="731520"/>
          </a:xfrm>
          <a:prstGeom prst="rect">
            <a:avLst/>
          </a:prstGeom>
          <a:noFill/>
        </p:spPr>
        <p:txBody>
          <a:bodyPr wrap="square">
            <a:spAutoFit/>
          </a:bodyPr>
          <a:lstStyle/>
          <a:p>
            <a:pPr>
              <a:spcAft>
                <a:spcPts val="600"/>
              </a:spcAft>
              <a:defRPr sz="3000" b="1">
                <a:solidFill>
                  <a:srgbClr val="0B0B0B"/>
                </a:solidFill>
              </a:defRPr>
            </a:pPr>
            <a:r>
              <a:t>From a flow forecast to a flood map</a:t>
            </a:r>
          </a:p>
        </p:txBody>
      </p:sp>
      <p:sp>
        <p:nvSpPr>
          <p:cNvPr id="3" name="TextBox 2"/>
          <p:cNvSpPr txBox="1"/>
          <p:nvPr/>
        </p:nvSpPr>
        <p:spPr>
          <a:xfrm>
            <a:off x="457200" y="914400"/>
            <a:ext cx="11247120" cy="548640"/>
          </a:xfrm>
          <a:prstGeom prst="rect">
            <a:avLst/>
          </a:prstGeom>
          <a:noFill/>
        </p:spPr>
        <p:txBody>
          <a:bodyPr wrap="square">
            <a:spAutoFit/>
          </a:bodyPr>
          <a:lstStyle/>
          <a:p>
            <a:pPr>
              <a:spcAft>
                <a:spcPts val="600"/>
              </a:spcAft>
              <a:defRPr sz="1600" b="0">
                <a:solidFill>
                  <a:srgbClr val="52514E"/>
                </a:solidFill>
              </a:defRPr>
            </a:pPr>
            <a:r>
              <a:t>Each 20 m pixel gets the Naraj flow at which it starts to flood</a:t>
            </a:r>
          </a:p>
        </p:txBody>
      </p:sp>
      <p:sp>
        <p:nvSpPr>
          <p:cNvPr id="4" name="TextBox 3"/>
          <p:cNvSpPr txBox="1"/>
          <p:nvPr/>
        </p:nvSpPr>
        <p:spPr>
          <a:xfrm>
            <a:off x="457200" y="6400800"/>
            <a:ext cx="11247120" cy="365760"/>
          </a:xfrm>
          <a:prstGeom prst="rect">
            <a:avLst/>
          </a:prstGeom>
          <a:noFill/>
        </p:spPr>
        <p:txBody>
          <a:bodyPr wrap="square">
            <a:spAutoFit/>
          </a:bodyPr>
          <a:lstStyle/>
          <a:p>
            <a:pPr>
              <a:spcAft>
                <a:spcPts val="600"/>
              </a:spcAft>
              <a:defRPr sz="1000" b="0">
                <a:solidFill>
                  <a:srgbClr val="52514E"/>
                </a:solidFill>
              </a:defRPr>
            </a:pPr>
            <a:r>
              <a:t>Prithvi Flood-IN · CE 491 IDP · IIT Bombay × ClimMaTech · final review</a:t>
            </a:r>
          </a:p>
        </p:txBody>
      </p:sp>
      <p:pic>
        <p:nvPicPr>
          <p:cNvPr id="5" name="Picture 4" descr="atlas_trigger_map.png"/>
          <p:cNvPicPr>
            <a:picLocks noChangeAspect="1"/>
          </p:cNvPicPr>
          <p:nvPr/>
        </p:nvPicPr>
        <p:blipFill>
          <a:blip r:embed="rId2"/>
          <a:stretch>
            <a:fillRect/>
          </a:stretch>
        </p:blipFill>
        <p:spPr>
          <a:xfrm>
            <a:off x="365760" y="1371600"/>
            <a:ext cx="7315200" cy="4076892"/>
          </a:xfrm>
          <a:prstGeom prst="rect">
            <a:avLst/>
          </a:prstGeom>
        </p:spPr>
      </p:pic>
      <p:sp>
        <p:nvSpPr>
          <p:cNvPr id="6" name="TextBox 5"/>
          <p:cNvSpPr txBox="1"/>
          <p:nvPr/>
        </p:nvSpPr>
        <p:spPr>
          <a:xfrm>
            <a:off x="7863840" y="1371600"/>
            <a:ext cx="4114800" cy="2926080"/>
          </a:xfrm>
          <a:prstGeom prst="rect">
            <a:avLst/>
          </a:prstGeom>
          <a:noFill/>
        </p:spPr>
        <p:txBody>
          <a:bodyPr wrap="square">
            <a:spAutoFit/>
          </a:bodyPr>
          <a:lstStyle/>
          <a:p>
            <a:pPr>
              <a:spcAft>
                <a:spcPts val="600"/>
              </a:spcAft>
              <a:defRPr sz="1300" b="0">
                <a:solidFill>
                  <a:srgbClr val="0B0B0B"/>
                </a:solidFill>
              </a:defRPr>
            </a:pPr>
            <a:r>
              <a:t>• Years never seen in fitting, high flows (≥ 9,682 m³/s): IoU 0.20 vs 0.04 for climatology</a:t>
            </a:r>
          </a:p>
          <a:p>
            <a:pPr>
              <a:spcAft>
                <a:spcPts val="600"/>
              </a:spcAft>
              <a:defRPr sz="1300" b="0">
                <a:solidFill>
                  <a:srgbClr val="0B0B0B"/>
                </a:solidFill>
              </a:defRPr>
            </a:pPr>
            <a:r>
              <a:t>• Per settlement (≥ 10 % of people flooded), high flows: POD 21%, FAR 62% (climatology POD 2%)</a:t>
            </a:r>
          </a:p>
          <a:p>
            <a:pPr>
              <a:spcAft>
                <a:spcPts val="600"/>
              </a:spcAft>
              <a:defRPr sz="1300" b="0">
                <a:solidFill>
                  <a:srgbClr val="0B0B0B"/>
                </a:solidFill>
              </a:defRPr>
            </a:pPr>
            <a:r>
              <a:t>• Design floods (Gumbel): 2-yr 17,897, 25-yr 32,997 m³/s</a:t>
            </a:r>
          </a:p>
          <a:p>
            <a:pPr>
              <a:spcAft>
                <a:spcPts val="600"/>
              </a:spcAft>
              <a:defRPr sz="1300" b="0">
                <a:solidFill>
                  <a:srgbClr val="0B0B0B"/>
                </a:solidFill>
              </a:defRPr>
            </a:pPr>
            <a:r>
              <a:t>• Same 5-yr flow: 27 km² flooded in a dry week, 93 km² with 171 mm of rain — read the rain forecast too</a:t>
            </a:r>
          </a:p>
          <a:p>
            <a:pPr>
              <a:spcAft>
                <a:spcPts val="600"/>
              </a:spcAft>
              <a:defRPr sz="1300" b="0">
                <a:solidFill>
                  <a:srgbClr val="0B0B0B"/>
                </a:solidFill>
              </a:defRPr>
            </a:pPr>
            <a:r>
              <a:t>• Where it floods is predictable from the past (AUC 0.91); how much floods on a day only partly</a:t>
            </a:r>
          </a:p>
          <a:p>
            <a:pPr>
              <a:spcAft>
                <a:spcPts val="600"/>
              </a:spcAft>
              <a:defRPr sz="1300" b="0">
                <a:solidFill>
                  <a:srgbClr val="0B0B0B"/>
                </a:solidFill>
              </a:defRPr>
            </a:pPr>
            <a:r>
              <a:t>• Hirakud → Naraj ≈ 1 day</a:t>
            </a:r>
          </a:p>
        </p:txBody>
      </p:sp>
      <p:pic>
        <p:nvPicPr>
          <p:cNvPr id="7" name="Picture 6" descr="atlas_loyo.png"/>
          <p:cNvPicPr>
            <a:picLocks noChangeAspect="1"/>
          </p:cNvPicPr>
          <p:nvPr/>
        </p:nvPicPr>
        <p:blipFill>
          <a:blip r:embed="rId3"/>
          <a:stretch>
            <a:fillRect/>
          </a:stretch>
        </p:blipFill>
        <p:spPr>
          <a:xfrm>
            <a:off x="7863840" y="4206240"/>
            <a:ext cx="4114800" cy="1601471"/>
          </a:xfrm>
          <a:prstGeom prst="rect">
            <a:avLst/>
          </a:prstGeom>
        </p:spPr>
      </p:pic>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274320"/>
            <a:ext cx="11247120" cy="731520"/>
          </a:xfrm>
          <a:prstGeom prst="rect">
            <a:avLst/>
          </a:prstGeom>
          <a:noFill/>
        </p:spPr>
        <p:txBody>
          <a:bodyPr wrap="square">
            <a:spAutoFit/>
          </a:bodyPr>
          <a:lstStyle/>
          <a:p>
            <a:pPr>
              <a:spcAft>
                <a:spcPts val="600"/>
              </a:spcAft>
              <a:defRPr sz="3000" b="1">
                <a:solidFill>
                  <a:srgbClr val="0B0B0B"/>
                </a:solidFill>
              </a:defRPr>
            </a:pPr>
            <a:r>
              <a:t>A learned flow + rain + history model</a:t>
            </a:r>
          </a:p>
        </p:txBody>
      </p:sp>
      <p:sp>
        <p:nvSpPr>
          <p:cNvPr id="3" name="TextBox 2"/>
          <p:cNvSpPr txBox="1"/>
          <p:nvPr/>
        </p:nvSpPr>
        <p:spPr>
          <a:xfrm>
            <a:off x="457200" y="914400"/>
            <a:ext cx="11247120" cy="548640"/>
          </a:xfrm>
          <a:prstGeom prst="rect">
            <a:avLst/>
          </a:prstGeom>
          <a:noFill/>
        </p:spPr>
        <p:txBody>
          <a:bodyPr wrap="square">
            <a:spAutoFit/>
          </a:bodyPr>
          <a:lstStyle/>
          <a:p>
            <a:pPr>
              <a:spcAft>
                <a:spcPts val="600"/>
              </a:spcAft>
              <a:defRPr sz="1600" b="0">
                <a:solidFill>
                  <a:srgbClr val="52514E"/>
                </a:solidFill>
              </a:defRPr>
            </a:pPr>
            <a:r>
              <a:t>Gradient boosting per pixel and pass; each year predicted from the other years</a:t>
            </a:r>
          </a:p>
        </p:txBody>
      </p:sp>
      <p:sp>
        <p:nvSpPr>
          <p:cNvPr id="4" name="TextBox 3"/>
          <p:cNvSpPr txBox="1"/>
          <p:nvPr/>
        </p:nvSpPr>
        <p:spPr>
          <a:xfrm>
            <a:off x="457200" y="6400800"/>
            <a:ext cx="11247120" cy="365760"/>
          </a:xfrm>
          <a:prstGeom prst="rect">
            <a:avLst/>
          </a:prstGeom>
          <a:noFill/>
        </p:spPr>
        <p:txBody>
          <a:bodyPr wrap="square">
            <a:spAutoFit/>
          </a:bodyPr>
          <a:lstStyle/>
          <a:p>
            <a:pPr>
              <a:spcAft>
                <a:spcPts val="600"/>
              </a:spcAft>
              <a:defRPr sz="1000" b="0">
                <a:solidFill>
                  <a:srgbClr val="52514E"/>
                </a:solidFill>
              </a:defRPr>
            </a:pPr>
            <a:r>
              <a:t>Prithvi Flood-IN · CE 491 IDP · IIT Bombay × ClimMaTech · final review</a:t>
            </a:r>
          </a:p>
        </p:txBody>
      </p:sp>
      <p:graphicFrame>
        <p:nvGraphicFramePr>
          <p:cNvPr id="5" name="Table 4"/>
          <p:cNvGraphicFramePr>
            <a:graphicFrameLocks noGrp="1"/>
          </p:cNvGraphicFramePr>
          <p:nvPr/>
        </p:nvGraphicFramePr>
        <p:xfrm>
          <a:off x="457200" y="1371600"/>
          <a:ext cx="6949440" cy="1920239"/>
        </p:xfrm>
        <a:graphic>
          <a:graphicData uri="http://schemas.openxmlformats.org/drawingml/2006/table">
            <a:tbl>
              <a:tblPr firstRow="1" bandRow="1">
                <a:tableStyleId>{5C22544A-7EE6-4342-B048-85BDC9FD1C3A}</a:tableStyleId>
              </a:tblPr>
              <a:tblGrid>
                <a:gridCol w="2834640"/>
                <a:gridCol w="1371600"/>
                <a:gridCol w="1371600"/>
                <a:gridCol w="1371600"/>
              </a:tblGrid>
              <a:tr h="320039">
                <a:tc>
                  <a:txBody>
                    <a:bodyPr/>
                    <a:lstStyle/>
                    <a:p>
                      <a:pPr>
                        <a:defRPr sz="1300" b="1"/>
                      </a:pPr>
                      <a:r>
                        <a:t>Held-out passes, IoU</a:t>
                      </a:r>
                    </a:p>
                  </a:txBody>
                  <a:tcPr/>
                </a:tc>
                <a:tc>
                  <a:txBody>
                    <a:bodyPr/>
                    <a:lstStyle/>
                    <a:p>
                      <a:pPr>
                        <a:defRPr sz="1300" b="1"/>
                      </a:pPr>
                      <a:r>
                        <a:t>Learned</a:t>
                      </a:r>
                    </a:p>
                  </a:txBody>
                  <a:tcPr/>
                </a:tc>
                <a:tc>
                  <a:txBody>
                    <a:bodyPr/>
                    <a:lstStyle/>
                    <a:p>
                      <a:pPr>
                        <a:defRPr sz="1300" b="1"/>
                      </a:pPr>
                      <a:r>
                        <a:t>Trigger map</a:t>
                      </a:r>
                    </a:p>
                  </a:txBody>
                  <a:tcPr/>
                </a:tc>
                <a:tc>
                  <a:txBody>
                    <a:bodyPr/>
                    <a:lstStyle/>
                    <a:p>
                      <a:pPr>
                        <a:defRPr sz="1300" b="1"/>
                      </a:pPr>
                      <a:r>
                        <a:t>Climatology</a:t>
                      </a:r>
                    </a:p>
                  </a:txBody>
                  <a:tcPr/>
                </a:tc>
              </a:tr>
              <a:tr h="320039">
                <a:tc>
                  <a:txBody>
                    <a:bodyPr/>
                    <a:lstStyle/>
                    <a:p>
                      <a:pPr>
                        <a:defRPr sz="1300" b="0"/>
                      </a:pPr>
                      <a:r>
                        <a:t>All monsoon (457)</a:t>
                      </a:r>
                    </a:p>
                  </a:txBody>
                  <a:tcPr/>
                </a:tc>
                <a:tc>
                  <a:txBody>
                    <a:bodyPr/>
                    <a:lstStyle/>
                    <a:p>
                      <a:pPr>
                        <a:defRPr sz="1300" b="0"/>
                      </a:pPr>
                      <a:r>
                        <a:t>0.20</a:t>
                      </a:r>
                    </a:p>
                  </a:txBody>
                  <a:tcPr/>
                </a:tc>
                <a:tc>
                  <a:txBody>
                    <a:bodyPr/>
                    <a:lstStyle/>
                    <a:p>
                      <a:pPr>
                        <a:defRPr sz="1300" b="0"/>
                      </a:pPr>
                      <a:r>
                        <a:t>0.17</a:t>
                      </a:r>
                    </a:p>
                  </a:txBody>
                  <a:tcPr/>
                </a:tc>
                <a:tc>
                  <a:txBody>
                    <a:bodyPr/>
                    <a:lstStyle/>
                    <a:p>
                      <a:pPr>
                        <a:defRPr sz="1300" b="0"/>
                      </a:pPr>
                      <a:r>
                        <a:t>0.08</a:t>
                      </a:r>
                    </a:p>
                  </a:txBody>
                  <a:tcPr/>
                </a:tc>
              </a:tr>
              <a:tr h="320039">
                <a:tc>
                  <a:txBody>
                    <a:bodyPr/>
                    <a:lstStyle/>
                    <a:p>
                      <a:pPr>
                        <a:defRPr sz="1300" b="0"/>
                      </a:pPr>
                      <a:r>
                        <a:t>High flow (66)</a:t>
                      </a:r>
                    </a:p>
                  </a:txBody>
                  <a:tcPr/>
                </a:tc>
                <a:tc>
                  <a:txBody>
                    <a:bodyPr/>
                    <a:lstStyle/>
                    <a:p>
                      <a:pPr>
                        <a:defRPr sz="1300" b="0"/>
                      </a:pPr>
                      <a:r>
                        <a:t>0.24</a:t>
                      </a:r>
                    </a:p>
                  </a:txBody>
                  <a:tcPr/>
                </a:tc>
                <a:tc>
                  <a:txBody>
                    <a:bodyPr/>
                    <a:lstStyle/>
                    <a:p>
                      <a:pPr>
                        <a:defRPr sz="1300" b="0"/>
                      </a:pPr>
                      <a:r>
                        <a:t>0.20</a:t>
                      </a:r>
                    </a:p>
                  </a:txBody>
                  <a:tcPr/>
                </a:tc>
                <a:tc>
                  <a:txBody>
                    <a:bodyPr/>
                    <a:lstStyle/>
                    <a:p>
                      <a:pPr>
                        <a:defRPr sz="1300" b="0"/>
                      </a:pPr>
                      <a:r>
                        <a:t>0.04</a:t>
                      </a:r>
                    </a:p>
                  </a:txBody>
                  <a:tcPr/>
                </a:tc>
              </a:tr>
              <a:tr h="320039">
                <a:tc>
                  <a:txBody>
                    <a:bodyPr/>
                    <a:lstStyle/>
                    <a:p>
                      <a:pPr>
                        <a:defRPr sz="1300" b="0"/>
                      </a:pPr>
                      <a:r>
                        <a:t>Heavy rain (46)</a:t>
                      </a:r>
                    </a:p>
                  </a:txBody>
                  <a:tcPr/>
                </a:tc>
                <a:tc>
                  <a:txBody>
                    <a:bodyPr/>
                    <a:lstStyle/>
                    <a:p>
                      <a:pPr>
                        <a:defRPr sz="1300" b="0"/>
                      </a:pPr>
                      <a:r>
                        <a:t>0.22</a:t>
                      </a:r>
                    </a:p>
                  </a:txBody>
                  <a:tcPr/>
                </a:tc>
                <a:tc>
                  <a:txBody>
                    <a:bodyPr/>
                    <a:lstStyle/>
                    <a:p>
                      <a:pPr>
                        <a:defRPr sz="1300" b="0"/>
                      </a:pPr>
                      <a:r>
                        <a:t>0.15</a:t>
                      </a:r>
                    </a:p>
                  </a:txBody>
                  <a:tcPr/>
                </a:tc>
                <a:tc>
                  <a:txBody>
                    <a:bodyPr/>
                    <a:lstStyle/>
                    <a:p>
                      <a:pPr>
                        <a:defRPr sz="1300" b="0"/>
                      </a:pPr>
                      <a:r>
                        <a:t>0.03</a:t>
                      </a:r>
                    </a:p>
                  </a:txBody>
                  <a:tcPr/>
                </a:tc>
              </a:tr>
              <a:tr h="320039">
                <a:tc>
                  <a:txBody>
                    <a:bodyPr/>
                    <a:lstStyle/>
                    <a:p>
                      <a:pPr>
                        <a:defRPr sz="1300" b="0"/>
                      </a:pPr>
                      <a:r>
                        <a:t>Villages, high flow: POD / FAR</a:t>
                      </a:r>
                    </a:p>
                  </a:txBody>
                  <a:tcPr/>
                </a:tc>
                <a:tc>
                  <a:txBody>
                    <a:bodyPr/>
                    <a:lstStyle/>
                    <a:p>
                      <a:pPr>
                        <a:defRPr sz="1300" b="0"/>
                      </a:pPr>
                      <a:r>
                        <a:t>28% / 71%</a:t>
                      </a:r>
                    </a:p>
                  </a:txBody>
                  <a:tcPr/>
                </a:tc>
                <a:tc>
                  <a:txBody>
                    <a:bodyPr/>
                    <a:lstStyle/>
                    <a:p>
                      <a:pPr>
                        <a:defRPr sz="1300" b="0"/>
                      </a:pPr>
                      <a:r>
                        <a:t>21% / 62%</a:t>
                      </a:r>
                    </a:p>
                  </a:txBody>
                  <a:tcPr/>
                </a:tc>
                <a:tc>
                  <a:txBody>
                    <a:bodyPr/>
                    <a:lstStyle/>
                    <a:p>
                      <a:pPr>
                        <a:defRPr sz="1300" b="0"/>
                      </a:pPr>
                      <a:r>
                        <a:t>2% / 40%</a:t>
                      </a:r>
                    </a:p>
                  </a:txBody>
                  <a:tcPr/>
                </a:tc>
              </a:tr>
              <a:tr h="320044">
                <a:tc>
                  <a:txBody>
                    <a:bodyPr/>
                    <a:lstStyle/>
                    <a:p>
                      <a:pPr>
                        <a:defRPr sz="1300" b="0"/>
                      </a:pPr>
                      <a:r>
                        <a:t>Ranking AUC, all passes</a:t>
                      </a:r>
                    </a:p>
                  </a:txBody>
                  <a:tcPr/>
                </a:tc>
                <a:tc>
                  <a:txBody>
                    <a:bodyPr/>
                    <a:lstStyle/>
                    <a:p>
                      <a:pPr>
                        <a:defRPr sz="1300" b="0"/>
                      </a:pPr>
                      <a:r>
                        <a:t>0.95</a:t>
                      </a:r>
                    </a:p>
                  </a:txBody>
                  <a:tcPr/>
                </a:tc>
                <a:tc>
                  <a:txBody>
                    <a:bodyPr/>
                    <a:lstStyle/>
                    <a:p>
                      <a:pPr>
                        <a:defRPr sz="1300" b="0"/>
                      </a:pPr>
                      <a:r>
                        <a:t>0.72</a:t>
                      </a:r>
                    </a:p>
                  </a:txBody>
                  <a:tcPr/>
                </a:tc>
                <a:tc>
                  <a:txBody>
                    <a:bodyPr/>
                    <a:lstStyle/>
                    <a:p>
                      <a:pPr>
                        <a:defRPr sz="1300" b="0"/>
                      </a:pPr>
                      <a:r>
                        <a:t>0.91</a:t>
                      </a:r>
                    </a:p>
                  </a:txBody>
                  <a:tcPr/>
                </a:tc>
              </a:tr>
            </a:tbl>
          </a:graphicData>
        </a:graphic>
      </p:graphicFrame>
      <p:sp>
        <p:nvSpPr>
          <p:cNvPr id="6" name="TextBox 5"/>
          <p:cNvSpPr txBox="1"/>
          <p:nvPr/>
        </p:nvSpPr>
        <p:spPr>
          <a:xfrm>
            <a:off x="7772400" y="1371600"/>
            <a:ext cx="4023360" cy="4754880"/>
          </a:xfrm>
          <a:prstGeom prst="rect">
            <a:avLst/>
          </a:prstGeom>
          <a:noFill/>
        </p:spPr>
        <p:txBody>
          <a:bodyPr wrap="square">
            <a:spAutoFit/>
          </a:bodyPr>
          <a:lstStyle/>
          <a:p>
            <a:pPr>
              <a:spcAft>
                <a:spcPts val="600"/>
              </a:spcAft>
              <a:defRPr sz="1300" b="0">
                <a:solidFill>
                  <a:srgbClr val="0B0B0B"/>
                </a:solidFill>
              </a:defRPr>
            </a:pPr>
            <a:r>
              <a:t>• Inputs: flow and 7-day rain of the pass, month, radar track; per pixel the training years' trigger flow, flood frequency (all, high flow, heavy rain), height above and distance to the river bed</a:t>
            </a:r>
          </a:p>
          <a:p>
            <a:pPr>
              <a:spcAft>
                <a:spcPts val="600"/>
              </a:spcAft>
              <a:defRPr sz="1300" b="0">
                <a:solidFill>
                  <a:srgbClr val="0B0B0B"/>
                </a:solidFill>
              </a:defRPr>
            </a:pPr>
            <a:r>
              <a:t>• Leans most on: flood frequency, Naraj flow, 7-day rain, month</a:t>
            </a:r>
          </a:p>
          <a:p>
            <a:pPr>
              <a:spcAft>
                <a:spcPts val="600"/>
              </a:spcAft>
              <a:defRPr sz="1300" b="0">
                <a:solidFill>
                  <a:srgbClr val="0B0B0B"/>
                </a:solidFill>
              </a:defRPr>
            </a:pPr>
            <a:r>
              <a:t>• 5-year flow: 30 km² in a dry week, 142 km² with heavy rain: one model for the river forecast plus a rain gauge</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274320"/>
            <a:ext cx="11247120" cy="731520"/>
          </a:xfrm>
          <a:prstGeom prst="rect">
            <a:avLst/>
          </a:prstGeom>
          <a:noFill/>
        </p:spPr>
        <p:txBody>
          <a:bodyPr wrap="square">
            <a:spAutoFit/>
          </a:bodyPr>
          <a:lstStyle/>
          <a:p>
            <a:pPr>
              <a:spcAft>
                <a:spcPts val="600"/>
              </a:spcAft>
              <a:defRPr sz="3000" b="1">
                <a:solidFill>
                  <a:srgbClr val="0B0B0B"/>
                </a:solidFill>
              </a:defRPr>
            </a:pPr>
            <a:r>
              <a:t>Forecasting the Naraj flow 1–3 days ahead</a:t>
            </a:r>
          </a:p>
        </p:txBody>
      </p:sp>
      <p:sp>
        <p:nvSpPr>
          <p:cNvPr id="3" name="TextBox 2"/>
          <p:cNvSpPr txBox="1"/>
          <p:nvPr/>
        </p:nvSpPr>
        <p:spPr>
          <a:xfrm>
            <a:off x="457200" y="914400"/>
            <a:ext cx="11247120" cy="548640"/>
          </a:xfrm>
          <a:prstGeom prst="rect">
            <a:avLst/>
          </a:prstGeom>
          <a:noFill/>
        </p:spPr>
        <p:txBody>
          <a:bodyPr wrap="square">
            <a:spAutoFit/>
          </a:bodyPr>
          <a:lstStyle/>
          <a:p>
            <a:pPr>
              <a:spcAft>
                <a:spcPts val="600"/>
              </a:spcAft>
              <a:defRPr sz="1600" b="0">
                <a:solidFill>
                  <a:srgbClr val="52514E"/>
                </a:solidFill>
              </a:defRPr>
            </a:pPr>
            <a:r>
              <a:t>Gradient boosting on upstream flows and catchment rain · trained 1997–2015, tested on the monsoons of 2016–2026</a:t>
            </a:r>
          </a:p>
        </p:txBody>
      </p:sp>
      <p:sp>
        <p:nvSpPr>
          <p:cNvPr id="4" name="TextBox 3"/>
          <p:cNvSpPr txBox="1"/>
          <p:nvPr/>
        </p:nvSpPr>
        <p:spPr>
          <a:xfrm>
            <a:off x="457200" y="6400800"/>
            <a:ext cx="11247120" cy="365760"/>
          </a:xfrm>
          <a:prstGeom prst="rect">
            <a:avLst/>
          </a:prstGeom>
          <a:noFill/>
        </p:spPr>
        <p:txBody>
          <a:bodyPr wrap="square">
            <a:spAutoFit/>
          </a:bodyPr>
          <a:lstStyle/>
          <a:p>
            <a:pPr>
              <a:spcAft>
                <a:spcPts val="600"/>
              </a:spcAft>
              <a:defRPr sz="1000" b="0">
                <a:solidFill>
                  <a:srgbClr val="52514E"/>
                </a:solidFill>
              </a:defRPr>
            </a:pPr>
            <a:r>
              <a:t>Prithvi Flood-IN · CE 491 IDP · IIT Bombay × ClimMaTech · final review</a:t>
            </a:r>
          </a:p>
        </p:txBody>
      </p:sp>
      <p:graphicFrame>
        <p:nvGraphicFramePr>
          <p:cNvPr id="5" name="Table 4"/>
          <p:cNvGraphicFramePr>
            <a:graphicFrameLocks noGrp="1"/>
          </p:cNvGraphicFramePr>
          <p:nvPr/>
        </p:nvGraphicFramePr>
        <p:xfrm>
          <a:off x="457200" y="1371600"/>
          <a:ext cx="6583680" cy="1280160"/>
        </p:xfrm>
        <a:graphic>
          <a:graphicData uri="http://schemas.openxmlformats.org/drawingml/2006/table">
            <a:tbl>
              <a:tblPr firstRow="1" bandRow="1">
                <a:tableStyleId>{5C22544A-7EE6-4342-B048-85BDC9FD1C3A}</a:tableStyleId>
              </a:tblPr>
              <a:tblGrid>
                <a:gridCol w="914400"/>
                <a:gridCol w="1280160"/>
                <a:gridCol w="1005840"/>
                <a:gridCol w="1645920"/>
                <a:gridCol w="1737360"/>
              </a:tblGrid>
              <a:tr h="320040">
                <a:tc>
                  <a:txBody>
                    <a:bodyPr/>
                    <a:lstStyle/>
                    <a:p>
                      <a:pPr>
                        <a:defRPr sz="1200" b="1"/>
                      </a:pPr>
                      <a:r>
                        <a:t>Lead</a:t>
                      </a:r>
                    </a:p>
                  </a:txBody>
                  <a:tcPr/>
                </a:tc>
                <a:tc>
                  <a:txBody>
                    <a:bodyPr/>
                    <a:lstStyle/>
                    <a:p>
                      <a:pPr>
                        <a:defRPr sz="1200" b="1"/>
                      </a:pPr>
                      <a:r>
                        <a:t>Persistence</a:t>
                      </a:r>
                    </a:p>
                  </a:txBody>
                  <a:tcPr/>
                </a:tc>
                <a:tc>
                  <a:txBody>
                    <a:bodyPr/>
                    <a:lstStyle/>
                    <a:p>
                      <a:pPr>
                        <a:defRPr sz="1200" b="1"/>
                      </a:pPr>
                      <a:r>
                        <a:t>Model</a:t>
                      </a:r>
                    </a:p>
                  </a:txBody>
                  <a:tcPr/>
                </a:tc>
                <a:tc>
                  <a:txBody>
                    <a:bodyPr/>
                    <a:lstStyle/>
                    <a:p>
                      <a:pPr>
                        <a:defRPr sz="1200" b="1"/>
                      </a:pPr>
                      <a:r>
                        <a:t>Model + rain forecast</a:t>
                      </a:r>
                    </a:p>
                  </a:txBody>
                  <a:tcPr/>
                </a:tc>
                <a:tc>
                  <a:txBody>
                    <a:bodyPr/>
                    <a:lstStyle/>
                    <a:p>
                      <a:pPr>
                        <a:defRPr sz="1200" b="1"/>
                      </a:pPr>
                      <a:r>
                        <a:t>2-yr flood caught / false</a:t>
                      </a:r>
                    </a:p>
                  </a:txBody>
                  <a:tcPr/>
                </a:tc>
              </a:tr>
              <a:tr h="320040">
                <a:tc>
                  <a:txBody>
                    <a:bodyPr/>
                    <a:lstStyle/>
                    <a:p>
                      <a:pPr>
                        <a:defRPr sz="1200" b="0"/>
                      </a:pPr>
                      <a:r>
                        <a:t>1 day</a:t>
                      </a:r>
                    </a:p>
                  </a:txBody>
                  <a:tcPr/>
                </a:tc>
                <a:tc>
                  <a:txBody>
                    <a:bodyPr/>
                    <a:lstStyle/>
                    <a:p>
                      <a:pPr>
                        <a:defRPr sz="1200" b="0"/>
                      </a:pPr>
                      <a:r>
                        <a:t>0.96</a:t>
                      </a:r>
                    </a:p>
                  </a:txBody>
                  <a:tcPr/>
                </a:tc>
                <a:tc>
                  <a:txBody>
                    <a:bodyPr/>
                    <a:lstStyle/>
                    <a:p>
                      <a:pPr>
                        <a:defRPr sz="1200" b="0"/>
                      </a:pPr>
                      <a:r>
                        <a:t>0.99</a:t>
                      </a:r>
                    </a:p>
                  </a:txBody>
                  <a:tcPr/>
                </a:tc>
                <a:tc>
                  <a:txBody>
                    <a:bodyPr/>
                    <a:lstStyle/>
                    <a:p>
                      <a:pPr>
                        <a:defRPr sz="1200" b="0"/>
                      </a:pPr>
                      <a:r>
                        <a:t>0.99</a:t>
                      </a:r>
                    </a:p>
                  </a:txBody>
                  <a:tcPr/>
                </a:tc>
                <a:tc>
                  <a:txBody>
                    <a:bodyPr/>
                    <a:lstStyle/>
                    <a:p>
                      <a:pPr>
                        <a:defRPr sz="1200" b="0"/>
                      </a:pPr>
                      <a:r>
                        <a:t>77% / 5%</a:t>
                      </a:r>
                    </a:p>
                  </a:txBody>
                  <a:tcPr/>
                </a:tc>
              </a:tr>
              <a:tr h="320040">
                <a:tc>
                  <a:txBody>
                    <a:bodyPr/>
                    <a:lstStyle/>
                    <a:p>
                      <a:pPr>
                        <a:defRPr sz="1200" b="0"/>
                      </a:pPr>
                      <a:r>
                        <a:t>2 days</a:t>
                      </a:r>
                    </a:p>
                  </a:txBody>
                  <a:tcPr/>
                </a:tc>
                <a:tc>
                  <a:txBody>
                    <a:bodyPr/>
                    <a:lstStyle/>
                    <a:p>
                      <a:pPr>
                        <a:defRPr sz="1200" b="0"/>
                      </a:pPr>
                      <a:r>
                        <a:t>0.88</a:t>
                      </a:r>
                    </a:p>
                  </a:txBody>
                  <a:tcPr/>
                </a:tc>
                <a:tc>
                  <a:txBody>
                    <a:bodyPr/>
                    <a:lstStyle/>
                    <a:p>
                      <a:pPr>
                        <a:defRPr sz="1200" b="0"/>
                      </a:pPr>
                      <a:r>
                        <a:t>0.94</a:t>
                      </a:r>
                    </a:p>
                  </a:txBody>
                  <a:tcPr/>
                </a:tc>
                <a:tc>
                  <a:txBody>
                    <a:bodyPr/>
                    <a:lstStyle/>
                    <a:p>
                      <a:pPr>
                        <a:defRPr sz="1200" b="0"/>
                      </a:pPr>
                      <a:r>
                        <a:t>0.95</a:t>
                      </a:r>
                    </a:p>
                  </a:txBody>
                  <a:tcPr/>
                </a:tc>
                <a:tc>
                  <a:txBody>
                    <a:bodyPr/>
                    <a:lstStyle/>
                    <a:p>
                      <a:pPr>
                        <a:defRPr sz="1200" b="0"/>
                      </a:pPr>
                      <a:r>
                        <a:t>73% / 32%</a:t>
                      </a:r>
                    </a:p>
                  </a:txBody>
                  <a:tcPr/>
                </a:tc>
              </a:tr>
              <a:tr h="320040">
                <a:tc>
                  <a:txBody>
                    <a:bodyPr/>
                    <a:lstStyle/>
                    <a:p>
                      <a:pPr>
                        <a:defRPr sz="1200" b="0"/>
                      </a:pPr>
                      <a:r>
                        <a:t>3 days</a:t>
                      </a:r>
                    </a:p>
                  </a:txBody>
                  <a:tcPr/>
                </a:tc>
                <a:tc>
                  <a:txBody>
                    <a:bodyPr/>
                    <a:lstStyle/>
                    <a:p>
                      <a:pPr>
                        <a:defRPr sz="1200" b="0"/>
                      </a:pPr>
                      <a:r>
                        <a:t>0.79</a:t>
                      </a:r>
                    </a:p>
                  </a:txBody>
                  <a:tcPr/>
                </a:tc>
                <a:tc>
                  <a:txBody>
                    <a:bodyPr/>
                    <a:lstStyle/>
                    <a:p>
                      <a:pPr>
                        <a:defRPr sz="1200" b="0"/>
                      </a:pPr>
                      <a:r>
                        <a:t>0.89</a:t>
                      </a:r>
                    </a:p>
                  </a:txBody>
                  <a:tcPr/>
                </a:tc>
                <a:tc>
                  <a:txBody>
                    <a:bodyPr/>
                    <a:lstStyle/>
                    <a:p>
                      <a:pPr>
                        <a:defRPr sz="1200" b="0"/>
                      </a:pPr>
                      <a:r>
                        <a:t>0.89</a:t>
                      </a:r>
                    </a:p>
                  </a:txBody>
                  <a:tcPr/>
                </a:tc>
                <a:tc>
                  <a:txBody>
                    <a:bodyPr/>
                    <a:lstStyle/>
                    <a:p>
                      <a:pPr>
                        <a:defRPr sz="1200" b="0"/>
                      </a:pPr>
                      <a:r>
                        <a:t>58% / 38%</a:t>
                      </a:r>
                    </a:p>
                  </a:txBody>
                  <a:tcPr/>
                </a:tc>
              </a:tr>
            </a:tbl>
          </a:graphicData>
        </a:graphic>
      </p:graphicFrame>
      <p:pic>
        <p:nvPicPr>
          <p:cNvPr id="6" name="Picture 5" descr="forecast_naraj.png"/>
          <p:cNvPicPr>
            <a:picLocks noChangeAspect="1"/>
          </p:cNvPicPr>
          <p:nvPr/>
        </p:nvPicPr>
        <p:blipFill>
          <a:blip r:embed="rId2"/>
          <a:stretch>
            <a:fillRect/>
          </a:stretch>
        </p:blipFill>
        <p:spPr>
          <a:xfrm>
            <a:off x="457200" y="3154680"/>
            <a:ext cx="6583680" cy="2084832"/>
          </a:xfrm>
          <a:prstGeom prst="rect">
            <a:avLst/>
          </a:prstGeom>
        </p:spPr>
      </p:pic>
      <p:sp>
        <p:nvSpPr>
          <p:cNvPr id="7" name="TextBox 6"/>
          <p:cNvSpPr txBox="1"/>
          <p:nvPr/>
        </p:nvSpPr>
        <p:spPr>
          <a:xfrm>
            <a:off x="7406640" y="1371600"/>
            <a:ext cx="4389120" cy="4937760"/>
          </a:xfrm>
          <a:prstGeom prst="rect">
            <a:avLst/>
          </a:prstGeom>
          <a:noFill/>
        </p:spPr>
        <p:txBody>
          <a:bodyPr wrap="square">
            <a:spAutoFit/>
          </a:bodyPr>
          <a:lstStyle/>
          <a:p>
            <a:pPr>
              <a:spcAft>
                <a:spcPts val="600"/>
              </a:spcAft>
              <a:defRPr sz="1300" b="0">
                <a:solidFill>
                  <a:srgbClr val="0B0B0B"/>
                </a:solidFill>
              </a:defRPr>
            </a:pPr>
            <a:r>
              <a:t>• Nash–Sutcliffe efficiency of the daily flow (1 = perfect) on years the model never saw</a:t>
            </a:r>
          </a:p>
          <a:p>
            <a:pPr>
              <a:spcAft>
                <a:spcPts val="600"/>
              </a:spcAft>
              <a:defRPr sz="1300" b="0">
                <a:solidFill>
                  <a:srgbClr val="0B0B0B"/>
                </a:solidFill>
              </a:defRPr>
            </a:pPr>
            <a:r>
              <a:t>• Three days ahead 0.89 against 0.79 for persistence</a:t>
            </a:r>
          </a:p>
          <a:p>
            <a:pPr>
              <a:spcAft>
                <a:spcPts val="600"/>
              </a:spcAft>
              <a:defRPr sz="1300" b="0">
                <a:solidFill>
                  <a:srgbClr val="0B0B0B"/>
                </a:solidFill>
              </a:defRPr>
            </a:pPr>
            <a:r>
              <a:t>• One day ahead the 2-year flood is caught as often as by persistence with 0% instead of 23% false alarms</a:t>
            </a:r>
          </a:p>
          <a:p>
            <a:pPr>
              <a:spcAft>
                <a:spcPts val="600"/>
              </a:spcAft>
              <a:defRPr sz="1300" b="0">
                <a:solidFill>
                  <a:srgbClr val="0B0B0B"/>
                </a:solidFill>
              </a:defRPr>
            </a:pPr>
            <a:r>
              <a:t>• A rain forecast adds most where it matters: more 2-year floods caught 2–3 days ahead</a:t>
            </a:r>
          </a:p>
          <a:p>
            <a:pPr>
              <a:spcAft>
                <a:spcPts val="600"/>
              </a:spcAft>
              <a:defRPr sz="1300" b="0">
                <a:solidFill>
                  <a:srgbClr val="0B0B0B"/>
                </a:solidFill>
              </a:defRPr>
            </a:pPr>
            <a:r>
              <a:t>• Runs in the live feed; with Pravaah-type gauges upstream the same code trains on measured flows</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274320"/>
            <a:ext cx="11247120" cy="731520"/>
          </a:xfrm>
          <a:prstGeom prst="rect">
            <a:avLst/>
          </a:prstGeom>
          <a:noFill/>
        </p:spPr>
        <p:txBody>
          <a:bodyPr wrap="square">
            <a:spAutoFit/>
          </a:bodyPr>
          <a:lstStyle/>
          <a:p>
            <a:pPr>
              <a:spcAft>
                <a:spcPts val="600"/>
              </a:spcAft>
              <a:defRPr sz="3000" b="1">
                <a:solidFill>
                  <a:srgbClr val="0B0B0B"/>
                </a:solidFill>
              </a:defRPr>
            </a:pPr>
            <a:r>
              <a:t>What floods: people, farmland, roads, hospitals</a:t>
            </a:r>
          </a:p>
        </p:txBody>
      </p:sp>
      <p:sp>
        <p:nvSpPr>
          <p:cNvPr id="3" name="TextBox 2"/>
          <p:cNvSpPr txBox="1"/>
          <p:nvPr/>
        </p:nvSpPr>
        <p:spPr>
          <a:xfrm>
            <a:off x="457200" y="914400"/>
            <a:ext cx="11247120" cy="548640"/>
          </a:xfrm>
          <a:prstGeom prst="rect">
            <a:avLst/>
          </a:prstGeom>
          <a:noFill/>
        </p:spPr>
        <p:txBody>
          <a:bodyPr wrap="square">
            <a:spAutoFit/>
          </a:bodyPr>
          <a:lstStyle/>
          <a:p>
            <a:pPr>
              <a:spcAft>
                <a:spcPts val="600"/>
              </a:spcAft>
              <a:defRPr sz="1600" b="0">
                <a:solidFill>
                  <a:srgbClr val="52514E"/>
                </a:solidFill>
              </a:defRPr>
            </a:pPr>
            <a:r>
              <a:t>Per design flood; land outside the river bed and normal water</a:t>
            </a:r>
          </a:p>
        </p:txBody>
      </p:sp>
      <p:sp>
        <p:nvSpPr>
          <p:cNvPr id="4" name="TextBox 3"/>
          <p:cNvSpPr txBox="1"/>
          <p:nvPr/>
        </p:nvSpPr>
        <p:spPr>
          <a:xfrm>
            <a:off x="457200" y="6400800"/>
            <a:ext cx="11247120" cy="365760"/>
          </a:xfrm>
          <a:prstGeom prst="rect">
            <a:avLst/>
          </a:prstGeom>
          <a:noFill/>
        </p:spPr>
        <p:txBody>
          <a:bodyPr wrap="square">
            <a:spAutoFit/>
          </a:bodyPr>
          <a:lstStyle/>
          <a:p>
            <a:pPr>
              <a:spcAft>
                <a:spcPts val="600"/>
              </a:spcAft>
              <a:defRPr sz="1000" b="0">
                <a:solidFill>
                  <a:srgbClr val="52514E"/>
                </a:solidFill>
              </a:defRPr>
            </a:pPr>
            <a:r>
              <a:t>Prithvi Flood-IN · CE 491 IDP · IIT Bombay × ClimMaTech · final review</a:t>
            </a:r>
          </a:p>
        </p:txBody>
      </p:sp>
      <p:graphicFrame>
        <p:nvGraphicFramePr>
          <p:cNvPr id="5" name="Table 4"/>
          <p:cNvGraphicFramePr>
            <a:graphicFrameLocks noGrp="1"/>
          </p:cNvGraphicFramePr>
          <p:nvPr/>
        </p:nvGraphicFramePr>
        <p:xfrm>
          <a:off x="548640" y="1463040"/>
          <a:ext cx="11064240" cy="2240279"/>
        </p:xfrm>
        <a:graphic>
          <a:graphicData uri="http://schemas.openxmlformats.org/drawingml/2006/table">
            <a:tbl>
              <a:tblPr firstRow="1" bandRow="1">
                <a:tableStyleId>{5C22544A-7EE6-4342-B048-85BDC9FD1C3A}</a:tableStyleId>
              </a:tblPr>
              <a:tblGrid>
                <a:gridCol w="1554480"/>
                <a:gridCol w="1463040"/>
                <a:gridCol w="1463040"/>
                <a:gridCol w="1280160"/>
                <a:gridCol w="1371600"/>
                <a:gridCol w="1097280"/>
                <a:gridCol w="1188720"/>
                <a:gridCol w="1645920"/>
              </a:tblGrid>
              <a:tr h="320039">
                <a:tc>
                  <a:txBody>
                    <a:bodyPr/>
                    <a:lstStyle/>
                    <a:p>
                      <a:pPr>
                        <a:defRPr sz="1300" b="1"/>
                      </a:pPr>
                      <a:r>
                        <a:t>Scenario</a:t>
                      </a:r>
                    </a:p>
                  </a:txBody>
                  <a:tcPr/>
                </a:tc>
                <a:tc>
                  <a:txBody>
                    <a:bodyPr/>
                    <a:lstStyle/>
                    <a:p>
                      <a:pPr>
                        <a:defRPr sz="1300" b="1"/>
                      </a:pPr>
                      <a:r>
                        <a:t>Naraj flow (m³/s)</a:t>
                      </a:r>
                    </a:p>
                  </a:txBody>
                  <a:tcPr/>
                </a:tc>
                <a:tc>
                  <a:txBody>
                    <a:bodyPr/>
                    <a:lstStyle/>
                    <a:p>
                      <a:pPr>
                        <a:defRPr sz="1300" b="1"/>
                      </a:pPr>
                      <a:r>
                        <a:t>Flooded land (km²)</a:t>
                      </a:r>
                    </a:p>
                  </a:txBody>
                  <a:tcPr/>
                </a:tc>
                <a:tc>
                  <a:txBody>
                    <a:bodyPr/>
                    <a:lstStyle/>
                    <a:p>
                      <a:pPr>
                        <a:defRPr sz="1300" b="1"/>
                      </a:pPr>
                      <a:r>
                        <a:t>People</a:t>
                      </a:r>
                    </a:p>
                  </a:txBody>
                  <a:tcPr/>
                </a:tc>
                <a:tc>
                  <a:txBody>
                    <a:bodyPr/>
                    <a:lstStyle/>
                    <a:p>
                      <a:pPr>
                        <a:defRPr sz="1300" b="1"/>
                      </a:pPr>
                      <a:r>
                        <a:t>Cropland (km²)</a:t>
                      </a:r>
                    </a:p>
                  </a:txBody>
                  <a:tcPr/>
                </a:tc>
                <a:tc>
                  <a:txBody>
                    <a:bodyPr/>
                    <a:lstStyle/>
                    <a:p>
                      <a:pPr>
                        <a:defRPr sz="1300" b="1"/>
                      </a:pPr>
                      <a:r>
                        <a:t>Road km</a:t>
                      </a:r>
                    </a:p>
                  </a:txBody>
                  <a:tcPr/>
                </a:tc>
                <a:tc>
                  <a:txBody>
                    <a:bodyPr/>
                    <a:lstStyle/>
                    <a:p>
                      <a:pPr>
                        <a:defRPr sz="1300" b="1"/>
                      </a:pPr>
                      <a:r>
                        <a:t>Health fac.</a:t>
                      </a:r>
                    </a:p>
                  </a:txBody>
                  <a:tcPr/>
                </a:tc>
                <a:tc>
                  <a:txBody>
                    <a:bodyPr/>
                    <a:lstStyle/>
                    <a:p>
                      <a:pPr>
                        <a:defRPr sz="1300" b="1"/>
                      </a:pPr>
                      <a:r>
                        <a:t>Cut off from hospital</a:t>
                      </a:r>
                    </a:p>
                  </a:txBody>
                  <a:tcPr/>
                </a:tc>
              </a:tr>
              <a:tr h="320039">
                <a:tc>
                  <a:txBody>
                    <a:bodyPr/>
                    <a:lstStyle/>
                    <a:p>
                      <a:pPr>
                        <a:defRPr sz="1300" b="0"/>
                      </a:pPr>
                      <a:r>
                        <a:t>2-yr</a:t>
                      </a:r>
                    </a:p>
                  </a:txBody>
                  <a:tcPr/>
                </a:tc>
                <a:tc>
                  <a:txBody>
                    <a:bodyPr/>
                    <a:lstStyle/>
                    <a:p>
                      <a:pPr>
                        <a:defRPr sz="1300" b="0"/>
                      </a:pPr>
                      <a:r>
                        <a:t>17,897</a:t>
                      </a:r>
                    </a:p>
                  </a:txBody>
                  <a:tcPr/>
                </a:tc>
                <a:tc>
                  <a:txBody>
                    <a:bodyPr/>
                    <a:lstStyle/>
                    <a:p>
                      <a:pPr>
                        <a:defRPr sz="1300" b="0"/>
                      </a:pPr>
                      <a:r>
                        <a:t>50</a:t>
                      </a:r>
                    </a:p>
                  </a:txBody>
                  <a:tcPr/>
                </a:tc>
                <a:tc>
                  <a:txBody>
                    <a:bodyPr/>
                    <a:lstStyle/>
                    <a:p>
                      <a:pPr>
                        <a:defRPr sz="1300" b="0"/>
                      </a:pPr>
                      <a:r>
                        <a:t>7,837</a:t>
                      </a:r>
                    </a:p>
                  </a:txBody>
                  <a:tcPr/>
                </a:tc>
                <a:tc>
                  <a:txBody>
                    <a:bodyPr/>
                    <a:lstStyle/>
                    <a:p>
                      <a:pPr>
                        <a:defRPr sz="1300" b="0"/>
                      </a:pPr>
                      <a:r>
                        <a:t>24</a:t>
                      </a:r>
                    </a:p>
                  </a:txBody>
                  <a:tcPr/>
                </a:tc>
                <a:tc>
                  <a:txBody>
                    <a:bodyPr/>
                    <a:lstStyle/>
                    <a:p>
                      <a:pPr>
                        <a:defRPr sz="1300" b="0"/>
                      </a:pPr>
                      <a:r>
                        <a:t>6</a:t>
                      </a:r>
                    </a:p>
                  </a:txBody>
                  <a:tcPr/>
                </a:tc>
                <a:tc>
                  <a:txBody>
                    <a:bodyPr/>
                    <a:lstStyle/>
                    <a:p>
                      <a:pPr>
                        <a:defRPr sz="1300" b="0"/>
                      </a:pPr>
                      <a:r>
                        <a:t>4</a:t>
                      </a:r>
                    </a:p>
                  </a:txBody>
                  <a:tcPr/>
                </a:tc>
                <a:tc>
                  <a:txBody>
                    <a:bodyPr/>
                    <a:lstStyle/>
                    <a:p>
                      <a:pPr>
                        <a:defRPr sz="1300" b="0"/>
                      </a:pPr>
                      <a:r>
                        <a:t>0</a:t>
                      </a:r>
                    </a:p>
                  </a:txBody>
                  <a:tcPr/>
                </a:tc>
              </a:tr>
              <a:tr h="320039">
                <a:tc>
                  <a:txBody>
                    <a:bodyPr/>
                    <a:lstStyle/>
                    <a:p>
                      <a:pPr>
                        <a:defRPr sz="1300" b="0"/>
                      </a:pPr>
                      <a:r>
                        <a:t>5-yr</a:t>
                      </a:r>
                    </a:p>
                  </a:txBody>
                  <a:tcPr/>
                </a:tc>
                <a:tc>
                  <a:txBody>
                    <a:bodyPr/>
                    <a:lstStyle/>
                    <a:p>
                      <a:pPr>
                        <a:defRPr sz="1300" b="0"/>
                      </a:pPr>
                      <a:r>
                        <a:t>23,940</a:t>
                      </a:r>
                    </a:p>
                  </a:txBody>
                  <a:tcPr/>
                </a:tc>
                <a:tc>
                  <a:txBody>
                    <a:bodyPr/>
                    <a:lstStyle/>
                    <a:p>
                      <a:pPr>
                        <a:defRPr sz="1300" b="0"/>
                      </a:pPr>
                      <a:r>
                        <a:t>218</a:t>
                      </a:r>
                    </a:p>
                  </a:txBody>
                  <a:tcPr/>
                </a:tc>
                <a:tc>
                  <a:txBody>
                    <a:bodyPr/>
                    <a:lstStyle/>
                    <a:p>
                      <a:pPr>
                        <a:defRPr sz="1300" b="0"/>
                      </a:pPr>
                      <a:r>
                        <a:t>25,384</a:t>
                      </a:r>
                    </a:p>
                  </a:txBody>
                  <a:tcPr/>
                </a:tc>
                <a:tc>
                  <a:txBody>
                    <a:bodyPr/>
                    <a:lstStyle/>
                    <a:p>
                      <a:pPr>
                        <a:defRPr sz="1300" b="0"/>
                      </a:pPr>
                      <a:r>
                        <a:t>165</a:t>
                      </a:r>
                    </a:p>
                  </a:txBody>
                  <a:tcPr/>
                </a:tc>
                <a:tc>
                  <a:txBody>
                    <a:bodyPr/>
                    <a:lstStyle/>
                    <a:p>
                      <a:pPr>
                        <a:defRPr sz="1300" b="0"/>
                      </a:pPr>
                      <a:r>
                        <a:t>34</a:t>
                      </a:r>
                    </a:p>
                  </a:txBody>
                  <a:tcPr/>
                </a:tc>
                <a:tc>
                  <a:txBody>
                    <a:bodyPr/>
                    <a:lstStyle/>
                    <a:p>
                      <a:pPr>
                        <a:defRPr sz="1300" b="0"/>
                      </a:pPr>
                      <a:r>
                        <a:t>6</a:t>
                      </a:r>
                    </a:p>
                  </a:txBody>
                  <a:tcPr/>
                </a:tc>
                <a:tc>
                  <a:txBody>
                    <a:bodyPr/>
                    <a:lstStyle/>
                    <a:p>
                      <a:pPr>
                        <a:defRPr sz="1300" b="0"/>
                      </a:pPr>
                      <a:r>
                        <a:t>51,155</a:t>
                      </a:r>
                    </a:p>
                  </a:txBody>
                  <a:tcPr/>
                </a:tc>
              </a:tr>
              <a:tr h="320039">
                <a:tc>
                  <a:txBody>
                    <a:bodyPr/>
                    <a:lstStyle/>
                    <a:p>
                      <a:pPr>
                        <a:defRPr sz="1300" b="0"/>
                      </a:pPr>
                      <a:r>
                        <a:t>10-yr</a:t>
                      </a:r>
                    </a:p>
                  </a:txBody>
                  <a:tcPr/>
                </a:tc>
                <a:tc>
                  <a:txBody>
                    <a:bodyPr/>
                    <a:lstStyle/>
                    <a:p>
                      <a:pPr>
                        <a:defRPr sz="1300" b="0"/>
                      </a:pPr>
                      <a:r>
                        <a:t>27,941</a:t>
                      </a:r>
                    </a:p>
                  </a:txBody>
                  <a:tcPr/>
                </a:tc>
                <a:tc>
                  <a:txBody>
                    <a:bodyPr/>
                    <a:lstStyle/>
                    <a:p>
                      <a:pPr>
                        <a:defRPr sz="1300" b="0"/>
                      </a:pPr>
                      <a:r>
                        <a:t>240</a:t>
                      </a:r>
                    </a:p>
                  </a:txBody>
                  <a:tcPr/>
                </a:tc>
                <a:tc>
                  <a:txBody>
                    <a:bodyPr/>
                    <a:lstStyle/>
                    <a:p>
                      <a:pPr>
                        <a:defRPr sz="1300" b="0"/>
                      </a:pPr>
                      <a:r>
                        <a:t>30,427</a:t>
                      </a:r>
                    </a:p>
                  </a:txBody>
                  <a:tcPr/>
                </a:tc>
                <a:tc>
                  <a:txBody>
                    <a:bodyPr/>
                    <a:lstStyle/>
                    <a:p>
                      <a:pPr>
                        <a:defRPr sz="1300" b="0"/>
                      </a:pPr>
                      <a:r>
                        <a:t>182</a:t>
                      </a:r>
                    </a:p>
                  </a:txBody>
                  <a:tcPr/>
                </a:tc>
                <a:tc>
                  <a:txBody>
                    <a:bodyPr/>
                    <a:lstStyle/>
                    <a:p>
                      <a:pPr>
                        <a:defRPr sz="1300" b="0"/>
                      </a:pPr>
                      <a:r>
                        <a:t>39</a:t>
                      </a:r>
                    </a:p>
                  </a:txBody>
                  <a:tcPr/>
                </a:tc>
                <a:tc>
                  <a:txBody>
                    <a:bodyPr/>
                    <a:lstStyle/>
                    <a:p>
                      <a:pPr>
                        <a:defRPr sz="1300" b="0"/>
                      </a:pPr>
                      <a:r>
                        <a:t>7</a:t>
                      </a:r>
                    </a:p>
                  </a:txBody>
                  <a:tcPr/>
                </a:tc>
                <a:tc>
                  <a:txBody>
                    <a:bodyPr/>
                    <a:lstStyle/>
                    <a:p>
                      <a:pPr>
                        <a:defRPr sz="1300" b="0"/>
                      </a:pPr>
                      <a:r>
                        <a:t>52,423</a:t>
                      </a:r>
                    </a:p>
                  </a:txBody>
                  <a:tcPr/>
                </a:tc>
              </a:tr>
              <a:tr h="320039">
                <a:tc>
                  <a:txBody>
                    <a:bodyPr/>
                    <a:lstStyle/>
                    <a:p>
                      <a:pPr>
                        <a:defRPr sz="1300" b="0"/>
                      </a:pPr>
                      <a:r>
                        <a:t>25-yr</a:t>
                      </a:r>
                    </a:p>
                  </a:txBody>
                  <a:tcPr/>
                </a:tc>
                <a:tc>
                  <a:txBody>
                    <a:bodyPr/>
                    <a:lstStyle/>
                    <a:p>
                      <a:pPr>
                        <a:defRPr sz="1300" b="0"/>
                      </a:pPr>
                      <a:r>
                        <a:t>32,997</a:t>
                      </a:r>
                    </a:p>
                  </a:txBody>
                  <a:tcPr/>
                </a:tc>
                <a:tc>
                  <a:txBody>
                    <a:bodyPr/>
                    <a:lstStyle/>
                    <a:p>
                      <a:pPr>
                        <a:defRPr sz="1300" b="0"/>
                      </a:pPr>
                      <a:r>
                        <a:t>240</a:t>
                      </a:r>
                    </a:p>
                  </a:txBody>
                  <a:tcPr/>
                </a:tc>
                <a:tc>
                  <a:txBody>
                    <a:bodyPr/>
                    <a:lstStyle/>
                    <a:p>
                      <a:pPr>
                        <a:defRPr sz="1300" b="0"/>
                      </a:pPr>
                      <a:r>
                        <a:t>30,427</a:t>
                      </a:r>
                    </a:p>
                  </a:txBody>
                  <a:tcPr/>
                </a:tc>
                <a:tc>
                  <a:txBody>
                    <a:bodyPr/>
                    <a:lstStyle/>
                    <a:p>
                      <a:pPr>
                        <a:defRPr sz="1300" b="0"/>
                      </a:pPr>
                      <a:r>
                        <a:t>182</a:t>
                      </a:r>
                    </a:p>
                  </a:txBody>
                  <a:tcPr/>
                </a:tc>
                <a:tc>
                  <a:txBody>
                    <a:bodyPr/>
                    <a:lstStyle/>
                    <a:p>
                      <a:pPr>
                        <a:defRPr sz="1300" b="0"/>
                      </a:pPr>
                      <a:r>
                        <a:t>39</a:t>
                      </a:r>
                    </a:p>
                  </a:txBody>
                  <a:tcPr/>
                </a:tc>
                <a:tc>
                  <a:txBody>
                    <a:bodyPr/>
                    <a:lstStyle/>
                    <a:p>
                      <a:pPr>
                        <a:defRPr sz="1300" b="0"/>
                      </a:pPr>
                      <a:r>
                        <a:t>7</a:t>
                      </a:r>
                    </a:p>
                  </a:txBody>
                  <a:tcPr/>
                </a:tc>
                <a:tc>
                  <a:txBody>
                    <a:bodyPr/>
                    <a:lstStyle/>
                    <a:p>
                      <a:pPr>
                        <a:defRPr sz="1300" b="0"/>
                      </a:pPr>
                      <a:r>
                        <a:t>52,423</a:t>
                      </a:r>
                    </a:p>
                  </a:txBody>
                  <a:tcPr/>
                </a:tc>
              </a:tr>
              <a:tr h="320039">
                <a:tc>
                  <a:txBody>
                    <a:bodyPr/>
                    <a:lstStyle/>
                    <a:p>
                      <a:pPr>
                        <a:defRPr sz="1300" b="0"/>
                      </a:pPr>
                      <a:r>
                        <a:t>100-yr</a:t>
                      </a:r>
                    </a:p>
                  </a:txBody>
                  <a:tcPr/>
                </a:tc>
                <a:tc>
                  <a:txBody>
                    <a:bodyPr/>
                    <a:lstStyle/>
                    <a:p>
                      <a:pPr>
                        <a:defRPr sz="1300" b="0"/>
                      </a:pPr>
                      <a:r>
                        <a:t>40,470</a:t>
                      </a:r>
                    </a:p>
                  </a:txBody>
                  <a:tcPr/>
                </a:tc>
                <a:tc>
                  <a:txBody>
                    <a:bodyPr/>
                    <a:lstStyle/>
                    <a:p>
                      <a:pPr>
                        <a:defRPr sz="1300" b="0"/>
                      </a:pPr>
                      <a:r>
                        <a:t>240</a:t>
                      </a:r>
                    </a:p>
                  </a:txBody>
                  <a:tcPr/>
                </a:tc>
                <a:tc>
                  <a:txBody>
                    <a:bodyPr/>
                    <a:lstStyle/>
                    <a:p>
                      <a:pPr>
                        <a:defRPr sz="1300" b="0"/>
                      </a:pPr>
                      <a:r>
                        <a:t>30,427</a:t>
                      </a:r>
                    </a:p>
                  </a:txBody>
                  <a:tcPr/>
                </a:tc>
                <a:tc>
                  <a:txBody>
                    <a:bodyPr/>
                    <a:lstStyle/>
                    <a:p>
                      <a:pPr>
                        <a:defRPr sz="1300" b="0"/>
                      </a:pPr>
                      <a:r>
                        <a:t>182</a:t>
                      </a:r>
                    </a:p>
                  </a:txBody>
                  <a:tcPr/>
                </a:tc>
                <a:tc>
                  <a:txBody>
                    <a:bodyPr/>
                    <a:lstStyle/>
                    <a:p>
                      <a:pPr>
                        <a:defRPr sz="1300" b="0"/>
                      </a:pPr>
                      <a:r>
                        <a:t>39</a:t>
                      </a:r>
                    </a:p>
                  </a:txBody>
                  <a:tcPr/>
                </a:tc>
                <a:tc>
                  <a:txBody>
                    <a:bodyPr/>
                    <a:lstStyle/>
                    <a:p>
                      <a:pPr>
                        <a:defRPr sz="1300" b="0"/>
                      </a:pPr>
                      <a:r>
                        <a:t>7</a:t>
                      </a:r>
                    </a:p>
                  </a:txBody>
                  <a:tcPr/>
                </a:tc>
                <a:tc>
                  <a:txBody>
                    <a:bodyPr/>
                    <a:lstStyle/>
                    <a:p>
                      <a:pPr>
                        <a:defRPr sz="1300" b="0"/>
                      </a:pPr>
                      <a:r>
                        <a:t>52,423</a:t>
                      </a:r>
                    </a:p>
                  </a:txBody>
                  <a:tcPr/>
                </a:tc>
              </a:tr>
              <a:tr h="320045">
                <a:tc>
                  <a:txBody>
                    <a:bodyPr/>
                    <a:lstStyle/>
                    <a:p>
                      <a:pPr>
                        <a:defRPr sz="1300" b="0"/>
                      </a:pPr>
                      <a:r>
                        <a:t>largest seen 2018</a:t>
                      </a:r>
                    </a:p>
                  </a:txBody>
                  <a:tcPr/>
                </a:tc>
                <a:tc>
                  <a:txBody>
                    <a:bodyPr/>
                    <a:lstStyle/>
                    <a:p>
                      <a:pPr>
                        <a:defRPr sz="1300" b="0"/>
                      </a:pPr>
                      <a:r>
                        <a:t>—</a:t>
                      </a:r>
                    </a:p>
                  </a:txBody>
                  <a:tcPr/>
                </a:tc>
                <a:tc>
                  <a:txBody>
                    <a:bodyPr/>
                    <a:lstStyle/>
                    <a:p>
                      <a:pPr>
                        <a:defRPr sz="1300" b="0"/>
                      </a:pPr>
                      <a:r>
                        <a:t>278</a:t>
                      </a:r>
                    </a:p>
                  </a:txBody>
                  <a:tcPr/>
                </a:tc>
                <a:tc>
                  <a:txBody>
                    <a:bodyPr/>
                    <a:lstStyle/>
                    <a:p>
                      <a:pPr>
                        <a:defRPr sz="1300" b="0"/>
                      </a:pPr>
                      <a:r>
                        <a:t>39,367</a:t>
                      </a:r>
                    </a:p>
                  </a:txBody>
                  <a:tcPr/>
                </a:tc>
                <a:tc>
                  <a:txBody>
                    <a:bodyPr/>
                    <a:lstStyle/>
                    <a:p>
                      <a:pPr>
                        <a:defRPr sz="1300" b="0"/>
                      </a:pPr>
                      <a:r>
                        <a:t>231</a:t>
                      </a:r>
                    </a:p>
                  </a:txBody>
                  <a:tcPr/>
                </a:tc>
                <a:tc>
                  <a:txBody>
                    <a:bodyPr/>
                    <a:lstStyle/>
                    <a:p>
                      <a:pPr>
                        <a:defRPr sz="1300" b="0"/>
                      </a:pPr>
                      <a:r>
                        <a:t>35</a:t>
                      </a:r>
                    </a:p>
                  </a:txBody>
                  <a:tcPr/>
                </a:tc>
                <a:tc>
                  <a:txBody>
                    <a:bodyPr/>
                    <a:lstStyle/>
                    <a:p>
                      <a:pPr>
                        <a:defRPr sz="1300" b="0"/>
                      </a:pPr>
                      <a:r>
                        <a:t>8</a:t>
                      </a:r>
                    </a:p>
                  </a:txBody>
                  <a:tcPr/>
                </a:tc>
                <a:tc>
                  <a:txBody>
                    <a:bodyPr/>
                    <a:lstStyle/>
                    <a:p>
                      <a:pPr>
                        <a:defRPr sz="1300" b="0"/>
                      </a:pPr>
                      <a:r>
                        <a:t>49,742</a:t>
                      </a:r>
                    </a:p>
                  </a:txBody>
                  <a:tcPr/>
                </a:tc>
              </a:tr>
            </a:tbl>
          </a:graphicData>
        </a:graphic>
      </p:graphicFrame>
      <p:sp>
        <p:nvSpPr>
          <p:cNvPr id="6" name="TextBox 5"/>
          <p:cNvSpPr txBox="1"/>
          <p:nvPr/>
        </p:nvSpPr>
        <p:spPr>
          <a:xfrm>
            <a:off x="548640" y="4206240"/>
            <a:ext cx="11064240" cy="2011680"/>
          </a:xfrm>
          <a:prstGeom prst="rect">
            <a:avLst/>
          </a:prstGeom>
          <a:noFill/>
        </p:spPr>
        <p:txBody>
          <a:bodyPr wrap="square">
            <a:spAutoFit/>
          </a:bodyPr>
          <a:lstStyle/>
          <a:p>
            <a:pPr>
              <a:spcAft>
                <a:spcPts val="600"/>
              </a:spcAft>
              <a:defRPr sz="1400" b="0">
                <a:solidFill>
                  <a:srgbClr val="0B0B0B"/>
                </a:solidFill>
              </a:defRPr>
            </a:pPr>
            <a:r>
              <a:t>• People: GHSL 2020; roads, bridges, hospitals, schools: OpenStreetMap</a:t>
            </a:r>
          </a:p>
          <a:p>
            <a:pPr>
              <a:spcAft>
                <a:spcPts val="600"/>
              </a:spcAft>
              <a:defRPr sz="1400" b="0">
                <a:solidFill>
                  <a:srgbClr val="0B0B0B"/>
                </a:solidFill>
              </a:defRPr>
            </a:pPr>
            <a:r>
              <a:t>• Flows above the largest in the 2017–2026 radar record give lower-bound maps</a:t>
            </a:r>
          </a:p>
          <a:p>
            <a:pPr>
              <a:spcAft>
                <a:spcPts val="600"/>
              </a:spcAft>
              <a:defRPr sz="1400" b="0">
                <a:solidFill>
                  <a:srgbClr val="0B0B0B"/>
                </a:solidFill>
              </a:defRPr>
            </a:pPr>
            <a:r>
              <a:t>• Mapped building footprints are incomplete here (~120 k for 4.1 M people), so people, not buildings, are counted</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274320"/>
            <a:ext cx="11247120" cy="731520"/>
          </a:xfrm>
          <a:prstGeom prst="rect">
            <a:avLst/>
          </a:prstGeom>
          <a:noFill/>
        </p:spPr>
        <p:txBody>
          <a:bodyPr wrap="square">
            <a:spAutoFit/>
          </a:bodyPr>
          <a:lstStyle/>
          <a:p>
            <a:pPr>
              <a:spcAft>
                <a:spcPts val="600"/>
              </a:spcAft>
              <a:defRPr sz="3000" b="1">
                <a:solidFill>
                  <a:srgbClr val="0B0B0B"/>
                </a:solidFill>
              </a:defRPr>
            </a:pPr>
            <a:r>
              <a:t>Transportation: who is cut off from a hospital</a:t>
            </a:r>
          </a:p>
        </p:txBody>
      </p:sp>
      <p:sp>
        <p:nvSpPr>
          <p:cNvPr id="3" name="TextBox 2"/>
          <p:cNvSpPr txBox="1"/>
          <p:nvPr/>
        </p:nvSpPr>
        <p:spPr>
          <a:xfrm>
            <a:off x="457200" y="914400"/>
            <a:ext cx="11247120" cy="548640"/>
          </a:xfrm>
          <a:prstGeom prst="rect">
            <a:avLst/>
          </a:prstGeom>
          <a:noFill/>
        </p:spPr>
        <p:txBody>
          <a:bodyPr wrap="square">
            <a:spAutoFit/>
          </a:bodyPr>
          <a:lstStyle/>
          <a:p>
            <a:pPr>
              <a:spcAft>
                <a:spcPts val="600"/>
              </a:spcAft>
              <a:defRPr sz="1600" b="0">
                <a:solidFill>
                  <a:srgbClr val="52514E"/>
                </a:solidFill>
              </a:defRPr>
            </a:pPr>
            <a:r>
              <a:t>Road graph of 6,383 km; a road is cut when ≥ 20 m is under water</a:t>
            </a:r>
          </a:p>
        </p:txBody>
      </p:sp>
      <p:sp>
        <p:nvSpPr>
          <p:cNvPr id="4" name="TextBox 3"/>
          <p:cNvSpPr txBox="1"/>
          <p:nvPr/>
        </p:nvSpPr>
        <p:spPr>
          <a:xfrm>
            <a:off x="457200" y="6400800"/>
            <a:ext cx="11247120" cy="365760"/>
          </a:xfrm>
          <a:prstGeom prst="rect">
            <a:avLst/>
          </a:prstGeom>
          <a:noFill/>
        </p:spPr>
        <p:txBody>
          <a:bodyPr wrap="square">
            <a:spAutoFit/>
          </a:bodyPr>
          <a:lstStyle/>
          <a:p>
            <a:pPr>
              <a:spcAft>
                <a:spcPts val="600"/>
              </a:spcAft>
              <a:defRPr sz="1000" b="0">
                <a:solidFill>
                  <a:srgbClr val="52514E"/>
                </a:solidFill>
              </a:defRPr>
            </a:pPr>
            <a:r>
              <a:t>Prithvi Flood-IN · CE 491 IDP · IIT Bombay × ClimMaTech · final review</a:t>
            </a:r>
          </a:p>
        </p:txBody>
      </p:sp>
      <p:pic>
        <p:nvPicPr>
          <p:cNvPr id="5" name="Picture 4" descr="impact_T25_map.png"/>
          <p:cNvPicPr>
            <a:picLocks noChangeAspect="1"/>
          </p:cNvPicPr>
          <p:nvPr/>
        </p:nvPicPr>
        <p:blipFill>
          <a:blip r:embed="rId2"/>
          <a:stretch>
            <a:fillRect/>
          </a:stretch>
        </p:blipFill>
        <p:spPr>
          <a:xfrm>
            <a:off x="365760" y="1371600"/>
            <a:ext cx="7315200" cy="4887243"/>
          </a:xfrm>
          <a:prstGeom prst="rect">
            <a:avLst/>
          </a:prstGeom>
        </p:spPr>
      </p:pic>
      <p:sp>
        <p:nvSpPr>
          <p:cNvPr id="6" name="TextBox 5"/>
          <p:cNvSpPr txBox="1"/>
          <p:nvPr/>
        </p:nvSpPr>
        <p:spPr>
          <a:xfrm>
            <a:off x="7863840" y="1463040"/>
            <a:ext cx="4023360" cy="4846320"/>
          </a:xfrm>
          <a:prstGeom prst="rect">
            <a:avLst/>
          </a:prstGeom>
          <a:noFill/>
        </p:spPr>
        <p:txBody>
          <a:bodyPr wrap="square">
            <a:spAutoFit/>
          </a:bodyPr>
          <a:lstStyle/>
          <a:p>
            <a:pPr>
              <a:spcAft>
                <a:spcPts val="600"/>
              </a:spcAft>
              <a:defRPr sz="1400" b="0">
                <a:solidFill>
                  <a:srgbClr val="0B0B0B"/>
                </a:solidFill>
              </a:defRPr>
            </a:pPr>
            <a:r>
              <a:t>• 25-year flood: 52,423 people in 41 settlements lose road access to any hospital or clinic</a:t>
            </a:r>
          </a:p>
          <a:p>
            <a:pPr>
              <a:spcAft>
                <a:spcPts val="600"/>
              </a:spcAft>
              <a:defRPr sz="1400" b="0">
                <a:solidFill>
                  <a:srgbClr val="0B0B0B"/>
                </a:solidFill>
              </a:defRPr>
            </a:pPr>
            <a:r>
              <a:t>• 20,605 more reach one only by a detour (median +7.6 min)</a:t>
            </a:r>
          </a:p>
          <a:p>
            <a:pPr>
              <a:spcAft>
                <a:spcPts val="600"/>
              </a:spcAft>
              <a:defRPr sz="1400" b="0">
                <a:solidFill>
                  <a:srgbClr val="0B0B0B"/>
                </a:solidFill>
              </a:defRPr>
            </a:pPr>
            <a:r>
              <a:t>• 65,056 people can reach no dry school (relief camp); 10,077 extra person-hours of travel a day</a:t>
            </a:r>
          </a:p>
          <a:p>
            <a:pPr>
              <a:spcAft>
                <a:spcPts val="600"/>
              </a:spcAft>
              <a:defRPr sz="1400" b="0">
                <a:solidFill>
                  <a:srgbClr val="0B0B0B"/>
                </a:solidFill>
              </a:defRPr>
            </a:pPr>
            <a:r>
              <a:t>• Critical links = flooded roads that carry most people's hospital route (circled)</a:t>
            </a:r>
          </a:p>
          <a:p>
            <a:pPr>
              <a:spcAft>
                <a:spcPts val="600"/>
              </a:spcAft>
              <a:defRPr sz="1400" b="0">
                <a:solidFill>
                  <a:srgbClr val="0B0B0B"/>
                </a:solidFill>
              </a:defRPr>
            </a:pPr>
            <a:r>
              <a:t>• Field: confirm closures with locals and PWD at the 10 critical links</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274320"/>
            <a:ext cx="11247120" cy="731520"/>
          </a:xfrm>
          <a:prstGeom prst="rect">
            <a:avLst/>
          </a:prstGeom>
          <a:noFill/>
        </p:spPr>
        <p:txBody>
          <a:bodyPr wrap="square">
            <a:spAutoFit/>
          </a:bodyPr>
          <a:lstStyle/>
          <a:p>
            <a:pPr>
              <a:spcAft>
                <a:spcPts val="600"/>
              </a:spcAft>
              <a:defRPr sz="3000" b="1">
                <a:solidFill>
                  <a:srgbClr val="0B0B0B"/>
                </a:solidFill>
              </a:defRPr>
            </a:pPr>
            <a:r>
              <a:t>Geotechnical: which river banks to inspect first</a:t>
            </a:r>
          </a:p>
        </p:txBody>
      </p:sp>
      <p:sp>
        <p:nvSpPr>
          <p:cNvPr id="3" name="TextBox 2"/>
          <p:cNvSpPr txBox="1"/>
          <p:nvPr/>
        </p:nvSpPr>
        <p:spPr>
          <a:xfrm>
            <a:off x="457200" y="914400"/>
            <a:ext cx="11247120" cy="548640"/>
          </a:xfrm>
          <a:prstGeom prst="rect">
            <a:avLst/>
          </a:prstGeom>
          <a:noFill/>
        </p:spPr>
        <p:txBody>
          <a:bodyPr wrap="square">
            <a:spAutoFit/>
          </a:bodyPr>
          <a:lstStyle/>
          <a:p>
            <a:pPr>
              <a:spcAft>
                <a:spcPts val="600"/>
              </a:spcAft>
              <a:defRPr sz="1600" b="0">
                <a:solidFill>
                  <a:srgbClr val="52514E"/>
                </a:solidFill>
              </a:defRPr>
            </a:pPr>
            <a:r>
              <a:t>1 km cells along the main channels</a:t>
            </a:r>
          </a:p>
        </p:txBody>
      </p:sp>
      <p:sp>
        <p:nvSpPr>
          <p:cNvPr id="4" name="TextBox 3"/>
          <p:cNvSpPr txBox="1"/>
          <p:nvPr/>
        </p:nvSpPr>
        <p:spPr>
          <a:xfrm>
            <a:off x="457200" y="6400800"/>
            <a:ext cx="11247120" cy="365760"/>
          </a:xfrm>
          <a:prstGeom prst="rect">
            <a:avLst/>
          </a:prstGeom>
          <a:noFill/>
        </p:spPr>
        <p:txBody>
          <a:bodyPr wrap="square">
            <a:spAutoFit/>
          </a:bodyPr>
          <a:lstStyle/>
          <a:p>
            <a:pPr>
              <a:spcAft>
                <a:spcPts val="600"/>
              </a:spcAft>
              <a:defRPr sz="1000" b="0">
                <a:solidFill>
                  <a:srgbClr val="52514E"/>
                </a:solidFill>
              </a:defRPr>
            </a:pPr>
            <a:r>
              <a:t>Prithvi Flood-IN · CE 491 IDP · IIT Bombay × ClimMaTech · final review</a:t>
            </a:r>
          </a:p>
        </p:txBody>
      </p:sp>
      <p:pic>
        <p:nvPicPr>
          <p:cNvPr id="5" name="Picture 4" descr="geotech_map.png"/>
          <p:cNvPicPr>
            <a:picLocks noChangeAspect="1"/>
          </p:cNvPicPr>
          <p:nvPr/>
        </p:nvPicPr>
        <p:blipFill>
          <a:blip r:embed="rId2"/>
          <a:stretch>
            <a:fillRect/>
          </a:stretch>
        </p:blipFill>
        <p:spPr>
          <a:xfrm>
            <a:off x="365760" y="1371600"/>
            <a:ext cx="7315200" cy="4431544"/>
          </a:xfrm>
          <a:prstGeom prst="rect">
            <a:avLst/>
          </a:prstGeom>
        </p:spPr>
      </p:pic>
      <p:sp>
        <p:nvSpPr>
          <p:cNvPr id="6" name="TextBox 5"/>
          <p:cNvSpPr txBox="1"/>
          <p:nvPr/>
        </p:nvSpPr>
        <p:spPr>
          <a:xfrm>
            <a:off x="7863840" y="1463040"/>
            <a:ext cx="4023360" cy="4846320"/>
          </a:xfrm>
          <a:prstGeom prst="rect">
            <a:avLst/>
          </a:prstGeom>
          <a:noFill/>
        </p:spPr>
        <p:txBody>
          <a:bodyPr wrap="square">
            <a:spAutoFit/>
          </a:bodyPr>
          <a:lstStyle/>
          <a:p>
            <a:pPr>
              <a:spcAft>
                <a:spcPts val="600"/>
              </a:spcAft>
              <a:defRPr sz="1400" b="0">
                <a:solidFill>
                  <a:srgbClr val="0B0B0B"/>
                </a:solidFill>
              </a:defRPr>
            </a:pPr>
            <a:r>
              <a:t>• Priority = water behind the bank (frequency, years) + erodibility + people within 2 km</a:t>
            </a:r>
          </a:p>
          <a:p>
            <a:pPr>
              <a:spcAft>
                <a:spcPts val="600"/>
              </a:spcAft>
              <a:defRPr sz="1400" b="0">
                <a:solidFill>
                  <a:srgbClr val="0B0B0B"/>
                </a:solidFill>
              </a:defRPr>
            </a:pPr>
            <a:r>
              <a:t>• SoilGrids is too coarse to separate banks (all clay loam here) → field samples decide</a:t>
            </a:r>
          </a:p>
          <a:p>
            <a:pPr>
              <a:spcAft>
                <a:spcPts val="600"/>
              </a:spcAft>
              <a:defRPr sz="1400" b="0">
                <a:solidFill>
                  <a:srgbClr val="0B0B0B"/>
                </a:solidFill>
              </a:defRPr>
            </a:pPr>
            <a:r>
              <a:t>• Lab plan: wet sieve + Atterberg (IS 2720) → IS 1498 class, Kenney–Lau stability, piping flag</a:t>
            </a:r>
          </a:p>
          <a:p>
            <a:pPr>
              <a:spcAft>
                <a:spcPts val="600"/>
              </a:spcAft>
              <a:defRPr sz="1400" b="0">
                <a:solidFill>
                  <a:srgbClr val="0B0B0B"/>
                </a:solidFill>
              </a:defRPr>
            </a:pPr>
            <a:r>
              <a:t>• Top cell: 20.511 N, 85.918 E, water behind the bank in 4% of passes, 10 years</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274320"/>
            <a:ext cx="11247120" cy="731520"/>
          </a:xfrm>
          <a:prstGeom prst="rect">
            <a:avLst/>
          </a:prstGeom>
          <a:noFill/>
        </p:spPr>
        <p:txBody>
          <a:bodyPr wrap="square">
            <a:spAutoFit/>
          </a:bodyPr>
          <a:lstStyle/>
          <a:p>
            <a:pPr>
              <a:spcAft>
                <a:spcPts val="600"/>
              </a:spcAft>
              <a:defRPr sz="3000" b="1">
                <a:solidFill>
                  <a:srgbClr val="0B0B0B"/>
                </a:solidFill>
              </a:defRPr>
            </a:pPr>
            <a:r>
              <a:t>Structural: walls crack at about a metre, piers must go deep</a:t>
            </a:r>
          </a:p>
        </p:txBody>
      </p:sp>
      <p:sp>
        <p:nvSpPr>
          <p:cNvPr id="3" name="TextBox 2"/>
          <p:cNvSpPr txBox="1"/>
          <p:nvPr/>
        </p:nvSpPr>
        <p:spPr>
          <a:xfrm>
            <a:off x="457200" y="914400"/>
            <a:ext cx="11247120" cy="548640"/>
          </a:xfrm>
          <a:prstGeom prst="rect">
            <a:avLst/>
          </a:prstGeom>
          <a:noFill/>
        </p:spPr>
        <p:txBody>
          <a:bodyPr wrap="square">
            <a:spAutoFit/>
          </a:bodyPr>
          <a:lstStyle/>
          <a:p>
            <a:pPr>
              <a:spcAft>
                <a:spcPts val="600"/>
              </a:spcAft>
              <a:defRPr sz="1600" b="0">
                <a:solidFill>
                  <a:srgbClr val="52514E"/>
                </a:solidFill>
              </a:defRPr>
            </a:pPr>
            <a:r>
              <a:t>Flood depth from the flood-edge elevation; IRC:78 Lacey scour</a:t>
            </a:r>
          </a:p>
        </p:txBody>
      </p:sp>
      <p:sp>
        <p:nvSpPr>
          <p:cNvPr id="4" name="TextBox 3"/>
          <p:cNvSpPr txBox="1"/>
          <p:nvPr/>
        </p:nvSpPr>
        <p:spPr>
          <a:xfrm>
            <a:off x="457200" y="6400800"/>
            <a:ext cx="11247120" cy="365760"/>
          </a:xfrm>
          <a:prstGeom prst="rect">
            <a:avLst/>
          </a:prstGeom>
          <a:noFill/>
        </p:spPr>
        <p:txBody>
          <a:bodyPr wrap="square">
            <a:spAutoFit/>
          </a:bodyPr>
          <a:lstStyle/>
          <a:p>
            <a:pPr>
              <a:spcAft>
                <a:spcPts val="600"/>
              </a:spcAft>
              <a:defRPr sz="1000" b="0">
                <a:solidFill>
                  <a:srgbClr val="52514E"/>
                </a:solidFill>
              </a:defRPr>
            </a:pPr>
            <a:r>
              <a:t>Prithvi Flood-IN · CE 491 IDP · IIT Bombay × ClimMaTech · final review</a:t>
            </a:r>
          </a:p>
        </p:txBody>
      </p:sp>
      <p:pic>
        <p:nvPicPr>
          <p:cNvPr id="5" name="Picture 4" descr="depth_T25_map.png"/>
          <p:cNvPicPr>
            <a:picLocks noChangeAspect="1"/>
          </p:cNvPicPr>
          <p:nvPr/>
        </p:nvPicPr>
        <p:blipFill>
          <a:blip r:embed="rId2"/>
          <a:stretch>
            <a:fillRect/>
          </a:stretch>
        </p:blipFill>
        <p:spPr>
          <a:xfrm>
            <a:off x="365760" y="1371600"/>
            <a:ext cx="6949440" cy="4167507"/>
          </a:xfrm>
          <a:prstGeom prst="rect">
            <a:avLst/>
          </a:prstGeom>
        </p:spPr>
      </p:pic>
      <p:pic>
        <p:nvPicPr>
          <p:cNvPr id="6" name="Picture 5" descr="bridge_scour.png"/>
          <p:cNvPicPr>
            <a:picLocks noChangeAspect="1"/>
          </p:cNvPicPr>
          <p:nvPr/>
        </p:nvPicPr>
        <p:blipFill>
          <a:blip r:embed="rId3"/>
          <a:stretch>
            <a:fillRect/>
          </a:stretch>
        </p:blipFill>
        <p:spPr>
          <a:xfrm>
            <a:off x="7498079" y="3840480"/>
            <a:ext cx="4480560" cy="2471453"/>
          </a:xfrm>
          <a:prstGeom prst="rect">
            <a:avLst/>
          </a:prstGeom>
        </p:spPr>
      </p:pic>
      <p:sp>
        <p:nvSpPr>
          <p:cNvPr id="7" name="TextBox 6"/>
          <p:cNvSpPr txBox="1"/>
          <p:nvPr/>
        </p:nvSpPr>
        <p:spPr>
          <a:xfrm>
            <a:off x="7498079" y="1371600"/>
            <a:ext cx="4480560" cy="2468880"/>
          </a:xfrm>
          <a:prstGeom prst="rect">
            <a:avLst/>
          </a:prstGeom>
          <a:noFill/>
        </p:spPr>
        <p:txBody>
          <a:bodyPr wrap="square">
            <a:spAutoFit/>
          </a:bodyPr>
          <a:lstStyle/>
          <a:p>
            <a:pPr>
              <a:spcAft>
                <a:spcPts val="600"/>
              </a:spcAft>
              <a:defRPr sz="1300" b="0">
                <a:solidFill>
                  <a:srgbClr val="0B0B0B"/>
                </a:solidFill>
              </a:defRPr>
            </a:pPr>
            <a:r>
              <a:t>• Hydrostatic moment &gt; out-of-plane capacity: a 230 mm brick wall cracks at 0.8-1.0 m of water</a:t>
            </a:r>
          </a:p>
          <a:p>
            <a:pPr>
              <a:spcAft>
                <a:spcPts val="600"/>
              </a:spcAft>
              <a:defRPr sz="1300" b="0">
                <a:solidFill>
                  <a:srgbClr val="0B0B0B"/>
                </a:solidFill>
              </a:defRPr>
            </a:pPr>
            <a:r>
              <a:t>• 4,080 people live where the 25-yr flood is &gt;= 1 m deep</a:t>
            </a:r>
          </a:p>
          <a:p>
            <a:pPr>
              <a:spcAft>
                <a:spcPts val="600"/>
              </a:spcAft>
              <a:defRPr sz="1300" b="0">
                <a:solidFill>
                  <a:srgbClr val="0B0B0B"/>
                </a:solidFill>
              </a:defRPr>
            </a:pPr>
            <a:r>
              <a:t>• Pier scour 7-24 m below HFL at a quarter of the 100-yr flow (branch split asked from WRD)</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274320"/>
            <a:ext cx="11247120" cy="731520"/>
          </a:xfrm>
          <a:prstGeom prst="rect">
            <a:avLst/>
          </a:prstGeom>
          <a:noFill/>
        </p:spPr>
        <p:txBody>
          <a:bodyPr wrap="square">
            <a:spAutoFit/>
          </a:bodyPr>
          <a:lstStyle/>
          <a:p>
            <a:pPr>
              <a:spcAft>
                <a:spcPts val="600"/>
              </a:spcAft>
              <a:defRPr sz="3000" b="1">
                <a:solidFill>
                  <a:srgbClr val="0B0B0B"/>
                </a:solidFill>
              </a:defRPr>
            </a:pPr>
            <a:r>
              <a:t>Geotechnical: dry houses on soaked ground</a:t>
            </a:r>
          </a:p>
        </p:txBody>
      </p:sp>
      <p:sp>
        <p:nvSpPr>
          <p:cNvPr id="3" name="TextBox 2"/>
          <p:cNvSpPr txBox="1"/>
          <p:nvPr/>
        </p:nvSpPr>
        <p:spPr>
          <a:xfrm>
            <a:off x="457200" y="914400"/>
            <a:ext cx="11247120" cy="548640"/>
          </a:xfrm>
          <a:prstGeom prst="rect">
            <a:avLst/>
          </a:prstGeom>
          <a:noFill/>
        </p:spPr>
        <p:txBody>
          <a:bodyPr wrap="square">
            <a:spAutoFit/>
          </a:bodyPr>
          <a:lstStyle/>
          <a:p>
            <a:pPr>
              <a:spcAft>
                <a:spcPts val="600"/>
              </a:spcAft>
              <a:defRPr sz="1600" b="0">
                <a:solidFill>
                  <a:srgbClr val="52514E"/>
                </a:solidFill>
              </a:defRPr>
            </a:pPr>
            <a:r>
              <a:t>Within 200 m of flood water on silty clay: bearing capacity drops, then the clay settles</a:t>
            </a:r>
          </a:p>
        </p:txBody>
      </p:sp>
      <p:sp>
        <p:nvSpPr>
          <p:cNvPr id="4" name="TextBox 3"/>
          <p:cNvSpPr txBox="1"/>
          <p:nvPr/>
        </p:nvSpPr>
        <p:spPr>
          <a:xfrm>
            <a:off x="457200" y="6400800"/>
            <a:ext cx="11247120" cy="365760"/>
          </a:xfrm>
          <a:prstGeom prst="rect">
            <a:avLst/>
          </a:prstGeom>
          <a:noFill/>
        </p:spPr>
        <p:txBody>
          <a:bodyPr wrap="square">
            <a:spAutoFit/>
          </a:bodyPr>
          <a:lstStyle/>
          <a:p>
            <a:pPr>
              <a:spcAft>
                <a:spcPts val="600"/>
              </a:spcAft>
              <a:defRPr sz="1000" b="0">
                <a:solidFill>
                  <a:srgbClr val="52514E"/>
                </a:solidFill>
              </a:defRPr>
            </a:pPr>
            <a:r>
              <a:t>Prithvi Flood-IN · CE 491 IDP · IIT Bombay × ClimMaTech · final review</a:t>
            </a:r>
          </a:p>
        </p:txBody>
      </p:sp>
      <p:pic>
        <p:nvPicPr>
          <p:cNvPr id="5" name="Picture 4" descr="ground_advisory_map.png"/>
          <p:cNvPicPr>
            <a:picLocks noChangeAspect="1"/>
          </p:cNvPicPr>
          <p:nvPr/>
        </p:nvPicPr>
        <p:blipFill>
          <a:blip r:embed="rId2"/>
          <a:stretch>
            <a:fillRect/>
          </a:stretch>
        </p:blipFill>
        <p:spPr>
          <a:xfrm>
            <a:off x="365760" y="1371600"/>
            <a:ext cx="7315200" cy="4887243"/>
          </a:xfrm>
          <a:prstGeom prst="rect">
            <a:avLst/>
          </a:prstGeom>
        </p:spPr>
      </p:pic>
      <p:sp>
        <p:nvSpPr>
          <p:cNvPr id="6" name="TextBox 5"/>
          <p:cNvSpPr txBox="1"/>
          <p:nvPr/>
        </p:nvSpPr>
        <p:spPr>
          <a:xfrm>
            <a:off x="7863840" y="1463040"/>
            <a:ext cx="4023360" cy="4846320"/>
          </a:xfrm>
          <a:prstGeom prst="rect">
            <a:avLst/>
          </a:prstGeom>
          <a:noFill/>
        </p:spPr>
        <p:txBody>
          <a:bodyPr wrap="square">
            <a:spAutoFit/>
          </a:bodyPr>
          <a:lstStyle/>
          <a:p>
            <a:pPr>
              <a:spcAft>
                <a:spcPts val="600"/>
              </a:spcAft>
              <a:defRPr sz="1400" b="0">
                <a:solidFill>
                  <a:srgbClr val="0B0B0B"/>
                </a:solidFill>
              </a:defRPr>
            </a:pPr>
            <a:r>
              <a:t>• 441,605 people in the advisory zone of the 25-yr flood; 329 settlements advised to check foundations</a:t>
            </a:r>
          </a:p>
          <a:p>
            <a:pPr>
              <a:spcAft>
                <a:spcPts val="600"/>
              </a:spcAft>
              <a:defRPr sz="1400" b="0">
                <a:solidFill>
                  <a:srgbClr val="0B0B0B"/>
                </a:solidFill>
              </a:defRPr>
            </a:pPr>
            <a:r>
              <a:t>• Footing on silty sand: bearing capacity -55 % with water at the surface</a:t>
            </a:r>
          </a:p>
          <a:p>
            <a:pPr>
              <a:spcAft>
                <a:spcPts val="600"/>
              </a:spcAft>
              <a:defRPr sz="1400" b="0">
                <a:solidFill>
                  <a:srgbClr val="0B0B0B"/>
                </a:solidFill>
              </a:defRPr>
            </a:pPr>
            <a:r>
              <a:t>• Soaked clay: -37 %; drawdown settlement 20 to 39 mm</a:t>
            </a:r>
          </a:p>
          <a:p>
            <a:pPr>
              <a:spcAft>
                <a:spcPts val="600"/>
              </a:spcAft>
              <a:defRPr sz="1400" b="0">
                <a:solidFill>
                  <a:srgbClr val="0B0B0B"/>
                </a:solidFill>
              </a:defRPr>
            </a:pPr>
            <a:r>
              <a:t>• Field: well levels at 0-500 m from the flood edge fix the 200 m</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274320"/>
            <a:ext cx="11247120" cy="731520"/>
          </a:xfrm>
          <a:prstGeom prst="rect">
            <a:avLst/>
          </a:prstGeom>
          <a:noFill/>
        </p:spPr>
        <p:txBody>
          <a:bodyPr wrap="square">
            <a:spAutoFit/>
          </a:bodyPr>
          <a:lstStyle/>
          <a:p>
            <a:pPr>
              <a:spcAft>
                <a:spcPts val="600"/>
              </a:spcAft>
              <a:defRPr sz="3000" b="1">
                <a:solidFill>
                  <a:srgbClr val="0B0B0B"/>
                </a:solidFill>
              </a:defRPr>
            </a:pPr>
            <a:r>
              <a:t>Ocean: Bay of Bengal storms and the largest floods</a:t>
            </a:r>
          </a:p>
        </p:txBody>
      </p:sp>
      <p:sp>
        <p:nvSpPr>
          <p:cNvPr id="3" name="TextBox 2"/>
          <p:cNvSpPr txBox="1"/>
          <p:nvPr/>
        </p:nvSpPr>
        <p:spPr>
          <a:xfrm>
            <a:off x="457200" y="914400"/>
            <a:ext cx="11247120" cy="548640"/>
          </a:xfrm>
          <a:prstGeom prst="rect">
            <a:avLst/>
          </a:prstGeom>
          <a:noFill/>
        </p:spPr>
        <p:txBody>
          <a:bodyPr wrap="square">
            <a:spAutoFit/>
          </a:bodyPr>
          <a:lstStyle/>
          <a:p>
            <a:pPr>
              <a:spcAft>
                <a:spcPts val="600"/>
              </a:spcAft>
              <a:defRPr sz="1600" b="0">
                <a:solidFill>
                  <a:srgbClr val="52514E"/>
                </a:solidFill>
              </a:defRPr>
            </a:pPr>
            <a:r>
              <a:t>IBTrACS tracks matched to the radar atlas</a:t>
            </a:r>
          </a:p>
        </p:txBody>
      </p:sp>
      <p:sp>
        <p:nvSpPr>
          <p:cNvPr id="4" name="TextBox 3"/>
          <p:cNvSpPr txBox="1"/>
          <p:nvPr/>
        </p:nvSpPr>
        <p:spPr>
          <a:xfrm>
            <a:off x="457200" y="6400800"/>
            <a:ext cx="11247120" cy="365760"/>
          </a:xfrm>
          <a:prstGeom prst="rect">
            <a:avLst/>
          </a:prstGeom>
          <a:noFill/>
        </p:spPr>
        <p:txBody>
          <a:bodyPr wrap="square">
            <a:spAutoFit/>
          </a:bodyPr>
          <a:lstStyle/>
          <a:p>
            <a:pPr>
              <a:spcAft>
                <a:spcPts val="600"/>
              </a:spcAft>
              <a:defRPr sz="1000" b="0">
                <a:solidFill>
                  <a:srgbClr val="52514E"/>
                </a:solidFill>
              </a:defRPr>
            </a:pPr>
            <a:r>
              <a:t>Prithvi Flood-IN · CE 491 IDP · IIT Bombay × ClimMaTech · final review</a:t>
            </a:r>
          </a:p>
        </p:txBody>
      </p:sp>
      <p:pic>
        <p:nvPicPr>
          <p:cNvPr id="5" name="Picture 4" descr="flood_drivers.png"/>
          <p:cNvPicPr>
            <a:picLocks noChangeAspect="1"/>
          </p:cNvPicPr>
          <p:nvPr/>
        </p:nvPicPr>
        <p:blipFill>
          <a:blip r:embed="rId2"/>
          <a:stretch>
            <a:fillRect/>
          </a:stretch>
        </p:blipFill>
        <p:spPr>
          <a:xfrm>
            <a:off x="1097280" y="1325880"/>
            <a:ext cx="7824370" cy="3886200"/>
          </a:xfrm>
          <a:prstGeom prst="rect">
            <a:avLst/>
          </a:prstGeom>
        </p:spPr>
      </p:pic>
      <p:sp>
        <p:nvSpPr>
          <p:cNvPr id="6" name="TextBox 5"/>
          <p:cNvSpPr txBox="1"/>
          <p:nvPr/>
        </p:nvSpPr>
        <p:spPr>
          <a:xfrm>
            <a:off x="548640" y="5349240"/>
            <a:ext cx="11064240" cy="1005840"/>
          </a:xfrm>
          <a:prstGeom prst="rect">
            <a:avLst/>
          </a:prstGeom>
          <a:noFill/>
        </p:spPr>
        <p:txBody>
          <a:bodyPr wrap="square">
            <a:spAutoFit/>
          </a:bodyPr>
          <a:lstStyle/>
          <a:p>
            <a:pPr>
              <a:spcAft>
                <a:spcPts val="600"/>
              </a:spcAft>
              <a:defRPr sz="1400" b="0">
                <a:solidFill>
                  <a:srgbClr val="0B0B0B"/>
                </a:solidFill>
              </a:defRPr>
            </a:pPr>
            <a:r>
              <a:t>• 37 storms and depressions within 300 km since 2016 · of the 20 largest floods: 15 high river, 13 heavy rain, 11 after a storm</a:t>
            </a:r>
          </a:p>
          <a:p>
            <a:pPr>
              <a:spcAft>
                <a:spcPts val="600"/>
              </a:spcAft>
              <a:defRPr sz="1400" b="0">
                <a:solidFill>
                  <a:srgbClr val="0B0B0B"/>
                </a:solidFill>
              </a:defRPr>
            </a:pPr>
            <a:r>
              <a:t>• Surge and high tide hold back the drainage of the lower delta: a Paradip tide record is the next dataset</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274320"/>
            <a:ext cx="11247120" cy="731520"/>
          </a:xfrm>
          <a:prstGeom prst="rect">
            <a:avLst/>
          </a:prstGeom>
          <a:noFill/>
        </p:spPr>
        <p:txBody>
          <a:bodyPr wrap="square">
            <a:spAutoFit/>
          </a:bodyPr>
          <a:lstStyle/>
          <a:p>
            <a:pPr>
              <a:spcAft>
                <a:spcPts val="600"/>
              </a:spcAft>
              <a:defRPr sz="3000" b="1">
                <a:solidFill>
                  <a:srgbClr val="0B0B0B"/>
                </a:solidFill>
              </a:defRPr>
            </a:pPr>
            <a:r>
              <a:t>Construction management: when to build, what it costs</a:t>
            </a:r>
          </a:p>
        </p:txBody>
      </p:sp>
      <p:sp>
        <p:nvSpPr>
          <p:cNvPr id="3" name="TextBox 2"/>
          <p:cNvSpPr txBox="1"/>
          <p:nvPr/>
        </p:nvSpPr>
        <p:spPr>
          <a:xfrm>
            <a:off x="457200" y="914400"/>
            <a:ext cx="11247120" cy="548640"/>
          </a:xfrm>
          <a:prstGeom prst="rect">
            <a:avLst/>
          </a:prstGeom>
          <a:noFill/>
        </p:spPr>
        <p:txBody>
          <a:bodyPr wrap="square">
            <a:spAutoFit/>
          </a:bodyPr>
          <a:lstStyle/>
          <a:p>
            <a:pPr>
              <a:spcAft>
                <a:spcPts val="600"/>
              </a:spcAft>
              <a:defRPr sz="1600" b="0">
                <a:solidFill>
                  <a:srgbClr val="52514E"/>
                </a:solidFill>
              </a:defRPr>
            </a:pPr>
            <a:r>
              <a:t>29 years of flows, 46 years of storm tracks; earthwork take-off for the critical links</a:t>
            </a:r>
          </a:p>
        </p:txBody>
      </p:sp>
      <p:sp>
        <p:nvSpPr>
          <p:cNvPr id="4" name="TextBox 3"/>
          <p:cNvSpPr txBox="1"/>
          <p:nvPr/>
        </p:nvSpPr>
        <p:spPr>
          <a:xfrm>
            <a:off x="457200" y="6400800"/>
            <a:ext cx="11247120" cy="365760"/>
          </a:xfrm>
          <a:prstGeom prst="rect">
            <a:avLst/>
          </a:prstGeom>
          <a:noFill/>
        </p:spPr>
        <p:txBody>
          <a:bodyPr wrap="square">
            <a:spAutoFit/>
          </a:bodyPr>
          <a:lstStyle/>
          <a:p>
            <a:pPr>
              <a:spcAft>
                <a:spcPts val="600"/>
              </a:spcAft>
              <a:defRPr sz="1000" b="0">
                <a:solidFill>
                  <a:srgbClr val="52514E"/>
                </a:solidFill>
              </a:defRPr>
            </a:pPr>
            <a:r>
              <a:t>Prithvi Flood-IN · CE 491 IDP · IIT Bombay × ClimMaTech · final review</a:t>
            </a:r>
          </a:p>
        </p:txBody>
      </p:sp>
      <p:pic>
        <p:nvPicPr>
          <p:cNvPr id="5" name="Picture 4" descr="construction_windows.png"/>
          <p:cNvPicPr>
            <a:picLocks noChangeAspect="1"/>
          </p:cNvPicPr>
          <p:nvPr/>
        </p:nvPicPr>
        <p:blipFill>
          <a:blip r:embed="rId2"/>
          <a:stretch>
            <a:fillRect/>
          </a:stretch>
        </p:blipFill>
        <p:spPr>
          <a:xfrm>
            <a:off x="365760" y="1371600"/>
            <a:ext cx="7498079" cy="2188068"/>
          </a:xfrm>
          <a:prstGeom prst="rect">
            <a:avLst/>
          </a:prstGeom>
        </p:spPr>
      </p:pic>
      <p:pic>
        <p:nvPicPr>
          <p:cNvPr id="6" name="Picture 5" descr="gantt.png"/>
          <p:cNvPicPr>
            <a:picLocks noChangeAspect="1"/>
          </p:cNvPicPr>
          <p:nvPr/>
        </p:nvPicPr>
        <p:blipFill>
          <a:blip r:embed="rId3"/>
          <a:stretch>
            <a:fillRect/>
          </a:stretch>
        </p:blipFill>
        <p:spPr>
          <a:xfrm>
            <a:off x="365760" y="3931920"/>
            <a:ext cx="6949440" cy="2500299"/>
          </a:xfrm>
          <a:prstGeom prst="rect">
            <a:avLst/>
          </a:prstGeom>
        </p:spPr>
      </p:pic>
      <p:sp>
        <p:nvSpPr>
          <p:cNvPr id="7" name="TextBox 6"/>
          <p:cNvSpPr txBox="1"/>
          <p:nvPr/>
        </p:nvSpPr>
        <p:spPr>
          <a:xfrm>
            <a:off x="8046720" y="1463040"/>
            <a:ext cx="3840480" cy="4846320"/>
          </a:xfrm>
          <a:prstGeom prst="rect">
            <a:avLst/>
          </a:prstGeom>
          <a:noFill/>
        </p:spPr>
        <p:txBody>
          <a:bodyPr wrap="square">
            <a:spAutoFit/>
          </a:bodyPr>
          <a:lstStyle/>
          <a:p>
            <a:pPr>
              <a:spcAft>
                <a:spcPts val="600"/>
              </a:spcAft>
              <a:defRPr sz="1300" b="0">
                <a:solidFill>
                  <a:srgbClr val="0B0B0B"/>
                </a:solidFill>
              </a:defRPr>
            </a:pPr>
            <a:r>
              <a:t>• Work window: Dec–Apr (no flood days, few storms)</a:t>
            </a:r>
          </a:p>
          <a:p>
            <a:pPr>
              <a:spcAft>
                <a:spcPts val="600"/>
              </a:spcAft>
              <a:defRPr sz="1300" b="0">
                <a:solidFill>
                  <a:srgbClr val="0B0B0B"/>
                </a:solidFill>
              </a:defRPr>
            </a:pPr>
            <a:r>
              <a:t>• Raising 10 critical links above the 25-yr flood + 0.6 m: 27,603 m³, about Rs 1.0 crore (assumed Rs 350/m³)</a:t>
            </a:r>
          </a:p>
          <a:p>
            <a:pPr>
              <a:spcAft>
                <a:spcPts val="600"/>
              </a:spcAft>
              <a:defRPr sz="1300" b="0">
                <a:solidFill>
                  <a:srgbClr val="0B0B0B"/>
                </a:solidFill>
              </a:defRPr>
            </a:pPr>
            <a:r>
              <a:t>• Each link carries the hospital route of 4,638–10,930 people</a:t>
            </a:r>
          </a:p>
          <a:p>
            <a:pPr>
              <a:spcAft>
                <a:spcPts val="600"/>
              </a:spcAft>
              <a:defRPr sz="1300" b="0">
                <a:solidFill>
                  <a:srgbClr val="0B0B0B"/>
                </a:solidFill>
              </a:defRPr>
            </a:pPr>
            <a:r>
              <a:t>• Deployment: 40 sirens cover 48% of exposed people at 1.5 km, 6 river sensors, 78 crew-days</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274320"/>
            <a:ext cx="11247120" cy="731520"/>
          </a:xfrm>
          <a:prstGeom prst="rect">
            <a:avLst/>
          </a:prstGeom>
          <a:noFill/>
        </p:spPr>
        <p:txBody>
          <a:bodyPr wrap="square">
            <a:spAutoFit/>
          </a:bodyPr>
          <a:lstStyle/>
          <a:p>
            <a:pPr>
              <a:spcAft>
                <a:spcPts val="600"/>
              </a:spcAft>
              <a:defRPr sz="3000" b="1">
                <a:solidFill>
                  <a:srgbClr val="0B0B0B"/>
                </a:solidFill>
              </a:defRPr>
            </a:pPr>
            <a:r>
              <a:t>Flood risk in rupees and person-days</a:t>
            </a:r>
          </a:p>
        </p:txBody>
      </p:sp>
      <p:sp>
        <p:nvSpPr>
          <p:cNvPr id="3" name="TextBox 2"/>
          <p:cNvSpPr txBox="1"/>
          <p:nvPr/>
        </p:nvSpPr>
        <p:spPr>
          <a:xfrm>
            <a:off x="457200" y="914400"/>
            <a:ext cx="11247120" cy="548640"/>
          </a:xfrm>
          <a:prstGeom prst="rect">
            <a:avLst/>
          </a:prstGeom>
          <a:noFill/>
        </p:spPr>
        <p:txBody>
          <a:bodyPr wrap="square">
            <a:spAutoFit/>
          </a:bodyPr>
          <a:lstStyle/>
          <a:p>
            <a:pPr>
              <a:spcAft>
                <a:spcPts val="600"/>
              </a:spcAft>
              <a:defRPr sz="1600" b="0">
                <a:solidFill>
                  <a:srgbClr val="52514E"/>
                </a:solidFill>
              </a:defRPr>
            </a:pPr>
            <a:r>
              <a:t>JRC depth–damage for houses, paddy at the 2025-26 MSP, 1997–2025 (29 years) of daily flows through the impact table</a:t>
            </a:r>
          </a:p>
        </p:txBody>
      </p:sp>
      <p:sp>
        <p:nvSpPr>
          <p:cNvPr id="4" name="TextBox 3"/>
          <p:cNvSpPr txBox="1"/>
          <p:nvPr/>
        </p:nvSpPr>
        <p:spPr>
          <a:xfrm>
            <a:off x="457200" y="6400800"/>
            <a:ext cx="11247120" cy="365760"/>
          </a:xfrm>
          <a:prstGeom prst="rect">
            <a:avLst/>
          </a:prstGeom>
          <a:noFill/>
        </p:spPr>
        <p:txBody>
          <a:bodyPr wrap="square">
            <a:spAutoFit/>
          </a:bodyPr>
          <a:lstStyle/>
          <a:p>
            <a:pPr>
              <a:spcAft>
                <a:spcPts val="600"/>
              </a:spcAft>
              <a:defRPr sz="1000" b="0">
                <a:solidFill>
                  <a:srgbClr val="52514E"/>
                </a:solidFill>
              </a:defRPr>
            </a:pPr>
            <a:r>
              <a:t>Prithvi Flood-IN · CE 491 IDP · IIT Bombay × ClimMaTech · final review</a:t>
            </a:r>
          </a:p>
        </p:txBody>
      </p:sp>
      <p:graphicFrame>
        <p:nvGraphicFramePr>
          <p:cNvPr id="5" name="Table 4"/>
          <p:cNvGraphicFramePr>
            <a:graphicFrameLocks noGrp="1"/>
          </p:cNvGraphicFramePr>
          <p:nvPr/>
        </p:nvGraphicFramePr>
        <p:xfrm>
          <a:off x="457200" y="1371600"/>
          <a:ext cx="6766560" cy="1280160"/>
        </p:xfrm>
        <a:graphic>
          <a:graphicData uri="http://schemas.openxmlformats.org/drawingml/2006/table">
            <a:tbl>
              <a:tblPr firstRow="1" bandRow="1">
                <a:tableStyleId>{5C22544A-7EE6-4342-B048-85BDC9FD1C3A}</a:tableStyleId>
              </a:tblPr>
              <a:tblGrid>
                <a:gridCol w="1097280"/>
                <a:gridCol w="1463040"/>
                <a:gridCol w="1005840"/>
                <a:gridCol w="1188720"/>
                <a:gridCol w="1005840"/>
                <a:gridCol w="1005840"/>
              </a:tblGrid>
              <a:tr h="320040">
                <a:tc>
                  <a:txBody>
                    <a:bodyPr/>
                    <a:lstStyle/>
                    <a:p>
                      <a:pPr>
                        <a:defRPr sz="1200" b="1"/>
                      </a:pPr>
                      <a:r>
                        <a:t>Flood</a:t>
                      </a:r>
                    </a:p>
                  </a:txBody>
                  <a:tcPr/>
                </a:tc>
                <a:tc>
                  <a:txBody>
                    <a:bodyPr/>
                    <a:lstStyle/>
                    <a:p>
                      <a:pPr>
                        <a:defRPr sz="1200" b="1"/>
                      </a:pPr>
                      <a:r>
                        <a:t>People on flooded land</a:t>
                      </a:r>
                    </a:p>
                  </a:txBody>
                  <a:tcPr/>
                </a:tc>
                <a:tc>
                  <a:txBody>
                    <a:bodyPr/>
                    <a:lstStyle/>
                    <a:p>
                      <a:pPr>
                        <a:defRPr sz="1200" b="1"/>
                      </a:pPr>
                      <a:r>
                        <a:t>Houses (₹ cr)</a:t>
                      </a:r>
                    </a:p>
                  </a:txBody>
                  <a:tcPr/>
                </a:tc>
                <a:tc>
                  <a:txBody>
                    <a:bodyPr/>
                    <a:lstStyle/>
                    <a:p>
                      <a:pPr>
                        <a:defRPr sz="1200" b="1"/>
                      </a:pPr>
                      <a:r>
                        <a:t>Paddy lost (ha)</a:t>
                      </a:r>
                    </a:p>
                  </a:txBody>
                  <a:tcPr/>
                </a:tc>
                <a:tc>
                  <a:txBody>
                    <a:bodyPr/>
                    <a:lstStyle/>
                    <a:p>
                      <a:pPr>
                        <a:defRPr sz="1200" b="1"/>
                      </a:pPr>
                      <a:r>
                        <a:t>Paddy (₹ cr)</a:t>
                      </a:r>
                    </a:p>
                  </a:txBody>
                  <a:tcPr/>
                </a:tc>
                <a:tc>
                  <a:txBody>
                    <a:bodyPr/>
                    <a:lstStyle/>
                    <a:p>
                      <a:pPr>
                        <a:defRPr sz="1200" b="1"/>
                      </a:pPr>
                      <a:r>
                        <a:t>Total (₹ cr)</a:t>
                      </a:r>
                    </a:p>
                  </a:txBody>
                  <a:tcPr/>
                </a:tc>
              </a:tr>
              <a:tr h="320040">
                <a:tc>
                  <a:txBody>
                    <a:bodyPr/>
                    <a:lstStyle/>
                    <a:p>
                      <a:pPr>
                        <a:defRPr sz="1200" b="0"/>
                      </a:pPr>
                      <a:r>
                        <a:t>2-year</a:t>
                      </a:r>
                    </a:p>
                  </a:txBody>
                  <a:tcPr/>
                </a:tc>
                <a:tc>
                  <a:txBody>
                    <a:bodyPr/>
                    <a:lstStyle/>
                    <a:p>
                      <a:pPr>
                        <a:defRPr sz="1200" b="0"/>
                      </a:pPr>
                      <a:r>
                        <a:t>7,837</a:t>
                      </a:r>
                    </a:p>
                  </a:txBody>
                  <a:tcPr/>
                </a:tc>
                <a:tc>
                  <a:txBody>
                    <a:bodyPr/>
                    <a:lstStyle/>
                    <a:p>
                      <a:pPr>
                        <a:defRPr sz="1200" b="0"/>
                      </a:pPr>
                      <a:r>
                        <a:t>2.9</a:t>
                      </a:r>
                    </a:p>
                  </a:txBody>
                  <a:tcPr/>
                </a:tc>
                <a:tc>
                  <a:txBody>
                    <a:bodyPr/>
                    <a:lstStyle/>
                    <a:p>
                      <a:pPr>
                        <a:defRPr sz="1200" b="0"/>
                      </a:pPr>
                      <a:r>
                        <a:t>985</a:t>
                      </a:r>
                    </a:p>
                  </a:txBody>
                  <a:tcPr/>
                </a:tc>
                <a:tc>
                  <a:txBody>
                    <a:bodyPr/>
                    <a:lstStyle/>
                    <a:p>
                      <a:pPr>
                        <a:defRPr sz="1200" b="0"/>
                      </a:pPr>
                      <a:r>
                        <a:t>4.8</a:t>
                      </a:r>
                    </a:p>
                  </a:txBody>
                  <a:tcPr/>
                </a:tc>
                <a:tc>
                  <a:txBody>
                    <a:bodyPr/>
                    <a:lstStyle/>
                    <a:p>
                      <a:pPr>
                        <a:defRPr sz="1200" b="0"/>
                      </a:pPr>
                      <a:r>
                        <a:t>7.8</a:t>
                      </a:r>
                    </a:p>
                  </a:txBody>
                  <a:tcPr/>
                </a:tc>
              </a:tr>
              <a:tr h="320040">
                <a:tc>
                  <a:txBody>
                    <a:bodyPr/>
                    <a:lstStyle/>
                    <a:p>
                      <a:pPr>
                        <a:defRPr sz="1200" b="0"/>
                      </a:pPr>
                      <a:r>
                        <a:t>5-year</a:t>
                      </a:r>
                    </a:p>
                  </a:txBody>
                  <a:tcPr/>
                </a:tc>
                <a:tc>
                  <a:txBody>
                    <a:bodyPr/>
                    <a:lstStyle/>
                    <a:p>
                      <a:pPr>
                        <a:defRPr sz="1200" b="0"/>
                      </a:pPr>
                      <a:r>
                        <a:t>25,384</a:t>
                      </a:r>
                    </a:p>
                  </a:txBody>
                  <a:tcPr/>
                </a:tc>
                <a:tc>
                  <a:txBody>
                    <a:bodyPr/>
                    <a:lstStyle/>
                    <a:p>
                      <a:pPr>
                        <a:defRPr sz="1200" b="0"/>
                      </a:pPr>
                      <a:r>
                        <a:t>9.7</a:t>
                      </a:r>
                    </a:p>
                  </a:txBody>
                  <a:tcPr/>
                </a:tc>
                <a:tc>
                  <a:txBody>
                    <a:bodyPr/>
                    <a:lstStyle/>
                    <a:p>
                      <a:pPr>
                        <a:defRPr sz="1200" b="0"/>
                      </a:pPr>
                      <a:r>
                        <a:t>6,579</a:t>
                      </a:r>
                    </a:p>
                  </a:txBody>
                  <a:tcPr/>
                </a:tc>
                <a:tc>
                  <a:txBody>
                    <a:bodyPr/>
                    <a:lstStyle/>
                    <a:p>
                      <a:pPr>
                        <a:defRPr sz="1200" b="0"/>
                      </a:pPr>
                      <a:r>
                        <a:t>32.4</a:t>
                      </a:r>
                    </a:p>
                  </a:txBody>
                  <a:tcPr/>
                </a:tc>
                <a:tc>
                  <a:txBody>
                    <a:bodyPr/>
                    <a:lstStyle/>
                    <a:p>
                      <a:pPr>
                        <a:defRPr sz="1200" b="0"/>
                      </a:pPr>
                      <a:r>
                        <a:t>42.2</a:t>
                      </a:r>
                    </a:p>
                  </a:txBody>
                  <a:tcPr/>
                </a:tc>
              </a:tr>
              <a:tr h="320040">
                <a:tc>
                  <a:txBody>
                    <a:bodyPr/>
                    <a:lstStyle/>
                    <a:p>
                      <a:pPr>
                        <a:defRPr sz="1200" b="0"/>
                      </a:pPr>
                      <a:r>
                        <a:t>10-year +</a:t>
                      </a:r>
                    </a:p>
                  </a:txBody>
                  <a:tcPr/>
                </a:tc>
                <a:tc>
                  <a:txBody>
                    <a:bodyPr/>
                    <a:lstStyle/>
                    <a:p>
                      <a:pPr>
                        <a:defRPr sz="1200" b="0"/>
                      </a:pPr>
                      <a:r>
                        <a:t>30,427</a:t>
                      </a:r>
                    </a:p>
                  </a:txBody>
                  <a:tcPr/>
                </a:tc>
                <a:tc>
                  <a:txBody>
                    <a:bodyPr/>
                    <a:lstStyle/>
                    <a:p>
                      <a:pPr>
                        <a:defRPr sz="1200" b="0"/>
                      </a:pPr>
                      <a:r>
                        <a:t>12.0</a:t>
                      </a:r>
                    </a:p>
                  </a:txBody>
                  <a:tcPr/>
                </a:tc>
                <a:tc>
                  <a:txBody>
                    <a:bodyPr/>
                    <a:lstStyle/>
                    <a:p>
                      <a:pPr>
                        <a:defRPr sz="1200" b="0"/>
                      </a:pPr>
                      <a:r>
                        <a:t>7,746</a:t>
                      </a:r>
                    </a:p>
                  </a:txBody>
                  <a:tcPr/>
                </a:tc>
                <a:tc>
                  <a:txBody>
                    <a:bodyPr/>
                    <a:lstStyle/>
                    <a:p>
                      <a:pPr>
                        <a:defRPr sz="1200" b="0"/>
                      </a:pPr>
                      <a:r>
                        <a:t>38.2</a:t>
                      </a:r>
                    </a:p>
                  </a:txBody>
                  <a:tcPr/>
                </a:tc>
                <a:tc>
                  <a:txBody>
                    <a:bodyPr/>
                    <a:lstStyle/>
                    <a:p>
                      <a:pPr>
                        <a:defRPr sz="1200" b="0"/>
                      </a:pPr>
                      <a:r>
                        <a:t>50.2</a:t>
                      </a:r>
                    </a:p>
                  </a:txBody>
                  <a:tcPr/>
                </a:tc>
              </a:tr>
            </a:tbl>
          </a:graphicData>
        </a:graphic>
      </p:graphicFrame>
      <p:sp>
        <p:nvSpPr>
          <p:cNvPr id="6" name="TextBox 5"/>
          <p:cNvSpPr txBox="1"/>
          <p:nvPr/>
        </p:nvSpPr>
        <p:spPr>
          <a:xfrm>
            <a:off x="457200" y="3383280"/>
            <a:ext cx="6766560" cy="2743200"/>
          </a:xfrm>
          <a:prstGeom prst="rect">
            <a:avLst/>
          </a:prstGeom>
          <a:noFill/>
        </p:spPr>
        <p:txBody>
          <a:bodyPr wrap="square">
            <a:spAutoFit/>
          </a:bodyPr>
          <a:lstStyle/>
          <a:p>
            <a:pPr>
              <a:spcAft>
                <a:spcPts val="600"/>
              </a:spcAft>
              <a:defRPr sz="1300" b="0">
                <a:solidFill>
                  <a:srgbClr val="0B0B0B"/>
                </a:solidFill>
              </a:defRPr>
            </a:pPr>
            <a:r>
              <a:t>• Expected damage ≈ ₹17 crore a year (houses 4.2, paddy 12.9): a lower bound</a:t>
            </a:r>
          </a:p>
          <a:p>
            <a:pPr>
              <a:spcAft>
                <a:spcPts val="600"/>
              </a:spcAft>
              <a:defRPr sz="1300" b="0">
                <a:solidFill>
                  <a:srgbClr val="0B0B0B"/>
                </a:solidFill>
              </a:defRPr>
            </a:pPr>
            <a:r>
              <a:t>• Average year: 438,978 person-days on flooded land, 131,511 without road access to any hospital</a:t>
            </a:r>
          </a:p>
          <a:p>
            <a:pPr>
              <a:spcAft>
                <a:spcPts val="600"/>
              </a:spcAft>
              <a:defRPr sz="1300" b="0">
                <a:solidFill>
                  <a:srgbClr val="0B0B0B"/>
                </a:solidFill>
              </a:defRPr>
            </a:pPr>
            <a:r>
              <a:t>• Warnings would reach 'Be prepared' on 3.8 days a year: rare enough to be heeded</a:t>
            </a:r>
          </a:p>
        </p:txBody>
      </p:sp>
      <p:sp>
        <p:nvSpPr>
          <p:cNvPr id="7" name="TextBox 6"/>
          <p:cNvSpPr txBox="1"/>
          <p:nvPr/>
        </p:nvSpPr>
        <p:spPr>
          <a:xfrm>
            <a:off x="7589520" y="1371600"/>
            <a:ext cx="4206240" cy="4937760"/>
          </a:xfrm>
          <a:prstGeom prst="rect">
            <a:avLst/>
          </a:prstGeom>
          <a:noFill/>
        </p:spPr>
        <p:txBody>
          <a:bodyPr wrap="square">
            <a:spAutoFit/>
          </a:bodyPr>
          <a:lstStyle/>
          <a:p>
            <a:pPr>
              <a:spcAft>
                <a:spcPts val="600"/>
              </a:spcAft>
              <a:defRPr sz="1300" b="0">
                <a:solidFill>
                  <a:srgbClr val="0B0B0B"/>
                </a:solidFill>
              </a:defRPr>
            </a:pPr>
            <a:r>
              <a:t>• Raising the ten critical roads (₹0.97 crore) saves 76,700 person-days of hospital access a year: benefit / cost ≈ 17 at the rural wage alone</a:t>
            </a:r>
          </a:p>
          <a:p>
            <a:pPr>
              <a:spcAft>
                <a:spcPts val="600"/>
              </a:spcAft>
              <a:defRPr sz="1300" b="0">
                <a:solidFill>
                  <a:srgbClr val="0B0B0B"/>
                </a:solidFill>
              </a:defRPr>
            </a:pPr>
            <a:r>
              <a:t>• Hirakud: 1,000 m³/s off a 5-year peak keeps ~1,535 people dry</a:t>
            </a:r>
          </a:p>
          <a:p>
            <a:pPr>
              <a:spcAft>
                <a:spcPts val="600"/>
              </a:spcAft>
              <a:defRPr sz="1300" b="0">
                <a:solidFill>
                  <a:srgbClr val="0B0B0B"/>
                </a:solidFill>
              </a:defRPr>
            </a:pPr>
            <a:r>
              <a:t>• 24 h of warning cuts damage ~30 % (Global Commission on Adaptation): ~₹5 crore a year</a:t>
            </a:r>
          </a:p>
          <a:p>
            <a:pPr>
              <a:spcAft>
                <a:spcPts val="600"/>
              </a:spcAft>
              <a:defRPr sz="1300" b="0">
                <a:solidFill>
                  <a:srgbClr val="0B0B0B"/>
                </a:solidFill>
              </a:defRPr>
            </a:pPr>
            <a:r>
              <a:t>• Field interviews check the house and crop losses</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274320"/>
            <a:ext cx="11247120" cy="731520"/>
          </a:xfrm>
          <a:prstGeom prst="rect">
            <a:avLst/>
          </a:prstGeom>
          <a:noFill/>
        </p:spPr>
        <p:txBody>
          <a:bodyPr wrap="square">
            <a:spAutoFit/>
          </a:bodyPr>
          <a:lstStyle/>
          <a:p>
            <a:pPr>
              <a:spcAft>
                <a:spcPts val="600"/>
              </a:spcAft>
              <a:defRPr sz="3000" b="1">
                <a:solidFill>
                  <a:srgbClr val="0B0B0B"/>
                </a:solidFill>
              </a:defRPr>
            </a:pPr>
            <a:r>
              <a:t>Deployment plan for a ClimMaTech-type system</a:t>
            </a:r>
          </a:p>
        </p:txBody>
      </p:sp>
      <p:sp>
        <p:nvSpPr>
          <p:cNvPr id="3" name="TextBox 2"/>
          <p:cNvSpPr txBox="1"/>
          <p:nvPr/>
        </p:nvSpPr>
        <p:spPr>
          <a:xfrm>
            <a:off x="457200" y="914400"/>
            <a:ext cx="11247120" cy="548640"/>
          </a:xfrm>
          <a:prstGeom prst="rect">
            <a:avLst/>
          </a:prstGeom>
          <a:noFill/>
        </p:spPr>
        <p:txBody>
          <a:bodyPr wrap="square">
            <a:spAutoFit/>
          </a:bodyPr>
          <a:lstStyle/>
          <a:p>
            <a:pPr>
              <a:spcAft>
                <a:spcPts val="600"/>
              </a:spcAft>
              <a:defRPr sz="1600" b="0">
                <a:solidFill>
                  <a:srgbClr val="52514E"/>
                </a:solidFill>
              </a:defRPr>
            </a:pPr>
            <a:r>
              <a:t>Sirens where exposed people live; one river sensor per distributary</a:t>
            </a:r>
          </a:p>
        </p:txBody>
      </p:sp>
      <p:sp>
        <p:nvSpPr>
          <p:cNvPr id="4" name="TextBox 3"/>
          <p:cNvSpPr txBox="1"/>
          <p:nvPr/>
        </p:nvSpPr>
        <p:spPr>
          <a:xfrm>
            <a:off x="457200" y="6400800"/>
            <a:ext cx="11247120" cy="365760"/>
          </a:xfrm>
          <a:prstGeom prst="rect">
            <a:avLst/>
          </a:prstGeom>
          <a:noFill/>
        </p:spPr>
        <p:txBody>
          <a:bodyPr wrap="square">
            <a:spAutoFit/>
          </a:bodyPr>
          <a:lstStyle/>
          <a:p>
            <a:pPr>
              <a:spcAft>
                <a:spcPts val="600"/>
              </a:spcAft>
              <a:defRPr sz="1000" b="0">
                <a:solidFill>
                  <a:srgbClr val="52514E"/>
                </a:solidFill>
              </a:defRPr>
            </a:pPr>
            <a:r>
              <a:t>Prithvi Flood-IN · CE 491 IDP · IIT Bombay × ClimMaTech · final review</a:t>
            </a:r>
          </a:p>
        </p:txBody>
      </p:sp>
      <p:pic>
        <p:nvPicPr>
          <p:cNvPr id="5" name="Picture 4" descr="siting_map.png"/>
          <p:cNvPicPr>
            <a:picLocks noChangeAspect="1"/>
          </p:cNvPicPr>
          <p:nvPr/>
        </p:nvPicPr>
        <p:blipFill>
          <a:blip r:embed="rId2"/>
          <a:stretch>
            <a:fillRect/>
          </a:stretch>
        </p:blipFill>
        <p:spPr>
          <a:xfrm>
            <a:off x="365760" y="1371600"/>
            <a:ext cx="7315200" cy="4887243"/>
          </a:xfrm>
          <a:prstGeom prst="rect">
            <a:avLst/>
          </a:prstGeom>
        </p:spPr>
      </p:pic>
      <p:sp>
        <p:nvSpPr>
          <p:cNvPr id="6" name="TextBox 5"/>
          <p:cNvSpPr txBox="1"/>
          <p:nvPr/>
        </p:nvSpPr>
        <p:spPr>
          <a:xfrm>
            <a:off x="7863840" y="1463040"/>
            <a:ext cx="4023360" cy="4846320"/>
          </a:xfrm>
          <a:prstGeom prst="rect">
            <a:avLst/>
          </a:prstGeom>
          <a:noFill/>
        </p:spPr>
        <p:txBody>
          <a:bodyPr wrap="square">
            <a:spAutoFit/>
          </a:bodyPr>
          <a:lstStyle/>
          <a:p>
            <a:pPr>
              <a:spcAft>
                <a:spcPts val="600"/>
              </a:spcAft>
              <a:defRPr sz="1400" b="0">
                <a:solidFill>
                  <a:srgbClr val="0B0B0B"/>
                </a:solidFill>
              </a:defRPr>
            </a:pPr>
            <a:r>
              <a:t>• Exposed people (25-yr flood or ≥ 10 % frequency): 32,388</a:t>
            </a:r>
          </a:p>
          <a:p>
            <a:pPr>
              <a:spcAft>
                <a:spcPts val="600"/>
              </a:spcAft>
              <a:defRPr sz="1400" b="0">
                <a:solidFill>
                  <a:srgbClr val="0B0B0B"/>
                </a:solidFill>
              </a:defRPr>
            </a:pPr>
            <a:r>
              <a:t>• 40 sirens cover 32% / 48% / 62% at 1.0 / 1.5 / 2.0 km audible range</a:t>
            </a:r>
          </a:p>
          <a:p>
            <a:pPr>
              <a:spcAft>
                <a:spcPts val="600"/>
              </a:spcAft>
              <a:defRPr sz="1400" b="0">
                <a:solidFill>
                  <a:srgbClr val="0B0B0B"/>
                </a:solidFill>
              </a:defRPr>
            </a:pPr>
            <a:r>
              <a:t>• River sensors on 6 bridges: Devi River, Kathajodi, Birupa, Luna, Mahanadi, Biropa</a:t>
            </a:r>
          </a:p>
          <a:p>
            <a:pPr>
              <a:spcAft>
                <a:spcPts val="600"/>
              </a:spcAft>
              <a:defRPr sz="1400" b="0">
                <a:solidFill>
                  <a:srgbClr val="0B0B0B"/>
                </a:solidFill>
              </a:defRPr>
            </a:pPr>
            <a:r>
              <a:t>• Approach roads checked dry in the 25-year flood (reachable during floods)</a:t>
            </a:r>
          </a:p>
          <a:p>
            <a:pPr>
              <a:spcAft>
                <a:spcPts val="600"/>
              </a:spcAft>
              <a:defRPr sz="1400" b="0">
                <a:solidFill>
                  <a:srgbClr val="0B0B0B"/>
                </a:solidFill>
              </a:defRPr>
            </a:pPr>
            <a:r>
              <a:t>• Field: mobile signal, mounting, access → final list</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274320"/>
            <a:ext cx="11247120" cy="731520"/>
          </a:xfrm>
          <a:prstGeom prst="rect">
            <a:avLst/>
          </a:prstGeom>
          <a:noFill/>
        </p:spPr>
        <p:txBody>
          <a:bodyPr wrap="square">
            <a:spAutoFit/>
          </a:bodyPr>
          <a:lstStyle/>
          <a:p>
            <a:pPr>
              <a:spcAft>
                <a:spcPts val="600"/>
              </a:spcAft>
              <a:defRPr sz="3000" b="1">
                <a:solidFill>
                  <a:srgbClr val="0B0B0B"/>
                </a:solidFill>
              </a:defRPr>
            </a:pPr>
            <a:r>
              <a:t>Implementation: forecast → bulletin in seconds</a:t>
            </a:r>
          </a:p>
        </p:txBody>
      </p:sp>
      <p:sp>
        <p:nvSpPr>
          <p:cNvPr id="3" name="TextBox 2"/>
          <p:cNvSpPr txBox="1"/>
          <p:nvPr/>
        </p:nvSpPr>
        <p:spPr>
          <a:xfrm>
            <a:off x="457200" y="914400"/>
            <a:ext cx="11247120" cy="548640"/>
          </a:xfrm>
          <a:prstGeom prst="rect">
            <a:avLst/>
          </a:prstGeom>
          <a:noFill/>
        </p:spPr>
        <p:txBody>
          <a:bodyPr wrap="square">
            <a:spAutoFit/>
          </a:bodyPr>
          <a:lstStyle/>
          <a:p>
            <a:pPr>
              <a:spcAft>
                <a:spcPts val="600"/>
              </a:spcAft>
              <a:defRPr sz="1600" b="0">
                <a:solidFill>
                  <a:srgbClr val="52514E"/>
                </a:solidFill>
              </a:defRPr>
            </a:pPr>
            <a:r>
              <a:t>mahanadi/forecast_to_impact.py · interactive viewer dashboard/index.html</a:t>
            </a:r>
          </a:p>
        </p:txBody>
      </p:sp>
      <p:sp>
        <p:nvSpPr>
          <p:cNvPr id="4" name="TextBox 3"/>
          <p:cNvSpPr txBox="1"/>
          <p:nvPr/>
        </p:nvSpPr>
        <p:spPr>
          <a:xfrm>
            <a:off x="457200" y="6400800"/>
            <a:ext cx="11247120" cy="365760"/>
          </a:xfrm>
          <a:prstGeom prst="rect">
            <a:avLst/>
          </a:prstGeom>
          <a:noFill/>
        </p:spPr>
        <p:txBody>
          <a:bodyPr wrap="square">
            <a:spAutoFit/>
          </a:bodyPr>
          <a:lstStyle/>
          <a:p>
            <a:pPr>
              <a:spcAft>
                <a:spcPts val="600"/>
              </a:spcAft>
              <a:defRPr sz="1000" b="0">
                <a:solidFill>
                  <a:srgbClr val="52514E"/>
                </a:solidFill>
              </a:defRPr>
            </a:pPr>
            <a:r>
              <a:t>Prithvi Flood-IN · CE 491 IDP · IIT Bombay × ClimMaTech · final review</a:t>
            </a:r>
          </a:p>
        </p:txBody>
      </p:sp>
      <p:sp>
        <p:nvSpPr>
          <p:cNvPr id="5" name="TextBox 4"/>
          <p:cNvSpPr txBox="1"/>
          <p:nvPr/>
        </p:nvSpPr>
        <p:spPr>
          <a:xfrm>
            <a:off x="548640" y="1463040"/>
            <a:ext cx="6766560" cy="4846320"/>
          </a:xfrm>
          <a:prstGeom prst="rect">
            <a:avLst/>
          </a:prstGeom>
          <a:noFill/>
        </p:spPr>
        <p:txBody>
          <a:bodyPr wrap="square">
            <a:spAutoFit/>
          </a:bodyPr>
          <a:lstStyle/>
          <a:p>
            <a:pPr>
              <a:spcAft>
                <a:spcPts val="600"/>
              </a:spcAft>
              <a:defRPr sz="1100" b="0">
                <a:solidFill>
                  <a:srgbClr val="0B0B0B"/>
                </a:solidFill>
              </a:defRPr>
            </a:pPr>
            <a:r>
              <a:t>MAHANADI DELTA - EXPECTED FLOODING FOR A NARAJ FLOW OF 23,940 m3/s (8.5 lakh cusec), lead time 24 h</a:t>
            </a:r>
          </a:p>
          <a:p>
            <a:pPr>
              <a:spcAft>
                <a:spcPts val="600"/>
              </a:spcAft>
              <a:defRPr sz="1100" b="0">
                <a:solidFill>
                  <a:srgbClr val="0B0B0B"/>
                </a:solidFill>
              </a:defRPr>
            </a:pPr>
            <a:r>
              <a:t>(flow = highest daily flow over 3 days at Naraj, the measure the atlas is fitted on; method: trigger-discharge map, river flow only)</a:t>
            </a:r>
          </a:p>
          <a:p>
            <a:pPr>
              <a:spcAft>
                <a:spcPts val="600"/>
              </a:spcAft>
              <a:defRPr sz="1100" b="0">
                <a:solidFill>
                  <a:srgbClr val="0B0B0B"/>
                </a:solidFill>
              </a:defRPr>
            </a:pPr>
            <a:r>
              <a:t>Expected flooded land: 218 km2</a:t>
            </a:r>
          </a:p>
          <a:p>
            <a:pPr>
              <a:spcAft>
                <a:spcPts val="600"/>
              </a:spcAft>
              <a:defRPr sz="1100" b="0">
                <a:solidFill>
                  <a:srgbClr val="0B0B0B"/>
                </a:solidFill>
              </a:defRPr>
            </a:pPr>
            <a:r>
              <a:t>People living on that land: 25,384</a:t>
            </a:r>
          </a:p>
          <a:p>
            <a:pPr>
              <a:spcAft>
                <a:spcPts val="600"/>
              </a:spcAft>
              <a:defRPr sz="1100" b="0">
                <a:solidFill>
                  <a:srgbClr val="0B0B0B"/>
                </a:solidFill>
              </a:defRPr>
            </a:pPr>
            <a:r>
              <a:t>Settlements with at least 10 % of people on flooded land: 24</a:t>
            </a:r>
          </a:p>
          <a:p>
            <a:pPr>
              <a:spcAft>
                <a:spcPts val="600"/>
              </a:spcAft>
              <a:defRPr sz="1100" b="0">
                <a:solidFill>
                  <a:srgbClr val="0B0B0B"/>
                </a:solidFill>
              </a:defRPr>
            </a:pPr>
            <a:r>
              <a:t>  - near Biridi (1.4 km): about 403 people (70% of 574) at 20.3319 N, 86.0429 E</a:t>
            </a:r>
          </a:p>
          <a:p>
            <a:pPr>
              <a:spcAft>
                <a:spcPts val="600"/>
              </a:spcAft>
              <a:defRPr sz="1100" b="0">
                <a:solidFill>
                  <a:srgbClr val="0B0B0B"/>
                </a:solidFill>
              </a:defRPr>
            </a:pPr>
            <a:r>
              <a:t>  - near Patkura (9.7 km): about 341 people (48% of 704) at 20.3133 N, 86.3615 E</a:t>
            </a:r>
          </a:p>
          <a:p>
            <a:pPr>
              <a:spcAft>
                <a:spcPts val="600"/>
              </a:spcAft>
              <a:defRPr sz="1100" b="0">
                <a:solidFill>
                  <a:srgbClr val="0B0B0B"/>
                </a:solidFill>
              </a:defRPr>
            </a:pPr>
            <a:r>
              <a:t>  - near Bhattasagar Square (7.0 km): about 263 people (16% of 1,613) at 20.6301 N, 86.1248 E</a:t>
            </a:r>
          </a:p>
          <a:p>
            <a:pPr>
              <a:spcAft>
                <a:spcPts val="600"/>
              </a:spcAft>
              <a:defRPr sz="1100" b="0">
                <a:solidFill>
                  <a:srgbClr val="0B0B0B"/>
                </a:solidFill>
              </a:defRPr>
            </a:pPr>
            <a:r>
              <a:t>  - near Choudwar (4.0 km): about 143 people (21% of 694) at 20.5588 N, 85.8918 E</a:t>
            </a:r>
          </a:p>
          <a:p>
            <a:pPr>
              <a:spcAft>
                <a:spcPts val="600"/>
              </a:spcAft>
              <a:defRPr sz="1100" b="0">
                <a:solidFill>
                  <a:srgbClr val="0B0B0B"/>
                </a:solidFill>
              </a:defRPr>
            </a:pPr>
            <a:r>
              <a:t>  - near Patkura (2.7 km): about 129 people (20% of 647) at 20.4002 N, 86.3823 E</a:t>
            </a:r>
          </a:p>
          <a:p>
            <a:pPr>
              <a:spcAft>
                <a:spcPts val="600"/>
              </a:spcAft>
              <a:defRPr sz="1100" b="0">
                <a:solidFill>
                  <a:srgbClr val="0B0B0B"/>
                </a:solidFill>
              </a:defRPr>
            </a:pPr>
            <a:r>
              <a:t>  - near Patkura (1.5 km): about 90 people (32% of 281) at 20.3855 N, 86.3917 E</a:t>
            </a:r>
          </a:p>
        </p:txBody>
      </p:sp>
      <p:sp>
        <p:nvSpPr>
          <p:cNvPr id="6" name="TextBox 5"/>
          <p:cNvSpPr txBox="1"/>
          <p:nvPr/>
        </p:nvSpPr>
        <p:spPr>
          <a:xfrm>
            <a:off x="7589520" y="1463040"/>
            <a:ext cx="4206240" cy="4846320"/>
          </a:xfrm>
          <a:prstGeom prst="rect">
            <a:avLst/>
          </a:prstGeom>
          <a:noFill/>
        </p:spPr>
        <p:txBody>
          <a:bodyPr wrap="square">
            <a:spAutoFit/>
          </a:bodyPr>
          <a:lstStyle/>
          <a:p>
            <a:pPr>
              <a:spcAft>
                <a:spcPts val="600"/>
              </a:spcAft>
              <a:defRPr sz="1400" b="0">
                <a:solidFill>
                  <a:srgbClr val="0B0B0B"/>
                </a:solidFill>
              </a:defRPr>
            </a:pPr>
            <a:r>
              <a:t>• Input: forecast flow at Naraj (m³/s or lakh cusec), e.g. from ClimMaTech or CWC</a:t>
            </a:r>
          </a:p>
          <a:p>
            <a:pPr>
              <a:spcAft>
                <a:spcPts val="600"/>
              </a:spcAft>
              <a:defRPr sz="1400" b="0">
                <a:solidFill>
                  <a:srgbClr val="0B0B0B"/>
                </a:solidFill>
              </a:defRPr>
            </a:pPr>
            <a:r>
              <a:t>• Output: flood GeoTIFF, settlements GeoJSON (for Rakshak Control Centre / Aagah), text bulletin</a:t>
            </a:r>
          </a:p>
          <a:p>
            <a:pPr>
              <a:spcAft>
                <a:spcPts val="600"/>
              </a:spcAft>
              <a:defRPr sz="1400" b="0">
                <a:solidFill>
                  <a:srgbClr val="0B0B0B"/>
                </a:solidFill>
              </a:defRPr>
            </a:pPr>
            <a:r>
              <a:t>• Viewer: pick a design flood → flooded land, cut roads, villages, sirens, sensors</a:t>
            </a:r>
          </a:p>
          <a:p>
            <a:pPr>
              <a:spcAft>
                <a:spcPts val="600"/>
              </a:spcAft>
              <a:defRPr sz="1400" b="0">
                <a:solidFill>
                  <a:srgbClr val="0B0B0B"/>
                </a:solidFill>
              </a:defRPr>
            </a:pPr>
            <a:r>
              <a:t>• Fills the map layer ('River View') that ClimMaTech's architecture lists for flood risk</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274320"/>
            <a:ext cx="11247120" cy="731520"/>
          </a:xfrm>
          <a:prstGeom prst="rect">
            <a:avLst/>
          </a:prstGeom>
          <a:noFill/>
        </p:spPr>
        <p:txBody>
          <a:bodyPr wrap="square">
            <a:spAutoFit/>
          </a:bodyPr>
          <a:lstStyle/>
          <a:p>
            <a:pPr>
              <a:spcAft>
                <a:spcPts val="600"/>
              </a:spcAft>
              <a:defRPr sz="3000" b="1">
                <a:solidFill>
                  <a:srgbClr val="0B0B0B"/>
                </a:solidFill>
              </a:defRPr>
            </a:pPr>
            <a:r>
              <a:t>Live warnings from today's forecast</a:t>
            </a:r>
          </a:p>
        </p:txBody>
      </p:sp>
      <p:sp>
        <p:nvSpPr>
          <p:cNvPr id="3" name="TextBox 2"/>
          <p:cNvSpPr txBox="1"/>
          <p:nvPr/>
        </p:nvSpPr>
        <p:spPr>
          <a:xfrm>
            <a:off x="457200" y="914400"/>
            <a:ext cx="11247120" cy="548640"/>
          </a:xfrm>
          <a:prstGeom prst="rect">
            <a:avLst/>
          </a:prstGeom>
          <a:noFill/>
        </p:spPr>
        <p:txBody>
          <a:bodyPr wrap="square">
            <a:spAutoFit/>
          </a:bodyPr>
          <a:lstStyle/>
          <a:p>
            <a:pPr>
              <a:spcAft>
                <a:spcPts val="600"/>
              </a:spcAft>
              <a:defRPr sz="1600" b="0">
                <a:solidFill>
                  <a:srgbClr val="52514E"/>
                </a:solidFill>
              </a:defRPr>
            </a:pPr>
            <a:r>
              <a:t>python live/run_live.py · issued 2026-10-31 01:58 IST · GloFAS ensemble, ECMWF rain, NDMA SACHET, CWC, Sentinel-1</a:t>
            </a:r>
          </a:p>
        </p:txBody>
      </p:sp>
      <p:sp>
        <p:nvSpPr>
          <p:cNvPr id="4" name="TextBox 3"/>
          <p:cNvSpPr txBox="1"/>
          <p:nvPr/>
        </p:nvSpPr>
        <p:spPr>
          <a:xfrm>
            <a:off x="457200" y="6400800"/>
            <a:ext cx="11247120" cy="365760"/>
          </a:xfrm>
          <a:prstGeom prst="rect">
            <a:avLst/>
          </a:prstGeom>
          <a:noFill/>
        </p:spPr>
        <p:txBody>
          <a:bodyPr wrap="square">
            <a:spAutoFit/>
          </a:bodyPr>
          <a:lstStyle/>
          <a:p>
            <a:pPr>
              <a:spcAft>
                <a:spcPts val="600"/>
              </a:spcAft>
              <a:defRPr sz="1000" b="0">
                <a:solidFill>
                  <a:srgbClr val="52514E"/>
                </a:solidFill>
              </a:defRPr>
            </a:pPr>
            <a:r>
              <a:t>Prithvi Flood-IN · CE 491 IDP · IIT Bombay × ClimMaTech · final review</a:t>
            </a:r>
          </a:p>
        </p:txBody>
      </p:sp>
      <p:pic>
        <p:nvPicPr>
          <p:cNvPr id="5" name="Picture 4" descr="outlook.png"/>
          <p:cNvPicPr>
            <a:picLocks noChangeAspect="1"/>
          </p:cNvPicPr>
          <p:nvPr/>
        </p:nvPicPr>
        <p:blipFill>
          <a:blip r:embed="rId2"/>
          <a:stretch>
            <a:fillRect/>
          </a:stretch>
        </p:blipFill>
        <p:spPr>
          <a:xfrm>
            <a:off x="457200" y="1371600"/>
            <a:ext cx="6766560" cy="2556256"/>
          </a:xfrm>
          <a:prstGeom prst="rect">
            <a:avLst/>
          </a:prstGeom>
        </p:spPr>
      </p:pic>
      <p:sp>
        <p:nvSpPr>
          <p:cNvPr id="6" name="TextBox 5"/>
          <p:cNvSpPr txBox="1"/>
          <p:nvPr/>
        </p:nvSpPr>
        <p:spPr>
          <a:xfrm>
            <a:off x="457200" y="4069080"/>
            <a:ext cx="6766560" cy="2194560"/>
          </a:xfrm>
          <a:prstGeom prst="rect">
            <a:avLst/>
          </a:prstGeom>
          <a:noFill/>
        </p:spPr>
        <p:txBody>
          <a:bodyPr wrap="square">
            <a:spAutoFit/>
          </a:bodyPr>
          <a:lstStyle/>
          <a:p>
            <a:pPr>
              <a:spcAft>
                <a:spcPts val="600"/>
              </a:spcAft>
              <a:defRPr sz="1200" b="0">
                <a:solidFill>
                  <a:srgbClr val="0B0B0B"/>
                </a:solidFill>
              </a:defRPr>
            </a:pPr>
            <a:r>
              <a:t>• Today: No flood impact · Naraj 2,923 m³/s, peak 3,810 m³/s on 2026-11-01 (wettest runs 3,836)</a:t>
            </a:r>
          </a:p>
          <a:p>
            <a:pPr>
              <a:spcAft>
                <a:spcPts val="600"/>
              </a:spcAft>
              <a:defRPr sz="1200" b="0">
                <a:solidFill>
                  <a:srgbClr val="0B0B0B"/>
                </a:solidFill>
              </a:defRPr>
            </a:pPr>
            <a:r>
              <a:t>• Official: Moderate Rain, Thundershower with wind speed 30-40kmph is very likely to occur at many places over Anugul, Bal…</a:t>
            </a:r>
          </a:p>
          <a:p>
            <a:pPr>
              <a:spcAft>
                <a:spcPts val="600"/>
              </a:spcAft>
              <a:defRPr sz="1200" b="0">
                <a:solidFill>
                  <a:srgbClr val="0B0B0B"/>
                </a:solidFill>
              </a:defRPr>
            </a:pPr>
            <a:r>
              <a:t>• Official: Moderate Rain with squally wind 30-40 kmph  is very likely to occur at isolated places over Baleshwar, Bhadrak…</a:t>
            </a:r>
          </a:p>
        </p:txBody>
      </p:sp>
      <p:sp>
        <p:nvSpPr>
          <p:cNvPr id="7" name="TextBox 6"/>
          <p:cNvSpPr txBox="1"/>
          <p:nvPr/>
        </p:nvSpPr>
        <p:spPr>
          <a:xfrm>
            <a:off x="7589520" y="1371600"/>
            <a:ext cx="4206240" cy="2743200"/>
          </a:xfrm>
          <a:prstGeom prst="rect">
            <a:avLst/>
          </a:prstGeom>
          <a:noFill/>
        </p:spPr>
        <p:txBody>
          <a:bodyPr wrap="square">
            <a:spAutoFit/>
          </a:bodyPr>
          <a:lstStyle/>
          <a:p>
            <a:pPr>
              <a:spcAft>
                <a:spcPts val="600"/>
              </a:spcAft>
              <a:defRPr sz="1300" b="0">
                <a:solidFill>
                  <a:srgbClr val="0B0B0B"/>
                </a:solidFill>
              </a:defRPr>
            </a:pPr>
            <a:r>
              <a:t>• 51 GloFAS runs → flow per day → flow–impact table → people, villages, hospital access per run</a:t>
            </a:r>
          </a:p>
          <a:p>
            <a:pPr>
              <a:spcAft>
                <a:spcPts val="600"/>
              </a:spcAft>
              <a:defRPr sz="1300" b="0">
                <a:solidFill>
                  <a:srgbClr val="0B0B0B"/>
                </a:solidFill>
              </a:defRPr>
            </a:pPr>
            <a:r>
              <a:t>• Levels set by impact, beyond the ordinary monsoon; at Naraj Be aware 12,250, Be prepared 18,500, Act now 21,250 m³/s</a:t>
            </a:r>
          </a:p>
          <a:p>
            <a:pPr>
              <a:spcAft>
                <a:spcPts val="600"/>
              </a:spcAft>
              <a:defRPr sz="1300" b="0">
                <a:solidFill>
                  <a:srgbClr val="0B0B0B"/>
                </a:solidFill>
              </a:defRPr>
            </a:pPr>
            <a:r>
              <a:t>• Villages named with the day they flood or lose their hospital; CAP 1.2 alert + Atom feed for the Rakshak Control Centre</a:t>
            </a:r>
          </a:p>
          <a:p>
            <a:pPr>
              <a:spcAft>
                <a:spcPts val="600"/>
              </a:spcAft>
              <a:defRPr sz="1300" b="0">
                <a:solidFill>
                  <a:srgbClr val="0B0B0B"/>
                </a:solidFill>
              </a:defRPr>
            </a:pPr>
            <a:r>
              <a:t>• Plugins fail soft; about 15 s per basin on a laptop</a:t>
            </a:r>
          </a:p>
        </p:txBody>
      </p:sp>
      <p:graphicFrame>
        <p:nvGraphicFramePr>
          <p:cNvPr id="8" name="Table 7"/>
          <p:cNvGraphicFramePr>
            <a:graphicFrameLocks noGrp="1"/>
          </p:cNvGraphicFramePr>
          <p:nvPr/>
        </p:nvGraphicFramePr>
        <p:xfrm>
          <a:off x="7589520" y="4343400"/>
          <a:ext cx="4206240" cy="1280160"/>
        </p:xfrm>
        <a:graphic>
          <a:graphicData uri="http://schemas.openxmlformats.org/drawingml/2006/table">
            <a:tbl>
              <a:tblPr firstRow="1" bandRow="1">
                <a:tableStyleId>{5C22544A-7EE6-4342-B048-85BDC9FD1C3A}</a:tableStyleId>
              </a:tblPr>
              <a:tblGrid>
                <a:gridCol w="1508760"/>
                <a:gridCol w="777240"/>
                <a:gridCol w="868680"/>
                <a:gridCol w="1051560"/>
              </a:tblGrid>
              <a:tr h="320040">
                <a:tc>
                  <a:txBody>
                    <a:bodyPr/>
                    <a:lstStyle/>
                    <a:p>
                      <a:pPr>
                        <a:defRPr sz="1100" b="1"/>
                      </a:pPr>
                      <a:r>
                        <a:t>Basin</a:t>
                      </a:r>
                    </a:p>
                  </a:txBody>
                  <a:tcPr/>
                </a:tc>
                <a:tc>
                  <a:txBody>
                    <a:bodyPr/>
                    <a:lstStyle/>
                    <a:p>
                      <a:pPr>
                        <a:defRPr sz="1100" b="1"/>
                      </a:pPr>
                      <a:r>
                        <a:t>Today (m³/s)</a:t>
                      </a:r>
                    </a:p>
                  </a:txBody>
                  <a:tcPr/>
                </a:tc>
                <a:tc>
                  <a:txBody>
                    <a:bodyPr/>
                    <a:lstStyle/>
                    <a:p>
                      <a:pPr>
                        <a:defRPr sz="1100" b="1"/>
                      </a:pPr>
                      <a:r>
                        <a:t>10-day peak</a:t>
                      </a:r>
                    </a:p>
                  </a:txBody>
                  <a:tcPr/>
                </a:tc>
                <a:tc>
                  <a:txBody>
                    <a:bodyPr/>
                    <a:lstStyle/>
                    <a:p>
                      <a:pPr>
                        <a:defRPr sz="1100" b="1"/>
                      </a:pPr>
                      <a:r>
                        <a:t>Level</a:t>
                      </a:r>
                    </a:p>
                  </a:txBody>
                  <a:tcPr/>
                </a:tc>
              </a:tr>
              <a:tr h="320040">
                <a:tc>
                  <a:txBody>
                    <a:bodyPr/>
                    <a:lstStyle/>
                    <a:p>
                      <a:pPr>
                        <a:defRPr sz="1100" b="0"/>
                      </a:pPr>
                      <a:r>
                        <a:t>Mahanadi</a:t>
                      </a:r>
                    </a:p>
                  </a:txBody>
                  <a:tcPr/>
                </a:tc>
                <a:tc>
                  <a:txBody>
                    <a:bodyPr/>
                    <a:lstStyle/>
                    <a:p>
                      <a:pPr>
                        <a:defRPr sz="1100" b="0"/>
                      </a:pPr>
                      <a:r>
                        <a:t>2,923</a:t>
                      </a:r>
                    </a:p>
                  </a:txBody>
                  <a:tcPr/>
                </a:tc>
                <a:tc>
                  <a:txBody>
                    <a:bodyPr/>
                    <a:lstStyle/>
                    <a:p>
                      <a:pPr>
                        <a:defRPr sz="1100" b="0"/>
                      </a:pPr>
                      <a:r>
                        <a:t>3,810</a:t>
                      </a:r>
                    </a:p>
                  </a:txBody>
                  <a:tcPr/>
                </a:tc>
                <a:tc>
                  <a:txBody>
                    <a:bodyPr/>
                    <a:lstStyle/>
                    <a:p>
                      <a:pPr>
                        <a:defRPr sz="1100" b="0"/>
                      </a:pPr>
                      <a:r>
                        <a:t>No flood impact</a:t>
                      </a:r>
                    </a:p>
                  </a:txBody>
                  <a:tcPr/>
                </a:tc>
              </a:tr>
              <a:tr h="320040">
                <a:tc>
                  <a:txBody>
                    <a:bodyPr/>
                    <a:lstStyle/>
                    <a:p>
                      <a:pPr>
                        <a:defRPr sz="1100" b="0"/>
                      </a:pPr>
                      <a:r>
                        <a:t>Brahmani–Baitarani</a:t>
                      </a:r>
                    </a:p>
                  </a:txBody>
                  <a:tcPr/>
                </a:tc>
                <a:tc>
                  <a:txBody>
                    <a:bodyPr/>
                    <a:lstStyle/>
                    <a:p>
                      <a:pPr>
                        <a:defRPr sz="1100" b="0"/>
                      </a:pPr>
                      <a:r>
                        <a:t>442</a:t>
                      </a:r>
                    </a:p>
                  </a:txBody>
                  <a:tcPr/>
                </a:tc>
                <a:tc>
                  <a:txBody>
                    <a:bodyPr/>
                    <a:lstStyle/>
                    <a:p>
                      <a:pPr>
                        <a:defRPr sz="1100" b="0"/>
                      </a:pPr>
                      <a:r>
                        <a:t>648</a:t>
                      </a:r>
                    </a:p>
                  </a:txBody>
                  <a:tcPr/>
                </a:tc>
                <a:tc>
                  <a:txBody>
                    <a:bodyPr/>
                    <a:lstStyle/>
                    <a:p>
                      <a:pPr>
                        <a:defRPr sz="1100" b="0"/>
                      </a:pPr>
                      <a:r>
                        <a:t>No flood impact</a:t>
                      </a:r>
                    </a:p>
                  </a:txBody>
                  <a:tcPr/>
                </a:tc>
              </a:tr>
              <a:tr h="320040">
                <a:tc>
                  <a:txBody>
                    <a:bodyPr/>
                    <a:lstStyle/>
                    <a:p>
                      <a:pPr>
                        <a:defRPr sz="1100" b="0"/>
                      </a:pPr>
                      <a:r>
                        <a:t>Brahmaputra at Majuli</a:t>
                      </a:r>
                    </a:p>
                  </a:txBody>
                  <a:tcPr/>
                </a:tc>
                <a:tc>
                  <a:txBody>
                    <a:bodyPr/>
                    <a:lstStyle/>
                    <a:p>
                      <a:pPr>
                        <a:defRPr sz="1100" b="0"/>
                      </a:pPr>
                      <a:r>
                        <a:t>2,971</a:t>
                      </a:r>
                    </a:p>
                  </a:txBody>
                  <a:tcPr/>
                </a:tc>
                <a:tc>
                  <a:txBody>
                    <a:bodyPr/>
                    <a:lstStyle/>
                    <a:p>
                      <a:pPr>
                        <a:defRPr sz="1100" b="0"/>
                      </a:pPr>
                      <a:r>
                        <a:t>2,971</a:t>
                      </a:r>
                    </a:p>
                  </a:txBody>
                  <a:tcPr/>
                </a:tc>
                <a:tc>
                  <a:txBody>
                    <a:bodyPr/>
                    <a:lstStyle/>
                    <a:p>
                      <a:pPr>
                        <a:defRPr sz="1100" b="0"/>
                      </a:pPr>
                      <a:r>
                        <a:t>No flood impact</a:t>
                      </a:r>
                    </a:p>
                  </a:txBody>
                  <a:tcPr/>
                </a:tc>
              </a:tr>
            </a:tbl>
          </a:graphicData>
        </a:graphic>
      </p:graphicFrame>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274320"/>
            <a:ext cx="11247120" cy="731520"/>
          </a:xfrm>
          <a:prstGeom prst="rect">
            <a:avLst/>
          </a:prstGeom>
          <a:noFill/>
        </p:spPr>
        <p:txBody>
          <a:bodyPr wrap="square">
            <a:spAutoFit/>
          </a:bodyPr>
          <a:lstStyle/>
          <a:p>
            <a:pPr>
              <a:spcAft>
                <a:spcPts val="600"/>
              </a:spcAft>
              <a:defRPr sz="3000" b="1">
                <a:solidFill>
                  <a:srgbClr val="0B0B0B"/>
                </a:solidFill>
              </a:defRPr>
            </a:pPr>
            <a:r>
              <a:t>Replay: the feed on the morning of 2022-08-14</a:t>
            </a:r>
          </a:p>
        </p:txBody>
      </p:sp>
      <p:sp>
        <p:nvSpPr>
          <p:cNvPr id="3" name="TextBox 2"/>
          <p:cNvSpPr txBox="1"/>
          <p:nvPr/>
        </p:nvSpPr>
        <p:spPr>
          <a:xfrm>
            <a:off x="457200" y="914400"/>
            <a:ext cx="11247120" cy="548640"/>
          </a:xfrm>
          <a:prstGeom prst="rect">
            <a:avLst/>
          </a:prstGeom>
          <a:noFill/>
        </p:spPr>
        <p:txBody>
          <a:bodyPr wrap="square">
            <a:spAutoFit/>
          </a:bodyPr>
          <a:lstStyle/>
          <a:p>
            <a:pPr>
              <a:spcAft>
                <a:spcPts val="600"/>
              </a:spcAft>
              <a:defRPr sz="1600" b="0">
                <a:solidFill>
                  <a:srgbClr val="52514E"/>
                </a:solidFill>
              </a:defRPr>
            </a:pPr>
            <a:r>
              <a:t>python live/run_live.py --replay 2022-08-14 · the largest flood of the radar era, with the flows that came</a:t>
            </a:r>
          </a:p>
        </p:txBody>
      </p:sp>
      <p:sp>
        <p:nvSpPr>
          <p:cNvPr id="4" name="TextBox 3"/>
          <p:cNvSpPr txBox="1"/>
          <p:nvPr/>
        </p:nvSpPr>
        <p:spPr>
          <a:xfrm>
            <a:off x="457200" y="6400800"/>
            <a:ext cx="11247120" cy="365760"/>
          </a:xfrm>
          <a:prstGeom prst="rect">
            <a:avLst/>
          </a:prstGeom>
          <a:noFill/>
        </p:spPr>
        <p:txBody>
          <a:bodyPr wrap="square">
            <a:spAutoFit/>
          </a:bodyPr>
          <a:lstStyle/>
          <a:p>
            <a:pPr>
              <a:spcAft>
                <a:spcPts val="600"/>
              </a:spcAft>
              <a:defRPr sz="1000" b="0">
                <a:solidFill>
                  <a:srgbClr val="52514E"/>
                </a:solidFill>
              </a:defRPr>
            </a:pPr>
            <a:r>
              <a:t>Prithvi Flood-IN · CE 491 IDP · IIT Bombay × ClimMaTech · final review</a:t>
            </a:r>
          </a:p>
        </p:txBody>
      </p:sp>
      <p:pic>
        <p:nvPicPr>
          <p:cNvPr id="5" name="Picture 4" descr="outlook.png"/>
          <p:cNvPicPr>
            <a:picLocks noChangeAspect="1"/>
          </p:cNvPicPr>
          <p:nvPr/>
        </p:nvPicPr>
        <p:blipFill>
          <a:blip r:embed="rId2"/>
          <a:stretch>
            <a:fillRect/>
          </a:stretch>
        </p:blipFill>
        <p:spPr>
          <a:xfrm>
            <a:off x="457200" y="1371600"/>
            <a:ext cx="6400800" cy="2418080"/>
          </a:xfrm>
          <a:prstGeom prst="rect">
            <a:avLst/>
          </a:prstGeom>
        </p:spPr>
      </p:pic>
      <p:graphicFrame>
        <p:nvGraphicFramePr>
          <p:cNvPr id="6" name="Table 5"/>
          <p:cNvGraphicFramePr>
            <a:graphicFrameLocks noGrp="1"/>
          </p:cNvGraphicFramePr>
          <p:nvPr/>
        </p:nvGraphicFramePr>
        <p:xfrm>
          <a:off x="457200" y="3977639"/>
          <a:ext cx="6400800" cy="1280160"/>
        </p:xfrm>
        <a:graphic>
          <a:graphicData uri="http://schemas.openxmlformats.org/drawingml/2006/table">
            <a:tbl>
              <a:tblPr firstRow="1" bandRow="1">
                <a:tableStyleId>{5C22544A-7EE6-4342-B048-85BDC9FD1C3A}</a:tableStyleId>
              </a:tblPr>
              <a:tblGrid>
                <a:gridCol w="1463040"/>
                <a:gridCol w="1280160"/>
                <a:gridCol w="1097280"/>
                <a:gridCol w="1371600"/>
                <a:gridCol w="1188720"/>
              </a:tblGrid>
              <a:tr h="320040">
                <a:tc>
                  <a:txBody>
                    <a:bodyPr/>
                    <a:lstStyle/>
                    <a:p>
                      <a:pPr>
                        <a:defRPr sz="1200" b="1"/>
                      </a:pPr>
                      <a:r>
                        <a:t>Radar pass</a:t>
                      </a:r>
                    </a:p>
                  </a:txBody>
                  <a:tcPr/>
                </a:tc>
                <a:tc>
                  <a:txBody>
                    <a:bodyPr/>
                    <a:lstStyle/>
                    <a:p>
                      <a:pPr>
                        <a:defRPr sz="1200" b="1"/>
                      </a:pPr>
                      <a:r>
                        <a:t>Flow (m³/s)</a:t>
                      </a:r>
                    </a:p>
                  </a:txBody>
                  <a:tcPr/>
                </a:tc>
                <a:tc>
                  <a:txBody>
                    <a:bodyPr/>
                    <a:lstStyle/>
                    <a:p>
                      <a:pPr>
                        <a:defRPr sz="1200" b="1"/>
                      </a:pPr>
                      <a:r>
                        <a:t>Box imaged</a:t>
                      </a:r>
                    </a:p>
                  </a:txBody>
                  <a:tcPr/>
                </a:tc>
                <a:tc>
                  <a:txBody>
                    <a:bodyPr/>
                    <a:lstStyle/>
                    <a:p>
                      <a:pPr>
                        <a:defRPr sz="1200" b="1"/>
                      </a:pPr>
                      <a:r>
                        <a:t>Expected (km²)</a:t>
                      </a:r>
                    </a:p>
                  </a:txBody>
                  <a:tcPr/>
                </a:tc>
                <a:tc>
                  <a:txBody>
                    <a:bodyPr/>
                    <a:lstStyle/>
                    <a:p>
                      <a:pPr>
                        <a:defRPr sz="1200" b="1"/>
                      </a:pPr>
                      <a:r>
                        <a:t>Seen (km²)</a:t>
                      </a:r>
                    </a:p>
                  </a:txBody>
                  <a:tcPr/>
                </a:tc>
              </a:tr>
              <a:tr h="320040">
                <a:tc>
                  <a:txBody>
                    <a:bodyPr/>
                    <a:lstStyle/>
                    <a:p>
                      <a:pPr>
                        <a:defRPr sz="1200" b="0"/>
                      </a:pPr>
                      <a:r>
                        <a:t>2022-08-16</a:t>
                      </a:r>
                    </a:p>
                  </a:txBody>
                  <a:tcPr/>
                </a:tc>
                <a:tc>
                  <a:txBody>
                    <a:bodyPr/>
                    <a:lstStyle/>
                    <a:p>
                      <a:pPr>
                        <a:defRPr sz="1200" b="0"/>
                      </a:pPr>
                      <a:r>
                        <a:t>24,603</a:t>
                      </a:r>
                    </a:p>
                  </a:txBody>
                  <a:tcPr/>
                </a:tc>
                <a:tc>
                  <a:txBody>
                    <a:bodyPr/>
                    <a:lstStyle/>
                    <a:p>
                      <a:pPr>
                        <a:defRPr sz="1200" b="0"/>
                      </a:pPr>
                      <a:r>
                        <a:t>71%</a:t>
                      </a:r>
                    </a:p>
                  </a:txBody>
                  <a:tcPr/>
                </a:tc>
                <a:tc>
                  <a:txBody>
                    <a:bodyPr/>
                    <a:lstStyle/>
                    <a:p>
                      <a:pPr>
                        <a:defRPr sz="1200" b="0"/>
                      </a:pPr>
                      <a:r>
                        <a:t>218</a:t>
                      </a:r>
                    </a:p>
                  </a:txBody>
                  <a:tcPr/>
                </a:tc>
                <a:tc>
                  <a:txBody>
                    <a:bodyPr/>
                    <a:lstStyle/>
                    <a:p>
                      <a:pPr>
                        <a:defRPr sz="1200" b="0"/>
                      </a:pPr>
                      <a:r>
                        <a:t>280</a:t>
                      </a:r>
                    </a:p>
                  </a:txBody>
                  <a:tcPr/>
                </a:tc>
              </a:tr>
              <a:tr h="320040">
                <a:tc>
                  <a:txBody>
                    <a:bodyPr/>
                    <a:lstStyle/>
                    <a:p>
                      <a:pPr>
                        <a:defRPr sz="1200" b="0"/>
                      </a:pPr>
                      <a:r>
                        <a:t>2022-08-18</a:t>
                      </a:r>
                    </a:p>
                  </a:txBody>
                  <a:tcPr/>
                </a:tc>
                <a:tc>
                  <a:txBody>
                    <a:bodyPr/>
                    <a:lstStyle/>
                    <a:p>
                      <a:pPr>
                        <a:defRPr sz="1200" b="0"/>
                      </a:pPr>
                      <a:r>
                        <a:t>28,378</a:t>
                      </a:r>
                    </a:p>
                  </a:txBody>
                  <a:tcPr/>
                </a:tc>
                <a:tc>
                  <a:txBody>
                    <a:bodyPr/>
                    <a:lstStyle/>
                    <a:p>
                      <a:pPr>
                        <a:defRPr sz="1200" b="0"/>
                      </a:pPr>
                      <a:r>
                        <a:t>100%</a:t>
                      </a:r>
                    </a:p>
                  </a:txBody>
                  <a:tcPr/>
                </a:tc>
                <a:tc>
                  <a:txBody>
                    <a:bodyPr/>
                    <a:lstStyle/>
                    <a:p>
                      <a:pPr>
                        <a:defRPr sz="1200" b="0"/>
                      </a:pPr>
                      <a:r>
                        <a:t>240</a:t>
                      </a:r>
                    </a:p>
                  </a:txBody>
                  <a:tcPr/>
                </a:tc>
                <a:tc>
                  <a:txBody>
                    <a:bodyPr/>
                    <a:lstStyle/>
                    <a:p>
                      <a:pPr>
                        <a:defRPr sz="1200" b="0"/>
                      </a:pPr>
                      <a:r>
                        <a:t>125</a:t>
                      </a:r>
                    </a:p>
                  </a:txBody>
                  <a:tcPr/>
                </a:tc>
              </a:tr>
              <a:tr h="320040">
                <a:tc>
                  <a:txBody>
                    <a:bodyPr/>
                    <a:lstStyle/>
                    <a:p>
                      <a:pPr>
                        <a:defRPr sz="1200" b="0"/>
                      </a:pPr>
                      <a:r>
                        <a:t>2022-08-21</a:t>
                      </a:r>
                    </a:p>
                  </a:txBody>
                  <a:tcPr/>
                </a:tc>
                <a:tc>
                  <a:txBody>
                    <a:bodyPr/>
                    <a:lstStyle/>
                    <a:p>
                      <a:pPr>
                        <a:defRPr sz="1200" b="0"/>
                      </a:pPr>
                      <a:r>
                        <a:t>26,914</a:t>
                      </a:r>
                    </a:p>
                  </a:txBody>
                  <a:tcPr/>
                </a:tc>
                <a:tc>
                  <a:txBody>
                    <a:bodyPr/>
                    <a:lstStyle/>
                    <a:p>
                      <a:pPr>
                        <a:defRPr sz="1200" b="0"/>
                      </a:pPr>
                      <a:r>
                        <a:t>90%</a:t>
                      </a:r>
                    </a:p>
                  </a:txBody>
                  <a:tcPr/>
                </a:tc>
                <a:tc>
                  <a:txBody>
                    <a:bodyPr/>
                    <a:lstStyle/>
                    <a:p>
                      <a:pPr>
                        <a:defRPr sz="1200" b="0"/>
                      </a:pPr>
                      <a:r>
                        <a:t>228</a:t>
                      </a:r>
                    </a:p>
                  </a:txBody>
                  <a:tcPr/>
                </a:tc>
                <a:tc>
                  <a:txBody>
                    <a:bodyPr/>
                    <a:lstStyle/>
                    <a:p>
                      <a:pPr>
                        <a:defRPr sz="1200" b="0"/>
                      </a:pPr>
                      <a:r>
                        <a:t>67</a:t>
                      </a:r>
                    </a:p>
                  </a:txBody>
                  <a:tcPr/>
                </a:tc>
              </a:tr>
            </a:tbl>
          </a:graphicData>
        </a:graphic>
      </p:graphicFrame>
      <p:sp>
        <p:nvSpPr>
          <p:cNvPr id="7" name="TextBox 6"/>
          <p:cNvSpPr txBox="1"/>
          <p:nvPr/>
        </p:nvSpPr>
        <p:spPr>
          <a:xfrm>
            <a:off x="7223760" y="1371600"/>
            <a:ext cx="4572000" cy="4937760"/>
          </a:xfrm>
          <a:prstGeom prst="rect">
            <a:avLst/>
          </a:prstGeom>
          <a:noFill/>
        </p:spPr>
        <p:txBody>
          <a:bodyPr wrap="square">
            <a:spAutoFit/>
          </a:bodyPr>
          <a:lstStyle/>
          <a:p>
            <a:pPr>
              <a:spcAft>
                <a:spcPts val="600"/>
              </a:spcAft>
              <a:defRPr sz="1300" b="0">
                <a:solidFill>
                  <a:srgbClr val="0B0B0B"/>
                </a:solidFill>
              </a:defRPr>
            </a:pPr>
            <a:r>
              <a:t>• Level Act now: Naraj peak 28,378 m³/s on 2022-08-18</a:t>
            </a:r>
          </a:p>
          <a:p>
            <a:pPr>
              <a:spcAft>
                <a:spcPts val="600"/>
              </a:spcAft>
              <a:defRPr sz="1300" b="0">
                <a:solidFill>
                  <a:srgbClr val="0B0B0B"/>
                </a:solidFill>
              </a:defRPr>
            </a:pPr>
            <a:r>
              <a:t>• 31 villages named with the day the water reaches them; 41 lose every hospital from 2022-08-16</a:t>
            </a:r>
          </a:p>
          <a:p>
            <a:pPr>
              <a:spcAft>
                <a:spcPts val="600"/>
              </a:spcAft>
              <a:defRPr sz="1300" b="0">
                <a:solidFill>
                  <a:srgbClr val="0B0B0B"/>
                </a:solidFill>
              </a:defRPr>
            </a:pPr>
            <a:r>
              <a:t>• Upstream-gauge model (without 2022): 08-15 16,254, 08-16 20,554, 08-17 21,327 m³/s: 'Act now' 3 days ahead</a:t>
            </a:r>
          </a:p>
          <a:p>
            <a:pPr>
              <a:spcAft>
                <a:spcPts val="600"/>
              </a:spcAft>
              <a:defRPr sz="1300" b="0">
                <a:solidFill>
                  <a:srgbClr val="0B0B0B"/>
                </a:solidFill>
              </a:defRPr>
            </a:pPr>
            <a:r>
              <a:t>• More land flooded after a week of heavy rain than at the river crest: the case for the rain-aware model</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274320"/>
            <a:ext cx="11247120" cy="731520"/>
          </a:xfrm>
          <a:prstGeom prst="rect">
            <a:avLst/>
          </a:prstGeom>
          <a:noFill/>
        </p:spPr>
        <p:txBody>
          <a:bodyPr wrap="square">
            <a:spAutoFit/>
          </a:bodyPr>
          <a:lstStyle/>
          <a:p>
            <a:pPr>
              <a:spcAft>
                <a:spcPts val="600"/>
              </a:spcAft>
              <a:defRPr sz="3000" b="1">
                <a:solidFill>
                  <a:srgbClr val="0B0B0B"/>
                </a:solidFill>
              </a:defRPr>
            </a:pPr>
            <a:r>
              <a:t>The same pipeline on two more basins</a:t>
            </a:r>
          </a:p>
        </p:txBody>
      </p:sp>
      <p:sp>
        <p:nvSpPr>
          <p:cNvPr id="3" name="TextBox 2"/>
          <p:cNvSpPr txBox="1"/>
          <p:nvPr/>
        </p:nvSpPr>
        <p:spPr>
          <a:xfrm>
            <a:off x="457200" y="914400"/>
            <a:ext cx="11247120" cy="548640"/>
          </a:xfrm>
          <a:prstGeom prst="rect">
            <a:avLst/>
          </a:prstGeom>
          <a:noFill/>
        </p:spPr>
        <p:txBody>
          <a:bodyPr wrap="square">
            <a:spAutoFit/>
          </a:bodyPr>
          <a:lstStyle/>
          <a:p>
            <a:pPr>
              <a:spcAft>
                <a:spcPts val="600"/>
              </a:spcAft>
              <a:defRPr sz="1600" b="0">
                <a:solidFill>
                  <a:srgbClr val="52514E"/>
                </a:solidFill>
              </a:defRPr>
            </a:pPr>
            <a:r>
              <a:t>A box, a gauge and the flood season set up a basin; every Sentinel-1 pass since 2017, same radar models</a:t>
            </a:r>
          </a:p>
        </p:txBody>
      </p:sp>
      <p:sp>
        <p:nvSpPr>
          <p:cNvPr id="4" name="TextBox 3"/>
          <p:cNvSpPr txBox="1"/>
          <p:nvPr/>
        </p:nvSpPr>
        <p:spPr>
          <a:xfrm>
            <a:off x="457200" y="6400800"/>
            <a:ext cx="11247120" cy="365760"/>
          </a:xfrm>
          <a:prstGeom prst="rect">
            <a:avLst/>
          </a:prstGeom>
          <a:noFill/>
        </p:spPr>
        <p:txBody>
          <a:bodyPr wrap="square">
            <a:spAutoFit/>
          </a:bodyPr>
          <a:lstStyle/>
          <a:p>
            <a:pPr>
              <a:spcAft>
                <a:spcPts val="600"/>
              </a:spcAft>
              <a:defRPr sz="1000" b="0">
                <a:solidFill>
                  <a:srgbClr val="52514E"/>
                </a:solidFill>
              </a:defRPr>
            </a:pPr>
            <a:r>
              <a:t>Prithvi Flood-IN · CE 491 IDP · IIT Bombay × ClimMaTech · final review</a:t>
            </a:r>
          </a:p>
        </p:txBody>
      </p:sp>
      <p:pic>
        <p:nvPicPr>
          <p:cNvPr id="5" name="Picture 4" descr="mahanadi.png"/>
          <p:cNvPicPr>
            <a:picLocks noChangeAspect="1"/>
          </p:cNvPicPr>
          <p:nvPr/>
        </p:nvPicPr>
        <p:blipFill>
          <a:blip r:embed="rId2"/>
          <a:stretch>
            <a:fillRect/>
          </a:stretch>
        </p:blipFill>
        <p:spPr>
          <a:xfrm>
            <a:off x="457200" y="1592217"/>
            <a:ext cx="3566160" cy="2339703"/>
          </a:xfrm>
          <a:prstGeom prst="rect">
            <a:avLst/>
          </a:prstGeom>
        </p:spPr>
      </p:pic>
      <p:sp>
        <p:nvSpPr>
          <p:cNvPr id="6" name="TextBox 5"/>
          <p:cNvSpPr txBox="1"/>
          <p:nvPr/>
        </p:nvSpPr>
        <p:spPr>
          <a:xfrm>
            <a:off x="457200" y="3950208"/>
            <a:ext cx="3566160" cy="274320"/>
          </a:xfrm>
          <a:prstGeom prst="rect">
            <a:avLst/>
          </a:prstGeom>
          <a:noFill/>
        </p:spPr>
        <p:txBody>
          <a:bodyPr wrap="square">
            <a:spAutoFit/>
          </a:bodyPr>
          <a:lstStyle/>
          <a:p>
            <a:pPr>
              <a:spcAft>
                <a:spcPts val="600"/>
              </a:spcAft>
              <a:defRPr sz="1200" b="0">
                <a:solidFill>
                  <a:srgbClr val="52514E"/>
                </a:solidFill>
              </a:defRPr>
            </a:pPr>
            <a:r>
              <a:t>Mahanadi delta</a:t>
            </a:r>
          </a:p>
        </p:txBody>
      </p:sp>
      <p:pic>
        <p:nvPicPr>
          <p:cNvPr id="7" name="Picture 6" descr="brahmani.png"/>
          <p:cNvPicPr>
            <a:picLocks noChangeAspect="1"/>
          </p:cNvPicPr>
          <p:nvPr/>
        </p:nvPicPr>
        <p:blipFill>
          <a:blip r:embed="rId3"/>
          <a:stretch>
            <a:fillRect/>
          </a:stretch>
        </p:blipFill>
        <p:spPr>
          <a:xfrm>
            <a:off x="4399685" y="1371600"/>
            <a:ext cx="3362148" cy="2560320"/>
          </a:xfrm>
          <a:prstGeom prst="rect">
            <a:avLst/>
          </a:prstGeom>
        </p:spPr>
      </p:pic>
      <p:sp>
        <p:nvSpPr>
          <p:cNvPr id="8" name="TextBox 7"/>
          <p:cNvSpPr txBox="1"/>
          <p:nvPr/>
        </p:nvSpPr>
        <p:spPr>
          <a:xfrm>
            <a:off x="4399685" y="3950208"/>
            <a:ext cx="3566160" cy="274320"/>
          </a:xfrm>
          <a:prstGeom prst="rect">
            <a:avLst/>
          </a:prstGeom>
          <a:noFill/>
        </p:spPr>
        <p:txBody>
          <a:bodyPr wrap="square">
            <a:spAutoFit/>
          </a:bodyPr>
          <a:lstStyle/>
          <a:p>
            <a:pPr>
              <a:spcAft>
                <a:spcPts val="600"/>
              </a:spcAft>
              <a:defRPr sz="1200" b="0">
                <a:solidFill>
                  <a:srgbClr val="52514E"/>
                </a:solidFill>
              </a:defRPr>
            </a:pPr>
            <a:r>
              <a:t>Brahmani–Baitarani delta</a:t>
            </a:r>
          </a:p>
        </p:txBody>
      </p:sp>
      <p:pic>
        <p:nvPicPr>
          <p:cNvPr id="9" name="Picture 8" descr="brahmaputra.png"/>
          <p:cNvPicPr>
            <a:picLocks noChangeAspect="1"/>
          </p:cNvPicPr>
          <p:nvPr/>
        </p:nvPicPr>
        <p:blipFill>
          <a:blip r:embed="rId4"/>
          <a:stretch>
            <a:fillRect/>
          </a:stretch>
        </p:blipFill>
        <p:spPr>
          <a:xfrm>
            <a:off x="8585022" y="1371600"/>
            <a:ext cx="2672434" cy="2560320"/>
          </a:xfrm>
          <a:prstGeom prst="rect">
            <a:avLst/>
          </a:prstGeom>
        </p:spPr>
      </p:pic>
      <p:sp>
        <p:nvSpPr>
          <p:cNvPr id="10" name="TextBox 9"/>
          <p:cNvSpPr txBox="1"/>
          <p:nvPr/>
        </p:nvSpPr>
        <p:spPr>
          <a:xfrm>
            <a:off x="8585022" y="3950208"/>
            <a:ext cx="3566160" cy="274320"/>
          </a:xfrm>
          <a:prstGeom prst="rect">
            <a:avLst/>
          </a:prstGeom>
          <a:noFill/>
        </p:spPr>
        <p:txBody>
          <a:bodyPr wrap="square">
            <a:spAutoFit/>
          </a:bodyPr>
          <a:lstStyle/>
          <a:p>
            <a:pPr>
              <a:spcAft>
                <a:spcPts val="600"/>
              </a:spcAft>
              <a:defRPr sz="1200" b="0">
                <a:solidFill>
                  <a:srgbClr val="52514E"/>
                </a:solidFill>
              </a:defRPr>
            </a:pPr>
            <a:r>
              <a:t>Brahmaputra at Majuli</a:t>
            </a:r>
          </a:p>
        </p:txBody>
      </p:sp>
      <p:graphicFrame>
        <p:nvGraphicFramePr>
          <p:cNvPr id="11" name="Table 10"/>
          <p:cNvGraphicFramePr>
            <a:graphicFrameLocks noGrp="1"/>
          </p:cNvGraphicFramePr>
          <p:nvPr/>
        </p:nvGraphicFramePr>
        <p:xfrm>
          <a:off x="457200" y="4343400"/>
          <a:ext cx="11247120" cy="1280160"/>
        </p:xfrm>
        <a:graphic>
          <a:graphicData uri="http://schemas.openxmlformats.org/drawingml/2006/table">
            <a:tbl>
              <a:tblPr firstRow="1" bandRow="1">
                <a:tableStyleId>{5C22544A-7EE6-4342-B048-85BDC9FD1C3A}</a:tableStyleId>
              </a:tblPr>
              <a:tblGrid>
                <a:gridCol w="2743200"/>
                <a:gridCol w="1280160"/>
                <a:gridCol w="2377440"/>
                <a:gridCol w="2743200"/>
                <a:gridCol w="2103120"/>
              </a:tblGrid>
              <a:tr h="320040">
                <a:tc>
                  <a:txBody>
                    <a:bodyPr/>
                    <a:lstStyle/>
                    <a:p>
                      <a:pPr>
                        <a:defRPr sz="1200" b="1"/>
                      </a:pPr>
                      <a:r>
                        <a:t>Basin</a:t>
                      </a:r>
                    </a:p>
                  </a:txBody>
                  <a:tcPr/>
                </a:tc>
                <a:tc>
                  <a:txBody>
                    <a:bodyPr/>
                    <a:lstStyle/>
                    <a:p>
                      <a:pPr>
                        <a:defRPr sz="1200" b="1"/>
                      </a:pPr>
                      <a:r>
                        <a:t>Passes</a:t>
                      </a:r>
                    </a:p>
                  </a:txBody>
                  <a:tcPr/>
                </a:tc>
                <a:tc>
                  <a:txBody>
                    <a:bodyPr/>
                    <a:lstStyle/>
                    <a:p>
                      <a:pPr>
                        <a:defRPr sz="1200" b="1"/>
                      </a:pPr>
                      <a:r>
                        <a:t>Flooded at least once (km²)</a:t>
                      </a:r>
                    </a:p>
                  </a:txBody>
                  <a:tcPr/>
                </a:tc>
                <a:tc>
                  <a:txBody>
                    <a:bodyPr/>
                    <a:lstStyle/>
                    <a:p>
                      <a:pPr>
                        <a:defRPr sz="1200" b="1"/>
                      </a:pPr>
                      <a:r>
                        <a:t>25-year flood: land (km²) / people</a:t>
                      </a:r>
                    </a:p>
                  </a:txBody>
                  <a:tcPr/>
                </a:tc>
                <a:tc>
                  <a:txBody>
                    <a:bodyPr/>
                    <a:lstStyle/>
                    <a:p>
                      <a:pPr>
                        <a:defRPr sz="1200" b="1"/>
                      </a:pPr>
                      <a:r>
                        <a:t>Held-out high flows (IoU)</a:t>
                      </a:r>
                    </a:p>
                  </a:txBody>
                  <a:tcPr/>
                </a:tc>
              </a:tr>
              <a:tr h="320040">
                <a:tc>
                  <a:txBody>
                    <a:bodyPr/>
                    <a:lstStyle/>
                    <a:p>
                      <a:pPr>
                        <a:defRPr sz="1200" b="0"/>
                      </a:pPr>
                      <a:r>
                        <a:t>Mahanadi delta</a:t>
                      </a:r>
                    </a:p>
                  </a:txBody>
                  <a:tcPr/>
                </a:tc>
                <a:tc>
                  <a:txBody>
                    <a:bodyPr/>
                    <a:lstStyle/>
                    <a:p>
                      <a:pPr>
                        <a:defRPr sz="1200" b="0"/>
                      </a:pPr>
                      <a:r>
                        <a:t>590</a:t>
                      </a:r>
                    </a:p>
                  </a:txBody>
                  <a:tcPr/>
                </a:tc>
                <a:tc>
                  <a:txBody>
                    <a:bodyPr/>
                    <a:lstStyle/>
                    <a:p>
                      <a:pPr>
                        <a:defRPr sz="1200" b="0"/>
                      </a:pPr>
                      <a:r>
                        <a:t>1,137</a:t>
                      </a:r>
                    </a:p>
                  </a:txBody>
                  <a:tcPr/>
                </a:tc>
                <a:tc>
                  <a:txBody>
                    <a:bodyPr/>
                    <a:lstStyle/>
                    <a:p>
                      <a:pPr>
                        <a:defRPr sz="1200" b="0"/>
                      </a:pPr>
                      <a:r>
                        <a:t>≥ 240 / ≥ 30,427</a:t>
                      </a:r>
                    </a:p>
                  </a:txBody>
                  <a:tcPr/>
                </a:tc>
                <a:tc>
                  <a:txBody>
                    <a:bodyPr/>
                    <a:lstStyle/>
                    <a:p>
                      <a:pPr>
                        <a:defRPr sz="1200" b="0"/>
                      </a:pPr>
                      <a:r>
                        <a:t>0.20 vs 0.04</a:t>
                      </a:r>
                    </a:p>
                  </a:txBody>
                  <a:tcPr/>
                </a:tc>
              </a:tr>
              <a:tr h="320040">
                <a:tc>
                  <a:txBody>
                    <a:bodyPr/>
                    <a:lstStyle/>
                    <a:p>
                      <a:pPr>
                        <a:defRPr sz="1200" b="0"/>
                      </a:pPr>
                      <a:r>
                        <a:t>Brahmani–Baitarani delta</a:t>
                      </a:r>
                    </a:p>
                  </a:txBody>
                  <a:tcPr/>
                </a:tc>
                <a:tc>
                  <a:txBody>
                    <a:bodyPr/>
                    <a:lstStyle/>
                    <a:p>
                      <a:pPr>
                        <a:defRPr sz="1200" b="0"/>
                      </a:pPr>
                      <a:r>
                        <a:t>394</a:t>
                      </a:r>
                    </a:p>
                  </a:txBody>
                  <a:tcPr/>
                </a:tc>
                <a:tc>
                  <a:txBody>
                    <a:bodyPr/>
                    <a:lstStyle/>
                    <a:p>
                      <a:pPr>
                        <a:defRPr sz="1200" b="0"/>
                      </a:pPr>
                      <a:r>
                        <a:t>2,277</a:t>
                      </a:r>
                    </a:p>
                  </a:txBody>
                  <a:tcPr/>
                </a:tc>
                <a:tc>
                  <a:txBody>
                    <a:bodyPr/>
                    <a:lstStyle/>
                    <a:p>
                      <a:pPr>
                        <a:defRPr sz="1200" b="0"/>
                      </a:pPr>
                      <a:r>
                        <a:t>≥ 950 / ≥ 129,662</a:t>
                      </a:r>
                    </a:p>
                  </a:txBody>
                  <a:tcPr/>
                </a:tc>
                <a:tc>
                  <a:txBody>
                    <a:bodyPr/>
                    <a:lstStyle/>
                    <a:p>
                      <a:pPr>
                        <a:defRPr sz="1200" b="0"/>
                      </a:pPr>
                      <a:r>
                        <a:t>0.17 vs 0.01</a:t>
                      </a:r>
                    </a:p>
                  </a:txBody>
                  <a:tcPr/>
                </a:tc>
              </a:tr>
              <a:tr h="320040">
                <a:tc>
                  <a:txBody>
                    <a:bodyPr/>
                    <a:lstStyle/>
                    <a:p>
                      <a:pPr>
                        <a:defRPr sz="1200" b="0"/>
                      </a:pPr>
                      <a:r>
                        <a:t>Brahmaputra at Majuli</a:t>
                      </a:r>
                    </a:p>
                  </a:txBody>
                  <a:tcPr/>
                </a:tc>
                <a:tc>
                  <a:txBody>
                    <a:bodyPr/>
                    <a:lstStyle/>
                    <a:p>
                      <a:pPr>
                        <a:defRPr sz="1200" b="0"/>
                      </a:pPr>
                      <a:r>
                        <a:t>346</a:t>
                      </a:r>
                    </a:p>
                  </a:txBody>
                  <a:tcPr/>
                </a:tc>
                <a:tc>
                  <a:txBody>
                    <a:bodyPr/>
                    <a:lstStyle/>
                    <a:p>
                      <a:pPr>
                        <a:defRPr sz="1200" b="0"/>
                      </a:pPr>
                      <a:r>
                        <a:t>2,145</a:t>
                      </a:r>
                    </a:p>
                  </a:txBody>
                  <a:tcPr/>
                </a:tc>
                <a:tc>
                  <a:txBody>
                    <a:bodyPr/>
                    <a:lstStyle/>
                    <a:p>
                      <a:pPr>
                        <a:defRPr sz="1200" b="0"/>
                      </a:pPr>
                      <a:r>
                        <a:t>≥ 1,120 / ≥ 77,655</a:t>
                      </a:r>
                    </a:p>
                  </a:txBody>
                  <a:tcPr/>
                </a:tc>
                <a:tc>
                  <a:txBody>
                    <a:bodyPr/>
                    <a:lstStyle/>
                    <a:p>
                      <a:pPr>
                        <a:defRPr sz="1200" b="0"/>
                      </a:pPr>
                      <a:r>
                        <a:t>0.31 vs 0.05</a:t>
                      </a:r>
                    </a:p>
                  </a:txBody>
                  <a:tcPr/>
                </a:tc>
              </a:tr>
            </a:tbl>
          </a:graphicData>
        </a:graphic>
      </p:graphicFrame>
      <p:sp>
        <p:nvSpPr>
          <p:cNvPr id="12" name="TextBox 11"/>
          <p:cNvSpPr txBox="1"/>
          <p:nvPr/>
        </p:nvSpPr>
        <p:spPr>
          <a:xfrm>
            <a:off x="457200" y="5989320"/>
            <a:ext cx="11247120" cy="365760"/>
          </a:xfrm>
          <a:prstGeom prst="rect">
            <a:avLst/>
          </a:prstGeom>
          <a:noFill/>
        </p:spPr>
        <p:txBody>
          <a:bodyPr wrap="square">
            <a:spAutoFit/>
          </a:bodyPr>
          <a:lstStyle/>
          <a:p>
            <a:pPr>
              <a:spcAft>
                <a:spcPts val="600"/>
              </a:spcAft>
              <a:defRPr sz="1100" b="0">
                <a:solidFill>
                  <a:srgbClr val="0B0B0B"/>
                </a:solidFill>
              </a:defRPr>
            </a:pPr>
            <a:r>
              <a:t>≥: the 25-year flow is above the largest flow on a radar pass, so the map is a lower bound. Maps: how often each pixel flooded, 2017–2026.</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274320"/>
            <a:ext cx="11247120" cy="731520"/>
          </a:xfrm>
          <a:prstGeom prst="rect">
            <a:avLst/>
          </a:prstGeom>
          <a:noFill/>
        </p:spPr>
        <p:txBody>
          <a:bodyPr wrap="square">
            <a:spAutoFit/>
          </a:bodyPr>
          <a:lstStyle/>
          <a:p>
            <a:pPr>
              <a:spcAft>
                <a:spcPts val="600"/>
              </a:spcAft>
              <a:defRPr sz="3000" b="1">
                <a:solidFill>
                  <a:srgbClr val="0B0B0B"/>
                </a:solidFill>
              </a:defRPr>
            </a:pPr>
            <a:r>
              <a:t>What ClimMaTech's system lacks, and what we add</a:t>
            </a:r>
          </a:p>
        </p:txBody>
      </p:sp>
      <p:sp>
        <p:nvSpPr>
          <p:cNvPr id="3" name="TextBox 2"/>
          <p:cNvSpPr txBox="1"/>
          <p:nvPr/>
        </p:nvSpPr>
        <p:spPr>
          <a:xfrm>
            <a:off x="457200" y="914400"/>
            <a:ext cx="11247120" cy="548640"/>
          </a:xfrm>
          <a:prstGeom prst="rect">
            <a:avLst/>
          </a:prstGeom>
          <a:noFill/>
        </p:spPr>
        <p:txBody>
          <a:bodyPr wrap="square">
            <a:spAutoFit/>
          </a:bodyPr>
          <a:lstStyle/>
          <a:p>
            <a:pPr>
              <a:spcAft>
                <a:spcPts val="600"/>
              </a:spcAft>
              <a:defRPr sz="1600" b="0">
                <a:solidFill>
                  <a:srgbClr val="52514E"/>
                </a:solidFill>
              </a:defRPr>
            </a:pPr>
            <a:r>
              <a:t>From all 50 pages of climmatech.com; every row has a number behind it</a:t>
            </a:r>
          </a:p>
        </p:txBody>
      </p:sp>
      <p:sp>
        <p:nvSpPr>
          <p:cNvPr id="4" name="TextBox 3"/>
          <p:cNvSpPr txBox="1"/>
          <p:nvPr/>
        </p:nvSpPr>
        <p:spPr>
          <a:xfrm>
            <a:off x="457200" y="6400800"/>
            <a:ext cx="11247120" cy="365760"/>
          </a:xfrm>
          <a:prstGeom prst="rect">
            <a:avLst/>
          </a:prstGeom>
          <a:noFill/>
        </p:spPr>
        <p:txBody>
          <a:bodyPr wrap="square">
            <a:spAutoFit/>
          </a:bodyPr>
          <a:lstStyle/>
          <a:p>
            <a:pPr>
              <a:spcAft>
                <a:spcPts val="600"/>
              </a:spcAft>
              <a:defRPr sz="1000" b="0">
                <a:solidFill>
                  <a:srgbClr val="52514E"/>
                </a:solidFill>
              </a:defRPr>
            </a:pPr>
            <a:r>
              <a:t>Prithvi Flood-IN · CE 491 IDP · IIT Bombay × ClimMaTech · final review</a:t>
            </a:r>
          </a:p>
        </p:txBody>
      </p:sp>
      <p:graphicFrame>
        <p:nvGraphicFramePr>
          <p:cNvPr id="5" name="Table 4"/>
          <p:cNvGraphicFramePr>
            <a:graphicFrameLocks noGrp="1"/>
          </p:cNvGraphicFramePr>
          <p:nvPr/>
        </p:nvGraphicFramePr>
        <p:xfrm>
          <a:off x="365760" y="1280160"/>
          <a:ext cx="11430000" cy="2560320"/>
        </p:xfrm>
        <a:graphic>
          <a:graphicData uri="http://schemas.openxmlformats.org/drawingml/2006/table">
            <a:tbl>
              <a:tblPr firstRow="1" bandRow="1">
                <a:tableStyleId>{5C22544A-7EE6-4342-B048-85BDC9FD1C3A}</a:tableStyleId>
              </a:tblPr>
              <a:tblGrid>
                <a:gridCol w="2651760"/>
                <a:gridCol w="3017520"/>
                <a:gridCol w="5760720"/>
              </a:tblGrid>
              <a:tr h="320040">
                <a:tc>
                  <a:txBody>
                    <a:bodyPr/>
                    <a:lstStyle/>
                    <a:p>
                      <a:pPr>
                        <a:defRPr sz="1200" b="1"/>
                      </a:pPr>
                      <a:r>
                        <a:t>Their service</a:t>
                      </a:r>
                    </a:p>
                  </a:txBody>
                  <a:tcPr/>
                </a:tc>
                <a:tc>
                  <a:txBody>
                    <a:bodyPr/>
                    <a:lstStyle/>
                    <a:p>
                      <a:pPr>
                        <a:defRPr sz="1200" b="1"/>
                      </a:pPr>
                      <a:r>
                        <a:t>Gap</a:t>
                      </a:r>
                    </a:p>
                  </a:txBody>
                  <a:tcPr/>
                </a:tc>
                <a:tc>
                  <a:txBody>
                    <a:bodyPr/>
                    <a:lstStyle/>
                    <a:p>
                      <a:pPr>
                        <a:defRPr sz="1200" b="1"/>
                      </a:pPr>
                      <a:r>
                        <a:t>What we add (evidence)</a:t>
                      </a:r>
                    </a:p>
                  </a:txBody>
                  <a:tcPr/>
                </a:tc>
              </a:tr>
              <a:tr h="320040">
                <a:tc>
                  <a:txBody>
                    <a:bodyPr/>
                    <a:lstStyle/>
                    <a:p>
                      <a:pPr>
                        <a:defRPr sz="1200" b="0"/>
                      </a:pPr>
                      <a:r>
                        <a:t>River View map layer</a:t>
                      </a:r>
                    </a:p>
                  </a:txBody>
                  <a:tcPr/>
                </a:tc>
                <a:tc>
                  <a:txBody>
                    <a:bodyPr/>
                    <a:lstStyle/>
                    <a:p>
                      <a:pPr>
                        <a:defRPr sz="1200" b="0"/>
                      </a:pPr>
                      <a:r>
                        <a:t>No flood extent behind it</a:t>
                      </a:r>
                    </a:p>
                  </a:txBody>
                  <a:tcPr/>
                </a:tc>
                <a:tc>
                  <a:txBody>
                    <a:bodyPr/>
                    <a:lstStyle/>
                    <a:p>
                      <a:pPr>
                        <a:defRPr sz="1200" b="0"/>
                      </a:pPr>
                      <a:r>
                        <a:t>Flood frequency, trigger flow and impact layers (590 passes; IoU 0.20 vs 0.04)</a:t>
                      </a:r>
                    </a:p>
                  </a:txBody>
                  <a:tcPr/>
                </a:tc>
              </a:tr>
              <a:tr h="320040">
                <a:tc>
                  <a:txBody>
                    <a:bodyPr/>
                    <a:lstStyle/>
                    <a:p>
                      <a:pPr>
                        <a:defRPr sz="1200" b="0"/>
                      </a:pPr>
                      <a:r>
                        <a:t>AI forecast, 30 min-48 h</a:t>
                      </a:r>
                    </a:p>
                  </a:txBody>
                  <a:tcPr/>
                </a:tc>
                <a:tc>
                  <a:txBody>
                    <a:bodyPr/>
                    <a:lstStyle/>
                    <a:p>
                      <a:pPr>
                        <a:defRPr sz="1200" b="0"/>
                      </a:pPr>
                      <a:r>
                        <a:t>A level is not a list of villages</a:t>
                      </a:r>
                    </a:p>
                  </a:txBody>
                  <a:tcPr/>
                </a:tc>
                <a:tc>
                  <a:txBody>
                    <a:bodyPr/>
                    <a:lstStyle/>
                    <a:p>
                      <a:pPr>
                        <a:defRPr sz="1200" b="0"/>
                      </a:pPr>
                      <a:r>
                        <a:t>Forecast-to-bulletin: 25-yr flow -&gt; 240 km², 30,427 people, 32 settlements</a:t>
                      </a:r>
                    </a:p>
                  </a:txBody>
                  <a:tcPr/>
                </a:tc>
              </a:tr>
              <a:tr h="320040">
                <a:tc>
                  <a:txBody>
                    <a:bodyPr/>
                    <a:lstStyle/>
                    <a:p>
                      <a:pPr>
                        <a:defRPr sz="1200" b="0"/>
                      </a:pPr>
                      <a:r>
                        <a:t>Research group reconstructions</a:t>
                      </a:r>
                    </a:p>
                  </a:txBody>
                  <a:tcPr/>
                </a:tc>
                <a:tc>
                  <a:txBody>
                    <a:bodyPr/>
                    <a:lstStyle/>
                    <a:p>
                      <a:pPr>
                        <a:defRPr sz="1200" b="0"/>
                      </a:pPr>
                      <a:r>
                        <a:t>Width by hand; optical 75-79 % cloud</a:t>
                      </a:r>
                    </a:p>
                  </a:txBody>
                  <a:tcPr/>
                </a:tc>
                <a:tc>
                  <a:txBody>
                    <a:bodyPr/>
                    <a:lstStyle/>
                    <a:p>
                      <a:pPr>
                        <a:defRPr sz="1200" b="0"/>
                      </a:pPr>
                      <a:r>
                        <a:t>Benchmarked radar model maps every Sentinel-1 pass through cloud, ~5 s per pass</a:t>
                      </a:r>
                    </a:p>
                  </a:txBody>
                  <a:tcPr/>
                </a:tc>
              </a:tr>
              <a:tr h="320040">
                <a:tc>
                  <a:txBody>
                    <a:bodyPr/>
                    <a:lstStyle/>
                    <a:p>
                      <a:pPr>
                        <a:defRPr sz="1200" b="0"/>
                      </a:pPr>
                      <a:r>
                        <a:t>Solution pages</a:t>
                      </a:r>
                    </a:p>
                  </a:txBody>
                  <a:tcPr/>
                </a:tc>
                <a:tc>
                  <a:txBody>
                    <a:bodyPr/>
                    <a:lstStyle/>
                    <a:p>
                      <a:pPr>
                        <a:defRPr sz="1200" b="0"/>
                      </a:pPr>
                      <a:r>
                        <a:t>Illustrative site layouts</a:t>
                      </a:r>
                    </a:p>
                  </a:txBody>
                  <a:tcPr/>
                </a:tc>
                <a:tc>
                  <a:txBody>
                    <a:bodyPr/>
                    <a:lstStyle/>
                    <a:p>
                      <a:pPr>
                        <a:defRPr sz="1200" b="0"/>
                      </a:pPr>
                      <a:r>
                        <a:t>Data-backed siting: 40 sirens reach 48% of exposed people; 6 sensor bridges</a:t>
                      </a:r>
                    </a:p>
                  </a:txBody>
                  <a:tcPr/>
                </a:tc>
              </a:tr>
              <a:tr h="320040">
                <a:tc>
                  <a:txBody>
                    <a:bodyPr/>
                    <a:lstStyle/>
                    <a:p>
                      <a:pPr>
                        <a:defRPr sz="1200" b="0"/>
                      </a:pPr>
                      <a:r>
                        <a:t>Pravaah discharge</a:t>
                      </a:r>
                    </a:p>
                  </a:txBody>
                  <a:tcPr/>
                </a:tc>
                <a:tc>
                  <a:txBody>
                    <a:bodyPr/>
                    <a:lstStyle/>
                    <a:p>
                      <a:pPr>
                        <a:defRPr sz="1200" b="0"/>
                      </a:pPr>
                      <a:r>
                        <a:t>Needs section + velocity factor</a:t>
                      </a:r>
                    </a:p>
                  </a:txBody>
                  <a:tcPr/>
                </a:tc>
                <a:tc>
                  <a:txBody>
                    <a:bodyPr/>
                    <a:lstStyle/>
                    <a:p>
                      <a:pPr>
                        <a:defRPr sz="1200" b="0"/>
                      </a:pPr>
                      <a:r>
                        <a:t>Field protocols B and C measure both, plus Manning's n</a:t>
                      </a:r>
                    </a:p>
                  </a:txBody>
                  <a:tcPr/>
                </a:tc>
              </a:tr>
              <a:tr h="320040">
                <a:tc>
                  <a:txBody>
                    <a:bodyPr/>
                    <a:lstStyle/>
                    <a:p>
                      <a:pPr>
                        <a:defRPr sz="1200" b="0"/>
                      </a:pPr>
                      <a:r>
                        <a:t>Varshaq rain gauge</a:t>
                      </a:r>
                    </a:p>
                  </a:txBody>
                  <a:tcPr/>
                </a:tc>
                <a:tc>
                  <a:txBody>
                    <a:bodyPr/>
                    <a:lstStyle/>
                    <a:p>
                      <a:pPr>
                        <a:defRPr sz="1200" b="0"/>
                      </a:pPr>
                      <a:r>
                        <a:t>Rain not linked to flooded land</a:t>
                      </a:r>
                    </a:p>
                  </a:txBody>
                  <a:tcPr/>
                </a:tc>
                <a:tc>
                  <a:txBody>
                    <a:bodyPr/>
                    <a:lstStyle/>
                    <a:p>
                      <a:pPr>
                        <a:defRPr sz="1200" b="0"/>
                      </a:pPr>
                      <a:r>
                        <a:t>Rain-aware maps: analogs and the learned flow + rain model</a:t>
                      </a:r>
                    </a:p>
                  </a:txBody>
                  <a:tcPr/>
                </a:tc>
              </a:tr>
              <a:tr h="320040">
                <a:tc>
                  <a:txBody>
                    <a:bodyPr/>
                    <a:lstStyle/>
                    <a:p>
                      <a:pPr>
                        <a:defRPr sz="1200" b="0"/>
                      </a:pPr>
                      <a:r>
                        <a:t>Rakshak Control Centre</a:t>
                      </a:r>
                    </a:p>
                  </a:txBody>
                  <a:tcPr/>
                </a:tc>
                <a:tc>
                  <a:txBody>
                    <a:bodyPr/>
                    <a:lstStyle/>
                    <a:p>
                      <a:pPr>
                        <a:defRPr sz="1200" b="0"/>
                      </a:pPr>
                      <a:r>
                        <a:t>Alert areas drawn by hand</a:t>
                      </a:r>
                    </a:p>
                  </a:txBody>
                  <a:tcPr/>
                </a:tc>
                <a:tc>
                  <a:txBody>
                    <a:bodyPr/>
                    <a:lstStyle/>
                    <a:p>
                      <a:pPr>
                        <a:defRPr sz="1200" b="0"/>
                      </a:pPr>
                      <a:r>
                        <a:t>CAP 1.2 alert per forecast, one area per settlement to warn</a:t>
                      </a:r>
                    </a:p>
                  </a:txBody>
                  <a:tcPr/>
                </a:tc>
              </a:tr>
            </a:tbl>
          </a:graphicData>
        </a:graphic>
      </p:graphicFrame>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274320"/>
            <a:ext cx="11247120" cy="731520"/>
          </a:xfrm>
          <a:prstGeom prst="rect">
            <a:avLst/>
          </a:prstGeom>
          <a:noFill/>
        </p:spPr>
        <p:txBody>
          <a:bodyPr wrap="square">
            <a:spAutoFit/>
          </a:bodyPr>
          <a:lstStyle/>
          <a:p>
            <a:pPr>
              <a:spcAft>
                <a:spcPts val="600"/>
              </a:spcAft>
              <a:defRPr sz="3000" b="1">
                <a:solidFill>
                  <a:srgbClr val="0B0B0B"/>
                </a:solidFill>
              </a:defRPr>
            </a:pPr>
            <a:r>
              <a:t>Field visit: measure what the models cannot know</a:t>
            </a:r>
          </a:p>
        </p:txBody>
      </p:sp>
      <p:sp>
        <p:nvSpPr>
          <p:cNvPr id="3" name="TextBox 2"/>
          <p:cNvSpPr txBox="1"/>
          <p:nvPr/>
        </p:nvSpPr>
        <p:spPr>
          <a:xfrm>
            <a:off x="457200" y="914400"/>
            <a:ext cx="11247120" cy="548640"/>
          </a:xfrm>
          <a:prstGeom prst="rect">
            <a:avLst/>
          </a:prstGeom>
          <a:noFill/>
        </p:spPr>
        <p:txBody>
          <a:bodyPr wrap="square">
            <a:spAutoFit/>
          </a:bodyPr>
          <a:lstStyle/>
          <a:p>
            <a:pPr>
              <a:spcAft>
                <a:spcPts val="600"/>
              </a:spcAft>
              <a:defRPr sz="1600" b="0">
                <a:solidFill>
                  <a:srgbClr val="52514E"/>
                </a:solidFill>
              </a:defRPr>
            </a:pPr>
            <a:r>
              <a:t>Every measurement has a script and changes a number in the report</a:t>
            </a:r>
          </a:p>
        </p:txBody>
      </p:sp>
      <p:sp>
        <p:nvSpPr>
          <p:cNvPr id="4" name="TextBox 3"/>
          <p:cNvSpPr txBox="1"/>
          <p:nvPr/>
        </p:nvSpPr>
        <p:spPr>
          <a:xfrm>
            <a:off x="457200" y="6400800"/>
            <a:ext cx="11247120" cy="365760"/>
          </a:xfrm>
          <a:prstGeom prst="rect">
            <a:avLst/>
          </a:prstGeom>
          <a:noFill/>
        </p:spPr>
        <p:txBody>
          <a:bodyPr wrap="square">
            <a:spAutoFit/>
          </a:bodyPr>
          <a:lstStyle/>
          <a:p>
            <a:pPr>
              <a:spcAft>
                <a:spcPts val="600"/>
              </a:spcAft>
              <a:defRPr sz="1000" b="0">
                <a:solidFill>
                  <a:srgbClr val="52514E"/>
                </a:solidFill>
              </a:defRPr>
            </a:pPr>
            <a:r>
              <a:t>Prithvi Flood-IN · CE 491 IDP · IIT Bombay × ClimMaTech · final review</a:t>
            </a:r>
          </a:p>
        </p:txBody>
      </p:sp>
      <p:graphicFrame>
        <p:nvGraphicFramePr>
          <p:cNvPr id="5" name="Table 4"/>
          <p:cNvGraphicFramePr>
            <a:graphicFrameLocks noGrp="1"/>
          </p:cNvGraphicFramePr>
          <p:nvPr/>
        </p:nvGraphicFramePr>
        <p:xfrm>
          <a:off x="548640" y="1463040"/>
          <a:ext cx="11064240" cy="2240279"/>
        </p:xfrm>
        <a:graphic>
          <a:graphicData uri="http://schemas.openxmlformats.org/drawingml/2006/table">
            <a:tbl>
              <a:tblPr firstRow="1" bandRow="1">
                <a:tableStyleId>{5C22544A-7EE6-4342-B048-85BDC9FD1C3A}</a:tableStyleId>
              </a:tblPr>
              <a:tblGrid>
                <a:gridCol w="4206240"/>
                <a:gridCol w="2651760"/>
                <a:gridCol w="4206240"/>
              </a:tblGrid>
              <a:tr h="320039">
                <a:tc>
                  <a:txBody>
                    <a:bodyPr/>
                    <a:lstStyle/>
                    <a:p>
                      <a:pPr>
                        <a:defRPr sz="1300" b="1"/>
                      </a:pPr>
                      <a:r>
                        <a:t>At the site</a:t>
                      </a:r>
                    </a:p>
                  </a:txBody>
                  <a:tcPr/>
                </a:tc>
                <a:tc>
                  <a:txBody>
                    <a:bodyPr/>
                    <a:lstStyle/>
                    <a:p>
                      <a:pPr>
                        <a:defRPr sz="1300" b="1"/>
                      </a:pPr>
                      <a:r>
                        <a:t>Feeds</a:t>
                      </a:r>
                    </a:p>
                  </a:txBody>
                  <a:tcPr/>
                </a:tc>
                <a:tc>
                  <a:txBody>
                    <a:bodyPr/>
                    <a:lstStyle/>
                    <a:p>
                      <a:pPr>
                        <a:defRPr sz="1300" b="1"/>
                      </a:pPr>
                      <a:r>
                        <a:t>What it can change</a:t>
                      </a:r>
                    </a:p>
                  </a:txBody>
                  <a:tcPr/>
                </a:tc>
              </a:tr>
              <a:tr h="320039">
                <a:tc>
                  <a:txBody>
                    <a:bodyPr/>
                    <a:lstStyle/>
                    <a:p>
                      <a:pPr>
                        <a:defRPr sz="1300" b="0"/>
                      </a:pPr>
                      <a:r>
                        <a:t>40 random ground-truth points, flood marks, villagers' years</a:t>
                      </a:r>
                    </a:p>
                  </a:txBody>
                  <a:tcPr/>
                </a:tc>
                <a:tc>
                  <a:txBody>
                    <a:bodyPr/>
                    <a:lstStyle/>
                    <a:p>
                      <a:pPr>
                        <a:defRPr sz="1300" b="0"/>
                      </a:pPr>
                      <a:r>
                        <a:t>field_validate_map.py</a:t>
                      </a:r>
                    </a:p>
                  </a:txBody>
                  <a:tcPr/>
                </a:tc>
                <a:tc>
                  <a:txBody>
                    <a:bodyPr/>
                    <a:lstStyle/>
                    <a:p>
                      <a:pPr>
                        <a:defRPr sz="1300" b="0"/>
                      </a:pPr>
                      <a:r>
                        <a:t>Atlas accuracy (POD / FAR / CSI) for ClimMaTech</a:t>
                      </a:r>
                    </a:p>
                  </a:txBody>
                  <a:tcPr/>
                </a:tc>
              </a:tr>
              <a:tr h="320039">
                <a:tc>
                  <a:txBody>
                    <a:bodyPr/>
                    <a:lstStyle/>
                    <a:p>
                      <a:pPr>
                        <a:defRPr sz="1300" b="0"/>
                      </a:pPr>
                      <a:r>
                        <a:t>Cross-section + floats + slope at a bridge</a:t>
                      </a:r>
                    </a:p>
                  </a:txBody>
                  <a:tcPr/>
                </a:tc>
                <a:tc>
                  <a:txBody>
                    <a:bodyPr/>
                    <a:lstStyle/>
                    <a:p>
                      <a:pPr>
                        <a:defRPr sz="1300" b="0"/>
                      </a:pPr>
                      <a:r>
                        <a:t>discharge_velocity_area.py</a:t>
                      </a:r>
                    </a:p>
                  </a:txBody>
                  <a:tcPr/>
                </a:tc>
                <a:tc>
                  <a:txBody>
                    <a:bodyPr/>
                    <a:lstStyle/>
                    <a:p>
                      <a:pPr>
                        <a:defRPr sz="1300" b="0"/>
                      </a:pPr>
                      <a:r>
                        <a:t>GloFAS check; Manning's n for the PINN (now 0.015 assumed)</a:t>
                      </a:r>
                    </a:p>
                  </a:txBody>
                  <a:tcPr/>
                </a:tc>
              </a:tr>
              <a:tr h="320039">
                <a:tc>
                  <a:txBody>
                    <a:bodyPr/>
                    <a:lstStyle/>
                    <a:p>
                      <a:pPr>
                        <a:defRPr sz="1300" b="0"/>
                      </a:pPr>
                      <a:r>
                        <a:t>Bridge deck, HFL marks, scour, closures</a:t>
                      </a:r>
                    </a:p>
                  </a:txBody>
                  <a:tcPr/>
                </a:tc>
                <a:tc>
                  <a:txBody>
                    <a:bodyPr/>
                    <a:lstStyle/>
                    <a:p>
                      <a:pPr>
                        <a:defRPr sz="1300" b="0"/>
                      </a:pPr>
                      <a:r>
                        <a:t>bridge_clearance.py</a:t>
                      </a:r>
                    </a:p>
                  </a:txBody>
                  <a:tcPr/>
                </a:tc>
                <a:tc>
                  <a:txBody>
                    <a:bodyPr/>
                    <a:lstStyle/>
                    <a:p>
                      <a:pPr>
                        <a:defRPr sz="1300" b="0"/>
                      </a:pPr>
                      <a:r>
                        <a:t>IRC:5 clearance; critical-link ranking</a:t>
                      </a:r>
                    </a:p>
                  </a:txBody>
                  <a:tcPr/>
                </a:tc>
              </a:tr>
              <a:tr h="320039">
                <a:tc>
                  <a:txBody>
                    <a:bodyPr/>
                    <a:lstStyle/>
                    <a:p>
                      <a:pPr>
                        <a:defRPr sz="1300" b="0"/>
                      </a:pPr>
                      <a:r>
                        <a:t>Bank inspection + soil samples → IITB lab</a:t>
                      </a:r>
                    </a:p>
                  </a:txBody>
                  <a:tcPr/>
                </a:tc>
                <a:tc>
                  <a:txBody>
                    <a:bodyPr/>
                    <a:lstStyle/>
                    <a:p>
                      <a:pPr>
                        <a:defRPr sz="1300" b="0"/>
                      </a:pPr>
                      <a:r>
                        <a:t>soil_gradation.py</a:t>
                      </a:r>
                    </a:p>
                  </a:txBody>
                  <a:tcPr/>
                </a:tc>
                <a:tc>
                  <a:txBody>
                    <a:bodyPr/>
                    <a:lstStyle/>
                    <a:p>
                      <a:pPr>
                        <a:defRPr sz="1300" b="0"/>
                      </a:pPr>
                      <a:r>
                        <a:t>Bank inspection ranking (replaces SoilGrids)</a:t>
                      </a:r>
                    </a:p>
                  </a:txBody>
                  <a:tcPr/>
                </a:tc>
              </a:tr>
              <a:tr h="320039">
                <a:tc>
                  <a:txBody>
                    <a:bodyPr/>
                    <a:lstStyle/>
                    <a:p>
                      <a:pPr>
                        <a:defRPr sz="1300" b="0"/>
                      </a:pPr>
                      <a:r>
                        <a:t>Siren / sensor site sheets</a:t>
                      </a:r>
                    </a:p>
                  </a:txBody>
                  <a:tcPr/>
                </a:tc>
                <a:tc>
                  <a:txBody>
                    <a:bodyPr/>
                    <a:lstStyle/>
                    <a:p>
                      <a:pPr>
                        <a:defRPr sz="1300" b="0"/>
                      </a:pPr>
                      <a:r>
                        <a:t>sensor_site_assessment.csv</a:t>
                      </a:r>
                    </a:p>
                  </a:txBody>
                  <a:tcPr/>
                </a:tc>
                <a:tc>
                  <a:txBody>
                    <a:bodyPr/>
                    <a:lstStyle/>
                    <a:p>
                      <a:pPr>
                        <a:defRPr sz="1300" b="0"/>
                      </a:pPr>
                      <a:r>
                        <a:t>Final deployment list</a:t>
                      </a:r>
                    </a:p>
                  </a:txBody>
                  <a:tcPr/>
                </a:tc>
              </a:tr>
              <a:tr h="320045">
                <a:tc>
                  <a:txBody>
                    <a:bodyPr/>
                    <a:lstStyle/>
                    <a:p>
                      <a:pPr>
                        <a:defRPr sz="1300" b="0"/>
                      </a:pPr>
                      <a:r>
                        <a:t>Interviews: WRD, CWC, ClimMaTech, villages</a:t>
                      </a:r>
                    </a:p>
                  </a:txBody>
                  <a:tcPr/>
                </a:tc>
                <a:tc>
                  <a:txBody>
                    <a:bodyPr/>
                    <a:lstStyle/>
                    <a:p>
                      <a:pPr>
                        <a:defRPr sz="1300" b="0"/>
                      </a:pPr>
                      <a:r>
                        <a:t>interviews.csv</a:t>
                      </a:r>
                    </a:p>
                  </a:txBody>
                  <a:tcPr/>
                </a:tc>
                <a:tc>
                  <a:txBody>
                    <a:bodyPr/>
                    <a:lstStyle/>
                    <a:p>
                      <a:pPr>
                        <a:defRPr sz="1300" b="0"/>
                      </a:pPr>
                      <a:r>
                        <a:t>Problem statement; 'which flow floods which village'</a:t>
                      </a:r>
                    </a:p>
                  </a:txBody>
                  <a:tcPr/>
                </a:tc>
              </a:tr>
            </a:tbl>
          </a:graphicData>
        </a:graphic>
      </p:graphicFrame>
      <p:sp>
        <p:nvSpPr>
          <p:cNvPr id="6" name="TextBox 5"/>
          <p:cNvSpPr txBox="1"/>
          <p:nvPr/>
        </p:nvSpPr>
        <p:spPr>
          <a:xfrm>
            <a:off x="548640" y="5120640"/>
            <a:ext cx="11064240" cy="1097280"/>
          </a:xfrm>
          <a:prstGeom prst="rect">
            <a:avLst/>
          </a:prstGeom>
          <a:noFill/>
        </p:spPr>
        <p:txBody>
          <a:bodyPr wrap="square">
            <a:spAutoFit/>
          </a:bodyPr>
          <a:lstStyle/>
          <a:p>
            <a:pPr>
              <a:spcAft>
                <a:spcPts val="600"/>
              </a:spcAft>
              <a:defRPr sz="1400" b="0">
                <a:solidFill>
                  <a:srgbClr val="0B0B0B"/>
                </a:solidFill>
              </a:defRPr>
            </a:pPr>
            <a:r>
              <a:t>• GPS check points (GPX / KML), printed dossier, protocols, safety rules: fieldkit/</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274320"/>
            <a:ext cx="11247120" cy="731520"/>
          </a:xfrm>
          <a:prstGeom prst="rect">
            <a:avLst/>
          </a:prstGeom>
          <a:noFill/>
        </p:spPr>
        <p:txBody>
          <a:bodyPr wrap="square">
            <a:spAutoFit/>
          </a:bodyPr>
          <a:lstStyle/>
          <a:p>
            <a:pPr>
              <a:spcAft>
                <a:spcPts val="600"/>
              </a:spcAft>
              <a:defRPr sz="3000" b="1">
                <a:solidFill>
                  <a:srgbClr val="0B0B0B"/>
                </a:solidFill>
              </a:defRPr>
            </a:pPr>
            <a:r>
              <a:t>Checks of our own numbers</a:t>
            </a:r>
          </a:p>
        </p:txBody>
      </p:sp>
      <p:sp>
        <p:nvSpPr>
          <p:cNvPr id="3" name="TextBox 2"/>
          <p:cNvSpPr txBox="1"/>
          <p:nvPr/>
        </p:nvSpPr>
        <p:spPr>
          <a:xfrm>
            <a:off x="457200" y="914400"/>
            <a:ext cx="11247120" cy="548640"/>
          </a:xfrm>
          <a:prstGeom prst="rect">
            <a:avLst/>
          </a:prstGeom>
          <a:noFill/>
        </p:spPr>
        <p:txBody>
          <a:bodyPr wrap="square">
            <a:spAutoFit/>
          </a:bodyPr>
          <a:lstStyle/>
          <a:p>
            <a:pPr>
              <a:spcAft>
                <a:spcPts val="600"/>
              </a:spcAft>
              <a:defRPr sz="1600" b="0">
                <a:solidFill>
                  <a:srgbClr val="52514E"/>
                </a:solidFill>
              </a:defRPr>
            </a:pPr>
            <a:r>
              <a:t>Independent sensor in the delta; physics track</a:t>
            </a:r>
          </a:p>
        </p:txBody>
      </p:sp>
      <p:sp>
        <p:nvSpPr>
          <p:cNvPr id="4" name="TextBox 3"/>
          <p:cNvSpPr txBox="1"/>
          <p:nvPr/>
        </p:nvSpPr>
        <p:spPr>
          <a:xfrm>
            <a:off x="457200" y="6400800"/>
            <a:ext cx="11247120" cy="365760"/>
          </a:xfrm>
          <a:prstGeom prst="rect">
            <a:avLst/>
          </a:prstGeom>
          <a:noFill/>
        </p:spPr>
        <p:txBody>
          <a:bodyPr wrap="square">
            <a:spAutoFit/>
          </a:bodyPr>
          <a:lstStyle/>
          <a:p>
            <a:pPr>
              <a:spcAft>
                <a:spcPts val="600"/>
              </a:spcAft>
              <a:defRPr sz="1000" b="0">
                <a:solidFill>
                  <a:srgbClr val="52514E"/>
                </a:solidFill>
              </a:defRPr>
            </a:pPr>
            <a:r>
              <a:t>Prithvi Flood-IN · CE 491 IDP · IIT Bombay × ClimMaTech · final review</a:t>
            </a:r>
          </a:p>
        </p:txBody>
      </p:sp>
      <p:sp>
        <p:nvSpPr>
          <p:cNvPr id="5" name="TextBox 4"/>
          <p:cNvSpPr txBox="1"/>
          <p:nvPr/>
        </p:nvSpPr>
        <p:spPr>
          <a:xfrm>
            <a:off x="548640" y="1463040"/>
            <a:ext cx="5486400" cy="4754880"/>
          </a:xfrm>
          <a:prstGeom prst="rect">
            <a:avLst/>
          </a:prstGeom>
          <a:noFill/>
        </p:spPr>
        <p:txBody>
          <a:bodyPr wrap="square">
            <a:spAutoFit/>
          </a:bodyPr>
          <a:lstStyle/>
          <a:p>
            <a:pPr>
              <a:spcAft>
                <a:spcPts val="600"/>
              </a:spcAft>
              <a:defRPr sz="1400" b="0">
                <a:solidFill>
                  <a:srgbClr val="0B0B0B"/>
                </a:solidFill>
              </a:defRPr>
            </a:pPr>
            <a:r>
              <a:t>• Sentinel-2 within ±1 day, clear pixels: 60 pairs</a:t>
            </a:r>
          </a:p>
          <a:p>
            <a:pPr>
              <a:spcAft>
                <a:spcPts val="600"/>
              </a:spcAft>
              <a:defRPr sz="1400" b="0">
                <a:solidFill>
                  <a:srgbClr val="0B0B0B"/>
                </a:solidFill>
              </a:defRPr>
            </a:pPr>
            <a:r>
              <a:t>• Radar atlas vs optical water, all water: IoU 0.56 (precision 0.75, recall 0.69)</a:t>
            </a:r>
          </a:p>
          <a:p>
            <a:pPr>
              <a:spcAft>
                <a:spcPts val="600"/>
              </a:spcAft>
              <a:defRPr sz="1400" b="0">
                <a:solidFill>
                  <a:srgbClr val="0B0B0B"/>
                </a:solidFill>
              </a:defRPr>
            </a:pPr>
            <a:r>
              <a:t>• Outside normal water, Jun–Nov: IoU 0.20 over 60 pairs</a:t>
            </a:r>
          </a:p>
          <a:p>
            <a:pPr>
              <a:spcAft>
                <a:spcPts val="600"/>
              </a:spcAft>
              <a:defRPr sz="1400" b="0">
                <a:solidFill>
                  <a:srgbClr val="0B0B0B"/>
                </a:solidFill>
              </a:defRPr>
            </a:pPr>
            <a:r>
              <a:t>• PINN (Saint-Venant): 6 published cases reproduced (0.0 % deviation); case 3 retrained 2.7 % better than the paper; L-BFGS-B stage adds nothing</a:t>
            </a:r>
          </a:p>
          <a:p>
            <a:pPr>
              <a:spcAft>
                <a:spcPts val="600"/>
              </a:spcAft>
              <a:defRPr sz="1400" b="0">
                <a:solidFill>
                  <a:srgbClr val="0B0B0B"/>
                </a:solidFill>
              </a:defRPr>
            </a:pPr>
            <a:r>
              <a:t>• Field Manning's n will replace the assumed 0.015</a:t>
            </a:r>
          </a:p>
        </p:txBody>
      </p:sp>
      <p:pic>
        <p:nvPicPr>
          <p:cNvPr id="6" name="Picture 5" descr="case3_trained_profiles.png"/>
          <p:cNvPicPr>
            <a:picLocks noChangeAspect="1"/>
          </p:cNvPicPr>
          <p:nvPr/>
        </p:nvPicPr>
        <p:blipFill>
          <a:blip r:embed="rId2"/>
          <a:stretch>
            <a:fillRect/>
          </a:stretch>
        </p:blipFill>
        <p:spPr>
          <a:xfrm>
            <a:off x="6309360" y="1554480"/>
            <a:ext cx="5486400" cy="2351314"/>
          </a:xfrm>
          <a:prstGeom prst="rect">
            <a:avLst/>
          </a:prstGeom>
        </p:spPr>
      </p:pic>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274320"/>
            <a:ext cx="11247120" cy="731520"/>
          </a:xfrm>
          <a:prstGeom prst="rect">
            <a:avLst/>
          </a:prstGeom>
          <a:noFill/>
        </p:spPr>
        <p:txBody>
          <a:bodyPr wrap="square">
            <a:spAutoFit/>
          </a:bodyPr>
          <a:lstStyle/>
          <a:p>
            <a:pPr>
              <a:spcAft>
                <a:spcPts val="600"/>
              </a:spcAft>
              <a:defRPr sz="3000" b="1">
                <a:solidFill>
                  <a:srgbClr val="0B0B0B"/>
                </a:solidFill>
              </a:defRPr>
            </a:pPr>
            <a:r>
              <a:t>Team and contributions</a:t>
            </a:r>
          </a:p>
        </p:txBody>
      </p:sp>
      <p:sp>
        <p:nvSpPr>
          <p:cNvPr id="3" name="TextBox 2"/>
          <p:cNvSpPr txBox="1"/>
          <p:nvPr/>
        </p:nvSpPr>
        <p:spPr>
          <a:xfrm>
            <a:off x="457200" y="914400"/>
            <a:ext cx="11247120" cy="548640"/>
          </a:xfrm>
          <a:prstGeom prst="rect">
            <a:avLst/>
          </a:prstGeom>
          <a:noFill/>
        </p:spPr>
        <p:txBody>
          <a:bodyPr wrap="square">
            <a:spAutoFit/>
          </a:bodyPr>
          <a:lstStyle/>
          <a:p>
            <a:pPr>
              <a:spcAft>
                <a:spcPts val="600"/>
              </a:spcAft>
              <a:defRPr sz="1600" b="0">
                <a:solidFill>
                  <a:srgbClr val="52514E"/>
                </a:solidFill>
              </a:defRPr>
            </a:pPr>
            <a:r>
              <a:t>Five students, seven specializations; each presents the part they built</a:t>
            </a:r>
          </a:p>
        </p:txBody>
      </p:sp>
      <p:sp>
        <p:nvSpPr>
          <p:cNvPr id="4" name="TextBox 3"/>
          <p:cNvSpPr txBox="1"/>
          <p:nvPr/>
        </p:nvSpPr>
        <p:spPr>
          <a:xfrm>
            <a:off x="457200" y="6400800"/>
            <a:ext cx="11247120" cy="365760"/>
          </a:xfrm>
          <a:prstGeom prst="rect">
            <a:avLst/>
          </a:prstGeom>
          <a:noFill/>
        </p:spPr>
        <p:txBody>
          <a:bodyPr wrap="square">
            <a:spAutoFit/>
          </a:bodyPr>
          <a:lstStyle/>
          <a:p>
            <a:pPr>
              <a:spcAft>
                <a:spcPts val="600"/>
              </a:spcAft>
              <a:defRPr sz="1000" b="0">
                <a:solidFill>
                  <a:srgbClr val="52514E"/>
                </a:solidFill>
              </a:defRPr>
            </a:pPr>
            <a:r>
              <a:t>Prithvi Flood-IN · CE 491 IDP · IIT Bombay × ClimMaTech · final review</a:t>
            </a:r>
          </a:p>
        </p:txBody>
      </p:sp>
      <p:graphicFrame>
        <p:nvGraphicFramePr>
          <p:cNvPr id="5" name="Table 4"/>
          <p:cNvGraphicFramePr>
            <a:graphicFrameLocks noGrp="1"/>
          </p:cNvGraphicFramePr>
          <p:nvPr/>
        </p:nvGraphicFramePr>
        <p:xfrm>
          <a:off x="457200" y="1371600"/>
          <a:ext cx="11247120" cy="1920239"/>
        </p:xfrm>
        <a:graphic>
          <a:graphicData uri="http://schemas.openxmlformats.org/drawingml/2006/table">
            <a:tbl>
              <a:tblPr firstRow="1" bandRow="1">
                <a:tableStyleId>{5C22544A-7EE6-4342-B048-85BDC9FD1C3A}</a:tableStyleId>
              </a:tblPr>
              <a:tblGrid>
                <a:gridCol w="2377440"/>
                <a:gridCol w="2560320"/>
                <a:gridCol w="6309360"/>
              </a:tblGrid>
              <a:tr h="320039">
                <a:tc>
                  <a:txBody>
                    <a:bodyPr/>
                    <a:lstStyle/>
                    <a:p>
                      <a:pPr>
                        <a:defRPr sz="1300" b="1"/>
                      </a:pPr>
                      <a:r>
                        <a:t>Member</a:t>
                      </a:r>
                    </a:p>
                  </a:txBody>
                  <a:tcPr/>
                </a:tc>
                <a:tc>
                  <a:txBody>
                    <a:bodyPr/>
                    <a:lstStyle/>
                    <a:p>
                      <a:pPr>
                        <a:defRPr sz="1300" b="1"/>
                      </a:pPr>
                      <a:r>
                        <a:t>Specializations</a:t>
                      </a:r>
                    </a:p>
                  </a:txBody>
                  <a:tcPr/>
                </a:tc>
                <a:tc>
                  <a:txBody>
                    <a:bodyPr/>
                    <a:lstStyle/>
                    <a:p>
                      <a:pPr>
                        <a:defRPr sz="1300" b="1"/>
                      </a:pPr>
                      <a:r>
                        <a:t>What they built</a:t>
                      </a:r>
                    </a:p>
                  </a:txBody>
                  <a:tcPr/>
                </a:tc>
              </a:tr>
              <a:tr h="320039">
                <a:tc>
                  <a:txBody>
                    <a:bodyPr/>
                    <a:lstStyle/>
                    <a:p>
                      <a:pPr>
                        <a:defRPr sz="1300" b="0"/>
                      </a:pPr>
                      <a:r>
                        <a:t>Nikhil Upadhyay (lead)</a:t>
                      </a:r>
                    </a:p>
                  </a:txBody>
                  <a:tcPr/>
                </a:tc>
                <a:tc>
                  <a:txBody>
                    <a:bodyPr/>
                    <a:lstStyle/>
                    <a:p>
                      <a:pPr>
                        <a:defRPr sz="1300" b="0"/>
                      </a:pPr>
                      <a:r>
                        <a:t>Water resources, Ocean</a:t>
                      </a:r>
                    </a:p>
                  </a:txBody>
                  <a:tcPr/>
                </a:tc>
                <a:tc>
                  <a:txBody>
                    <a:bodyPr/>
                    <a:lstStyle/>
                    <a:p>
                      <a:pPr>
                        <a:defRPr sz="1300" b="0"/>
                      </a:pPr>
                      <a:r>
                        <a:t>Flow-to-flood model, learned flow + rain model, Naraj flow forecast, design floods, watershed, Saint-Venant PINN, storm drivers; organises the visit</a:t>
                      </a:r>
                    </a:p>
                  </a:txBody>
                  <a:tcPr/>
                </a:tc>
              </a:tr>
              <a:tr h="320039">
                <a:tc>
                  <a:txBody>
                    <a:bodyPr/>
                    <a:lstStyle/>
                    <a:p>
                      <a:pPr>
                        <a:defRPr sz="1300" b="0"/>
                      </a:pPr>
                      <a:r>
                        <a:t>Vineet Jangir</a:t>
                      </a:r>
                    </a:p>
                  </a:txBody>
                  <a:tcPr/>
                </a:tc>
                <a:tc>
                  <a:txBody>
                    <a:bodyPr/>
                    <a:lstStyle/>
                    <a:p>
                      <a:pPr>
                        <a:defRPr sz="1300" b="0"/>
                      </a:pPr>
                      <a:r>
                        <a:t>Remote sensing</a:t>
                      </a:r>
                    </a:p>
                  </a:txBody>
                  <a:tcPr/>
                </a:tc>
                <a:tc>
                  <a:txBody>
                    <a:bodyPr/>
                    <a:lstStyle/>
                    <a:p>
                      <a:pPr>
                        <a:defRPr sz="1300" b="0"/>
                      </a:pPr>
                      <a:r>
                        <a:t>Benchmark of six foundation models (92 runs), fusion, radar models retrained at 20 m</a:t>
                      </a:r>
                    </a:p>
                  </a:txBody>
                  <a:tcPr/>
                </a:tc>
              </a:tr>
              <a:tr h="320039">
                <a:tc>
                  <a:txBody>
                    <a:bodyPr/>
                    <a:lstStyle/>
                    <a:p>
                      <a:pPr>
                        <a:defRPr sz="1300" b="0"/>
                      </a:pPr>
                      <a:r>
                        <a:t>Prakhar Gupta</a:t>
                      </a:r>
                    </a:p>
                  </a:txBody>
                  <a:tcPr/>
                </a:tc>
                <a:tc>
                  <a:txBody>
                    <a:bodyPr/>
                    <a:lstStyle/>
                    <a:p>
                      <a:pPr>
                        <a:defRPr sz="1300" b="0"/>
                      </a:pPr>
                      <a:r>
                        <a:t>Remote sensing</a:t>
                      </a:r>
                    </a:p>
                  </a:txBody>
                  <a:tcPr/>
                </a:tc>
                <a:tc>
                  <a:txBody>
                    <a:bodyPr/>
                    <a:lstStyle/>
                    <a:p>
                      <a:pPr>
                        <a:defRPr sz="1300" b="0"/>
                      </a:pPr>
                      <a:r>
                        <a:t>Flood atlas from 590 Sentinel-1 passes, Sentinel-2 check, two more basins, map viewer</a:t>
                      </a:r>
                    </a:p>
                  </a:txBody>
                  <a:tcPr/>
                </a:tc>
              </a:tr>
              <a:tr h="320039">
                <a:tc>
                  <a:txBody>
                    <a:bodyPr/>
                    <a:lstStyle/>
                    <a:p>
                      <a:pPr>
                        <a:defRPr sz="1300" b="0"/>
                      </a:pPr>
                      <a:r>
                        <a:t>Himanshu Shete</a:t>
                      </a:r>
                    </a:p>
                  </a:txBody>
                  <a:tcPr/>
                </a:tc>
                <a:tc>
                  <a:txBody>
                    <a:bodyPr/>
                    <a:lstStyle/>
                    <a:p>
                      <a:pPr>
                        <a:defRPr sz="1300" b="0"/>
                      </a:pPr>
                      <a:r>
                        <a:t>Transportation, Structural</a:t>
                      </a:r>
                    </a:p>
                  </a:txBody>
                  <a:tcPr/>
                </a:tc>
                <a:tc>
                  <a:txBody>
                    <a:bodyPr/>
                    <a:lstStyle/>
                    <a:p>
                      <a:pPr>
                        <a:defRPr sz="1300" b="0"/>
                      </a:pPr>
                      <a:r>
                        <a:t>Hospital access, critical links, flood depth, walls, bridge scour; integration: impact chain, live warning feed, flood-risk economics, bulletins with CAP alerts, training audit, partner gap analysis, website, report and slides</a:t>
                      </a:r>
                    </a:p>
                  </a:txBody>
                  <a:tcPr/>
                </a:tc>
              </a:tr>
              <a:tr h="320044">
                <a:tc>
                  <a:txBody>
                    <a:bodyPr/>
                    <a:lstStyle/>
                    <a:p>
                      <a:pPr>
                        <a:defRPr sz="1300" b="0"/>
                      </a:pPr>
                      <a:r>
                        <a:t>Prabhat Kumar</a:t>
                      </a:r>
                    </a:p>
                  </a:txBody>
                  <a:tcPr/>
                </a:tc>
                <a:tc>
                  <a:txBody>
                    <a:bodyPr/>
                    <a:lstStyle/>
                    <a:p>
                      <a:pPr>
                        <a:defRPr sz="1300" b="0"/>
                      </a:pPr>
                      <a:r>
                        <a:t>Geotechnical, Construction mgmt</a:t>
                      </a:r>
                    </a:p>
                  </a:txBody>
                  <a:tcPr/>
                </a:tc>
                <a:tc>
                  <a:txBody>
                    <a:bodyPr/>
                    <a:lstStyle/>
                    <a:p>
                      <a:pPr>
                        <a:defRPr sz="1300" b="0"/>
                      </a:pPr>
                      <a:r>
                        <a:t>Bank screening, ground saturation, foundations; work windows, earthwork, siren and sensor plan</a:t>
                      </a:r>
                    </a:p>
                  </a:txBody>
                  <a:tcPr/>
                </a:tc>
              </a:tr>
            </a:tbl>
          </a:graphicData>
        </a:graphic>
      </p:graphicFrame>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274320"/>
            <a:ext cx="11247120" cy="731520"/>
          </a:xfrm>
          <a:prstGeom prst="rect">
            <a:avLst/>
          </a:prstGeom>
          <a:noFill/>
        </p:spPr>
        <p:txBody>
          <a:bodyPr wrap="square">
            <a:spAutoFit/>
          </a:bodyPr>
          <a:lstStyle/>
          <a:p>
            <a:pPr>
              <a:spcAft>
                <a:spcPts val="600"/>
              </a:spcAft>
              <a:defRPr sz="3000" b="1">
                <a:solidFill>
                  <a:srgbClr val="0B0B0B"/>
                </a:solidFill>
              </a:defRPr>
            </a:pPr>
            <a:r>
              <a:t>What we conclude</a:t>
            </a:r>
          </a:p>
        </p:txBody>
      </p:sp>
      <p:sp>
        <p:nvSpPr>
          <p:cNvPr id="3" name="TextBox 2"/>
          <p:cNvSpPr txBox="1"/>
          <p:nvPr/>
        </p:nvSpPr>
        <p:spPr>
          <a:xfrm>
            <a:off x="457200" y="6400800"/>
            <a:ext cx="11247120" cy="365760"/>
          </a:xfrm>
          <a:prstGeom prst="rect">
            <a:avLst/>
          </a:prstGeom>
          <a:noFill/>
        </p:spPr>
        <p:txBody>
          <a:bodyPr wrap="square">
            <a:spAutoFit/>
          </a:bodyPr>
          <a:lstStyle/>
          <a:p>
            <a:pPr>
              <a:spcAft>
                <a:spcPts val="600"/>
              </a:spcAft>
              <a:defRPr sz="1000" b="0">
                <a:solidFill>
                  <a:srgbClr val="52514E"/>
                </a:solidFill>
              </a:defRPr>
            </a:pPr>
            <a:r>
              <a:t>Prithvi Flood-IN · CE 491 IDP · IIT Bombay × ClimMaTech · final review</a:t>
            </a:r>
          </a:p>
        </p:txBody>
      </p:sp>
      <p:sp>
        <p:nvSpPr>
          <p:cNvPr id="4" name="TextBox 3"/>
          <p:cNvSpPr txBox="1"/>
          <p:nvPr/>
        </p:nvSpPr>
        <p:spPr>
          <a:xfrm>
            <a:off x="548640" y="1188720"/>
            <a:ext cx="11064240" cy="5120640"/>
          </a:xfrm>
          <a:prstGeom prst="rect">
            <a:avLst/>
          </a:prstGeom>
          <a:noFill/>
        </p:spPr>
        <p:txBody>
          <a:bodyPr wrap="square">
            <a:spAutoFit/>
          </a:bodyPr>
          <a:lstStyle/>
          <a:p>
            <a:pPr>
              <a:spcAft>
                <a:spcPts val="600"/>
              </a:spcAft>
              <a:defRPr sz="1500" b="0">
                <a:solidFill>
                  <a:srgbClr val="0B0B0B"/>
                </a:solidFill>
              </a:defRPr>
            </a:pPr>
            <a:r>
              <a:t>• Model choice: on an unseen Indian flood U-Net (0.770 ± 0.006) beats every foundation model; the FM's value here is that one network takes radar alone when monsoon cloud removes the optical image.</a:t>
            </a:r>
          </a:p>
          <a:p>
            <a:pPr>
              <a:spcAft>
                <a:spcPts val="600"/>
              </a:spcAft>
              <a:defRPr sz="1500" b="0">
                <a:solidFill>
                  <a:srgbClr val="0B0B0B"/>
                </a:solidFill>
              </a:defRPr>
            </a:pPr>
            <a:r>
              <a:t>• The delta's flood atlas from 590 radar passes turns a Naraj flow forecast into a map; on held-out years it beats flood climatology at high flows (0.20 vs 0.04).</a:t>
            </a:r>
          </a:p>
          <a:p>
            <a:pPr>
              <a:spcAft>
                <a:spcPts val="600"/>
              </a:spcAft>
              <a:defRPr sz="1500" b="0">
                <a:solidFill>
                  <a:srgbClr val="0B0B0B"/>
                </a:solidFill>
              </a:defRPr>
            </a:pPr>
            <a:r>
              <a:t>• Rain matters: a learned flow + rain + history model maps heavy-rain passes better (0.22 vs 0.15); read the river forecast with the rain forecast.</a:t>
            </a:r>
          </a:p>
          <a:p>
            <a:pPr>
              <a:spcAft>
                <a:spcPts val="600"/>
              </a:spcAft>
              <a:defRPr sz="1500" b="0">
                <a:solidFill>
                  <a:srgbClr val="0B0B0B"/>
                </a:solidFill>
              </a:defRPr>
            </a:pPr>
            <a:r>
              <a:t>• In a 25-year flood about 30,427 people live on flooded land and 52,423 lose road access to a hospital; every specialization gets its answer from the same scenarios.</a:t>
            </a:r>
          </a:p>
          <a:p>
            <a:pPr>
              <a:spcAft>
                <a:spcPts val="600"/>
              </a:spcAft>
              <a:defRPr sz="1500" b="0">
                <a:solidFill>
                  <a:srgbClr val="0B0B0B"/>
                </a:solidFill>
              </a:defRPr>
            </a:pPr>
            <a:r>
              <a:t>• About 48% of a flood peak at Naraj comes from Hirakud dam and the rest from the tributaries below it: watch both.</a:t>
            </a:r>
          </a:p>
          <a:p>
            <a:pPr>
              <a:spcAft>
                <a:spcPts val="600"/>
              </a:spcAft>
              <a:defRPr sz="1500" b="0">
                <a:solidFill>
                  <a:srgbClr val="0B0B0B"/>
                </a:solidFill>
              </a:defRPr>
            </a:pPr>
            <a:r>
              <a:t>• Checked: all 92 training runs re-verified; the published TerraMind scores reproduced within a point.</a:t>
            </a:r>
          </a:p>
          <a:p>
            <a:pPr>
              <a:spcAft>
                <a:spcPts val="600"/>
              </a:spcAft>
              <a:defRPr sz="1500" b="0">
                <a:solidFill>
                  <a:srgbClr val="0B0B0B"/>
                </a:solidFill>
              </a:defRPr>
            </a:pPr>
            <a:r>
              <a:t>• Forecast and live feed: the Naraj flow 1–3 days ahead (efficiency 0.89 at 3 days vs 0.79); each day's GloFAS ensemble becomes an impact-based warning with a CAP alert.</a:t>
            </a:r>
          </a:p>
          <a:p>
            <a:pPr>
              <a:spcAft>
                <a:spcPts val="600"/>
              </a:spcAft>
              <a:defRPr sz="1500" b="0">
                <a:solidFill>
                  <a:srgbClr val="0B0B0B"/>
                </a:solidFill>
              </a:defRPr>
            </a:pPr>
            <a:r>
              <a:t>• Risk: at least ₹17 crore of damage a year; raising ten roads repays ~17× in hospital access.</a:t>
            </a:r>
          </a:p>
          <a:p>
            <a:pPr>
              <a:spcAft>
                <a:spcPts val="600"/>
              </a:spcAft>
              <a:defRPr sz="1500" b="0">
                <a:solidFill>
                  <a:srgbClr val="0B0B0B"/>
                </a:solidFill>
              </a:defRPr>
            </a:pPr>
            <a:r>
              <a:t>• Scales: the same pipeline mapped the Brahmani–Baitarani delta and the Brahmaputra at Majuli from every radar pass since 2017 (Sentinel-2 agreement IoU 0.65 and 0.67); all run in the live feed.</a:t>
            </a:r>
          </a:p>
          <a:p>
            <a:pPr>
              <a:spcAft>
                <a:spcPts val="600"/>
              </a:spcAft>
              <a:defRPr sz="1500" b="0">
                <a:solidFill>
                  <a:srgbClr val="0B0B0B"/>
                </a:solidFill>
              </a:defRPr>
            </a:pPr>
            <a:r>
              <a:t>• Ready for ClimMaTech: bulletins with CAP alerts, siren and gauge sites, map viewer. Next: the field visit closes the loop.</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