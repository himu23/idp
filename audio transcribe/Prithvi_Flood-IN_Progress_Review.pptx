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Baseline (published)</c:v>
                </c:pt>
              </c:strCache>
            </c:strRef>
          </c:tx>
          <c:spPr>
            <a:solidFill>
              <a:srgbClr val="9FB0C0"/>
            </a:solidFill>
            <a:effectLst/>
          </c:spPr>
          <c:invertIfNegative val="0"/>
          <c:dLbls>
            <c:numFmt formatCode="0.00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cat>
            <c:multiLvlStrRef>
              <c:f>Sheet1!$A$2:$A$4</c:f>
              <c:multiLvlStrCache>
                <c:ptCount val="3"/>
                <c:lvl>
                  <c:pt idx="0">
                    <c:v>IoU</c:v>
                  </c:pt>
                  <c:pt idx="1">
                    <c:v>Precision</c:v>
                  </c:pt>
                  <c:pt idx="2">
                    <c:v>Recall</c:v>
                  </c:pt>
                </c:lvl>
              </c:multiLvlStrCache>
            </c:multiLvlStrRef>
          </c:cat>
          <c:val>
            <c:numRef>
              <c:f>Sheet1!$B$2:$B$4</c:f>
              <c:numCache>
                <c:formatCode>General</c:formatCode>
                <c:ptCount val="3"/>
                <c:pt idx="0">
                  <c:v>0.337</c:v>
                </c:pt>
                <c:pt idx="1">
                  <c:v>0.391</c:v>
                </c:pt>
                <c:pt idx="2">
                  <c:v>0.711</c:v>
                </c:pt>
              </c:numCache>
            </c:numRef>
          </c:val>
        </c:ser>
        <c:ser>
          <c:idx val="1"/>
          <c:order val="1"/>
          <c:tx>
            <c:strRef>
              <c:f>Sheet1!$C$1</c:f>
              <c:strCache>
                <c:ptCount val="1"/>
                <c:pt idx="0">
                  <c:v>Fine-tuned (ours)</c:v>
                </c:pt>
              </c:strCache>
            </c:strRef>
          </c:tx>
          <c:spPr>
            <a:solidFill>
              <a:srgbClr val="13A89E"/>
            </a:solidFill>
            <a:effectLst/>
          </c:spPr>
          <c:invertIfNegative val="0"/>
          <c:dLbls>
            <c:numFmt formatCode="0.00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cat>
            <c:multiLvlStrRef>
              <c:f>Sheet1!$A$2:$A$4</c:f>
              <c:multiLvlStrCache>
                <c:ptCount val="3"/>
                <c:lvl>
                  <c:pt idx="0">
                    <c:v>IoU</c:v>
                  </c:pt>
                  <c:pt idx="1">
                    <c:v>Precision</c:v>
                  </c:pt>
                  <c:pt idx="2">
                    <c:v>Recall</c:v>
                  </c:pt>
                </c:lvl>
              </c:multiLvlStrCache>
            </c:multiLvlStrRef>
          </c:cat>
          <c:val>
            <c:numRef>
              <c:f>Sheet1!$C$2:$C$4</c:f>
              <c:numCache>
                <c:formatCode>General</c:formatCode>
                <c:ptCount val="3"/>
                <c:pt idx="0">
                  <c:v>0.375</c:v>
                </c:pt>
                <c:pt idx="1">
                  <c:v>0.56</c:v>
                </c:pt>
                <c:pt idx="2">
                  <c:v>0.532</c:v>
                </c:pt>
              </c:numCache>
            </c:numRef>
          </c:val>
        </c:ser>
        <c:dLbls>
          <c:numFmt formatCode="0.00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8"/>
          <c:min val="0"/>
        </c:scaling>
        <c:delete val="0"/>
        <c:axPos val="l"/>
        <c:majorGridlines>
          <c:spPr>
            <a:ln w="6350" cap="flat">
              <a:solidFill>
                <a:srgbClr val="E5EB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supervisor and industry mentor. One line: we adapted a global satellite foundation model to map floods in India, and today we report where we are and what comes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scorecard so the audience knows the headline before the details.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gap: good global model, but not calibrated for India. Our objective is the India-specific adaptation plus an application pathway.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two-stage lineage: general EO model, then flood model, then our India-specific second fine-tune.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We did not design a new architecture; we reused the proven one and adapted its weights.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of the effort went here: finding usable image and flood-map pairs taken during the flood, over the same area, without cloud.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ignore label (-1) is the key design decision. Also mention the bug where reflectance scaling had to match the model pre-training normalization.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rigour: the test set is 16 floods the model has never seen.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Early stopping is by design: no epoch after 7 improved validation IoU, so epoch 7 is the final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Shows engineering rigour: real failures on free infrastructure, each diagnosed and fixed without losing training progress.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Baseline and fine-tuned model evaluated identically so the comparison is apples to apples.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Headline: IoU +11%, precision +43%. Be upfront that recall dropped; early warning may prefer recall, damage assessment prefers precision. Threshold tuning can shift this balance.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how the model plugs into the hydrological information system envisioned for the Mahanadi basin.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the Mahanadi HIS link with ClimMaTech, then broader uses. Precision gains matter most for damage assessment and insurance; recall matters most for early warning.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Stating limitations upfront builds credibility with the mentor and professor.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a concrete, ordered plan. Invite feedback from the mentor on the preferred precision/recall balance for their use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545"/>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13A89E"/>
          </a:solidFill>
          <a:ln/>
        </p:spPr>
      </p:sp>
      <p:sp>
        <p:nvSpPr>
          <p:cNvPr id="3" name="Text 1"/>
          <p:cNvSpPr/>
          <p:nvPr/>
        </p:nvSpPr>
        <p:spPr>
          <a:xfrm>
            <a:off x="822960" y="914400"/>
            <a:ext cx="10058400" cy="365760"/>
          </a:xfrm>
          <a:prstGeom prst="rect">
            <a:avLst/>
          </a:prstGeom>
          <a:noFill/>
          <a:ln/>
        </p:spPr>
        <p:txBody>
          <a:bodyPr wrap="square" rtlCol="0" anchor="ctr"/>
          <a:lstStyle/>
          <a:p>
            <a:pPr indent="0" marL="0">
              <a:buNone/>
            </a:pPr>
            <a:r>
              <a:rPr lang="en-US" sz="1400" b="1" spc="200" kern="0" dirty="0">
                <a:solidFill>
                  <a:srgbClr val="13A89E"/>
                </a:solidFill>
                <a:latin typeface="Calibri" pitchFamily="34" charset="0"/>
                <a:ea typeface="Calibri" pitchFamily="34" charset="-122"/>
                <a:cs typeface="Calibri" pitchFamily="34" charset="-120"/>
              </a:rPr>
              <a:t>PROGRESS REVIEW  ·  CE 766 INTEGRATED DESIGN PROJECT</a:t>
            </a:r>
            <a:endParaRPr lang="en-US" sz="1400" dirty="0"/>
          </a:p>
        </p:txBody>
      </p:sp>
      <p:sp>
        <p:nvSpPr>
          <p:cNvPr id="4" name="Text 2"/>
          <p:cNvSpPr/>
          <p:nvPr/>
        </p:nvSpPr>
        <p:spPr>
          <a:xfrm>
            <a:off x="822960" y="1463040"/>
            <a:ext cx="10058400" cy="914400"/>
          </a:xfrm>
          <a:prstGeom prst="rect">
            <a:avLst/>
          </a:prstGeom>
          <a:noFill/>
          <a:ln/>
        </p:spPr>
        <p:txBody>
          <a:bodyPr wrap="square" rtlCol="0" anchor="ctr"/>
          <a:lstStyle/>
          <a:p>
            <a:pPr indent="0" marL="0">
              <a:buNone/>
            </a:pPr>
            <a:r>
              <a:rPr lang="en-US" sz="5400" b="1" dirty="0">
                <a:solidFill>
                  <a:srgbClr val="FFFFFF"/>
                </a:solidFill>
                <a:latin typeface="Calibri" pitchFamily="34" charset="0"/>
                <a:ea typeface="Calibri" pitchFamily="34" charset="-122"/>
                <a:cs typeface="Calibri" pitchFamily="34" charset="-120"/>
              </a:rPr>
              <a:t>Prithvi Flood-IN</a:t>
            </a:r>
            <a:endParaRPr lang="en-US" sz="5400" dirty="0"/>
          </a:p>
        </p:txBody>
      </p:sp>
      <p:sp>
        <p:nvSpPr>
          <p:cNvPr id="5" name="Text 3"/>
          <p:cNvSpPr/>
          <p:nvPr/>
        </p:nvSpPr>
        <p:spPr>
          <a:xfrm>
            <a:off x="822960" y="2377440"/>
            <a:ext cx="10058400" cy="822960"/>
          </a:xfrm>
          <a:prstGeom prst="rect">
            <a:avLst/>
          </a:prstGeom>
          <a:noFill/>
          <a:ln/>
        </p:spPr>
        <p:txBody>
          <a:bodyPr wrap="square" rtlCol="0" anchor="ctr"/>
          <a:lstStyle/>
          <a:p>
            <a:pPr indent="0" marL="0">
              <a:buNone/>
            </a:pPr>
            <a:r>
              <a:rPr lang="en-US" sz="2200" dirty="0">
                <a:solidFill>
                  <a:srgbClr val="CFE3F0"/>
                </a:solidFill>
                <a:latin typeface="Calibri" pitchFamily="34" charset="0"/>
                <a:ea typeface="Calibri" pitchFamily="34" charset="-122"/>
                <a:cs typeface="Calibri" pitchFamily="34" charset="-120"/>
              </a:rPr>
              <a:t>Pre- &amp; During-Event Inundation Mapping with Prithvi-EO-2.0 over the Indian Subcontinent</a:t>
            </a:r>
            <a:endParaRPr lang="en-US" sz="2200" dirty="0"/>
          </a:p>
        </p:txBody>
      </p:sp>
      <p:sp>
        <p:nvSpPr>
          <p:cNvPr id="6" name="Text 4"/>
          <p:cNvSpPr/>
          <p:nvPr/>
        </p:nvSpPr>
        <p:spPr>
          <a:xfrm>
            <a:off x="822960" y="3154680"/>
            <a:ext cx="10058400" cy="457200"/>
          </a:xfrm>
          <a:prstGeom prst="rect">
            <a:avLst/>
          </a:prstGeom>
          <a:noFill/>
          <a:ln/>
        </p:spPr>
        <p:txBody>
          <a:bodyPr wrap="square" rtlCol="0" anchor="ctr"/>
          <a:lstStyle/>
          <a:p>
            <a:pPr indent="0" marL="0">
              <a:buNone/>
            </a:pPr>
            <a:r>
              <a:rPr lang="en-US" sz="1600" i="1" dirty="0">
                <a:solidFill>
                  <a:srgbClr val="9FB8CC"/>
                </a:solidFill>
                <a:latin typeface="Calibri" pitchFamily="34" charset="0"/>
                <a:ea typeface="Calibri" pitchFamily="34" charset="-122"/>
                <a:cs typeface="Calibri" pitchFamily="34" charset="-120"/>
              </a:rPr>
              <a:t>Under: AI-Enabled Hydrological Information System for the Mahanadi Basin</a:t>
            </a:r>
            <a:endParaRPr lang="en-US" sz="1600" dirty="0"/>
          </a:p>
        </p:txBody>
      </p:sp>
      <p:sp>
        <p:nvSpPr>
          <p:cNvPr id="7" name="Text 5"/>
          <p:cNvSpPr/>
          <p:nvPr/>
        </p:nvSpPr>
        <p:spPr>
          <a:xfrm>
            <a:off x="822960" y="4206240"/>
            <a:ext cx="10515600" cy="1371600"/>
          </a:xfrm>
          <a:prstGeom prst="rect">
            <a:avLst/>
          </a:prstGeom>
          <a:noFill/>
          <a:ln/>
        </p:spPr>
        <p:txBody>
          <a:bodyPr wrap="square" rtlCol="0" anchor="t"/>
          <a:lstStyle/>
          <a:p>
            <a:pPr indent="0" marL="0">
              <a:spcAft>
                <a:spcPts val="600"/>
              </a:spcAft>
              <a:buNone/>
            </a:pPr>
            <a:r>
              <a:rPr lang="en-US" sz="1600" b="1" dirty="0">
                <a:solidFill>
                  <a:srgbClr val="13A89E"/>
                </a:solidFill>
                <a:latin typeface="Calibri" pitchFamily="34" charset="0"/>
                <a:ea typeface="Calibri" pitchFamily="34" charset="-122"/>
                <a:cs typeface="Calibri" pitchFamily="34" charset="-120"/>
              </a:rPr>
              <a:t>Team: </a:t>
            </a:r>
            <a:pPr indent="0" marL="0">
              <a:spcAft>
                <a:spcPts val="600"/>
              </a:spcAft>
              <a:buNone/>
            </a:pPr>
            <a:r>
              <a:rPr lang="en-US" sz="1600" dirty="0">
                <a:solidFill>
                  <a:srgbClr val="FFFFFF"/>
                </a:solidFill>
                <a:latin typeface="Calibri" pitchFamily="34" charset="0"/>
                <a:ea typeface="Calibri" pitchFamily="34" charset="-122"/>
                <a:cs typeface="Calibri" pitchFamily="34" charset="-120"/>
              </a:rPr>
              <a:t>Nikhil Upadhyay (Lead) · Prakhar Gupta · Prabhat Kumar · Vineet Jangir · Himanshu Shete</a:t>
            </a:r>
            <a:endParaRPr lang="en-US" sz="1600" dirty="0"/>
          </a:p>
          <a:p>
            <a:pPr indent="0" marL="0">
              <a:spcAft>
                <a:spcPts val="600"/>
              </a:spcAft>
              <a:buNone/>
            </a:pPr>
            <a:r>
              <a:rPr lang="en-US" sz="1600" b="1" dirty="0">
                <a:solidFill>
                  <a:srgbClr val="13A89E"/>
                </a:solidFill>
                <a:latin typeface="Calibri" pitchFamily="34" charset="0"/>
                <a:ea typeface="Calibri" pitchFamily="34" charset="-122"/>
                <a:cs typeface="Calibri" pitchFamily="34" charset="-120"/>
              </a:rPr>
              <a:t>Faculty Supervisor: </a:t>
            </a:r>
            <a:pPr indent="0" marL="0">
              <a:spcAft>
                <a:spcPts val="600"/>
              </a:spcAft>
              <a:buNone/>
            </a:pPr>
            <a:r>
              <a:rPr lang="en-US" sz="1600" dirty="0">
                <a:solidFill>
                  <a:srgbClr val="FFFFFF"/>
                </a:solidFill>
                <a:latin typeface="Calibri" pitchFamily="34" charset="0"/>
                <a:ea typeface="Calibri" pitchFamily="34" charset="-122"/>
                <a:cs typeface="Calibri" pitchFamily="34" charset="-120"/>
              </a:rPr>
              <a:t>Prof. Basudev Biswal, Dept. of Civil Engineering, IIT Bombay</a:t>
            </a:r>
            <a:endParaRPr lang="en-US" sz="1600" dirty="0"/>
          </a:p>
          <a:p>
            <a:pPr indent="0" marL="0">
              <a:spcAft>
                <a:spcPts val="600"/>
              </a:spcAft>
              <a:buNone/>
            </a:pPr>
            <a:r>
              <a:rPr lang="en-US" sz="1600" b="1" dirty="0">
                <a:solidFill>
                  <a:srgbClr val="13A89E"/>
                </a:solidFill>
                <a:latin typeface="Calibri" pitchFamily="34" charset="0"/>
                <a:ea typeface="Calibri" pitchFamily="34" charset="-122"/>
                <a:cs typeface="Calibri" pitchFamily="34" charset="-120"/>
              </a:rPr>
              <a:t>Industry Mentor: </a:t>
            </a:r>
            <a:pPr indent="0" marL="0">
              <a:spcAft>
                <a:spcPts val="600"/>
              </a:spcAft>
              <a:buNone/>
            </a:pPr>
            <a:r>
              <a:rPr lang="en-US" sz="1600" dirty="0">
                <a:solidFill>
                  <a:srgbClr val="FFFFFF"/>
                </a:solidFill>
                <a:latin typeface="Calibri" pitchFamily="34" charset="0"/>
                <a:ea typeface="Calibri" pitchFamily="34" charset="-122"/>
                <a:cs typeface="Calibri" pitchFamily="34" charset="-120"/>
              </a:rPr>
              <a:t>Vivek Gupta, CTO, ClimMaTech Pvt. Ltd.</a:t>
            </a:r>
            <a:endParaRPr lang="en-US" sz="1600" dirty="0"/>
          </a:p>
        </p:txBody>
      </p:sp>
      <p:sp>
        <p:nvSpPr>
          <p:cNvPr id="8" name="Text 6"/>
          <p:cNvSpPr/>
          <p:nvPr/>
        </p:nvSpPr>
        <p:spPr>
          <a:xfrm>
            <a:off x="822960" y="6035040"/>
            <a:ext cx="4572000" cy="365760"/>
          </a:xfrm>
          <a:prstGeom prst="rect">
            <a:avLst/>
          </a:prstGeom>
          <a:noFill/>
          <a:ln/>
        </p:spPr>
        <p:txBody>
          <a:bodyPr wrap="square" rtlCol="0" anchor="ctr"/>
          <a:lstStyle/>
          <a:p>
            <a:pPr indent="0" marL="0">
              <a:buNone/>
            </a:pPr>
            <a:r>
              <a:rPr lang="en-US" sz="1300" dirty="0">
                <a:solidFill>
                  <a:srgbClr val="9FB8CC"/>
                </a:solidFill>
                <a:latin typeface="Calibri" pitchFamily="34" charset="0"/>
                <a:ea typeface="Calibri" pitchFamily="34" charset="-122"/>
                <a:cs typeface="Calibri" pitchFamily="34" charset="-120"/>
              </a:rPr>
              <a:t>23 September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13A89E"/>
          </a:solidFill>
          <a:ln/>
        </p:spPr>
      </p:sp>
      <p:sp>
        <p:nvSpPr>
          <p:cNvPr id="3" name="Text 1"/>
          <p:cNvSpPr/>
          <p:nvPr/>
        </p:nvSpPr>
        <p:spPr>
          <a:xfrm>
            <a:off x="548640" y="320040"/>
            <a:ext cx="10972800" cy="640080"/>
          </a:xfrm>
          <a:prstGeom prst="rect">
            <a:avLst/>
          </a:prstGeom>
          <a:noFill/>
          <a:ln/>
        </p:spPr>
        <p:txBody>
          <a:bodyPr wrap="square" lIns="0" tIns="0" rIns="0" bIns="0" rtlCol="0" anchor="ctr"/>
          <a:lstStyle/>
          <a:p>
            <a:pPr indent="0" marL="0">
              <a:buNone/>
            </a:pPr>
            <a:r>
              <a:rPr lang="en-US" sz="3000" b="1" dirty="0">
                <a:solidFill>
                  <a:srgbClr val="0B2545"/>
                </a:solidFill>
                <a:latin typeface="Calibri" pitchFamily="34" charset="0"/>
                <a:ea typeface="Calibri" pitchFamily="34" charset="-122"/>
                <a:cs typeface="Calibri" pitchFamily="34" charset="-120"/>
              </a:rPr>
              <a:t>Where we stand today</a:t>
            </a:r>
            <a:endParaRPr lang="en-US" sz="3000" dirty="0"/>
          </a:p>
        </p:txBody>
      </p:sp>
      <p:sp>
        <p:nvSpPr>
          <p:cNvPr id="4" name="Text 2"/>
          <p:cNvSpPr/>
          <p:nvPr/>
        </p:nvSpPr>
        <p:spPr>
          <a:xfrm>
            <a:off x="548640" y="932688"/>
            <a:ext cx="10972800" cy="365760"/>
          </a:xfrm>
          <a:prstGeom prst="rect">
            <a:avLst/>
          </a:prstGeom>
          <a:noFill/>
          <a:ln/>
        </p:spPr>
        <p:txBody>
          <a:bodyPr wrap="square" lIns="0" tIns="0" rIns="0" bIns="0" rtlCol="0" anchor="ctr"/>
          <a:lstStyle/>
          <a:p>
            <a:pPr indent="0" marL="0">
              <a:buNone/>
            </a:pPr>
            <a:r>
              <a:rPr lang="en-US" sz="1500" dirty="0">
                <a:solidFill>
                  <a:srgbClr val="5B6B7B"/>
                </a:solidFill>
                <a:latin typeface="Calibri" pitchFamily="34" charset="0"/>
                <a:ea typeface="Calibri" pitchFamily="34" charset="-122"/>
                <a:cs typeface="Calibri" pitchFamily="34" charset="-120"/>
              </a:rPr>
              <a:t>Fine-tuning is complete; the model now beats the published baseline on unseen Indian floods</a:t>
            </a:r>
            <a:endParaRPr lang="en-US" sz="1500" dirty="0"/>
          </a:p>
        </p:txBody>
      </p:sp>
      <p:sp>
        <p:nvSpPr>
          <p:cNvPr id="5" name="Text 3"/>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Prithvi Flood-IN  |  CE 766 Integrated Design Project  |  Progress Review</a:t>
            </a:r>
            <a:endParaRPr lang="en-US" sz="1000" dirty="0"/>
          </a:p>
        </p:txBody>
      </p:sp>
      <p:sp>
        <p:nvSpPr>
          <p:cNvPr id="6" name="Text 4"/>
          <p:cNvSpPr/>
          <p:nvPr/>
        </p:nvSpPr>
        <p:spPr>
          <a:xfrm>
            <a:off x="11155680" y="6446520"/>
            <a:ext cx="548640" cy="274320"/>
          </a:xfrm>
          <a:prstGeom prst="rect">
            <a:avLst/>
          </a:prstGeom>
          <a:noFill/>
          <a:ln/>
        </p:spPr>
        <p:txBody>
          <a:bodyPr wrap="square" lIns="0" tIns="0" rIns="0" bIns="0" rtlCol="0" anchor="ctr"/>
          <a:lstStyle/>
          <a:p>
            <a:pPr algn="r" indent="0" marL="0">
              <a:buNone/>
            </a:pPr>
            <a:r>
              <a:rPr lang="en-US" sz="1000" dirty="0">
                <a:solidFill>
                  <a:srgbClr val="5B6B7B"/>
                </a:solidFill>
                <a:latin typeface="Calibri" pitchFamily="34" charset="0"/>
                <a:ea typeface="Calibri" pitchFamily="34" charset="-122"/>
                <a:cs typeface="Calibri" pitchFamily="34" charset="-120"/>
              </a:rPr>
              <a:t>2</a:t>
            </a:r>
            <a:endParaRPr lang="en-US" sz="1000" dirty="0"/>
          </a:p>
        </p:txBody>
      </p:sp>
      <p:sp>
        <p:nvSpPr>
          <p:cNvPr id="7" name="Text 5"/>
          <p:cNvSpPr/>
          <p:nvPr/>
        </p:nvSpPr>
        <p:spPr>
          <a:xfrm>
            <a:off x="548640" y="1645920"/>
            <a:ext cx="2743200" cy="731520"/>
          </a:xfrm>
          <a:prstGeom prst="rect">
            <a:avLst/>
          </a:prstGeom>
          <a:noFill/>
          <a:ln/>
        </p:spPr>
        <p:txBody>
          <a:bodyPr wrap="square" lIns="0" tIns="0" rIns="0" bIns="0" rtlCol="0" anchor="ctr"/>
          <a:lstStyle/>
          <a:p>
            <a:pPr indent="0" marL="0">
              <a:buNone/>
            </a:pPr>
            <a:r>
              <a:rPr lang="en-US" sz="4000" b="1" dirty="0">
                <a:solidFill>
                  <a:srgbClr val="13A89E"/>
                </a:solidFill>
                <a:latin typeface="Calibri" pitchFamily="34" charset="0"/>
                <a:ea typeface="Calibri" pitchFamily="34" charset="-122"/>
                <a:cs typeface="Calibri" pitchFamily="34" charset="-120"/>
              </a:rPr>
              <a:t>~100</a:t>
            </a:r>
            <a:endParaRPr lang="en-US" sz="4000" dirty="0"/>
          </a:p>
        </p:txBody>
      </p:sp>
      <p:sp>
        <p:nvSpPr>
          <p:cNvPr id="8" name="Text 6"/>
          <p:cNvSpPr/>
          <p:nvPr/>
        </p:nvSpPr>
        <p:spPr>
          <a:xfrm>
            <a:off x="548640" y="2377440"/>
            <a:ext cx="2743200" cy="548640"/>
          </a:xfrm>
          <a:prstGeom prst="rect">
            <a:avLst/>
          </a:prstGeom>
          <a:noFill/>
          <a:ln/>
        </p:spPr>
        <p:txBody>
          <a:bodyPr wrap="square" lIns="0" tIns="0" rIns="0" bIns="0" rtlCol="0" anchor="t"/>
          <a:lstStyle/>
          <a:p>
            <a:pPr indent="0" marL="0">
              <a:buNone/>
            </a:pPr>
            <a:r>
              <a:rPr lang="en-US" sz="1300" dirty="0">
                <a:solidFill>
                  <a:srgbClr val="5B6B7B"/>
                </a:solidFill>
                <a:latin typeface="Calibri" pitchFamily="34" charset="0"/>
                <a:ea typeface="Calibri" pitchFamily="34" charset="-122"/>
                <a:cs typeface="Calibri" pitchFamily="34" charset="-120"/>
              </a:rPr>
              <a:t>real Indian flood events curated (2021–2026)</a:t>
            </a:r>
            <a:endParaRPr lang="en-US" sz="1300" dirty="0"/>
          </a:p>
        </p:txBody>
      </p:sp>
      <p:sp>
        <p:nvSpPr>
          <p:cNvPr id="9" name="Text 7"/>
          <p:cNvSpPr/>
          <p:nvPr/>
        </p:nvSpPr>
        <p:spPr>
          <a:xfrm>
            <a:off x="3383280" y="1645920"/>
            <a:ext cx="2743200" cy="731520"/>
          </a:xfrm>
          <a:prstGeom prst="rect">
            <a:avLst/>
          </a:prstGeom>
          <a:noFill/>
          <a:ln/>
        </p:spPr>
        <p:txBody>
          <a:bodyPr wrap="square" lIns="0" tIns="0" rIns="0" bIns="0" rtlCol="0" anchor="ctr"/>
          <a:lstStyle/>
          <a:p>
            <a:pPr indent="0" marL="0">
              <a:buNone/>
            </a:pPr>
            <a:r>
              <a:rPr lang="en-US" sz="4000" b="1" dirty="0">
                <a:solidFill>
                  <a:srgbClr val="13A89E"/>
                </a:solidFill>
                <a:latin typeface="Calibri" pitchFamily="34" charset="0"/>
                <a:ea typeface="Calibri" pitchFamily="34" charset="-122"/>
                <a:cs typeface="Calibri" pitchFamily="34" charset="-120"/>
              </a:rPr>
              <a:t>3,584</a:t>
            </a:r>
            <a:endParaRPr lang="en-US" sz="4000" dirty="0"/>
          </a:p>
        </p:txBody>
      </p:sp>
      <p:sp>
        <p:nvSpPr>
          <p:cNvPr id="10" name="Text 8"/>
          <p:cNvSpPr/>
          <p:nvPr/>
        </p:nvSpPr>
        <p:spPr>
          <a:xfrm>
            <a:off x="3383280" y="2377440"/>
            <a:ext cx="2743200" cy="548640"/>
          </a:xfrm>
          <a:prstGeom prst="rect">
            <a:avLst/>
          </a:prstGeom>
          <a:noFill/>
          <a:ln/>
        </p:spPr>
        <p:txBody>
          <a:bodyPr wrap="square" lIns="0" tIns="0" rIns="0" bIns="0" rtlCol="0" anchor="t"/>
          <a:lstStyle/>
          <a:p>
            <a:pPr indent="0" marL="0">
              <a:buNone/>
            </a:pPr>
            <a:r>
              <a:rPr lang="en-US" sz="1300" dirty="0">
                <a:solidFill>
                  <a:srgbClr val="5B6B7B"/>
                </a:solidFill>
                <a:latin typeface="Calibri" pitchFamily="34" charset="0"/>
                <a:ea typeface="Calibri" pitchFamily="34" charset="-122"/>
                <a:cs typeface="Calibri" pitchFamily="34" charset="-120"/>
              </a:rPr>
              <a:t>512×512 training chips from 180 image–map pairs</a:t>
            </a:r>
            <a:endParaRPr lang="en-US" sz="1300" dirty="0"/>
          </a:p>
        </p:txBody>
      </p:sp>
      <p:sp>
        <p:nvSpPr>
          <p:cNvPr id="11" name="Text 9"/>
          <p:cNvSpPr/>
          <p:nvPr/>
        </p:nvSpPr>
        <p:spPr>
          <a:xfrm>
            <a:off x="6217920" y="1645920"/>
            <a:ext cx="2743200" cy="731520"/>
          </a:xfrm>
          <a:prstGeom prst="rect">
            <a:avLst/>
          </a:prstGeom>
          <a:noFill/>
          <a:ln/>
        </p:spPr>
        <p:txBody>
          <a:bodyPr wrap="square" lIns="0" tIns="0" rIns="0" bIns="0" rtlCol="0" anchor="ctr"/>
          <a:lstStyle/>
          <a:p>
            <a:pPr indent="0" marL="0">
              <a:buNone/>
            </a:pPr>
            <a:r>
              <a:rPr lang="en-US" sz="4000" b="1" dirty="0">
                <a:solidFill>
                  <a:srgbClr val="13A89E"/>
                </a:solidFill>
                <a:latin typeface="Calibri" pitchFamily="34" charset="0"/>
                <a:ea typeface="Calibri" pitchFamily="34" charset="-122"/>
                <a:cs typeface="Calibri" pitchFamily="34" charset="-120"/>
              </a:rPr>
              <a:t>+11%</a:t>
            </a:r>
            <a:endParaRPr lang="en-US" sz="4000" dirty="0"/>
          </a:p>
        </p:txBody>
      </p:sp>
      <p:sp>
        <p:nvSpPr>
          <p:cNvPr id="12" name="Text 10"/>
          <p:cNvSpPr/>
          <p:nvPr/>
        </p:nvSpPr>
        <p:spPr>
          <a:xfrm>
            <a:off x="6217920" y="2377440"/>
            <a:ext cx="2743200" cy="548640"/>
          </a:xfrm>
          <a:prstGeom prst="rect">
            <a:avLst/>
          </a:prstGeom>
          <a:noFill/>
          <a:ln/>
        </p:spPr>
        <p:txBody>
          <a:bodyPr wrap="square" lIns="0" tIns="0" rIns="0" bIns="0" rtlCol="0" anchor="t"/>
          <a:lstStyle/>
          <a:p>
            <a:pPr indent="0" marL="0">
              <a:buNone/>
            </a:pPr>
            <a:r>
              <a:rPr lang="en-US" sz="1300" dirty="0">
                <a:solidFill>
                  <a:srgbClr val="5B6B7B"/>
                </a:solidFill>
                <a:latin typeface="Calibri" pitchFamily="34" charset="0"/>
                <a:ea typeface="Calibri" pitchFamily="34" charset="-122"/>
                <a:cs typeface="Calibri" pitchFamily="34" charset="-120"/>
              </a:rPr>
              <a:t>IoU gain over baseline on held-out test set</a:t>
            </a:r>
            <a:endParaRPr lang="en-US" sz="1300" dirty="0"/>
          </a:p>
        </p:txBody>
      </p:sp>
      <p:sp>
        <p:nvSpPr>
          <p:cNvPr id="13" name="Text 11"/>
          <p:cNvSpPr/>
          <p:nvPr/>
        </p:nvSpPr>
        <p:spPr>
          <a:xfrm>
            <a:off x="9052560" y="1645920"/>
            <a:ext cx="2743200" cy="731520"/>
          </a:xfrm>
          <a:prstGeom prst="rect">
            <a:avLst/>
          </a:prstGeom>
          <a:noFill/>
          <a:ln/>
        </p:spPr>
        <p:txBody>
          <a:bodyPr wrap="square" lIns="0" tIns="0" rIns="0" bIns="0" rtlCol="0" anchor="ctr"/>
          <a:lstStyle/>
          <a:p>
            <a:pPr indent="0" marL="0">
              <a:buNone/>
            </a:pPr>
            <a:r>
              <a:rPr lang="en-US" sz="4000" b="1" dirty="0">
                <a:solidFill>
                  <a:srgbClr val="13A89E"/>
                </a:solidFill>
                <a:latin typeface="Calibri" pitchFamily="34" charset="0"/>
                <a:ea typeface="Calibri" pitchFamily="34" charset="-122"/>
                <a:cs typeface="Calibri" pitchFamily="34" charset="-120"/>
              </a:rPr>
              <a:t>+43%</a:t>
            </a:r>
            <a:endParaRPr lang="en-US" sz="4000" dirty="0"/>
          </a:p>
        </p:txBody>
      </p:sp>
      <p:sp>
        <p:nvSpPr>
          <p:cNvPr id="14" name="Text 12"/>
          <p:cNvSpPr/>
          <p:nvPr/>
        </p:nvSpPr>
        <p:spPr>
          <a:xfrm>
            <a:off x="9052560" y="2377440"/>
            <a:ext cx="2743200" cy="548640"/>
          </a:xfrm>
          <a:prstGeom prst="rect">
            <a:avLst/>
          </a:prstGeom>
          <a:noFill/>
          <a:ln/>
        </p:spPr>
        <p:txBody>
          <a:bodyPr wrap="square" lIns="0" tIns="0" rIns="0" bIns="0" rtlCol="0" anchor="t"/>
          <a:lstStyle/>
          <a:p>
            <a:pPr indent="0" marL="0">
              <a:buNone/>
            </a:pPr>
            <a:r>
              <a:rPr lang="en-US" sz="1300" dirty="0">
                <a:solidFill>
                  <a:srgbClr val="5B6B7B"/>
                </a:solidFill>
                <a:latin typeface="Calibri" pitchFamily="34" charset="0"/>
                <a:ea typeface="Calibri" pitchFamily="34" charset="-122"/>
                <a:cs typeface="Calibri" pitchFamily="34" charset="-120"/>
              </a:rPr>
              <a:t>precision gain: far fewer false flood alarms</a:t>
            </a:r>
            <a:endParaRPr lang="en-US" sz="1300" dirty="0"/>
          </a:p>
        </p:txBody>
      </p:sp>
      <p:sp>
        <p:nvSpPr>
          <p:cNvPr id="15" name="Text 13"/>
          <p:cNvSpPr/>
          <p:nvPr/>
        </p:nvSpPr>
        <p:spPr>
          <a:xfrm>
            <a:off x="548640" y="3429000"/>
            <a:ext cx="5486400" cy="365760"/>
          </a:xfrm>
          <a:prstGeom prst="rect">
            <a:avLst/>
          </a:prstGeom>
          <a:noFill/>
          <a:ln/>
        </p:spPr>
        <p:txBody>
          <a:bodyPr wrap="square" lIns="0" tIns="0" rIns="0" bIns="0" rtlCol="0" anchor="ctr"/>
          <a:lstStyle/>
          <a:p>
            <a:pPr indent="0" marL="0">
              <a:buNone/>
            </a:pPr>
            <a:r>
              <a:rPr lang="en-US" sz="1800" b="1" dirty="0">
                <a:solidFill>
                  <a:srgbClr val="13A89E"/>
                </a:solidFill>
                <a:latin typeface="Calibri" pitchFamily="34" charset="0"/>
                <a:ea typeface="Calibri" pitchFamily="34" charset="-122"/>
                <a:cs typeface="Calibri" pitchFamily="34" charset="-120"/>
              </a:rPr>
              <a:t>Completed</a:t>
            </a:r>
            <a:endParaRPr lang="en-US" sz="1800" dirty="0"/>
          </a:p>
        </p:txBody>
      </p:sp>
      <p:sp>
        <p:nvSpPr>
          <p:cNvPr id="16" name="Text 14"/>
          <p:cNvSpPr/>
          <p:nvPr/>
        </p:nvSpPr>
        <p:spPr>
          <a:xfrm>
            <a:off x="548640" y="3840480"/>
            <a:ext cx="5486400" cy="2468880"/>
          </a:xfrm>
          <a:prstGeom prst="rect">
            <a:avLst/>
          </a:prstGeom>
          <a:noFill/>
          <a:ln/>
        </p:spPr>
        <p:txBody>
          <a:bodyPr wrap="square" lIns="50800" tIns="50800" rIns="50800" bIns="50800" rtlCol="0" anchor="t"/>
          <a:lstStyle/>
          <a:p>
            <a:pPr marL="228600" indent="-228600">
              <a:spcAft>
                <a:spcPts val="800"/>
              </a:spcAft>
              <a:buSzPct val="100000"/>
              <a:buChar char="•"/>
            </a:pPr>
            <a:r>
              <a:rPr lang="en-US" sz="1500" dirty="0">
                <a:solidFill>
                  <a:srgbClr val="1B2733"/>
                </a:solidFill>
                <a:latin typeface="Calibri" pitchFamily="34" charset="0"/>
                <a:ea typeface="Calibri" pitchFamily="34" charset="-122"/>
                <a:cs typeface="Calibri" pitchFamily="34" charset="-120"/>
              </a:rPr>
              <a:t>Problem framing &amp; literature review</a:t>
            </a:r>
            <a:endParaRPr lang="en-US" sz="1500" dirty="0"/>
          </a:p>
          <a:p>
            <a:pPr marL="228600" indent="-228600">
              <a:spcAft>
                <a:spcPts val="800"/>
              </a:spcAft>
              <a:buSzPct val="100000"/>
              <a:buChar char="•"/>
            </a:pPr>
            <a:r>
              <a:rPr lang="en-US" sz="1500" dirty="0">
                <a:solidFill>
                  <a:srgbClr val="1B2733"/>
                </a:solidFill>
                <a:latin typeface="Calibri" pitchFamily="34" charset="0"/>
                <a:ea typeface="Calibri" pitchFamily="34" charset="-122"/>
                <a:cs typeface="Calibri" pitchFamily="34" charset="-120"/>
              </a:rPr>
              <a:t>Dataset built &amp; quality-checked</a:t>
            </a:r>
            <a:endParaRPr lang="en-US" sz="1500" dirty="0"/>
          </a:p>
          <a:p>
            <a:pPr marL="228600" indent="-228600">
              <a:spcAft>
                <a:spcPts val="800"/>
              </a:spcAft>
              <a:buSzPct val="100000"/>
              <a:buChar char="•"/>
            </a:pPr>
            <a:r>
              <a:rPr lang="en-US" sz="1500" dirty="0">
                <a:solidFill>
                  <a:srgbClr val="1B2733"/>
                </a:solidFill>
                <a:latin typeface="Calibri" pitchFamily="34" charset="0"/>
                <a:ea typeface="Calibri" pitchFamily="34" charset="-122"/>
                <a:cs typeface="Calibri" pitchFamily="34" charset="-120"/>
              </a:rPr>
              <a:t>Evaluation protocol &amp; baseline</a:t>
            </a:r>
            <a:endParaRPr lang="en-US" sz="1500" dirty="0"/>
          </a:p>
          <a:p>
            <a:pPr marL="228600" indent="-228600">
              <a:spcAft>
                <a:spcPts val="800"/>
              </a:spcAft>
              <a:buSzPct val="100000"/>
              <a:buChar char="•"/>
            </a:pPr>
            <a:r>
              <a:rPr lang="en-US" sz="1500" dirty="0">
                <a:solidFill>
                  <a:srgbClr val="1B2733"/>
                </a:solidFill>
                <a:latin typeface="Calibri" pitchFamily="34" charset="0"/>
                <a:ea typeface="Calibri" pitchFamily="34" charset="-122"/>
                <a:cs typeface="Calibri" pitchFamily="34" charset="-120"/>
              </a:rPr>
              <a:t>Full fine-tune of 300M-param model</a:t>
            </a:r>
            <a:endParaRPr lang="en-US" sz="1500" dirty="0"/>
          </a:p>
          <a:p>
            <a:pPr marL="228600" indent="-228600">
              <a:spcAft>
                <a:spcPts val="800"/>
              </a:spcAft>
              <a:buSzPct val="100000"/>
              <a:buChar char="•"/>
            </a:pPr>
            <a:r>
              <a:rPr lang="en-US" sz="1500" dirty="0">
                <a:solidFill>
                  <a:srgbClr val="1B2733"/>
                </a:solidFill>
                <a:latin typeface="Calibri" pitchFamily="34" charset="0"/>
                <a:ea typeface="Calibri" pitchFamily="34" charset="-122"/>
                <a:cs typeface="Calibri" pitchFamily="34" charset="-120"/>
              </a:rPr>
              <a:t>Before/after evaluation</a:t>
            </a:r>
            <a:endParaRPr lang="en-US" sz="1500" dirty="0"/>
          </a:p>
          <a:p>
            <a:pPr marL="228600" indent="-228600">
              <a:spcAft>
                <a:spcPts val="800"/>
              </a:spcAft>
              <a:buSzPct val="100000"/>
              <a:buChar char="•"/>
            </a:pPr>
            <a:r>
              <a:rPr lang="en-US" sz="1500" dirty="0">
                <a:solidFill>
                  <a:srgbClr val="1B2733"/>
                </a:solidFill>
                <a:latin typeface="Calibri" pitchFamily="34" charset="0"/>
                <a:ea typeface="Calibri" pitchFamily="34" charset="-122"/>
                <a:cs typeface="Calibri" pitchFamily="34" charset="-120"/>
              </a:rPr>
              <a:t>Inference workflow &amp; application design</a:t>
            </a:r>
            <a:endParaRPr lang="en-US" sz="1500" dirty="0"/>
          </a:p>
        </p:txBody>
      </p:sp>
      <p:sp>
        <p:nvSpPr>
          <p:cNvPr id="17" name="Text 15"/>
          <p:cNvSpPr/>
          <p:nvPr/>
        </p:nvSpPr>
        <p:spPr>
          <a:xfrm>
            <a:off x="6400800" y="3429000"/>
            <a:ext cx="5486400" cy="365760"/>
          </a:xfrm>
          <a:prstGeom prst="rect">
            <a:avLst/>
          </a:prstGeom>
          <a:noFill/>
          <a:ln/>
        </p:spPr>
        <p:txBody>
          <a:bodyPr wrap="square" lIns="0" tIns="0" rIns="0" bIns="0" rtlCol="0" anchor="ctr"/>
          <a:lstStyle/>
          <a:p>
            <a:pPr indent="0" marL="0">
              <a:buNone/>
            </a:pPr>
            <a:r>
              <a:rPr lang="en-US" sz="1800" b="1" dirty="0">
                <a:solidFill>
                  <a:srgbClr val="E8A33D"/>
                </a:solidFill>
                <a:latin typeface="Calibri" pitchFamily="34" charset="0"/>
                <a:ea typeface="Calibri" pitchFamily="34" charset="-122"/>
                <a:cs typeface="Calibri" pitchFamily="34" charset="-120"/>
              </a:rPr>
              <a:t>Next</a:t>
            </a:r>
            <a:endParaRPr lang="en-US" sz="1800" dirty="0"/>
          </a:p>
        </p:txBody>
      </p:sp>
      <p:sp>
        <p:nvSpPr>
          <p:cNvPr id="18" name="Text 16"/>
          <p:cNvSpPr/>
          <p:nvPr/>
        </p:nvSpPr>
        <p:spPr>
          <a:xfrm>
            <a:off x="6400800" y="3840480"/>
            <a:ext cx="5303520" cy="2468880"/>
          </a:xfrm>
          <a:prstGeom prst="rect">
            <a:avLst/>
          </a:prstGeom>
          <a:noFill/>
          <a:ln/>
        </p:spPr>
        <p:txBody>
          <a:bodyPr wrap="square" lIns="50800" tIns="50800" rIns="50800" bIns="50800" rtlCol="0" anchor="t"/>
          <a:lstStyle/>
          <a:p>
            <a:pPr marL="228600" indent="-228600">
              <a:spcAft>
                <a:spcPts val="800"/>
              </a:spcAft>
              <a:buSzPct val="100000"/>
              <a:buChar char="•"/>
            </a:pPr>
            <a:r>
              <a:rPr lang="en-US" sz="1500" dirty="0">
                <a:solidFill>
                  <a:srgbClr val="1B2733"/>
                </a:solidFill>
                <a:latin typeface="Calibri" pitchFamily="34" charset="0"/>
                <a:ea typeface="Calibri" pitchFamily="34" charset="-122"/>
                <a:cs typeface="Calibri" pitchFamily="34" charset="-120"/>
              </a:rPr>
              <a:t>Visual error maps &amp; per-event analysis</a:t>
            </a:r>
            <a:endParaRPr lang="en-US" sz="1500" dirty="0"/>
          </a:p>
          <a:p>
            <a:pPr marL="228600" indent="-228600">
              <a:spcAft>
                <a:spcPts val="800"/>
              </a:spcAft>
              <a:buSzPct val="100000"/>
              <a:buChar char="•"/>
            </a:pPr>
            <a:r>
              <a:rPr lang="en-US" sz="1500" dirty="0">
                <a:solidFill>
                  <a:srgbClr val="1B2733"/>
                </a:solidFill>
                <a:latin typeface="Calibri" pitchFamily="34" charset="0"/>
                <a:ea typeface="Calibri" pitchFamily="34" charset="-122"/>
                <a:cs typeface="Calibri" pitchFamily="34" charset="-120"/>
              </a:rPr>
              <a:t>Threshold tuning for recall/precision balance</a:t>
            </a:r>
            <a:endParaRPr lang="en-US" sz="1500" dirty="0"/>
          </a:p>
          <a:p>
            <a:pPr marL="228600" indent="-228600">
              <a:spcAft>
                <a:spcPts val="800"/>
              </a:spcAft>
              <a:buSzPct val="100000"/>
              <a:buChar char="•"/>
            </a:pPr>
            <a:r>
              <a:rPr lang="en-US" sz="1500" dirty="0">
                <a:solidFill>
                  <a:srgbClr val="1B2733"/>
                </a:solidFill>
                <a:latin typeface="Calibri" pitchFamily="34" charset="0"/>
                <a:ea typeface="Calibri" pitchFamily="34" charset="-122"/>
                <a:cs typeface="Calibri" pitchFamily="34" charset="-120"/>
              </a:rPr>
              <a:t>Scale up dataset (~2,680 unscreened NDEM layers)</a:t>
            </a:r>
            <a:endParaRPr lang="en-US" sz="1500" dirty="0"/>
          </a:p>
          <a:p>
            <a:pPr marL="228600" indent="-228600">
              <a:spcAft>
                <a:spcPts val="800"/>
              </a:spcAft>
              <a:buSzPct val="100000"/>
              <a:buChar char="•"/>
            </a:pPr>
            <a:r>
              <a:rPr lang="en-US" sz="1500" dirty="0">
                <a:solidFill>
                  <a:srgbClr val="1B2733"/>
                </a:solidFill>
                <a:latin typeface="Calibri" pitchFamily="34" charset="0"/>
                <a:ea typeface="Calibri" pitchFamily="34" charset="-122"/>
                <a:cs typeface="Calibri" pitchFamily="34" charset="-120"/>
              </a:rPr>
              <a:t>Mahanadi-basin pilot &amp; dashboard prototype</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13A89E"/>
          </a:solidFill>
          <a:ln/>
        </p:spPr>
      </p:sp>
      <p:sp>
        <p:nvSpPr>
          <p:cNvPr id="3" name="Text 1"/>
          <p:cNvSpPr/>
          <p:nvPr/>
        </p:nvSpPr>
        <p:spPr>
          <a:xfrm>
            <a:off x="548640" y="320040"/>
            <a:ext cx="10972800" cy="640080"/>
          </a:xfrm>
          <a:prstGeom prst="rect">
            <a:avLst/>
          </a:prstGeom>
          <a:noFill/>
          <a:ln/>
        </p:spPr>
        <p:txBody>
          <a:bodyPr wrap="square" lIns="0" tIns="0" rIns="0" bIns="0" rtlCol="0" anchor="ctr"/>
          <a:lstStyle/>
          <a:p>
            <a:pPr indent="0" marL="0">
              <a:buNone/>
            </a:pPr>
            <a:r>
              <a:rPr lang="en-US" sz="3000" b="1" dirty="0">
                <a:solidFill>
                  <a:srgbClr val="0B2545"/>
                </a:solidFill>
                <a:latin typeface="Calibri" pitchFamily="34" charset="0"/>
                <a:ea typeface="Calibri" pitchFamily="34" charset="-122"/>
                <a:cs typeface="Calibri" pitchFamily="34" charset="-120"/>
              </a:rPr>
              <a:t>Problem &amp; motivation</a:t>
            </a:r>
            <a:endParaRPr lang="en-US" sz="3000" dirty="0"/>
          </a:p>
        </p:txBody>
      </p:sp>
      <p:sp>
        <p:nvSpPr>
          <p:cNvPr id="4" name="Text 2"/>
          <p:cNvSpPr/>
          <p:nvPr/>
        </p:nvSpPr>
        <p:spPr>
          <a:xfrm>
            <a:off x="548640" y="932688"/>
            <a:ext cx="10972800" cy="365760"/>
          </a:xfrm>
          <a:prstGeom prst="rect">
            <a:avLst/>
          </a:prstGeom>
          <a:noFill/>
          <a:ln/>
        </p:spPr>
        <p:txBody>
          <a:bodyPr wrap="square" lIns="0" tIns="0" rIns="0" bIns="0" rtlCol="0" anchor="ctr"/>
          <a:lstStyle/>
          <a:p>
            <a:pPr indent="0" marL="0">
              <a:buNone/>
            </a:pPr>
            <a:r>
              <a:rPr lang="en-US" sz="1500" dirty="0">
                <a:solidFill>
                  <a:srgbClr val="5B6B7B"/>
                </a:solidFill>
                <a:latin typeface="Calibri" pitchFamily="34" charset="0"/>
                <a:ea typeface="Calibri" pitchFamily="34" charset="-122"/>
                <a:cs typeface="Calibri" pitchFamily="34" charset="-120"/>
              </a:rPr>
              <a:t>Why India needs its own flood-mapping model</a:t>
            </a:r>
            <a:endParaRPr lang="en-US" sz="1500" dirty="0"/>
          </a:p>
        </p:txBody>
      </p:sp>
      <p:sp>
        <p:nvSpPr>
          <p:cNvPr id="5" name="Text 3"/>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Prithvi Flood-IN  |  CE 766 Integrated Design Project  |  Progress Review</a:t>
            </a:r>
            <a:endParaRPr lang="en-US" sz="1000" dirty="0"/>
          </a:p>
        </p:txBody>
      </p:sp>
      <p:sp>
        <p:nvSpPr>
          <p:cNvPr id="6" name="Text 4"/>
          <p:cNvSpPr/>
          <p:nvPr/>
        </p:nvSpPr>
        <p:spPr>
          <a:xfrm>
            <a:off x="11155680" y="6446520"/>
            <a:ext cx="548640" cy="274320"/>
          </a:xfrm>
          <a:prstGeom prst="rect">
            <a:avLst/>
          </a:prstGeom>
          <a:noFill/>
          <a:ln/>
        </p:spPr>
        <p:txBody>
          <a:bodyPr wrap="square" lIns="0" tIns="0" rIns="0" bIns="0" rtlCol="0" anchor="ctr"/>
          <a:lstStyle/>
          <a:p>
            <a:pPr algn="r" indent="0" marL="0">
              <a:buNone/>
            </a:pPr>
            <a:r>
              <a:rPr lang="en-US" sz="1000" dirty="0">
                <a:solidFill>
                  <a:srgbClr val="5B6B7B"/>
                </a:solidFill>
                <a:latin typeface="Calibri" pitchFamily="34" charset="0"/>
                <a:ea typeface="Calibri" pitchFamily="34" charset="-122"/>
                <a:cs typeface="Calibri" pitchFamily="34" charset="-120"/>
              </a:rPr>
              <a:t>3</a:t>
            </a:r>
            <a:endParaRPr lang="en-US" sz="1000" dirty="0"/>
          </a:p>
        </p:txBody>
      </p:sp>
      <p:sp>
        <p:nvSpPr>
          <p:cNvPr id="7" name="Shape 5"/>
          <p:cNvSpPr/>
          <p:nvPr/>
        </p:nvSpPr>
        <p:spPr>
          <a:xfrm>
            <a:off x="548640" y="1554480"/>
            <a:ext cx="3566160" cy="2194560"/>
          </a:xfrm>
          <a:prstGeom prst="rect">
            <a:avLst/>
          </a:prstGeom>
          <a:solidFill>
            <a:srgbClr val="EEF4F8"/>
          </a:solidFill>
          <a:ln w="12700">
            <a:solidFill>
              <a:srgbClr val="EEF4F8"/>
            </a:solidFill>
            <a:prstDash val="solid"/>
          </a:ln>
        </p:spPr>
      </p:sp>
      <p:sp>
        <p:nvSpPr>
          <p:cNvPr id="8" name="Shape 6"/>
          <p:cNvSpPr/>
          <p:nvPr/>
        </p:nvSpPr>
        <p:spPr>
          <a:xfrm>
            <a:off x="548640" y="1554480"/>
            <a:ext cx="73152" cy="2194560"/>
          </a:xfrm>
          <a:prstGeom prst="rect">
            <a:avLst/>
          </a:prstGeom>
          <a:solidFill>
            <a:srgbClr val="13A89E"/>
          </a:solidFill>
          <a:ln w="12700">
            <a:solidFill>
              <a:srgbClr val="13A89E"/>
            </a:solidFill>
            <a:prstDash val="solid"/>
          </a:ln>
        </p:spPr>
      </p:sp>
      <p:sp>
        <p:nvSpPr>
          <p:cNvPr id="9" name="Text 7"/>
          <p:cNvSpPr/>
          <p:nvPr/>
        </p:nvSpPr>
        <p:spPr>
          <a:xfrm>
            <a:off x="777240" y="1664208"/>
            <a:ext cx="3200400" cy="411480"/>
          </a:xfrm>
          <a:prstGeom prst="rect">
            <a:avLst/>
          </a:prstGeom>
          <a:noFill/>
          <a:ln/>
        </p:spPr>
        <p:txBody>
          <a:bodyPr wrap="square" lIns="0" tIns="0" rIns="0" bIns="0" rtlCol="0" anchor="t"/>
          <a:lstStyle/>
          <a:p>
            <a:pPr indent="0" marL="0">
              <a:buNone/>
            </a:pPr>
            <a:r>
              <a:rPr lang="en-US" sz="1700" b="1" dirty="0">
                <a:solidFill>
                  <a:srgbClr val="0B2545"/>
                </a:solidFill>
                <a:latin typeface="Calibri" pitchFamily="34" charset="0"/>
                <a:ea typeface="Calibri" pitchFamily="34" charset="-122"/>
                <a:cs typeface="Calibri" pitchFamily="34" charset="-120"/>
              </a:rPr>
              <a:t>Recurring monsoon floods</a:t>
            </a:r>
            <a:endParaRPr lang="en-US" sz="1700" dirty="0"/>
          </a:p>
        </p:txBody>
      </p:sp>
      <p:sp>
        <p:nvSpPr>
          <p:cNvPr id="10" name="Text 8"/>
          <p:cNvSpPr/>
          <p:nvPr/>
        </p:nvSpPr>
        <p:spPr>
          <a:xfrm>
            <a:off x="777240" y="2103120"/>
            <a:ext cx="3200400" cy="1554480"/>
          </a:xfrm>
          <a:prstGeom prst="rect">
            <a:avLst/>
          </a:prstGeom>
          <a:noFill/>
          <a:ln/>
        </p:spPr>
        <p:txBody>
          <a:bodyPr wrap="square" lIns="0" tIns="0" rIns="0" bIns="0" rtlCol="0" anchor="t"/>
          <a:lstStyle/>
          <a:p>
            <a:pPr indent="0" marL="0">
              <a:buNone/>
            </a:pPr>
            <a:r>
              <a:rPr lang="en-US" sz="1400" dirty="0">
                <a:solidFill>
                  <a:srgbClr val="1B2733"/>
                </a:solidFill>
                <a:latin typeface="Calibri" pitchFamily="34" charset="0"/>
                <a:ea typeface="Calibri" pitchFamily="34" charset="-122"/>
                <a:cs typeface="Calibri" pitchFamily="34" charset="-120"/>
              </a:rPr>
              <a:t>Monsoon floods recur every year across the Ganga, Brahmaputra and Mahanadi basins, disrupting lives, crops and infrastructure.</a:t>
            </a:r>
            <a:endParaRPr lang="en-US" sz="1400" dirty="0"/>
          </a:p>
        </p:txBody>
      </p:sp>
      <p:sp>
        <p:nvSpPr>
          <p:cNvPr id="11" name="Shape 9"/>
          <p:cNvSpPr/>
          <p:nvPr/>
        </p:nvSpPr>
        <p:spPr>
          <a:xfrm>
            <a:off x="4315968" y="1554480"/>
            <a:ext cx="3566160" cy="2194560"/>
          </a:xfrm>
          <a:prstGeom prst="rect">
            <a:avLst/>
          </a:prstGeom>
          <a:solidFill>
            <a:srgbClr val="EEF4F8"/>
          </a:solidFill>
          <a:ln w="12700">
            <a:solidFill>
              <a:srgbClr val="EEF4F8"/>
            </a:solidFill>
            <a:prstDash val="solid"/>
          </a:ln>
        </p:spPr>
      </p:sp>
      <p:sp>
        <p:nvSpPr>
          <p:cNvPr id="12" name="Shape 10"/>
          <p:cNvSpPr/>
          <p:nvPr/>
        </p:nvSpPr>
        <p:spPr>
          <a:xfrm>
            <a:off x="4315968" y="1554480"/>
            <a:ext cx="73152" cy="2194560"/>
          </a:xfrm>
          <a:prstGeom prst="rect">
            <a:avLst/>
          </a:prstGeom>
          <a:solidFill>
            <a:srgbClr val="1F6FB2"/>
          </a:solidFill>
          <a:ln w="12700">
            <a:solidFill>
              <a:srgbClr val="1F6FB2"/>
            </a:solidFill>
            <a:prstDash val="solid"/>
          </a:ln>
        </p:spPr>
      </p:sp>
      <p:sp>
        <p:nvSpPr>
          <p:cNvPr id="13" name="Text 11"/>
          <p:cNvSpPr/>
          <p:nvPr/>
        </p:nvSpPr>
        <p:spPr>
          <a:xfrm>
            <a:off x="4544568" y="1664208"/>
            <a:ext cx="3200400" cy="411480"/>
          </a:xfrm>
          <a:prstGeom prst="rect">
            <a:avLst/>
          </a:prstGeom>
          <a:noFill/>
          <a:ln/>
        </p:spPr>
        <p:txBody>
          <a:bodyPr wrap="square" lIns="0" tIns="0" rIns="0" bIns="0" rtlCol="0" anchor="t"/>
          <a:lstStyle/>
          <a:p>
            <a:pPr indent="0" marL="0">
              <a:buNone/>
            </a:pPr>
            <a:r>
              <a:rPr lang="en-US" sz="1700" b="1" dirty="0">
                <a:solidFill>
                  <a:srgbClr val="0B2545"/>
                </a:solidFill>
                <a:latin typeface="Calibri" pitchFamily="34" charset="0"/>
                <a:ea typeface="Calibri" pitchFamily="34" charset="-122"/>
                <a:cs typeface="Calibri" pitchFamily="34" charset="-120"/>
              </a:rPr>
              <a:t>Mapping is slow &amp; manual</a:t>
            </a:r>
            <a:endParaRPr lang="en-US" sz="1700" dirty="0"/>
          </a:p>
        </p:txBody>
      </p:sp>
      <p:sp>
        <p:nvSpPr>
          <p:cNvPr id="14" name="Text 12"/>
          <p:cNvSpPr/>
          <p:nvPr/>
        </p:nvSpPr>
        <p:spPr>
          <a:xfrm>
            <a:off x="4544568" y="2103120"/>
            <a:ext cx="3200400" cy="1554480"/>
          </a:xfrm>
          <a:prstGeom prst="rect">
            <a:avLst/>
          </a:prstGeom>
          <a:noFill/>
          <a:ln/>
        </p:spPr>
        <p:txBody>
          <a:bodyPr wrap="square" lIns="0" tIns="0" rIns="0" bIns="0" rtlCol="0" anchor="t"/>
          <a:lstStyle/>
          <a:p>
            <a:pPr indent="0" marL="0">
              <a:buNone/>
            </a:pPr>
            <a:r>
              <a:rPr lang="en-US" sz="1400" dirty="0">
                <a:solidFill>
                  <a:srgbClr val="1B2733"/>
                </a:solidFill>
                <a:latin typeface="Calibri" pitchFamily="34" charset="0"/>
                <a:ea typeface="Calibri" pitchFamily="34" charset="-122"/>
                <a:cs typeface="Calibri" pitchFamily="34" charset="-120"/>
              </a:rPr>
              <a:t>Official flood maps (NDEM, ISRO/NRSC) are produced by analysts; responders need extents during the event, not days later.</a:t>
            </a:r>
            <a:endParaRPr lang="en-US" sz="1400" dirty="0"/>
          </a:p>
        </p:txBody>
      </p:sp>
      <p:sp>
        <p:nvSpPr>
          <p:cNvPr id="15" name="Shape 13"/>
          <p:cNvSpPr/>
          <p:nvPr/>
        </p:nvSpPr>
        <p:spPr>
          <a:xfrm>
            <a:off x="8083296" y="1554480"/>
            <a:ext cx="3566160" cy="2194560"/>
          </a:xfrm>
          <a:prstGeom prst="rect">
            <a:avLst/>
          </a:prstGeom>
          <a:solidFill>
            <a:srgbClr val="EEF4F8"/>
          </a:solidFill>
          <a:ln w="12700">
            <a:solidFill>
              <a:srgbClr val="EEF4F8"/>
            </a:solidFill>
            <a:prstDash val="solid"/>
          </a:ln>
        </p:spPr>
      </p:sp>
      <p:sp>
        <p:nvSpPr>
          <p:cNvPr id="16" name="Shape 14"/>
          <p:cNvSpPr/>
          <p:nvPr/>
        </p:nvSpPr>
        <p:spPr>
          <a:xfrm>
            <a:off x="8083296" y="1554480"/>
            <a:ext cx="73152" cy="2194560"/>
          </a:xfrm>
          <a:prstGeom prst="rect">
            <a:avLst/>
          </a:prstGeom>
          <a:solidFill>
            <a:srgbClr val="E8A33D"/>
          </a:solidFill>
          <a:ln w="12700">
            <a:solidFill>
              <a:srgbClr val="E8A33D"/>
            </a:solidFill>
            <a:prstDash val="solid"/>
          </a:ln>
        </p:spPr>
      </p:sp>
      <p:sp>
        <p:nvSpPr>
          <p:cNvPr id="17" name="Text 15"/>
          <p:cNvSpPr/>
          <p:nvPr/>
        </p:nvSpPr>
        <p:spPr>
          <a:xfrm>
            <a:off x="8311896" y="1664208"/>
            <a:ext cx="3200400" cy="411480"/>
          </a:xfrm>
          <a:prstGeom prst="rect">
            <a:avLst/>
          </a:prstGeom>
          <a:noFill/>
          <a:ln/>
        </p:spPr>
        <p:txBody>
          <a:bodyPr wrap="square" lIns="0" tIns="0" rIns="0" bIns="0" rtlCol="0" anchor="t"/>
          <a:lstStyle/>
          <a:p>
            <a:pPr indent="0" marL="0">
              <a:buNone/>
            </a:pPr>
            <a:r>
              <a:rPr lang="en-US" sz="1700" b="1" dirty="0">
                <a:solidFill>
                  <a:srgbClr val="0B2545"/>
                </a:solidFill>
                <a:latin typeface="Calibri" pitchFamily="34" charset="0"/>
                <a:ea typeface="Calibri" pitchFamily="34" charset="-122"/>
                <a:cs typeface="Calibri" pitchFamily="34" charset="-120"/>
              </a:rPr>
              <a:t>Global models miss India</a:t>
            </a:r>
            <a:endParaRPr lang="en-US" sz="1700" dirty="0"/>
          </a:p>
        </p:txBody>
      </p:sp>
      <p:sp>
        <p:nvSpPr>
          <p:cNvPr id="18" name="Text 16"/>
          <p:cNvSpPr/>
          <p:nvPr/>
        </p:nvSpPr>
        <p:spPr>
          <a:xfrm>
            <a:off x="8311896" y="2103120"/>
            <a:ext cx="3200400" cy="1554480"/>
          </a:xfrm>
          <a:prstGeom prst="rect">
            <a:avLst/>
          </a:prstGeom>
          <a:noFill/>
          <a:ln/>
        </p:spPr>
        <p:txBody>
          <a:bodyPr wrap="square" lIns="0" tIns="0" rIns="0" bIns="0" rtlCol="0" anchor="t"/>
          <a:lstStyle/>
          <a:p>
            <a:pPr indent="0" marL="0">
              <a:buNone/>
            </a:pPr>
            <a:r>
              <a:rPr lang="en-US" sz="1400" dirty="0">
                <a:solidFill>
                  <a:srgbClr val="1B2733"/>
                </a:solidFill>
                <a:latin typeface="Calibri" pitchFamily="34" charset="0"/>
                <a:ea typeface="Calibri" pitchFamily="34" charset="-122"/>
                <a:cs typeface="Calibri" pitchFamily="34" charset="-120"/>
              </a:rPr>
              <a:t>Prithvi’s flood model was tuned on Sen1Floods11 (non-Indian). Indian terrain, turbid rivers and monsoon clouds shift its behaviour.</a:t>
            </a:r>
            <a:endParaRPr lang="en-US" sz="1400" dirty="0"/>
          </a:p>
        </p:txBody>
      </p:sp>
      <p:sp>
        <p:nvSpPr>
          <p:cNvPr id="19" name="Shape 17"/>
          <p:cNvSpPr/>
          <p:nvPr/>
        </p:nvSpPr>
        <p:spPr>
          <a:xfrm>
            <a:off x="548640" y="4114800"/>
            <a:ext cx="11100816" cy="2011680"/>
          </a:xfrm>
          <a:prstGeom prst="rect">
            <a:avLst/>
          </a:prstGeom>
          <a:solidFill>
            <a:srgbClr val="0B2545"/>
          </a:solidFill>
          <a:ln/>
        </p:spPr>
      </p:sp>
      <p:sp>
        <p:nvSpPr>
          <p:cNvPr id="20" name="Text 18"/>
          <p:cNvSpPr/>
          <p:nvPr/>
        </p:nvSpPr>
        <p:spPr>
          <a:xfrm>
            <a:off x="822960" y="4251960"/>
            <a:ext cx="10607040" cy="1737360"/>
          </a:xfrm>
          <a:prstGeom prst="rect">
            <a:avLst/>
          </a:prstGeom>
          <a:noFill/>
          <a:ln/>
        </p:spPr>
        <p:txBody>
          <a:bodyPr wrap="square" lIns="0" tIns="0" rIns="0" bIns="0" rtlCol="0" anchor="t"/>
          <a:lstStyle/>
          <a:p>
            <a:pPr indent="0" marL="0">
              <a:buNone/>
            </a:pPr>
            <a:r>
              <a:rPr lang="en-US" sz="1800" b="1" dirty="0">
                <a:solidFill>
                  <a:srgbClr val="13A89E"/>
                </a:solidFill>
                <a:latin typeface="Calibri" pitchFamily="34" charset="0"/>
                <a:ea typeface="Calibri" pitchFamily="34" charset="-122"/>
                <a:cs typeface="Calibri" pitchFamily="34" charset="-120"/>
              </a:rPr>
              <a:t>Objective</a:t>
            </a:r>
            <a:endParaRPr lang="en-US" sz="1800" dirty="0"/>
          </a:p>
          <a:p>
            <a:pPr indent="0" marL="0">
              <a:buNone/>
            </a:pPr>
            <a:r>
              <a:rPr lang="en-US" sz="1700" dirty="0">
                <a:solidFill>
                  <a:srgbClr val="FFFFFF"/>
                </a:solidFill>
                <a:latin typeface="Calibri" pitchFamily="34" charset="0"/>
                <a:ea typeface="Calibri" pitchFamily="34" charset="-122"/>
                <a:cs typeface="Calibri" pitchFamily="34" charset="-120"/>
              </a:rPr>
              <a:t>Adapt the Prithvi-EO-2.0 foundation model to Indian flood events so that, given a new Sentinel-2 image, it produces a reliable per-pixel flood-extent map that can feed a hydrological information system for flood response.</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13A89E"/>
          </a:solidFill>
          <a:ln/>
        </p:spPr>
      </p:sp>
      <p:sp>
        <p:nvSpPr>
          <p:cNvPr id="3" name="Text 1"/>
          <p:cNvSpPr/>
          <p:nvPr/>
        </p:nvSpPr>
        <p:spPr>
          <a:xfrm>
            <a:off x="548640" y="320040"/>
            <a:ext cx="10972800" cy="640080"/>
          </a:xfrm>
          <a:prstGeom prst="rect">
            <a:avLst/>
          </a:prstGeom>
          <a:noFill/>
          <a:ln/>
        </p:spPr>
        <p:txBody>
          <a:bodyPr wrap="square" lIns="0" tIns="0" rIns="0" bIns="0" rtlCol="0" anchor="ctr"/>
          <a:lstStyle/>
          <a:p>
            <a:pPr indent="0" marL="0">
              <a:buNone/>
            </a:pPr>
            <a:r>
              <a:rPr lang="en-US" sz="3000" b="1" dirty="0">
                <a:solidFill>
                  <a:srgbClr val="0B2545"/>
                </a:solidFill>
                <a:latin typeface="Calibri" pitchFamily="34" charset="0"/>
                <a:ea typeface="Calibri" pitchFamily="34" charset="-122"/>
                <a:cs typeface="Calibri" pitchFamily="34" charset="-120"/>
              </a:rPr>
              <a:t>Our approach: fine-tune, don’t train from scratch</a:t>
            </a:r>
            <a:endParaRPr lang="en-US" sz="3000" dirty="0"/>
          </a:p>
        </p:txBody>
      </p:sp>
      <p:sp>
        <p:nvSpPr>
          <p:cNvPr id="4" name="Text 2"/>
          <p:cNvSpPr/>
          <p:nvPr/>
        </p:nvSpPr>
        <p:spPr>
          <a:xfrm>
            <a:off x="548640" y="932688"/>
            <a:ext cx="10972800" cy="365760"/>
          </a:xfrm>
          <a:prstGeom prst="rect">
            <a:avLst/>
          </a:prstGeom>
          <a:noFill/>
          <a:ln/>
        </p:spPr>
        <p:txBody>
          <a:bodyPr wrap="square" lIns="0" tIns="0" rIns="0" bIns="0" rtlCol="0" anchor="ctr"/>
          <a:lstStyle/>
          <a:p>
            <a:pPr indent="0" marL="0">
              <a:buNone/>
            </a:pPr>
            <a:r>
              <a:rPr lang="en-US" sz="1500" dirty="0">
                <a:solidFill>
                  <a:srgbClr val="5B6B7B"/>
                </a:solidFill>
                <a:latin typeface="Calibri" pitchFamily="34" charset="0"/>
                <a:ea typeface="Calibri" pitchFamily="34" charset="-122"/>
                <a:cs typeface="Calibri" pitchFamily="34" charset="-120"/>
              </a:rPr>
              <a:t>Transfer learning from an IBM–NASA Earth-observation foundation model</a:t>
            </a:r>
            <a:endParaRPr lang="en-US" sz="1500" dirty="0"/>
          </a:p>
        </p:txBody>
      </p:sp>
      <p:sp>
        <p:nvSpPr>
          <p:cNvPr id="5" name="Text 3"/>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Prithvi Flood-IN  |  CE 766 Integrated Design Project  |  Progress Review</a:t>
            </a:r>
            <a:endParaRPr lang="en-US" sz="1000" dirty="0"/>
          </a:p>
        </p:txBody>
      </p:sp>
      <p:sp>
        <p:nvSpPr>
          <p:cNvPr id="6" name="Text 4"/>
          <p:cNvSpPr/>
          <p:nvPr/>
        </p:nvSpPr>
        <p:spPr>
          <a:xfrm>
            <a:off x="11155680" y="6446520"/>
            <a:ext cx="548640" cy="274320"/>
          </a:xfrm>
          <a:prstGeom prst="rect">
            <a:avLst/>
          </a:prstGeom>
          <a:noFill/>
          <a:ln/>
        </p:spPr>
        <p:txBody>
          <a:bodyPr wrap="square" lIns="0" tIns="0" rIns="0" bIns="0" rtlCol="0" anchor="ctr"/>
          <a:lstStyle/>
          <a:p>
            <a:pPr algn="r" indent="0" marL="0">
              <a:buNone/>
            </a:pPr>
            <a:r>
              <a:rPr lang="en-US" sz="1000" dirty="0">
                <a:solidFill>
                  <a:srgbClr val="5B6B7B"/>
                </a:solidFill>
                <a:latin typeface="Calibri" pitchFamily="34" charset="0"/>
                <a:ea typeface="Calibri" pitchFamily="34" charset="-122"/>
                <a:cs typeface="Calibri" pitchFamily="34" charset="-120"/>
              </a:rPr>
              <a:t>4</a:t>
            </a:r>
            <a:endParaRPr lang="en-US" sz="1000" dirty="0"/>
          </a:p>
        </p:txBody>
      </p:sp>
      <p:sp>
        <p:nvSpPr>
          <p:cNvPr id="7" name="Shape 5"/>
          <p:cNvSpPr/>
          <p:nvPr/>
        </p:nvSpPr>
        <p:spPr>
          <a:xfrm>
            <a:off x="548640" y="1645920"/>
            <a:ext cx="2594610" cy="1005840"/>
          </a:xfrm>
          <a:prstGeom prst="rect">
            <a:avLst/>
          </a:prstGeom>
          <a:solidFill>
            <a:srgbClr val="0B2545"/>
          </a:solidFill>
          <a:ln w="12700">
            <a:solidFill>
              <a:srgbClr val="0B2545"/>
            </a:solidFill>
            <a:prstDash val="solid"/>
          </a:ln>
        </p:spPr>
      </p:sp>
      <p:sp>
        <p:nvSpPr>
          <p:cNvPr id="8" name="Text 6"/>
          <p:cNvSpPr/>
          <p:nvPr/>
        </p:nvSpPr>
        <p:spPr>
          <a:xfrm>
            <a:off x="548640" y="1645920"/>
            <a:ext cx="2594610" cy="1005840"/>
          </a:xfrm>
          <a:prstGeom prst="rect">
            <a:avLst/>
          </a:prstGeom>
          <a:noFill/>
          <a:ln/>
        </p:spPr>
        <p:txBody>
          <a:bodyPr wrap="square" lIns="50800" tIns="50800" rIns="50800" bIns="508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Prithvi-EO-2.0</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Global pre-training</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(IBM &amp; NASA)</a:t>
            </a:r>
            <a:endParaRPr lang="en-US" sz="1300" dirty="0"/>
          </a:p>
        </p:txBody>
      </p:sp>
      <p:sp>
        <p:nvSpPr>
          <p:cNvPr id="9" name="Text 7"/>
          <p:cNvSpPr/>
          <p:nvPr/>
        </p:nvSpPr>
        <p:spPr>
          <a:xfrm>
            <a:off x="3124962" y="1965960"/>
            <a:ext cx="265176" cy="365760"/>
          </a:xfrm>
          <a:prstGeom prst="rect">
            <a:avLst/>
          </a:prstGeom>
          <a:noFill/>
          <a:ln/>
        </p:spPr>
        <p:txBody>
          <a:bodyPr wrap="square" lIns="0" tIns="0" rIns="0" bIns="0" rtlCol="0" anchor="ctr"/>
          <a:lstStyle/>
          <a:p>
            <a:pPr algn="ctr" indent="0" marL="0">
              <a:buNone/>
            </a:pPr>
            <a:r>
              <a:rPr lang="en-US" sz="1200" dirty="0">
                <a:solidFill>
                  <a:srgbClr val="13A89E"/>
                </a:solidFill>
              </a:rPr>
              <a:t>▶</a:t>
            </a:r>
            <a:endParaRPr lang="en-US" sz="1200" dirty="0"/>
          </a:p>
        </p:txBody>
      </p:sp>
      <p:sp>
        <p:nvSpPr>
          <p:cNvPr id="10" name="Shape 8"/>
          <p:cNvSpPr/>
          <p:nvPr/>
        </p:nvSpPr>
        <p:spPr>
          <a:xfrm>
            <a:off x="3371850" y="1645920"/>
            <a:ext cx="2594610" cy="1005840"/>
          </a:xfrm>
          <a:prstGeom prst="rect">
            <a:avLst/>
          </a:prstGeom>
          <a:solidFill>
            <a:srgbClr val="0B2545"/>
          </a:solidFill>
          <a:ln w="12700">
            <a:solidFill>
              <a:srgbClr val="0B2545"/>
            </a:solidFill>
            <a:prstDash val="solid"/>
          </a:ln>
        </p:spPr>
      </p:sp>
      <p:sp>
        <p:nvSpPr>
          <p:cNvPr id="11" name="Text 9"/>
          <p:cNvSpPr/>
          <p:nvPr/>
        </p:nvSpPr>
        <p:spPr>
          <a:xfrm>
            <a:off x="3371850" y="1645920"/>
            <a:ext cx="2594610" cy="1005840"/>
          </a:xfrm>
          <a:prstGeom prst="rect">
            <a:avLst/>
          </a:prstGeom>
          <a:noFill/>
          <a:ln/>
        </p:spPr>
        <p:txBody>
          <a:bodyPr wrap="square" lIns="50800" tIns="50800" rIns="50800" bIns="508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Sen1Floods11</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flood fine-tune</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(public checkpoint)</a:t>
            </a:r>
            <a:endParaRPr lang="en-US" sz="1300" dirty="0"/>
          </a:p>
        </p:txBody>
      </p:sp>
      <p:sp>
        <p:nvSpPr>
          <p:cNvPr id="12" name="Text 10"/>
          <p:cNvSpPr/>
          <p:nvPr/>
        </p:nvSpPr>
        <p:spPr>
          <a:xfrm>
            <a:off x="5948172" y="1965960"/>
            <a:ext cx="265176" cy="365760"/>
          </a:xfrm>
          <a:prstGeom prst="rect">
            <a:avLst/>
          </a:prstGeom>
          <a:noFill/>
          <a:ln/>
        </p:spPr>
        <p:txBody>
          <a:bodyPr wrap="square" lIns="0" tIns="0" rIns="0" bIns="0" rtlCol="0" anchor="ctr"/>
          <a:lstStyle/>
          <a:p>
            <a:pPr algn="ctr" indent="0" marL="0">
              <a:buNone/>
            </a:pPr>
            <a:r>
              <a:rPr lang="en-US" sz="1200" dirty="0">
                <a:solidFill>
                  <a:srgbClr val="13A89E"/>
                </a:solidFill>
              </a:rPr>
              <a:t>▶</a:t>
            </a:r>
            <a:endParaRPr lang="en-US" sz="1200" dirty="0"/>
          </a:p>
        </p:txBody>
      </p:sp>
      <p:sp>
        <p:nvSpPr>
          <p:cNvPr id="13" name="Shape 11"/>
          <p:cNvSpPr/>
          <p:nvPr/>
        </p:nvSpPr>
        <p:spPr>
          <a:xfrm>
            <a:off x="6195060" y="1645920"/>
            <a:ext cx="2594610" cy="1005840"/>
          </a:xfrm>
          <a:prstGeom prst="rect">
            <a:avLst/>
          </a:prstGeom>
          <a:solidFill>
            <a:srgbClr val="0B2545"/>
          </a:solidFill>
          <a:ln w="12700">
            <a:solidFill>
              <a:srgbClr val="0B2545"/>
            </a:solidFill>
            <a:prstDash val="solid"/>
          </a:ln>
        </p:spPr>
      </p:sp>
      <p:sp>
        <p:nvSpPr>
          <p:cNvPr id="14" name="Text 12"/>
          <p:cNvSpPr/>
          <p:nvPr/>
        </p:nvSpPr>
        <p:spPr>
          <a:xfrm>
            <a:off x="6195060" y="1645920"/>
            <a:ext cx="2594610" cy="1005840"/>
          </a:xfrm>
          <a:prstGeom prst="rect">
            <a:avLst/>
          </a:prstGeom>
          <a:noFill/>
          <a:ln/>
        </p:spPr>
        <p:txBody>
          <a:bodyPr wrap="square" lIns="50800" tIns="50800" rIns="50800" bIns="508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Our India fine-tune</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~100 Indian flood events</a:t>
            </a:r>
            <a:endParaRPr lang="en-US" sz="1300" dirty="0"/>
          </a:p>
        </p:txBody>
      </p:sp>
      <p:sp>
        <p:nvSpPr>
          <p:cNvPr id="15" name="Text 13"/>
          <p:cNvSpPr/>
          <p:nvPr/>
        </p:nvSpPr>
        <p:spPr>
          <a:xfrm>
            <a:off x="8771382" y="1965960"/>
            <a:ext cx="265176" cy="365760"/>
          </a:xfrm>
          <a:prstGeom prst="rect">
            <a:avLst/>
          </a:prstGeom>
          <a:noFill/>
          <a:ln/>
        </p:spPr>
        <p:txBody>
          <a:bodyPr wrap="square" lIns="0" tIns="0" rIns="0" bIns="0" rtlCol="0" anchor="ctr"/>
          <a:lstStyle/>
          <a:p>
            <a:pPr algn="ctr" indent="0" marL="0">
              <a:buNone/>
            </a:pPr>
            <a:r>
              <a:rPr lang="en-US" sz="1200" dirty="0">
                <a:solidFill>
                  <a:srgbClr val="13A89E"/>
                </a:solidFill>
              </a:rPr>
              <a:t>▶</a:t>
            </a:r>
            <a:endParaRPr lang="en-US" sz="1200" dirty="0"/>
          </a:p>
        </p:txBody>
      </p:sp>
      <p:sp>
        <p:nvSpPr>
          <p:cNvPr id="16" name="Shape 14"/>
          <p:cNvSpPr/>
          <p:nvPr/>
        </p:nvSpPr>
        <p:spPr>
          <a:xfrm>
            <a:off x="9018270" y="1645920"/>
            <a:ext cx="2594610" cy="1005840"/>
          </a:xfrm>
          <a:prstGeom prst="rect">
            <a:avLst/>
          </a:prstGeom>
          <a:solidFill>
            <a:srgbClr val="13A89E"/>
          </a:solidFill>
          <a:ln w="12700">
            <a:solidFill>
              <a:srgbClr val="0B2545"/>
            </a:solidFill>
            <a:prstDash val="solid"/>
          </a:ln>
        </p:spPr>
      </p:sp>
      <p:sp>
        <p:nvSpPr>
          <p:cNvPr id="17" name="Text 15"/>
          <p:cNvSpPr/>
          <p:nvPr/>
        </p:nvSpPr>
        <p:spPr>
          <a:xfrm>
            <a:off x="9018270" y="1645920"/>
            <a:ext cx="2594610" cy="1005840"/>
          </a:xfrm>
          <a:prstGeom prst="rect">
            <a:avLst/>
          </a:prstGeom>
          <a:noFill/>
          <a:ln/>
        </p:spPr>
        <p:txBody>
          <a:bodyPr wrap="square" lIns="50800" tIns="50800" rIns="50800" bIns="508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Prithvi Flood-IN</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India-calibrated</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flood mapper</a:t>
            </a:r>
            <a:endParaRPr lang="en-US" sz="1300" dirty="0"/>
          </a:p>
        </p:txBody>
      </p:sp>
      <p:sp>
        <p:nvSpPr>
          <p:cNvPr id="18" name="Text 16"/>
          <p:cNvSpPr/>
          <p:nvPr/>
        </p:nvSpPr>
        <p:spPr>
          <a:xfrm>
            <a:off x="548640" y="3017520"/>
            <a:ext cx="11064240" cy="3200400"/>
          </a:xfrm>
          <a:prstGeom prst="rect">
            <a:avLst/>
          </a:prstGeom>
          <a:noFill/>
          <a:ln/>
        </p:spPr>
        <p:txBody>
          <a:bodyPr wrap="square" lIns="50800" tIns="50800" rIns="50800" bIns="50800" rtlCol="0" anchor="t"/>
          <a:lstStyle/>
          <a:p>
            <a:pPr marL="228600" indent="-228600">
              <a:spcAft>
                <a:spcPts val="800"/>
              </a:spcAft>
              <a:buSzPct val="100000"/>
              <a:buChar char="•"/>
            </a:pPr>
            <a:r>
              <a:rPr lang="en-US" sz="1700" dirty="0">
                <a:solidFill>
                  <a:srgbClr val="1B2733"/>
                </a:solidFill>
                <a:latin typeface="Calibri" pitchFamily="34" charset="0"/>
                <a:ea typeface="Calibri" pitchFamily="34" charset="-122"/>
                <a:cs typeface="Calibri" pitchFamily="34" charset="-120"/>
              </a:rPr>
              <a:t>Base checkpoint: ibm-nasa-geospatial/Prithvi-EO-2.0-300M-TL-Sen1Floods11 (Hugging Face)</a:t>
            </a:r>
            <a:endParaRPr lang="en-US" sz="1700" dirty="0"/>
          </a:p>
          <a:p>
            <a:pPr marL="228600" indent="-228600">
              <a:spcAft>
                <a:spcPts val="800"/>
              </a:spcAft>
              <a:buSzPct val="100000"/>
              <a:buChar char="•"/>
            </a:pPr>
            <a:r>
              <a:rPr lang="en-US" sz="1700" dirty="0">
                <a:solidFill>
                  <a:srgbClr val="1B2733"/>
                </a:solidFill>
                <a:latin typeface="Calibri" pitchFamily="34" charset="0"/>
                <a:ea typeface="Calibri" pitchFamily="34" charset="-122"/>
                <a:cs typeface="Calibri" pitchFamily="34" charset="-120"/>
              </a:rPr>
              <a:t>~300 million parameters, Vision Transformer (ViT) encoder: already “understands” land from space</a:t>
            </a:r>
            <a:endParaRPr lang="en-US" sz="1700" dirty="0"/>
          </a:p>
          <a:p>
            <a:pPr marL="228600" indent="-228600">
              <a:spcAft>
                <a:spcPts val="800"/>
              </a:spcAft>
              <a:buSzPct val="100000"/>
              <a:buChar char="•"/>
            </a:pPr>
            <a:r>
              <a:rPr lang="en-US" sz="1700" dirty="0">
                <a:solidFill>
                  <a:srgbClr val="1B2733"/>
                </a:solidFill>
                <a:latin typeface="Calibri" pitchFamily="34" charset="0"/>
                <a:ea typeface="Calibri" pitchFamily="34" charset="-122"/>
                <a:cs typeface="Calibri" pitchFamily="34" charset="-120"/>
              </a:rPr>
              <a:t>Training from zero would need far more data and compute than a student team has; fine-tuning adapts existing knowledge</a:t>
            </a:r>
            <a:endParaRPr lang="en-US" sz="1700" dirty="0"/>
          </a:p>
          <a:p>
            <a:pPr marL="228600" indent="-228600">
              <a:spcAft>
                <a:spcPts val="800"/>
              </a:spcAft>
              <a:buSzPct val="100000"/>
              <a:buChar char="•"/>
            </a:pPr>
            <a:r>
              <a:rPr lang="en-US" sz="1700" dirty="0">
                <a:solidFill>
                  <a:srgbClr val="1B2733"/>
                </a:solidFill>
                <a:latin typeface="Calibri" pitchFamily="34" charset="0"/>
                <a:ea typeface="Calibri" pitchFamily="34" charset="-122"/>
                <a:cs typeface="Calibri" pitchFamily="34" charset="-120"/>
              </a:rPr>
              <a:t>Task: semantic segmentation, i.e. a flood / no-flood label for every pixel</a:t>
            </a:r>
            <a:endParaRPr lang="en-US" sz="1700" dirty="0"/>
          </a:p>
          <a:p>
            <a:pPr marL="228600" indent="-228600">
              <a:spcAft>
                <a:spcPts val="800"/>
              </a:spcAft>
              <a:buSzPct val="100000"/>
              <a:buChar char="•"/>
            </a:pPr>
            <a:r>
              <a:rPr lang="en-US" sz="1700" dirty="0">
                <a:solidFill>
                  <a:srgbClr val="1B2733"/>
                </a:solidFill>
                <a:latin typeface="Calibri" pitchFamily="34" charset="0"/>
                <a:ea typeface="Calibri" pitchFamily="34" charset="-122"/>
                <a:cs typeface="Calibri" pitchFamily="34" charset="-120"/>
              </a:rPr>
              <a:t>Full fine-tune (encoder + decoder unfrozen) using IBM’s open-source TerraTorch library</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13A89E"/>
          </a:solidFill>
          <a:ln/>
        </p:spPr>
      </p:sp>
      <p:sp>
        <p:nvSpPr>
          <p:cNvPr id="3" name="Text 1"/>
          <p:cNvSpPr/>
          <p:nvPr/>
        </p:nvSpPr>
        <p:spPr>
          <a:xfrm>
            <a:off x="548640" y="320040"/>
            <a:ext cx="10972800" cy="640080"/>
          </a:xfrm>
          <a:prstGeom prst="rect">
            <a:avLst/>
          </a:prstGeom>
          <a:noFill/>
          <a:ln/>
        </p:spPr>
        <p:txBody>
          <a:bodyPr wrap="square" lIns="0" tIns="0" rIns="0" bIns="0" rtlCol="0" anchor="ctr"/>
          <a:lstStyle/>
          <a:p>
            <a:pPr indent="0" marL="0">
              <a:buNone/>
            </a:pPr>
            <a:r>
              <a:rPr lang="en-US" sz="3000" b="1" dirty="0">
                <a:solidFill>
                  <a:srgbClr val="0B2545"/>
                </a:solidFill>
                <a:latin typeface="Calibri" pitchFamily="34" charset="0"/>
                <a:ea typeface="Calibri" pitchFamily="34" charset="-122"/>
                <a:cs typeface="Calibri" pitchFamily="34" charset="-120"/>
              </a:rPr>
              <a:t>Model architecture</a:t>
            </a:r>
            <a:endParaRPr lang="en-US" sz="3000" dirty="0"/>
          </a:p>
        </p:txBody>
      </p:sp>
      <p:sp>
        <p:nvSpPr>
          <p:cNvPr id="4" name="Text 2"/>
          <p:cNvSpPr/>
          <p:nvPr/>
        </p:nvSpPr>
        <p:spPr>
          <a:xfrm>
            <a:off x="548640" y="932688"/>
            <a:ext cx="10972800" cy="365760"/>
          </a:xfrm>
          <a:prstGeom prst="rect">
            <a:avLst/>
          </a:prstGeom>
          <a:noFill/>
          <a:ln/>
        </p:spPr>
        <p:txBody>
          <a:bodyPr wrap="square" lIns="0" tIns="0" rIns="0" bIns="0" rtlCol="0" anchor="ctr"/>
          <a:lstStyle/>
          <a:p>
            <a:pPr indent="0" marL="0">
              <a:buNone/>
            </a:pPr>
            <a:r>
              <a:rPr lang="en-US" sz="1500" dirty="0">
                <a:solidFill>
                  <a:srgbClr val="5B6B7B"/>
                </a:solidFill>
                <a:latin typeface="Calibri" pitchFamily="34" charset="0"/>
                <a:ea typeface="Calibri" pitchFamily="34" charset="-122"/>
                <a:cs typeface="Calibri" pitchFamily="34" charset="-120"/>
              </a:rPr>
              <a:t>Reused the published Sen1Floods11 architecture and weights, built in TerraTorch</a:t>
            </a:r>
            <a:endParaRPr lang="en-US" sz="1500" dirty="0"/>
          </a:p>
        </p:txBody>
      </p:sp>
      <p:sp>
        <p:nvSpPr>
          <p:cNvPr id="5" name="Text 3"/>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Prithvi Flood-IN  |  CE 766 Integrated Design Project  |  Progress Review</a:t>
            </a:r>
            <a:endParaRPr lang="en-US" sz="1000" dirty="0"/>
          </a:p>
        </p:txBody>
      </p:sp>
      <p:sp>
        <p:nvSpPr>
          <p:cNvPr id="6" name="Text 4"/>
          <p:cNvSpPr/>
          <p:nvPr/>
        </p:nvSpPr>
        <p:spPr>
          <a:xfrm>
            <a:off x="11155680" y="6446520"/>
            <a:ext cx="548640" cy="274320"/>
          </a:xfrm>
          <a:prstGeom prst="rect">
            <a:avLst/>
          </a:prstGeom>
          <a:noFill/>
          <a:ln/>
        </p:spPr>
        <p:txBody>
          <a:bodyPr wrap="square" lIns="0" tIns="0" rIns="0" bIns="0" rtlCol="0" anchor="ctr"/>
          <a:lstStyle/>
          <a:p>
            <a:pPr algn="r" indent="0" marL="0">
              <a:buNone/>
            </a:pPr>
            <a:r>
              <a:rPr lang="en-US" sz="1000" dirty="0">
                <a:solidFill>
                  <a:srgbClr val="5B6B7B"/>
                </a:solidFill>
                <a:latin typeface="Calibri" pitchFamily="34" charset="0"/>
                <a:ea typeface="Calibri" pitchFamily="34" charset="-122"/>
                <a:cs typeface="Calibri" pitchFamily="34" charset="-120"/>
              </a:rPr>
              <a:t>5</a:t>
            </a:r>
            <a:endParaRPr lang="en-US" sz="1000" dirty="0"/>
          </a:p>
        </p:txBody>
      </p:sp>
      <p:sp>
        <p:nvSpPr>
          <p:cNvPr id="7" name="Shape 5"/>
          <p:cNvSpPr/>
          <p:nvPr/>
        </p:nvSpPr>
        <p:spPr>
          <a:xfrm>
            <a:off x="548640" y="1645920"/>
            <a:ext cx="2057400" cy="1920240"/>
          </a:xfrm>
          <a:prstGeom prst="rect">
            <a:avLst/>
          </a:prstGeom>
          <a:solidFill>
            <a:srgbClr val="5B6B7B"/>
          </a:solidFill>
          <a:ln/>
        </p:spPr>
      </p:sp>
      <p:sp>
        <p:nvSpPr>
          <p:cNvPr id="8" name="Text 6"/>
          <p:cNvSpPr/>
          <p:nvPr/>
        </p:nvSpPr>
        <p:spPr>
          <a:xfrm>
            <a:off x="548640" y="1737360"/>
            <a:ext cx="20574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Input</a:t>
            </a:r>
            <a:endParaRPr lang="en-US" sz="1800" dirty="0"/>
          </a:p>
        </p:txBody>
      </p:sp>
      <p:sp>
        <p:nvSpPr>
          <p:cNvPr id="9" name="Text 7"/>
          <p:cNvSpPr/>
          <p:nvPr/>
        </p:nvSpPr>
        <p:spPr>
          <a:xfrm>
            <a:off x="640080" y="2240280"/>
            <a:ext cx="1874520" cy="1234440"/>
          </a:xfrm>
          <a:prstGeom prst="rect">
            <a:avLst/>
          </a:prstGeom>
          <a:noFill/>
          <a:ln/>
        </p:spPr>
        <p:txBody>
          <a:bodyPr wrap="square" lIns="0" tIns="0" rIns="0" bIns="0" rtlCol="0" anchor="t"/>
          <a:lstStyle/>
          <a:p>
            <a:pPr algn="ctr" indent="0" marL="0">
              <a:buNone/>
            </a:pPr>
            <a:r>
              <a:rPr lang="en-US" sz="1300" dirty="0">
                <a:solidFill>
                  <a:srgbClr val="FFFFFF"/>
                </a:solidFill>
                <a:latin typeface="Calibri" pitchFamily="34" charset="0"/>
                <a:ea typeface="Calibri" pitchFamily="34" charset="-122"/>
                <a:cs typeface="Calibri" pitchFamily="34" charset="-120"/>
              </a:rPr>
              <a:t>6-band Sentinel-2 chip</a:t>
            </a:r>
            <a:endParaRPr lang="en-US" sz="1300" dirty="0"/>
          </a:p>
          <a:p>
            <a:pPr algn="ctr" indent="0" marL="0">
              <a:buNone/>
            </a:pPr>
            <a:r>
              <a:rPr lang="en-US" sz="1300" dirty="0">
                <a:solidFill>
                  <a:srgbClr val="FFFFFF"/>
                </a:solidFill>
                <a:latin typeface="Calibri" pitchFamily="34" charset="0"/>
                <a:ea typeface="Calibri" pitchFamily="34" charset="-122"/>
                <a:cs typeface="Calibri" pitchFamily="34" charset="-120"/>
              </a:rPr>
              <a:t>224×224 (train) · 512×512 (eval)</a:t>
            </a:r>
            <a:endParaRPr lang="en-US" sz="1300" dirty="0"/>
          </a:p>
        </p:txBody>
      </p:sp>
      <p:sp>
        <p:nvSpPr>
          <p:cNvPr id="10" name="Text 8"/>
          <p:cNvSpPr/>
          <p:nvPr/>
        </p:nvSpPr>
        <p:spPr>
          <a:xfrm>
            <a:off x="2587752" y="2423160"/>
            <a:ext cx="237744" cy="365760"/>
          </a:xfrm>
          <a:prstGeom prst="rect">
            <a:avLst/>
          </a:prstGeom>
          <a:noFill/>
          <a:ln/>
        </p:spPr>
        <p:txBody>
          <a:bodyPr wrap="square" lIns="0" tIns="0" rIns="0" bIns="0" rtlCol="0" anchor="ctr"/>
          <a:lstStyle/>
          <a:p>
            <a:pPr algn="ctr" indent="0" marL="0">
              <a:buNone/>
            </a:pPr>
            <a:r>
              <a:rPr lang="en-US" sz="1200" dirty="0">
                <a:solidFill>
                  <a:srgbClr val="13A89E"/>
                </a:solidFill>
              </a:rPr>
              <a:t>▶</a:t>
            </a:r>
            <a:endParaRPr lang="en-US" sz="1200" dirty="0"/>
          </a:p>
        </p:txBody>
      </p:sp>
      <p:sp>
        <p:nvSpPr>
          <p:cNvPr id="11" name="Shape 9"/>
          <p:cNvSpPr/>
          <p:nvPr/>
        </p:nvSpPr>
        <p:spPr>
          <a:xfrm>
            <a:off x="2807208" y="1645920"/>
            <a:ext cx="2057400" cy="1920240"/>
          </a:xfrm>
          <a:prstGeom prst="rect">
            <a:avLst/>
          </a:prstGeom>
          <a:solidFill>
            <a:srgbClr val="0B2545"/>
          </a:solidFill>
          <a:ln/>
        </p:spPr>
      </p:sp>
      <p:sp>
        <p:nvSpPr>
          <p:cNvPr id="12" name="Text 10"/>
          <p:cNvSpPr/>
          <p:nvPr/>
        </p:nvSpPr>
        <p:spPr>
          <a:xfrm>
            <a:off x="2807208" y="1737360"/>
            <a:ext cx="20574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Encoder</a:t>
            </a:r>
            <a:endParaRPr lang="en-US" sz="1800" dirty="0"/>
          </a:p>
        </p:txBody>
      </p:sp>
      <p:sp>
        <p:nvSpPr>
          <p:cNvPr id="13" name="Text 11"/>
          <p:cNvSpPr/>
          <p:nvPr/>
        </p:nvSpPr>
        <p:spPr>
          <a:xfrm>
            <a:off x="2898648" y="2240280"/>
            <a:ext cx="1874520" cy="1234440"/>
          </a:xfrm>
          <a:prstGeom prst="rect">
            <a:avLst/>
          </a:prstGeom>
          <a:noFill/>
          <a:ln/>
        </p:spPr>
        <p:txBody>
          <a:bodyPr wrap="square" lIns="0" tIns="0" rIns="0" bIns="0" rtlCol="0" anchor="t"/>
          <a:lstStyle/>
          <a:p>
            <a:pPr algn="ctr" indent="0" marL="0">
              <a:buNone/>
            </a:pPr>
            <a:r>
              <a:rPr lang="en-US" sz="1300" dirty="0">
                <a:solidFill>
                  <a:srgbClr val="FFFFFF"/>
                </a:solidFill>
                <a:latin typeface="Calibri" pitchFamily="34" charset="0"/>
                <a:ea typeface="Calibri" pitchFamily="34" charset="-122"/>
                <a:cs typeface="Calibri" pitchFamily="34" charset="-120"/>
              </a:rPr>
              <a:t>Prithvi-EO-2.0 ViT</a:t>
            </a:r>
            <a:endParaRPr lang="en-US" sz="1300" dirty="0"/>
          </a:p>
          <a:p>
            <a:pPr algn="ctr" indent="0" marL="0">
              <a:buNone/>
            </a:pPr>
            <a:r>
              <a:rPr lang="en-US" sz="1300" dirty="0">
                <a:solidFill>
                  <a:srgbClr val="FFFFFF"/>
                </a:solidFill>
                <a:latin typeface="Calibri" pitchFamily="34" charset="0"/>
                <a:ea typeface="Calibri" pitchFamily="34" charset="-122"/>
                <a:cs typeface="Calibri" pitchFamily="34" charset="-120"/>
              </a:rPr>
              <a:t>~300M params (fine-tuned)</a:t>
            </a:r>
            <a:endParaRPr lang="en-US" sz="1300" dirty="0"/>
          </a:p>
        </p:txBody>
      </p:sp>
      <p:sp>
        <p:nvSpPr>
          <p:cNvPr id="14" name="Text 12"/>
          <p:cNvSpPr/>
          <p:nvPr/>
        </p:nvSpPr>
        <p:spPr>
          <a:xfrm>
            <a:off x="4846320" y="2423160"/>
            <a:ext cx="237744" cy="365760"/>
          </a:xfrm>
          <a:prstGeom prst="rect">
            <a:avLst/>
          </a:prstGeom>
          <a:noFill/>
          <a:ln/>
        </p:spPr>
        <p:txBody>
          <a:bodyPr wrap="square" lIns="0" tIns="0" rIns="0" bIns="0" rtlCol="0" anchor="ctr"/>
          <a:lstStyle/>
          <a:p>
            <a:pPr algn="ctr" indent="0" marL="0">
              <a:buNone/>
            </a:pPr>
            <a:r>
              <a:rPr lang="en-US" sz="1200" dirty="0">
                <a:solidFill>
                  <a:srgbClr val="13A89E"/>
                </a:solidFill>
              </a:rPr>
              <a:t>▶</a:t>
            </a:r>
            <a:endParaRPr lang="en-US" sz="1200" dirty="0"/>
          </a:p>
        </p:txBody>
      </p:sp>
      <p:sp>
        <p:nvSpPr>
          <p:cNvPr id="15" name="Shape 13"/>
          <p:cNvSpPr/>
          <p:nvPr/>
        </p:nvSpPr>
        <p:spPr>
          <a:xfrm>
            <a:off x="5065776" y="1645920"/>
            <a:ext cx="2057400" cy="1920240"/>
          </a:xfrm>
          <a:prstGeom prst="rect">
            <a:avLst/>
          </a:prstGeom>
          <a:solidFill>
            <a:srgbClr val="1F6FB2"/>
          </a:solidFill>
          <a:ln/>
        </p:spPr>
      </p:sp>
      <p:sp>
        <p:nvSpPr>
          <p:cNvPr id="16" name="Text 14"/>
          <p:cNvSpPr/>
          <p:nvPr/>
        </p:nvSpPr>
        <p:spPr>
          <a:xfrm>
            <a:off x="5065776" y="1737360"/>
            <a:ext cx="20574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Neck</a:t>
            </a:r>
            <a:endParaRPr lang="en-US" sz="1800" dirty="0"/>
          </a:p>
        </p:txBody>
      </p:sp>
      <p:sp>
        <p:nvSpPr>
          <p:cNvPr id="17" name="Text 15"/>
          <p:cNvSpPr/>
          <p:nvPr/>
        </p:nvSpPr>
        <p:spPr>
          <a:xfrm>
            <a:off x="5157216" y="2240280"/>
            <a:ext cx="1874520" cy="1234440"/>
          </a:xfrm>
          <a:prstGeom prst="rect">
            <a:avLst/>
          </a:prstGeom>
          <a:noFill/>
          <a:ln/>
        </p:spPr>
        <p:txBody>
          <a:bodyPr wrap="square" lIns="0" tIns="0" rIns="0" bIns="0" rtlCol="0" anchor="t"/>
          <a:lstStyle/>
          <a:p>
            <a:pPr algn="ctr" indent="0" marL="0">
              <a:buNone/>
            </a:pPr>
            <a:r>
              <a:rPr lang="en-US" sz="1300" dirty="0">
                <a:solidFill>
                  <a:srgbClr val="FFFFFF"/>
                </a:solidFill>
                <a:latin typeface="Calibri" pitchFamily="34" charset="0"/>
                <a:ea typeface="Calibri" pitchFamily="34" charset="-122"/>
                <a:cs typeface="Calibri" pitchFamily="34" charset="-120"/>
              </a:rPr>
              <a:t>Select layers 5, 11, 17, 23 → tokens to image → feature pyramid</a:t>
            </a:r>
            <a:endParaRPr lang="en-US" sz="1300" dirty="0"/>
          </a:p>
        </p:txBody>
      </p:sp>
      <p:sp>
        <p:nvSpPr>
          <p:cNvPr id="18" name="Text 16"/>
          <p:cNvSpPr/>
          <p:nvPr/>
        </p:nvSpPr>
        <p:spPr>
          <a:xfrm>
            <a:off x="7104888" y="2423160"/>
            <a:ext cx="237744" cy="365760"/>
          </a:xfrm>
          <a:prstGeom prst="rect">
            <a:avLst/>
          </a:prstGeom>
          <a:noFill/>
          <a:ln/>
        </p:spPr>
        <p:txBody>
          <a:bodyPr wrap="square" lIns="0" tIns="0" rIns="0" bIns="0" rtlCol="0" anchor="ctr"/>
          <a:lstStyle/>
          <a:p>
            <a:pPr algn="ctr" indent="0" marL="0">
              <a:buNone/>
            </a:pPr>
            <a:r>
              <a:rPr lang="en-US" sz="1200" dirty="0">
                <a:solidFill>
                  <a:srgbClr val="13A89E"/>
                </a:solidFill>
              </a:rPr>
              <a:t>▶</a:t>
            </a:r>
            <a:endParaRPr lang="en-US" sz="1200" dirty="0"/>
          </a:p>
        </p:txBody>
      </p:sp>
      <p:sp>
        <p:nvSpPr>
          <p:cNvPr id="19" name="Shape 17"/>
          <p:cNvSpPr/>
          <p:nvPr/>
        </p:nvSpPr>
        <p:spPr>
          <a:xfrm>
            <a:off x="7324344" y="1645920"/>
            <a:ext cx="2057400" cy="1920240"/>
          </a:xfrm>
          <a:prstGeom prst="rect">
            <a:avLst/>
          </a:prstGeom>
          <a:solidFill>
            <a:srgbClr val="1F6FB2"/>
          </a:solidFill>
          <a:ln/>
        </p:spPr>
      </p:sp>
      <p:sp>
        <p:nvSpPr>
          <p:cNvPr id="20" name="Text 18"/>
          <p:cNvSpPr/>
          <p:nvPr/>
        </p:nvSpPr>
        <p:spPr>
          <a:xfrm>
            <a:off x="7324344" y="1737360"/>
            <a:ext cx="20574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Decoder</a:t>
            </a:r>
            <a:endParaRPr lang="en-US" sz="1800" dirty="0"/>
          </a:p>
        </p:txBody>
      </p:sp>
      <p:sp>
        <p:nvSpPr>
          <p:cNvPr id="21" name="Text 19"/>
          <p:cNvSpPr/>
          <p:nvPr/>
        </p:nvSpPr>
        <p:spPr>
          <a:xfrm>
            <a:off x="7415784" y="2240280"/>
            <a:ext cx="1874520" cy="1234440"/>
          </a:xfrm>
          <a:prstGeom prst="rect">
            <a:avLst/>
          </a:prstGeom>
          <a:noFill/>
          <a:ln/>
        </p:spPr>
        <p:txBody>
          <a:bodyPr wrap="square" lIns="0" tIns="0" rIns="0" bIns="0" rtlCol="0" anchor="t"/>
          <a:lstStyle/>
          <a:p>
            <a:pPr algn="ctr" indent="0" marL="0">
              <a:buNone/>
            </a:pPr>
            <a:r>
              <a:rPr lang="en-US" sz="1300" dirty="0">
                <a:solidFill>
                  <a:srgbClr val="FFFFFF"/>
                </a:solidFill>
                <a:latin typeface="Calibri" pitchFamily="34" charset="0"/>
                <a:ea typeface="Calibri" pitchFamily="34" charset="-122"/>
                <a:cs typeface="Calibri" pitchFamily="34" charset="-120"/>
              </a:rPr>
              <a:t>UperNet, 256 channels</a:t>
            </a:r>
            <a:endParaRPr lang="en-US" sz="1300" dirty="0"/>
          </a:p>
          <a:p>
            <a:pPr algn="ctr" indent="0" marL="0">
              <a:buNone/>
            </a:pPr>
            <a:r>
              <a:rPr lang="en-US" sz="1300" dirty="0">
                <a:solidFill>
                  <a:srgbClr val="FFFFFF"/>
                </a:solidFill>
                <a:latin typeface="Calibri" pitchFamily="34" charset="0"/>
                <a:ea typeface="Calibri" pitchFamily="34" charset="-122"/>
                <a:cs typeface="Calibri" pitchFamily="34" charset="-120"/>
              </a:rPr>
              <a:t>merges multi-scale features</a:t>
            </a:r>
            <a:endParaRPr lang="en-US" sz="1300" dirty="0"/>
          </a:p>
        </p:txBody>
      </p:sp>
      <p:sp>
        <p:nvSpPr>
          <p:cNvPr id="22" name="Text 20"/>
          <p:cNvSpPr/>
          <p:nvPr/>
        </p:nvSpPr>
        <p:spPr>
          <a:xfrm>
            <a:off x="9363456" y="2423160"/>
            <a:ext cx="237744" cy="365760"/>
          </a:xfrm>
          <a:prstGeom prst="rect">
            <a:avLst/>
          </a:prstGeom>
          <a:noFill/>
          <a:ln/>
        </p:spPr>
        <p:txBody>
          <a:bodyPr wrap="square" lIns="0" tIns="0" rIns="0" bIns="0" rtlCol="0" anchor="ctr"/>
          <a:lstStyle/>
          <a:p>
            <a:pPr algn="ctr" indent="0" marL="0">
              <a:buNone/>
            </a:pPr>
            <a:r>
              <a:rPr lang="en-US" sz="1200" dirty="0">
                <a:solidFill>
                  <a:srgbClr val="13A89E"/>
                </a:solidFill>
              </a:rPr>
              <a:t>▶</a:t>
            </a:r>
            <a:endParaRPr lang="en-US" sz="1200" dirty="0"/>
          </a:p>
        </p:txBody>
      </p:sp>
      <p:sp>
        <p:nvSpPr>
          <p:cNvPr id="23" name="Shape 21"/>
          <p:cNvSpPr/>
          <p:nvPr/>
        </p:nvSpPr>
        <p:spPr>
          <a:xfrm>
            <a:off x="9582912" y="1645920"/>
            <a:ext cx="2057400" cy="1920240"/>
          </a:xfrm>
          <a:prstGeom prst="rect">
            <a:avLst/>
          </a:prstGeom>
          <a:solidFill>
            <a:srgbClr val="13A89E"/>
          </a:solidFill>
          <a:ln/>
        </p:spPr>
      </p:sp>
      <p:sp>
        <p:nvSpPr>
          <p:cNvPr id="24" name="Text 22"/>
          <p:cNvSpPr/>
          <p:nvPr/>
        </p:nvSpPr>
        <p:spPr>
          <a:xfrm>
            <a:off x="9582912" y="1737360"/>
            <a:ext cx="20574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Head</a:t>
            </a:r>
            <a:endParaRPr lang="en-US" sz="1800" dirty="0"/>
          </a:p>
        </p:txBody>
      </p:sp>
      <p:sp>
        <p:nvSpPr>
          <p:cNvPr id="25" name="Text 23"/>
          <p:cNvSpPr/>
          <p:nvPr/>
        </p:nvSpPr>
        <p:spPr>
          <a:xfrm>
            <a:off x="9674352" y="2240280"/>
            <a:ext cx="1874520" cy="1234440"/>
          </a:xfrm>
          <a:prstGeom prst="rect">
            <a:avLst/>
          </a:prstGeom>
          <a:noFill/>
          <a:ln/>
        </p:spPr>
        <p:txBody>
          <a:bodyPr wrap="square" lIns="0" tIns="0" rIns="0" bIns="0" rtlCol="0" anchor="t"/>
          <a:lstStyle/>
          <a:p>
            <a:pPr algn="ctr" indent="0" marL="0">
              <a:buNone/>
            </a:pPr>
            <a:r>
              <a:rPr lang="en-US" sz="1300" dirty="0">
                <a:solidFill>
                  <a:srgbClr val="FFFFFF"/>
                </a:solidFill>
                <a:latin typeface="Calibri" pitchFamily="34" charset="0"/>
                <a:ea typeface="Calibri" pitchFamily="34" charset="-122"/>
                <a:cs typeface="Calibri" pitchFamily="34" charset="-120"/>
              </a:rPr>
              <a:t>Per-pixel classifier</a:t>
            </a:r>
            <a:endParaRPr lang="en-US" sz="1300" dirty="0"/>
          </a:p>
          <a:p>
            <a:pPr algn="ctr" indent="0" marL="0">
              <a:buNone/>
            </a:pPr>
            <a:r>
              <a:rPr lang="en-US" sz="1300" dirty="0">
                <a:solidFill>
                  <a:srgbClr val="FFFFFF"/>
                </a:solidFill>
                <a:latin typeface="Calibri" pitchFamily="34" charset="0"/>
                <a:ea typeface="Calibri" pitchFamily="34" charset="-122"/>
                <a:cs typeface="Calibri" pitchFamily="34" charset="-120"/>
              </a:rPr>
              <a:t>[no-flood, flood] · dropout 0.1</a:t>
            </a:r>
            <a:endParaRPr lang="en-US" sz="1300" dirty="0"/>
          </a:p>
        </p:txBody>
      </p:sp>
      <p:sp>
        <p:nvSpPr>
          <p:cNvPr id="26" name="Text 24"/>
          <p:cNvSpPr/>
          <p:nvPr/>
        </p:nvSpPr>
        <p:spPr>
          <a:xfrm>
            <a:off x="548640" y="3931920"/>
            <a:ext cx="5486400" cy="365760"/>
          </a:xfrm>
          <a:prstGeom prst="rect">
            <a:avLst/>
          </a:prstGeom>
          <a:noFill/>
          <a:ln/>
        </p:spPr>
        <p:txBody>
          <a:bodyPr wrap="square" lIns="0" tIns="0" rIns="0" bIns="0" rtlCol="0" anchor="ctr"/>
          <a:lstStyle/>
          <a:p>
            <a:pPr indent="0" marL="0">
              <a:buNone/>
            </a:pPr>
            <a:r>
              <a:rPr lang="en-US" sz="1700" b="1" dirty="0">
                <a:solidFill>
                  <a:srgbClr val="0B2545"/>
                </a:solidFill>
                <a:latin typeface="Calibri" pitchFamily="34" charset="0"/>
                <a:ea typeface="Calibri" pitchFamily="34" charset="-122"/>
                <a:cs typeface="Calibri" pitchFamily="34" charset="-120"/>
              </a:rPr>
              <a:t>Input bands (in order)</a:t>
            </a:r>
            <a:endParaRPr lang="en-US" sz="1700" dirty="0"/>
          </a:p>
        </p:txBody>
      </p:sp>
      <p:sp>
        <p:nvSpPr>
          <p:cNvPr id="27" name="Shape 25"/>
          <p:cNvSpPr/>
          <p:nvPr/>
        </p:nvSpPr>
        <p:spPr>
          <a:xfrm>
            <a:off x="548640" y="4389120"/>
            <a:ext cx="1719072" cy="868680"/>
          </a:xfrm>
          <a:prstGeom prst="rect">
            <a:avLst/>
          </a:prstGeom>
          <a:solidFill>
            <a:srgbClr val="EEF4F8"/>
          </a:solidFill>
          <a:ln/>
        </p:spPr>
      </p:sp>
      <p:sp>
        <p:nvSpPr>
          <p:cNvPr id="28" name="Text 26"/>
          <p:cNvSpPr/>
          <p:nvPr/>
        </p:nvSpPr>
        <p:spPr>
          <a:xfrm>
            <a:off x="548640" y="4389120"/>
            <a:ext cx="1719072" cy="868680"/>
          </a:xfrm>
          <a:prstGeom prst="rect">
            <a:avLst/>
          </a:prstGeom>
          <a:noFill/>
          <a:ln/>
        </p:spPr>
        <p:txBody>
          <a:bodyPr wrap="square" lIns="0" tIns="0" rIns="0" bIns="0" rtlCol="0" anchor="ctr"/>
          <a:lstStyle/>
          <a:p>
            <a:pPr algn="ctr" indent="0" marL="0">
              <a:buNone/>
            </a:pPr>
            <a:r>
              <a:rPr lang="en-US" sz="1700" b="1" dirty="0">
                <a:solidFill>
                  <a:srgbClr val="0B2545"/>
                </a:solidFill>
                <a:latin typeface="Calibri" pitchFamily="34" charset="0"/>
                <a:ea typeface="Calibri" pitchFamily="34" charset="-122"/>
                <a:cs typeface="Calibri" pitchFamily="34" charset="-120"/>
              </a:rPr>
              <a:t>B02</a:t>
            </a:r>
            <a:endParaRPr lang="en-US" sz="1700" dirty="0"/>
          </a:p>
          <a:p>
            <a:pPr algn="ctr" indent="0" marL="0">
              <a:buNone/>
            </a:pPr>
            <a:r>
              <a:rPr lang="en-US" sz="1200" dirty="0">
                <a:solidFill>
                  <a:srgbClr val="0B2545"/>
                </a:solidFill>
                <a:latin typeface="Calibri" pitchFamily="34" charset="0"/>
                <a:ea typeface="Calibri" pitchFamily="34" charset="-122"/>
                <a:cs typeface="Calibri" pitchFamily="34" charset="-120"/>
              </a:rPr>
              <a:t>Blue</a:t>
            </a:r>
            <a:endParaRPr lang="en-US" sz="1700" dirty="0"/>
          </a:p>
        </p:txBody>
      </p:sp>
      <p:sp>
        <p:nvSpPr>
          <p:cNvPr id="29" name="Shape 27"/>
          <p:cNvSpPr/>
          <p:nvPr/>
        </p:nvSpPr>
        <p:spPr>
          <a:xfrm>
            <a:off x="2404872" y="4389120"/>
            <a:ext cx="1719072" cy="868680"/>
          </a:xfrm>
          <a:prstGeom prst="rect">
            <a:avLst/>
          </a:prstGeom>
          <a:solidFill>
            <a:srgbClr val="EEF4F8"/>
          </a:solidFill>
          <a:ln/>
        </p:spPr>
      </p:sp>
      <p:sp>
        <p:nvSpPr>
          <p:cNvPr id="30" name="Text 28"/>
          <p:cNvSpPr/>
          <p:nvPr/>
        </p:nvSpPr>
        <p:spPr>
          <a:xfrm>
            <a:off x="2404872" y="4389120"/>
            <a:ext cx="1719072" cy="868680"/>
          </a:xfrm>
          <a:prstGeom prst="rect">
            <a:avLst/>
          </a:prstGeom>
          <a:noFill/>
          <a:ln/>
        </p:spPr>
        <p:txBody>
          <a:bodyPr wrap="square" lIns="0" tIns="0" rIns="0" bIns="0" rtlCol="0" anchor="ctr"/>
          <a:lstStyle/>
          <a:p>
            <a:pPr algn="ctr" indent="0" marL="0">
              <a:buNone/>
            </a:pPr>
            <a:r>
              <a:rPr lang="en-US" sz="1700" b="1" dirty="0">
                <a:solidFill>
                  <a:srgbClr val="0B2545"/>
                </a:solidFill>
                <a:latin typeface="Calibri" pitchFamily="34" charset="0"/>
                <a:ea typeface="Calibri" pitchFamily="34" charset="-122"/>
                <a:cs typeface="Calibri" pitchFamily="34" charset="-120"/>
              </a:rPr>
              <a:t>B03</a:t>
            </a:r>
            <a:endParaRPr lang="en-US" sz="1700" dirty="0"/>
          </a:p>
          <a:p>
            <a:pPr algn="ctr" indent="0" marL="0">
              <a:buNone/>
            </a:pPr>
            <a:r>
              <a:rPr lang="en-US" sz="1200" dirty="0">
                <a:solidFill>
                  <a:srgbClr val="0B2545"/>
                </a:solidFill>
                <a:latin typeface="Calibri" pitchFamily="34" charset="0"/>
                <a:ea typeface="Calibri" pitchFamily="34" charset="-122"/>
                <a:cs typeface="Calibri" pitchFamily="34" charset="-120"/>
              </a:rPr>
              <a:t>Green</a:t>
            </a:r>
            <a:endParaRPr lang="en-US" sz="1700" dirty="0"/>
          </a:p>
        </p:txBody>
      </p:sp>
      <p:sp>
        <p:nvSpPr>
          <p:cNvPr id="31" name="Shape 29"/>
          <p:cNvSpPr/>
          <p:nvPr/>
        </p:nvSpPr>
        <p:spPr>
          <a:xfrm>
            <a:off x="4261104" y="4389120"/>
            <a:ext cx="1719072" cy="868680"/>
          </a:xfrm>
          <a:prstGeom prst="rect">
            <a:avLst/>
          </a:prstGeom>
          <a:solidFill>
            <a:srgbClr val="EEF4F8"/>
          </a:solidFill>
          <a:ln/>
        </p:spPr>
      </p:sp>
      <p:sp>
        <p:nvSpPr>
          <p:cNvPr id="32" name="Text 30"/>
          <p:cNvSpPr/>
          <p:nvPr/>
        </p:nvSpPr>
        <p:spPr>
          <a:xfrm>
            <a:off x="4261104" y="4389120"/>
            <a:ext cx="1719072" cy="868680"/>
          </a:xfrm>
          <a:prstGeom prst="rect">
            <a:avLst/>
          </a:prstGeom>
          <a:noFill/>
          <a:ln/>
        </p:spPr>
        <p:txBody>
          <a:bodyPr wrap="square" lIns="0" tIns="0" rIns="0" bIns="0" rtlCol="0" anchor="ctr"/>
          <a:lstStyle/>
          <a:p>
            <a:pPr algn="ctr" indent="0" marL="0">
              <a:buNone/>
            </a:pPr>
            <a:r>
              <a:rPr lang="en-US" sz="1700" b="1" dirty="0">
                <a:solidFill>
                  <a:srgbClr val="0B2545"/>
                </a:solidFill>
                <a:latin typeface="Calibri" pitchFamily="34" charset="0"/>
                <a:ea typeface="Calibri" pitchFamily="34" charset="-122"/>
                <a:cs typeface="Calibri" pitchFamily="34" charset="-120"/>
              </a:rPr>
              <a:t>B04</a:t>
            </a:r>
            <a:endParaRPr lang="en-US" sz="1700" dirty="0"/>
          </a:p>
          <a:p>
            <a:pPr algn="ctr" indent="0" marL="0">
              <a:buNone/>
            </a:pPr>
            <a:r>
              <a:rPr lang="en-US" sz="1200" dirty="0">
                <a:solidFill>
                  <a:srgbClr val="0B2545"/>
                </a:solidFill>
                <a:latin typeface="Calibri" pitchFamily="34" charset="0"/>
                <a:ea typeface="Calibri" pitchFamily="34" charset="-122"/>
                <a:cs typeface="Calibri" pitchFamily="34" charset="-120"/>
              </a:rPr>
              <a:t>Red</a:t>
            </a:r>
            <a:endParaRPr lang="en-US" sz="1700" dirty="0"/>
          </a:p>
        </p:txBody>
      </p:sp>
      <p:sp>
        <p:nvSpPr>
          <p:cNvPr id="33" name="Shape 31"/>
          <p:cNvSpPr/>
          <p:nvPr/>
        </p:nvSpPr>
        <p:spPr>
          <a:xfrm>
            <a:off x="6117336" y="4389120"/>
            <a:ext cx="1719072" cy="868680"/>
          </a:xfrm>
          <a:prstGeom prst="rect">
            <a:avLst/>
          </a:prstGeom>
          <a:solidFill>
            <a:srgbClr val="EEF4F8"/>
          </a:solidFill>
          <a:ln/>
        </p:spPr>
      </p:sp>
      <p:sp>
        <p:nvSpPr>
          <p:cNvPr id="34" name="Text 32"/>
          <p:cNvSpPr/>
          <p:nvPr/>
        </p:nvSpPr>
        <p:spPr>
          <a:xfrm>
            <a:off x="6117336" y="4389120"/>
            <a:ext cx="1719072" cy="868680"/>
          </a:xfrm>
          <a:prstGeom prst="rect">
            <a:avLst/>
          </a:prstGeom>
          <a:noFill/>
          <a:ln/>
        </p:spPr>
        <p:txBody>
          <a:bodyPr wrap="square" lIns="0" tIns="0" rIns="0" bIns="0" rtlCol="0" anchor="ctr"/>
          <a:lstStyle/>
          <a:p>
            <a:pPr algn="ctr" indent="0" marL="0">
              <a:buNone/>
            </a:pPr>
            <a:r>
              <a:rPr lang="en-US" sz="1700" b="1" dirty="0">
                <a:solidFill>
                  <a:srgbClr val="0B2545"/>
                </a:solidFill>
                <a:latin typeface="Calibri" pitchFamily="34" charset="0"/>
                <a:ea typeface="Calibri" pitchFamily="34" charset="-122"/>
                <a:cs typeface="Calibri" pitchFamily="34" charset="-120"/>
              </a:rPr>
              <a:t>B8A</a:t>
            </a:r>
            <a:endParaRPr lang="en-US" sz="1700" dirty="0"/>
          </a:p>
          <a:p>
            <a:pPr algn="ctr" indent="0" marL="0">
              <a:buNone/>
            </a:pPr>
            <a:r>
              <a:rPr lang="en-US" sz="1200" dirty="0">
                <a:solidFill>
                  <a:srgbClr val="0B2545"/>
                </a:solidFill>
                <a:latin typeface="Calibri" pitchFamily="34" charset="0"/>
                <a:ea typeface="Calibri" pitchFamily="34" charset="-122"/>
                <a:cs typeface="Calibri" pitchFamily="34" charset="-120"/>
              </a:rPr>
              <a:t>NIR narrow</a:t>
            </a:r>
            <a:endParaRPr lang="en-US" sz="1700" dirty="0"/>
          </a:p>
        </p:txBody>
      </p:sp>
      <p:sp>
        <p:nvSpPr>
          <p:cNvPr id="35" name="Shape 33"/>
          <p:cNvSpPr/>
          <p:nvPr/>
        </p:nvSpPr>
        <p:spPr>
          <a:xfrm>
            <a:off x="7973568" y="4389120"/>
            <a:ext cx="1719072" cy="868680"/>
          </a:xfrm>
          <a:prstGeom prst="rect">
            <a:avLst/>
          </a:prstGeom>
          <a:solidFill>
            <a:srgbClr val="13A89E"/>
          </a:solidFill>
          <a:ln/>
        </p:spPr>
      </p:sp>
      <p:sp>
        <p:nvSpPr>
          <p:cNvPr id="36" name="Text 34"/>
          <p:cNvSpPr/>
          <p:nvPr/>
        </p:nvSpPr>
        <p:spPr>
          <a:xfrm>
            <a:off x="7973568" y="4389120"/>
            <a:ext cx="1719072" cy="86868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B11</a:t>
            </a:r>
            <a:endParaRPr lang="en-US" sz="1700" dirty="0"/>
          </a:p>
          <a:p>
            <a:pPr algn="ctr" indent="0" marL="0">
              <a:buNone/>
            </a:pPr>
            <a:r>
              <a:rPr lang="en-US" sz="1200" dirty="0">
                <a:solidFill>
                  <a:srgbClr val="FFFFFF"/>
                </a:solidFill>
                <a:latin typeface="Calibri" pitchFamily="34" charset="0"/>
                <a:ea typeface="Calibri" pitchFamily="34" charset="-122"/>
                <a:cs typeface="Calibri" pitchFamily="34" charset="-120"/>
              </a:rPr>
              <a:t>SWIR-1</a:t>
            </a:r>
            <a:endParaRPr lang="en-US" sz="1700" dirty="0"/>
          </a:p>
        </p:txBody>
      </p:sp>
      <p:sp>
        <p:nvSpPr>
          <p:cNvPr id="37" name="Shape 35"/>
          <p:cNvSpPr/>
          <p:nvPr/>
        </p:nvSpPr>
        <p:spPr>
          <a:xfrm>
            <a:off x="9829800" y="4389120"/>
            <a:ext cx="1719072" cy="868680"/>
          </a:xfrm>
          <a:prstGeom prst="rect">
            <a:avLst/>
          </a:prstGeom>
          <a:solidFill>
            <a:srgbClr val="13A89E"/>
          </a:solidFill>
          <a:ln/>
        </p:spPr>
      </p:sp>
      <p:sp>
        <p:nvSpPr>
          <p:cNvPr id="38" name="Text 36"/>
          <p:cNvSpPr/>
          <p:nvPr/>
        </p:nvSpPr>
        <p:spPr>
          <a:xfrm>
            <a:off x="9829800" y="4389120"/>
            <a:ext cx="1719072" cy="86868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B12</a:t>
            </a:r>
            <a:endParaRPr lang="en-US" sz="1700" dirty="0"/>
          </a:p>
          <a:p>
            <a:pPr algn="ctr" indent="0" marL="0">
              <a:buNone/>
            </a:pPr>
            <a:r>
              <a:rPr lang="en-US" sz="1200" dirty="0">
                <a:solidFill>
                  <a:srgbClr val="FFFFFF"/>
                </a:solidFill>
                <a:latin typeface="Calibri" pitchFamily="34" charset="0"/>
                <a:ea typeface="Calibri" pitchFamily="34" charset="-122"/>
                <a:cs typeface="Calibri" pitchFamily="34" charset="-120"/>
              </a:rPr>
              <a:t>SWIR-2</a:t>
            </a:r>
            <a:endParaRPr lang="en-US" sz="1700" dirty="0"/>
          </a:p>
        </p:txBody>
      </p:sp>
      <p:sp>
        <p:nvSpPr>
          <p:cNvPr id="39" name="Text 37"/>
          <p:cNvSpPr/>
          <p:nvPr/>
        </p:nvSpPr>
        <p:spPr>
          <a:xfrm>
            <a:off x="548640" y="5440680"/>
            <a:ext cx="11064240" cy="548640"/>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Shortwave-infrared bands (SWIR-1, SWIR-2) carry the strongest water signal: water absorbs strongly in this part of the spectrum.</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13A89E"/>
          </a:solidFill>
          <a:ln/>
        </p:spPr>
      </p:sp>
      <p:sp>
        <p:nvSpPr>
          <p:cNvPr id="3" name="Text 1"/>
          <p:cNvSpPr/>
          <p:nvPr/>
        </p:nvSpPr>
        <p:spPr>
          <a:xfrm>
            <a:off x="548640" y="320040"/>
            <a:ext cx="10972800" cy="640080"/>
          </a:xfrm>
          <a:prstGeom prst="rect">
            <a:avLst/>
          </a:prstGeom>
          <a:noFill/>
          <a:ln/>
        </p:spPr>
        <p:txBody>
          <a:bodyPr wrap="square" lIns="0" tIns="0" rIns="0" bIns="0" rtlCol="0" anchor="ctr"/>
          <a:lstStyle/>
          <a:p>
            <a:pPr indent="0" marL="0">
              <a:buNone/>
            </a:pPr>
            <a:r>
              <a:rPr lang="en-US" sz="3000" b="1" dirty="0">
                <a:solidFill>
                  <a:srgbClr val="0B2545"/>
                </a:solidFill>
                <a:latin typeface="Calibri" pitchFamily="34" charset="0"/>
                <a:ea typeface="Calibri" pitchFamily="34" charset="-122"/>
                <a:cs typeface="Calibri" pitchFamily="34" charset="-120"/>
              </a:rPr>
              <a:t>Building the Indian flood dataset</a:t>
            </a:r>
            <a:endParaRPr lang="en-US" sz="3000" dirty="0"/>
          </a:p>
        </p:txBody>
      </p:sp>
      <p:sp>
        <p:nvSpPr>
          <p:cNvPr id="4" name="Text 2"/>
          <p:cNvSpPr/>
          <p:nvPr/>
        </p:nvSpPr>
        <p:spPr>
          <a:xfrm>
            <a:off x="548640" y="932688"/>
            <a:ext cx="10972800" cy="365760"/>
          </a:xfrm>
          <a:prstGeom prst="rect">
            <a:avLst/>
          </a:prstGeom>
          <a:noFill/>
          <a:ln/>
        </p:spPr>
        <p:txBody>
          <a:bodyPr wrap="square" lIns="0" tIns="0" rIns="0" bIns="0" rtlCol="0" anchor="ctr"/>
          <a:lstStyle/>
          <a:p>
            <a:pPr indent="0" marL="0">
              <a:buNone/>
            </a:pPr>
            <a:r>
              <a:rPr lang="en-US" sz="1500" dirty="0">
                <a:solidFill>
                  <a:srgbClr val="5B6B7B"/>
                </a:solidFill>
                <a:latin typeface="Calibri" pitchFamily="34" charset="0"/>
                <a:ea typeface="Calibri" pitchFamily="34" charset="-122"/>
                <a:cs typeface="Calibri" pitchFamily="34" charset="-120"/>
              </a:rPr>
              <a:t>Sentinel-2 six-band image + NDEM flood map → 512 × 512 training tiles</a:t>
            </a:r>
            <a:endParaRPr lang="en-US" sz="1500" dirty="0"/>
          </a:p>
        </p:txBody>
      </p:sp>
      <p:sp>
        <p:nvSpPr>
          <p:cNvPr id="5" name="Text 3"/>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Prithvi Flood-IN  |  CE 766 Integrated Design Project  |  Progress Review</a:t>
            </a:r>
            <a:endParaRPr lang="en-US" sz="1000" dirty="0"/>
          </a:p>
        </p:txBody>
      </p:sp>
      <p:sp>
        <p:nvSpPr>
          <p:cNvPr id="6" name="Text 4"/>
          <p:cNvSpPr/>
          <p:nvPr/>
        </p:nvSpPr>
        <p:spPr>
          <a:xfrm>
            <a:off x="11155680" y="6446520"/>
            <a:ext cx="548640" cy="274320"/>
          </a:xfrm>
          <a:prstGeom prst="rect">
            <a:avLst/>
          </a:prstGeom>
          <a:noFill/>
          <a:ln/>
        </p:spPr>
        <p:txBody>
          <a:bodyPr wrap="square" lIns="0" tIns="0" rIns="0" bIns="0" rtlCol="0" anchor="ctr"/>
          <a:lstStyle/>
          <a:p>
            <a:pPr algn="r" indent="0" marL="0">
              <a:buNone/>
            </a:pPr>
            <a:r>
              <a:rPr lang="en-US" sz="1000" dirty="0">
                <a:solidFill>
                  <a:srgbClr val="5B6B7B"/>
                </a:solidFill>
                <a:latin typeface="Calibri" pitchFamily="34" charset="0"/>
                <a:ea typeface="Calibri" pitchFamily="34" charset="-122"/>
                <a:cs typeface="Calibri" pitchFamily="34" charset="-120"/>
              </a:rPr>
              <a:t>6</a:t>
            </a:r>
            <a:endParaRPr lang="en-US" sz="1000" dirty="0"/>
          </a:p>
        </p:txBody>
      </p:sp>
      <p:sp>
        <p:nvSpPr>
          <p:cNvPr id="7" name="Shape 5"/>
          <p:cNvSpPr/>
          <p:nvPr/>
        </p:nvSpPr>
        <p:spPr>
          <a:xfrm>
            <a:off x="548640" y="1554480"/>
            <a:ext cx="5852160" cy="960120"/>
          </a:xfrm>
          <a:prstGeom prst="rect">
            <a:avLst/>
          </a:prstGeom>
          <a:solidFill>
            <a:srgbClr val="0B2545"/>
          </a:solidFill>
          <a:ln/>
        </p:spPr>
      </p:sp>
      <p:sp>
        <p:nvSpPr>
          <p:cNvPr id="8" name="Text 6"/>
          <p:cNvSpPr/>
          <p:nvPr/>
        </p:nvSpPr>
        <p:spPr>
          <a:xfrm>
            <a:off x="548640" y="1554480"/>
            <a:ext cx="5852160" cy="96012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221</a:t>
            </a:r>
            <a:endParaRPr lang="en-US" sz="3000" dirty="0"/>
          </a:p>
        </p:txBody>
      </p:sp>
      <p:sp>
        <p:nvSpPr>
          <p:cNvPr id="9" name="Text 7"/>
          <p:cNvSpPr/>
          <p:nvPr/>
        </p:nvSpPr>
        <p:spPr>
          <a:xfrm>
            <a:off x="6675120" y="1691640"/>
            <a:ext cx="5029200" cy="731520"/>
          </a:xfrm>
          <a:prstGeom prst="rect">
            <a:avLst/>
          </a:prstGeom>
          <a:noFill/>
          <a:ln/>
        </p:spPr>
        <p:txBody>
          <a:bodyPr wrap="square" lIns="0" tIns="0" rIns="0" bIns="0" rtlCol="0" anchor="ctr"/>
          <a:lstStyle/>
          <a:p>
            <a:pPr indent="0" marL="0">
              <a:buNone/>
            </a:pPr>
            <a:r>
              <a:rPr lang="en-US" sz="1500" dirty="0">
                <a:solidFill>
                  <a:srgbClr val="1B2733"/>
                </a:solidFill>
                <a:latin typeface="Calibri" pitchFamily="34" charset="0"/>
                <a:ea typeface="Calibri" pitchFamily="34" charset="-122"/>
                <a:cs typeface="Calibri" pitchFamily="34" charset="-120"/>
              </a:rPr>
              <a:t>events in initial flood spreadsheet (only 5 directly usable)</a:t>
            </a:r>
            <a:endParaRPr lang="en-US" sz="1500" dirty="0"/>
          </a:p>
        </p:txBody>
      </p:sp>
      <p:sp>
        <p:nvSpPr>
          <p:cNvPr id="10" name="Shape 8"/>
          <p:cNvSpPr/>
          <p:nvPr/>
        </p:nvSpPr>
        <p:spPr>
          <a:xfrm>
            <a:off x="960120" y="2697480"/>
            <a:ext cx="5029200" cy="960120"/>
          </a:xfrm>
          <a:prstGeom prst="rect">
            <a:avLst/>
          </a:prstGeom>
          <a:solidFill>
            <a:srgbClr val="1F6FB2"/>
          </a:solidFill>
          <a:ln/>
        </p:spPr>
      </p:sp>
      <p:sp>
        <p:nvSpPr>
          <p:cNvPr id="11" name="Text 9"/>
          <p:cNvSpPr/>
          <p:nvPr/>
        </p:nvSpPr>
        <p:spPr>
          <a:xfrm>
            <a:off x="960120" y="2697480"/>
            <a:ext cx="5029200" cy="96012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1,022</a:t>
            </a:r>
            <a:endParaRPr lang="en-US" sz="3000" dirty="0"/>
          </a:p>
        </p:txBody>
      </p:sp>
      <p:sp>
        <p:nvSpPr>
          <p:cNvPr id="12" name="Text 10"/>
          <p:cNvSpPr/>
          <p:nvPr/>
        </p:nvSpPr>
        <p:spPr>
          <a:xfrm>
            <a:off x="6675120" y="2834640"/>
            <a:ext cx="5029200" cy="731520"/>
          </a:xfrm>
          <a:prstGeom prst="rect">
            <a:avLst/>
          </a:prstGeom>
          <a:noFill/>
          <a:ln/>
        </p:spPr>
        <p:txBody>
          <a:bodyPr wrap="square" lIns="0" tIns="0" rIns="0" bIns="0" rtlCol="0" anchor="ctr"/>
          <a:lstStyle/>
          <a:p>
            <a:pPr indent="0" marL="0">
              <a:buNone/>
            </a:pPr>
            <a:r>
              <a:rPr lang="en-US" sz="1500" dirty="0">
                <a:solidFill>
                  <a:srgbClr val="1B2733"/>
                </a:solidFill>
                <a:latin typeface="Calibri" pitchFamily="34" charset="0"/>
                <a:ea typeface="Calibri" pitchFamily="34" charset="-122"/>
                <a:cs typeface="Calibri" pitchFamily="34" charset="-120"/>
              </a:rPr>
              <a:t>NDEM flood-extent maps screened (2021–2026)</a:t>
            </a:r>
            <a:endParaRPr lang="en-US" sz="1500" dirty="0"/>
          </a:p>
        </p:txBody>
      </p:sp>
      <p:sp>
        <p:nvSpPr>
          <p:cNvPr id="13" name="Shape 11"/>
          <p:cNvSpPr/>
          <p:nvPr/>
        </p:nvSpPr>
        <p:spPr>
          <a:xfrm>
            <a:off x="1371600" y="3840480"/>
            <a:ext cx="4206240" cy="960120"/>
          </a:xfrm>
          <a:prstGeom prst="rect">
            <a:avLst/>
          </a:prstGeom>
          <a:solidFill>
            <a:srgbClr val="1C8FA8"/>
          </a:solidFill>
          <a:ln/>
        </p:spPr>
      </p:sp>
      <p:sp>
        <p:nvSpPr>
          <p:cNvPr id="14" name="Text 12"/>
          <p:cNvSpPr/>
          <p:nvPr/>
        </p:nvSpPr>
        <p:spPr>
          <a:xfrm>
            <a:off x="1371600" y="3840480"/>
            <a:ext cx="4206240" cy="96012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180</a:t>
            </a:r>
            <a:endParaRPr lang="en-US" sz="3000" dirty="0"/>
          </a:p>
        </p:txBody>
      </p:sp>
      <p:sp>
        <p:nvSpPr>
          <p:cNvPr id="15" name="Text 13"/>
          <p:cNvSpPr/>
          <p:nvPr/>
        </p:nvSpPr>
        <p:spPr>
          <a:xfrm>
            <a:off x="6675120" y="3977640"/>
            <a:ext cx="5029200" cy="731520"/>
          </a:xfrm>
          <a:prstGeom prst="rect">
            <a:avLst/>
          </a:prstGeom>
          <a:noFill/>
          <a:ln/>
        </p:spPr>
        <p:txBody>
          <a:bodyPr wrap="square" lIns="0" tIns="0" rIns="0" bIns="0" rtlCol="0" anchor="ctr"/>
          <a:lstStyle/>
          <a:p>
            <a:pPr indent="0" marL="0">
              <a:buNone/>
            </a:pPr>
            <a:r>
              <a:rPr lang="en-US" sz="1500" dirty="0">
                <a:solidFill>
                  <a:srgbClr val="1B2733"/>
                </a:solidFill>
                <a:latin typeface="Calibri" pitchFamily="34" charset="0"/>
                <a:ea typeface="Calibri" pitchFamily="34" charset="-122"/>
                <a:cs typeface="Calibri" pitchFamily="34" charset="-120"/>
              </a:rPr>
              <a:t>matched image–map pairs across ~100 real flood events</a:t>
            </a:r>
            <a:endParaRPr lang="en-US" sz="1500" dirty="0"/>
          </a:p>
        </p:txBody>
      </p:sp>
      <p:sp>
        <p:nvSpPr>
          <p:cNvPr id="16" name="Shape 14"/>
          <p:cNvSpPr/>
          <p:nvPr/>
        </p:nvSpPr>
        <p:spPr>
          <a:xfrm>
            <a:off x="1783080" y="4983480"/>
            <a:ext cx="3383280" cy="960120"/>
          </a:xfrm>
          <a:prstGeom prst="rect">
            <a:avLst/>
          </a:prstGeom>
          <a:solidFill>
            <a:srgbClr val="13A89E"/>
          </a:solidFill>
          <a:ln/>
        </p:spPr>
      </p:sp>
      <p:sp>
        <p:nvSpPr>
          <p:cNvPr id="17" name="Text 15"/>
          <p:cNvSpPr/>
          <p:nvPr/>
        </p:nvSpPr>
        <p:spPr>
          <a:xfrm>
            <a:off x="1783080" y="4983480"/>
            <a:ext cx="3383280" cy="96012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3,584</a:t>
            </a:r>
            <a:endParaRPr lang="en-US" sz="3000" dirty="0"/>
          </a:p>
        </p:txBody>
      </p:sp>
      <p:sp>
        <p:nvSpPr>
          <p:cNvPr id="18" name="Text 16"/>
          <p:cNvSpPr/>
          <p:nvPr/>
        </p:nvSpPr>
        <p:spPr>
          <a:xfrm>
            <a:off x="6675120" y="5120640"/>
            <a:ext cx="5029200" cy="731520"/>
          </a:xfrm>
          <a:prstGeom prst="rect">
            <a:avLst/>
          </a:prstGeom>
          <a:noFill/>
          <a:ln/>
        </p:spPr>
        <p:txBody>
          <a:bodyPr wrap="square" lIns="0" tIns="0" rIns="0" bIns="0" rtlCol="0" anchor="ctr"/>
          <a:lstStyle/>
          <a:p>
            <a:pPr indent="0" marL="0">
              <a:buNone/>
            </a:pPr>
            <a:r>
              <a:rPr lang="en-US" sz="1500" dirty="0">
                <a:solidFill>
                  <a:srgbClr val="1B2733"/>
                </a:solidFill>
                <a:latin typeface="Calibri" pitchFamily="34" charset="0"/>
                <a:ea typeface="Calibri" pitchFamily="34" charset="-122"/>
                <a:cs typeface="Calibri" pitchFamily="34" charset="-120"/>
              </a:rPr>
              <a:t>512×512 chips (2,401 with flood, 1,183 without)</a:t>
            </a:r>
            <a:endParaRPr lang="en-US" sz="1500" dirty="0"/>
          </a:p>
        </p:txBody>
      </p:sp>
      <p:sp>
        <p:nvSpPr>
          <p:cNvPr id="19" name="Text 17"/>
          <p:cNvSpPr/>
          <p:nvPr/>
        </p:nvSpPr>
        <p:spPr>
          <a:xfrm>
            <a:off x="548640" y="5943600"/>
            <a:ext cx="11064240" cy="457200"/>
          </a:xfrm>
          <a:prstGeom prst="rect">
            <a:avLst/>
          </a:prstGeom>
          <a:noFill/>
          <a:ln/>
        </p:spPr>
        <p:txBody>
          <a:bodyPr wrap="square" lIns="0" tIns="0" rIns="0" bIns="0" rtlCol="0" anchor="ctr"/>
          <a:lstStyle/>
          <a:p>
            <a:pPr indent="0" marL="0">
              <a:buNone/>
            </a:pPr>
            <a:r>
              <a:rPr lang="en-US" sz="1200" i="1" dirty="0">
                <a:solidFill>
                  <a:srgbClr val="5B6B7B"/>
                </a:solidFill>
                <a:latin typeface="Calibri" pitchFamily="34" charset="0"/>
                <a:ea typeface="Calibri" pitchFamily="34" charset="-122"/>
                <a:cs typeface="Calibri" pitchFamily="34" charset="-120"/>
              </a:rPr>
              <a:t>Sources: images from ESA Sentinel-2 (free); ground truth from NDEM (ISRO/NRSC) official flood maps. Pairs rejected when imagery was missing, cloud-covered, or did not overlap the mapped flood.</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13A89E"/>
          </a:solidFill>
          <a:ln/>
        </p:spPr>
      </p:sp>
      <p:sp>
        <p:nvSpPr>
          <p:cNvPr id="3" name="Text 1"/>
          <p:cNvSpPr/>
          <p:nvPr/>
        </p:nvSpPr>
        <p:spPr>
          <a:xfrm>
            <a:off x="548640" y="320040"/>
            <a:ext cx="10972800" cy="640080"/>
          </a:xfrm>
          <a:prstGeom prst="rect">
            <a:avLst/>
          </a:prstGeom>
          <a:noFill/>
          <a:ln/>
        </p:spPr>
        <p:txBody>
          <a:bodyPr wrap="square" lIns="0" tIns="0" rIns="0" bIns="0" rtlCol="0" anchor="ctr"/>
          <a:lstStyle/>
          <a:p>
            <a:pPr indent="0" marL="0">
              <a:buNone/>
            </a:pPr>
            <a:r>
              <a:rPr lang="en-US" sz="3000" b="1" dirty="0">
                <a:solidFill>
                  <a:srgbClr val="0B2545"/>
                </a:solidFill>
                <a:latin typeface="Calibri" pitchFamily="34" charset="0"/>
                <a:ea typeface="Calibri" pitchFamily="34" charset="-122"/>
                <a:cs typeface="Calibri" pitchFamily="34" charset="-120"/>
              </a:rPr>
              <a:t>Data quality &amp; label design</a:t>
            </a:r>
            <a:endParaRPr lang="en-US" sz="3000" dirty="0"/>
          </a:p>
        </p:txBody>
      </p:sp>
      <p:sp>
        <p:nvSpPr>
          <p:cNvPr id="4" name="Text 2"/>
          <p:cNvSpPr/>
          <p:nvPr/>
        </p:nvSpPr>
        <p:spPr>
          <a:xfrm>
            <a:off x="548640" y="932688"/>
            <a:ext cx="10972800" cy="365760"/>
          </a:xfrm>
          <a:prstGeom prst="rect">
            <a:avLst/>
          </a:prstGeom>
          <a:noFill/>
          <a:ln/>
        </p:spPr>
        <p:txBody>
          <a:bodyPr wrap="square" lIns="0" tIns="0" rIns="0" bIns="0" rtlCol="0" anchor="ctr"/>
          <a:lstStyle/>
          <a:p>
            <a:pPr indent="0" marL="0">
              <a:buNone/>
            </a:pPr>
            <a:r>
              <a:rPr lang="en-US" sz="1500" dirty="0">
                <a:solidFill>
                  <a:srgbClr val="5B6B7B"/>
                </a:solidFill>
                <a:latin typeface="Calibri" pitchFamily="34" charset="0"/>
                <a:ea typeface="Calibri" pitchFamily="34" charset="-122"/>
                <a:cs typeface="Calibri" pitchFamily="34" charset="-120"/>
              </a:rPr>
              <a:t>Making sure the model learns the right thing</a:t>
            </a:r>
            <a:endParaRPr lang="en-US" sz="1500" dirty="0"/>
          </a:p>
        </p:txBody>
      </p:sp>
      <p:sp>
        <p:nvSpPr>
          <p:cNvPr id="5" name="Text 3"/>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Prithvi Flood-IN  |  CE 766 Integrated Design Project  |  Progress Review</a:t>
            </a:r>
            <a:endParaRPr lang="en-US" sz="1000" dirty="0"/>
          </a:p>
        </p:txBody>
      </p:sp>
      <p:sp>
        <p:nvSpPr>
          <p:cNvPr id="6" name="Text 4"/>
          <p:cNvSpPr/>
          <p:nvPr/>
        </p:nvSpPr>
        <p:spPr>
          <a:xfrm>
            <a:off x="11155680" y="6446520"/>
            <a:ext cx="548640" cy="274320"/>
          </a:xfrm>
          <a:prstGeom prst="rect">
            <a:avLst/>
          </a:prstGeom>
          <a:noFill/>
          <a:ln/>
        </p:spPr>
        <p:txBody>
          <a:bodyPr wrap="square" lIns="0" tIns="0" rIns="0" bIns="0" rtlCol="0" anchor="ctr"/>
          <a:lstStyle/>
          <a:p>
            <a:pPr algn="r" indent="0" marL="0">
              <a:buNone/>
            </a:pPr>
            <a:r>
              <a:rPr lang="en-US" sz="1000" dirty="0">
                <a:solidFill>
                  <a:srgbClr val="5B6B7B"/>
                </a:solidFill>
                <a:latin typeface="Calibri" pitchFamily="34" charset="0"/>
                <a:ea typeface="Calibri" pitchFamily="34" charset="-122"/>
                <a:cs typeface="Calibri" pitchFamily="34" charset="-120"/>
              </a:rPr>
              <a:t>7</a:t>
            </a:r>
            <a:endParaRPr lang="en-US" sz="1000" dirty="0"/>
          </a:p>
        </p:txBody>
      </p:sp>
      <p:sp>
        <p:nvSpPr>
          <p:cNvPr id="7" name="Shape 5"/>
          <p:cNvSpPr/>
          <p:nvPr/>
        </p:nvSpPr>
        <p:spPr>
          <a:xfrm>
            <a:off x="548640" y="1554480"/>
            <a:ext cx="5440680" cy="1417320"/>
          </a:xfrm>
          <a:prstGeom prst="rect">
            <a:avLst/>
          </a:prstGeom>
          <a:solidFill>
            <a:srgbClr val="EEF4F8"/>
          </a:solidFill>
          <a:ln w="12700">
            <a:solidFill>
              <a:srgbClr val="EEF4F8"/>
            </a:solidFill>
            <a:prstDash val="solid"/>
          </a:ln>
        </p:spPr>
      </p:sp>
      <p:sp>
        <p:nvSpPr>
          <p:cNvPr id="8" name="Shape 6"/>
          <p:cNvSpPr/>
          <p:nvPr/>
        </p:nvSpPr>
        <p:spPr>
          <a:xfrm>
            <a:off x="548640" y="1554480"/>
            <a:ext cx="73152" cy="1417320"/>
          </a:xfrm>
          <a:prstGeom prst="rect">
            <a:avLst/>
          </a:prstGeom>
          <a:solidFill>
            <a:srgbClr val="13A89E"/>
          </a:solidFill>
          <a:ln w="12700">
            <a:solidFill>
              <a:srgbClr val="13A89E"/>
            </a:solidFill>
            <a:prstDash val="solid"/>
          </a:ln>
        </p:spPr>
      </p:sp>
      <p:sp>
        <p:nvSpPr>
          <p:cNvPr id="9" name="Text 7"/>
          <p:cNvSpPr/>
          <p:nvPr/>
        </p:nvSpPr>
        <p:spPr>
          <a:xfrm>
            <a:off x="777240" y="1664208"/>
            <a:ext cx="5074920" cy="411480"/>
          </a:xfrm>
          <a:prstGeom prst="rect">
            <a:avLst/>
          </a:prstGeom>
          <a:noFill/>
          <a:ln/>
        </p:spPr>
        <p:txBody>
          <a:bodyPr wrap="square" lIns="0" tIns="0" rIns="0" bIns="0" rtlCol="0" anchor="t"/>
          <a:lstStyle/>
          <a:p>
            <a:pPr indent="0" marL="0">
              <a:buNone/>
            </a:pPr>
            <a:r>
              <a:rPr lang="en-US" sz="1700" b="1" dirty="0">
                <a:solidFill>
                  <a:srgbClr val="0B2545"/>
                </a:solidFill>
                <a:latin typeface="Calibri" pitchFamily="34" charset="0"/>
                <a:ea typeface="Calibri" pitchFamily="34" charset="-122"/>
                <a:cs typeface="Calibri" pitchFamily="34" charset="-120"/>
              </a:rPr>
              <a:t>Date, event &amp; area matching</a:t>
            </a:r>
            <a:endParaRPr lang="en-US" sz="1700" dirty="0"/>
          </a:p>
        </p:txBody>
      </p:sp>
      <p:sp>
        <p:nvSpPr>
          <p:cNvPr id="10" name="Text 8"/>
          <p:cNvSpPr/>
          <p:nvPr/>
        </p:nvSpPr>
        <p:spPr>
          <a:xfrm>
            <a:off x="777240" y="2103120"/>
            <a:ext cx="5074920" cy="777240"/>
          </a:xfrm>
          <a:prstGeom prst="rect">
            <a:avLst/>
          </a:prstGeom>
          <a:noFill/>
          <a:ln/>
        </p:spPr>
        <p:txBody>
          <a:bodyPr wrap="square" lIns="0" tIns="0" rIns="0" bIns="0" rtlCol="0" anchor="t"/>
          <a:lstStyle/>
          <a:p>
            <a:pPr indent="0" marL="0">
              <a:buNone/>
            </a:pPr>
            <a:r>
              <a:rPr lang="en-US" sz="1400" dirty="0">
                <a:solidFill>
                  <a:srgbClr val="1B2733"/>
                </a:solidFill>
                <a:latin typeface="Calibri" pitchFamily="34" charset="0"/>
                <a:ea typeface="Calibri" pitchFamily="34" charset="-122"/>
                <a:cs typeface="Calibri" pitchFamily="34" charset="-120"/>
              </a:rPr>
              <a:t>Each Sentinel-2 image checked against its NDEM map for same flood event, acquisition during the flood, and geographic overlap.</a:t>
            </a:r>
            <a:endParaRPr lang="en-US" sz="1400" dirty="0"/>
          </a:p>
        </p:txBody>
      </p:sp>
      <p:sp>
        <p:nvSpPr>
          <p:cNvPr id="11" name="Shape 9"/>
          <p:cNvSpPr/>
          <p:nvPr/>
        </p:nvSpPr>
        <p:spPr>
          <a:xfrm>
            <a:off x="6199632" y="1554480"/>
            <a:ext cx="5440680" cy="1417320"/>
          </a:xfrm>
          <a:prstGeom prst="rect">
            <a:avLst/>
          </a:prstGeom>
          <a:solidFill>
            <a:srgbClr val="EEF4F8"/>
          </a:solidFill>
          <a:ln w="12700">
            <a:solidFill>
              <a:srgbClr val="EEF4F8"/>
            </a:solidFill>
            <a:prstDash val="solid"/>
          </a:ln>
        </p:spPr>
      </p:sp>
      <p:sp>
        <p:nvSpPr>
          <p:cNvPr id="12" name="Shape 10"/>
          <p:cNvSpPr/>
          <p:nvPr/>
        </p:nvSpPr>
        <p:spPr>
          <a:xfrm>
            <a:off x="6199632" y="1554480"/>
            <a:ext cx="73152" cy="1417320"/>
          </a:xfrm>
          <a:prstGeom prst="rect">
            <a:avLst/>
          </a:prstGeom>
          <a:solidFill>
            <a:srgbClr val="1F6FB2"/>
          </a:solidFill>
          <a:ln w="12700">
            <a:solidFill>
              <a:srgbClr val="1F6FB2"/>
            </a:solidFill>
            <a:prstDash val="solid"/>
          </a:ln>
        </p:spPr>
      </p:sp>
      <p:sp>
        <p:nvSpPr>
          <p:cNvPr id="13" name="Text 11"/>
          <p:cNvSpPr/>
          <p:nvPr/>
        </p:nvSpPr>
        <p:spPr>
          <a:xfrm>
            <a:off x="6428232" y="1664208"/>
            <a:ext cx="5074920" cy="411480"/>
          </a:xfrm>
          <a:prstGeom prst="rect">
            <a:avLst/>
          </a:prstGeom>
          <a:noFill/>
          <a:ln/>
        </p:spPr>
        <p:txBody>
          <a:bodyPr wrap="square" lIns="0" tIns="0" rIns="0" bIns="0" rtlCol="0" anchor="t"/>
          <a:lstStyle/>
          <a:p>
            <a:pPr indent="0" marL="0">
              <a:buNone/>
            </a:pPr>
            <a:r>
              <a:rPr lang="en-US" sz="1700" b="1" dirty="0">
                <a:solidFill>
                  <a:srgbClr val="0B2545"/>
                </a:solidFill>
                <a:latin typeface="Calibri" pitchFamily="34" charset="0"/>
                <a:ea typeface="Calibri" pitchFamily="34" charset="-122"/>
                <a:cs typeface="Calibri" pitchFamily="34" charset="-120"/>
              </a:rPr>
              <a:t>Cloud masking</a:t>
            </a:r>
            <a:endParaRPr lang="en-US" sz="1700" dirty="0"/>
          </a:p>
        </p:txBody>
      </p:sp>
      <p:sp>
        <p:nvSpPr>
          <p:cNvPr id="14" name="Text 12"/>
          <p:cNvSpPr/>
          <p:nvPr/>
        </p:nvSpPr>
        <p:spPr>
          <a:xfrm>
            <a:off x="6428232" y="2103120"/>
            <a:ext cx="5074920" cy="777240"/>
          </a:xfrm>
          <a:prstGeom prst="rect">
            <a:avLst/>
          </a:prstGeom>
          <a:noFill/>
          <a:ln/>
        </p:spPr>
        <p:txBody>
          <a:bodyPr wrap="square" lIns="0" tIns="0" rIns="0" bIns="0" rtlCol="0" anchor="t"/>
          <a:lstStyle/>
          <a:p>
            <a:pPr indent="0" marL="0">
              <a:buNone/>
            </a:pPr>
            <a:r>
              <a:rPr lang="en-US" sz="1400" dirty="0">
                <a:solidFill>
                  <a:srgbClr val="1B2733"/>
                </a:solidFill>
                <a:latin typeface="Calibri" pitchFamily="34" charset="0"/>
                <a:ea typeface="Calibri" pitchFamily="34" charset="-122"/>
                <a:cs typeface="Calibri" pitchFamily="34" charset="-120"/>
              </a:rPr>
              <a:t>Cloud and cloud-shadow pixels set to ignore: we cannot verify what lies underneath, so the model is not trained on a guess.</a:t>
            </a:r>
            <a:endParaRPr lang="en-US" sz="1400" dirty="0"/>
          </a:p>
        </p:txBody>
      </p:sp>
      <p:sp>
        <p:nvSpPr>
          <p:cNvPr id="15" name="Shape 13"/>
          <p:cNvSpPr/>
          <p:nvPr/>
        </p:nvSpPr>
        <p:spPr>
          <a:xfrm>
            <a:off x="548640" y="3154680"/>
            <a:ext cx="5440680" cy="1417320"/>
          </a:xfrm>
          <a:prstGeom prst="rect">
            <a:avLst/>
          </a:prstGeom>
          <a:solidFill>
            <a:srgbClr val="EEF4F8"/>
          </a:solidFill>
          <a:ln w="12700">
            <a:solidFill>
              <a:srgbClr val="EEF4F8"/>
            </a:solidFill>
            <a:prstDash val="solid"/>
          </a:ln>
        </p:spPr>
      </p:sp>
      <p:sp>
        <p:nvSpPr>
          <p:cNvPr id="16" name="Shape 14"/>
          <p:cNvSpPr/>
          <p:nvPr/>
        </p:nvSpPr>
        <p:spPr>
          <a:xfrm>
            <a:off x="548640" y="3154680"/>
            <a:ext cx="73152" cy="1417320"/>
          </a:xfrm>
          <a:prstGeom prst="rect">
            <a:avLst/>
          </a:prstGeom>
          <a:solidFill>
            <a:srgbClr val="E8A33D"/>
          </a:solidFill>
          <a:ln w="12700">
            <a:solidFill>
              <a:srgbClr val="E8A33D"/>
            </a:solidFill>
            <a:prstDash val="solid"/>
          </a:ln>
        </p:spPr>
      </p:sp>
      <p:sp>
        <p:nvSpPr>
          <p:cNvPr id="17" name="Text 15"/>
          <p:cNvSpPr/>
          <p:nvPr/>
        </p:nvSpPr>
        <p:spPr>
          <a:xfrm>
            <a:off x="777240" y="3264408"/>
            <a:ext cx="5074920" cy="411480"/>
          </a:xfrm>
          <a:prstGeom prst="rect">
            <a:avLst/>
          </a:prstGeom>
          <a:noFill/>
          <a:ln/>
        </p:spPr>
        <p:txBody>
          <a:bodyPr wrap="square" lIns="0" tIns="0" rIns="0" bIns="0" rtlCol="0" anchor="t"/>
          <a:lstStyle/>
          <a:p>
            <a:pPr indent="0" marL="0">
              <a:buNone/>
            </a:pPr>
            <a:r>
              <a:rPr lang="en-US" sz="1700" b="1" dirty="0">
                <a:solidFill>
                  <a:srgbClr val="0B2545"/>
                </a:solidFill>
                <a:latin typeface="Calibri" pitchFamily="34" charset="0"/>
                <a:ea typeface="Calibri" pitchFamily="34" charset="-122"/>
                <a:cs typeface="Calibri" pitchFamily="34" charset="-120"/>
              </a:rPr>
              <a:t>Permanent water = ignore</a:t>
            </a:r>
            <a:endParaRPr lang="en-US" sz="1700" dirty="0"/>
          </a:p>
        </p:txBody>
      </p:sp>
      <p:sp>
        <p:nvSpPr>
          <p:cNvPr id="18" name="Text 16"/>
          <p:cNvSpPr/>
          <p:nvPr/>
        </p:nvSpPr>
        <p:spPr>
          <a:xfrm>
            <a:off x="777240" y="3703320"/>
            <a:ext cx="5074920" cy="777240"/>
          </a:xfrm>
          <a:prstGeom prst="rect">
            <a:avLst/>
          </a:prstGeom>
          <a:noFill/>
          <a:ln/>
        </p:spPr>
        <p:txBody>
          <a:bodyPr wrap="square" lIns="0" tIns="0" rIns="0" bIns="0" rtlCol="0" anchor="t"/>
          <a:lstStyle/>
          <a:p>
            <a:pPr indent="0" marL="0">
              <a:buNone/>
            </a:pPr>
            <a:r>
              <a:rPr lang="en-US" sz="1400" dirty="0">
                <a:solidFill>
                  <a:srgbClr val="1B2733"/>
                </a:solidFill>
                <a:latin typeface="Calibri" pitchFamily="34" charset="0"/>
                <a:ea typeface="Calibri" pitchFamily="34" charset="-122"/>
                <a:cs typeface="Calibri" pitchFamily="34" charset="-120"/>
              </a:rPr>
              <a:t>NDEM marks only newly flooded land. Rivers and lakes are set to ignore so the model does not learn that “rivers are dry land”.</a:t>
            </a:r>
            <a:endParaRPr lang="en-US" sz="1400" dirty="0"/>
          </a:p>
        </p:txBody>
      </p:sp>
      <p:sp>
        <p:nvSpPr>
          <p:cNvPr id="19" name="Shape 17"/>
          <p:cNvSpPr/>
          <p:nvPr/>
        </p:nvSpPr>
        <p:spPr>
          <a:xfrm>
            <a:off x="6199632" y="3154680"/>
            <a:ext cx="5440680" cy="1417320"/>
          </a:xfrm>
          <a:prstGeom prst="rect">
            <a:avLst/>
          </a:prstGeom>
          <a:solidFill>
            <a:srgbClr val="EEF4F8"/>
          </a:solidFill>
          <a:ln w="12700">
            <a:solidFill>
              <a:srgbClr val="EEF4F8"/>
            </a:solidFill>
            <a:prstDash val="solid"/>
          </a:ln>
        </p:spPr>
      </p:sp>
      <p:sp>
        <p:nvSpPr>
          <p:cNvPr id="20" name="Shape 18"/>
          <p:cNvSpPr/>
          <p:nvPr/>
        </p:nvSpPr>
        <p:spPr>
          <a:xfrm>
            <a:off x="6199632" y="3154680"/>
            <a:ext cx="73152" cy="1417320"/>
          </a:xfrm>
          <a:prstGeom prst="rect">
            <a:avLst/>
          </a:prstGeom>
          <a:solidFill>
            <a:srgbClr val="13A89E"/>
          </a:solidFill>
          <a:ln w="12700">
            <a:solidFill>
              <a:srgbClr val="13A89E"/>
            </a:solidFill>
            <a:prstDash val="solid"/>
          </a:ln>
        </p:spPr>
      </p:sp>
      <p:sp>
        <p:nvSpPr>
          <p:cNvPr id="21" name="Text 19"/>
          <p:cNvSpPr/>
          <p:nvPr/>
        </p:nvSpPr>
        <p:spPr>
          <a:xfrm>
            <a:off x="6428232" y="3264408"/>
            <a:ext cx="5074920" cy="411480"/>
          </a:xfrm>
          <a:prstGeom prst="rect">
            <a:avLst/>
          </a:prstGeom>
          <a:noFill/>
          <a:ln/>
        </p:spPr>
        <p:txBody>
          <a:bodyPr wrap="square" lIns="0" tIns="0" rIns="0" bIns="0" rtlCol="0" anchor="t"/>
          <a:lstStyle/>
          <a:p>
            <a:pPr indent="0" marL="0">
              <a:buNone/>
            </a:pPr>
            <a:r>
              <a:rPr lang="en-US" sz="1700" b="1" dirty="0">
                <a:solidFill>
                  <a:srgbClr val="0B2545"/>
                </a:solidFill>
                <a:latin typeface="Calibri" pitchFamily="34" charset="0"/>
                <a:ea typeface="Calibri" pitchFamily="34" charset="-122"/>
                <a:cs typeface="Calibri" pitchFamily="34" charset="-120"/>
              </a:rPr>
              <a:t>Clipping &amp; visual QC</a:t>
            </a:r>
            <a:endParaRPr lang="en-US" sz="1700" dirty="0"/>
          </a:p>
        </p:txBody>
      </p:sp>
      <p:sp>
        <p:nvSpPr>
          <p:cNvPr id="22" name="Text 20"/>
          <p:cNvSpPr/>
          <p:nvPr/>
        </p:nvSpPr>
        <p:spPr>
          <a:xfrm>
            <a:off x="6428232" y="3703320"/>
            <a:ext cx="5074920" cy="777240"/>
          </a:xfrm>
          <a:prstGeom prst="rect">
            <a:avLst/>
          </a:prstGeom>
          <a:noFill/>
          <a:ln/>
        </p:spPr>
        <p:txBody>
          <a:bodyPr wrap="square" lIns="0" tIns="0" rIns="0" bIns="0" rtlCol="0" anchor="t"/>
          <a:lstStyle/>
          <a:p>
            <a:pPr indent="0" marL="0">
              <a:buNone/>
            </a:pPr>
            <a:r>
              <a:rPr lang="en-US" sz="1400" dirty="0">
                <a:solidFill>
                  <a:srgbClr val="1B2733"/>
                </a:solidFill>
                <a:latin typeface="Calibri" pitchFamily="34" charset="0"/>
                <a:ea typeface="Calibri" pitchFamily="34" charset="-122"/>
                <a:cs typeface="Calibri" pitchFamily="34" charset="-120"/>
              </a:rPr>
              <a:t>Maps clipped to the image footprint: 1.9 GB → 625 MB. Flood outlines overlaid on images and checked by eye.</a:t>
            </a:r>
            <a:endParaRPr lang="en-US" sz="1400" dirty="0"/>
          </a:p>
        </p:txBody>
      </p:sp>
      <p:sp>
        <p:nvSpPr>
          <p:cNvPr id="23" name="Text 21"/>
          <p:cNvSpPr/>
          <p:nvPr/>
        </p:nvSpPr>
        <p:spPr>
          <a:xfrm>
            <a:off x="548640" y="4800600"/>
            <a:ext cx="5486400" cy="365760"/>
          </a:xfrm>
          <a:prstGeom prst="rect">
            <a:avLst/>
          </a:prstGeom>
          <a:noFill/>
          <a:ln/>
        </p:spPr>
        <p:txBody>
          <a:bodyPr wrap="square" lIns="0" tIns="0" rIns="0" bIns="0" rtlCol="0" anchor="ctr"/>
          <a:lstStyle/>
          <a:p>
            <a:pPr indent="0" marL="0">
              <a:buNone/>
            </a:pPr>
            <a:r>
              <a:rPr lang="en-US" sz="1600" b="1" dirty="0">
                <a:solidFill>
                  <a:srgbClr val="0B2545"/>
                </a:solidFill>
                <a:latin typeface="Calibri" pitchFamily="34" charset="0"/>
                <a:ea typeface="Calibri" pitchFamily="34" charset="-122"/>
                <a:cs typeface="Calibri" pitchFamily="34" charset="-120"/>
              </a:rPr>
              <a:t>Label values per pixel</a:t>
            </a:r>
            <a:endParaRPr lang="en-US" sz="1600" dirty="0"/>
          </a:p>
        </p:txBody>
      </p:sp>
      <p:sp>
        <p:nvSpPr>
          <p:cNvPr id="24" name="Shape 22"/>
          <p:cNvSpPr/>
          <p:nvPr/>
        </p:nvSpPr>
        <p:spPr>
          <a:xfrm>
            <a:off x="548640" y="5257800"/>
            <a:ext cx="2011680" cy="685800"/>
          </a:xfrm>
          <a:prstGeom prst="rect">
            <a:avLst/>
          </a:prstGeom>
          <a:solidFill>
            <a:srgbClr val="1F6FB2"/>
          </a:solidFill>
          <a:ln/>
        </p:spPr>
      </p:sp>
      <p:sp>
        <p:nvSpPr>
          <p:cNvPr id="25" name="Text 23"/>
          <p:cNvSpPr/>
          <p:nvPr/>
        </p:nvSpPr>
        <p:spPr>
          <a:xfrm>
            <a:off x="548640" y="5257800"/>
            <a:ext cx="2011680" cy="685800"/>
          </a:xfrm>
          <a:prstGeom prst="rect">
            <a:avLst/>
          </a:prstGeom>
          <a:noFill/>
          <a:ln/>
        </p:spPr>
        <p:txBody>
          <a:bodyPr wrap="square" lIns="25400" tIns="25400" rIns="25400" bIns="2540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  </a:t>
            </a:r>
            <a:pPr algn="ctr" indent="0" marL="0">
              <a:buNone/>
            </a:pPr>
            <a:r>
              <a:rPr lang="en-US" sz="1400" dirty="0">
                <a:solidFill>
                  <a:srgbClr val="FFFFFF"/>
                </a:solidFill>
                <a:latin typeface="Calibri" pitchFamily="34" charset="0"/>
                <a:ea typeface="Calibri" pitchFamily="34" charset="-122"/>
                <a:cs typeface="Calibri" pitchFamily="34" charset="-120"/>
              </a:rPr>
              <a:t>Flood</a:t>
            </a:r>
            <a:endParaRPr lang="en-US" sz="2000" dirty="0"/>
          </a:p>
        </p:txBody>
      </p:sp>
      <p:sp>
        <p:nvSpPr>
          <p:cNvPr id="26" name="Shape 24"/>
          <p:cNvSpPr/>
          <p:nvPr/>
        </p:nvSpPr>
        <p:spPr>
          <a:xfrm>
            <a:off x="2743200" y="5257800"/>
            <a:ext cx="2011680" cy="685800"/>
          </a:xfrm>
          <a:prstGeom prst="rect">
            <a:avLst/>
          </a:prstGeom>
          <a:solidFill>
            <a:srgbClr val="8FA3B5"/>
          </a:solidFill>
          <a:ln/>
        </p:spPr>
      </p:sp>
      <p:sp>
        <p:nvSpPr>
          <p:cNvPr id="27" name="Text 25"/>
          <p:cNvSpPr/>
          <p:nvPr/>
        </p:nvSpPr>
        <p:spPr>
          <a:xfrm>
            <a:off x="2743200" y="5257800"/>
            <a:ext cx="2011680" cy="685800"/>
          </a:xfrm>
          <a:prstGeom prst="rect">
            <a:avLst/>
          </a:prstGeom>
          <a:noFill/>
          <a:ln/>
        </p:spPr>
        <p:txBody>
          <a:bodyPr wrap="square" lIns="25400" tIns="25400" rIns="25400" bIns="2540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0  </a:t>
            </a:r>
            <a:pPr algn="ctr" indent="0" marL="0">
              <a:buNone/>
            </a:pPr>
            <a:r>
              <a:rPr lang="en-US" sz="1400" dirty="0">
                <a:solidFill>
                  <a:srgbClr val="FFFFFF"/>
                </a:solidFill>
                <a:latin typeface="Calibri" pitchFamily="34" charset="0"/>
                <a:ea typeface="Calibri" pitchFamily="34" charset="-122"/>
                <a:cs typeface="Calibri" pitchFamily="34" charset="-120"/>
              </a:rPr>
              <a:t>Dry land</a:t>
            </a:r>
            <a:endParaRPr lang="en-US" sz="2000" dirty="0"/>
          </a:p>
        </p:txBody>
      </p:sp>
      <p:sp>
        <p:nvSpPr>
          <p:cNvPr id="28" name="Shape 26"/>
          <p:cNvSpPr/>
          <p:nvPr/>
        </p:nvSpPr>
        <p:spPr>
          <a:xfrm>
            <a:off x="4937760" y="5257800"/>
            <a:ext cx="6675120" cy="685800"/>
          </a:xfrm>
          <a:prstGeom prst="rect">
            <a:avLst/>
          </a:prstGeom>
          <a:solidFill>
            <a:srgbClr val="5B6B7B"/>
          </a:solidFill>
          <a:ln/>
        </p:spPr>
      </p:sp>
      <p:sp>
        <p:nvSpPr>
          <p:cNvPr id="29" name="Text 27"/>
          <p:cNvSpPr/>
          <p:nvPr/>
        </p:nvSpPr>
        <p:spPr>
          <a:xfrm>
            <a:off x="4937760" y="5257800"/>
            <a:ext cx="6675120" cy="685800"/>
          </a:xfrm>
          <a:prstGeom prst="rect">
            <a:avLst/>
          </a:prstGeom>
          <a:noFill/>
          <a:ln/>
        </p:spPr>
        <p:txBody>
          <a:bodyPr wrap="square" lIns="25400" tIns="25400" rIns="25400" bIns="2540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  </a:t>
            </a:r>
            <a:pPr algn="ctr" indent="0" marL="0">
              <a:buNone/>
            </a:pPr>
            <a:r>
              <a:rPr lang="en-US" sz="1400" dirty="0">
                <a:solidFill>
                  <a:srgbClr val="FFFFFF"/>
                </a:solidFill>
                <a:latin typeface="Calibri" pitchFamily="34" charset="0"/>
                <a:ea typeface="Calibri" pitchFamily="34" charset="-122"/>
                <a:cs typeface="Calibri" pitchFamily="34" charset="-120"/>
              </a:rPr>
              <a:t>Ignore: cloud / shadow / permanent water / unmapped</a:t>
            </a:r>
            <a:endParaRPr 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13A89E"/>
          </a:solidFill>
          <a:ln/>
        </p:spPr>
      </p:sp>
      <p:sp>
        <p:nvSpPr>
          <p:cNvPr id="3" name="Text 1"/>
          <p:cNvSpPr/>
          <p:nvPr/>
        </p:nvSpPr>
        <p:spPr>
          <a:xfrm>
            <a:off x="548640" y="320040"/>
            <a:ext cx="10972800" cy="640080"/>
          </a:xfrm>
          <a:prstGeom prst="rect">
            <a:avLst/>
          </a:prstGeom>
          <a:noFill/>
          <a:ln/>
        </p:spPr>
        <p:txBody>
          <a:bodyPr wrap="square" lIns="0" tIns="0" rIns="0" bIns="0" rtlCol="0" anchor="ctr"/>
          <a:lstStyle/>
          <a:p>
            <a:pPr indent="0" marL="0">
              <a:buNone/>
            </a:pPr>
            <a:r>
              <a:rPr lang="en-US" sz="3000" b="1" dirty="0">
                <a:solidFill>
                  <a:srgbClr val="0B2545"/>
                </a:solidFill>
                <a:latin typeface="Calibri" pitchFamily="34" charset="0"/>
                <a:ea typeface="Calibri" pitchFamily="34" charset="-122"/>
                <a:cs typeface="Calibri" pitchFamily="34" charset="-120"/>
              </a:rPr>
              <a:t>Event-wise train / validation / test split</a:t>
            </a:r>
            <a:endParaRPr lang="en-US" sz="3000" dirty="0"/>
          </a:p>
        </p:txBody>
      </p:sp>
      <p:sp>
        <p:nvSpPr>
          <p:cNvPr id="4" name="Text 2"/>
          <p:cNvSpPr/>
          <p:nvPr/>
        </p:nvSpPr>
        <p:spPr>
          <a:xfrm>
            <a:off x="548640" y="932688"/>
            <a:ext cx="10972800" cy="365760"/>
          </a:xfrm>
          <a:prstGeom prst="rect">
            <a:avLst/>
          </a:prstGeom>
          <a:noFill/>
          <a:ln/>
        </p:spPr>
        <p:txBody>
          <a:bodyPr wrap="square" lIns="0" tIns="0" rIns="0" bIns="0" rtlCol="0" anchor="ctr"/>
          <a:lstStyle/>
          <a:p>
            <a:pPr indent="0" marL="0">
              <a:buNone/>
            </a:pPr>
            <a:r>
              <a:rPr lang="en-US" sz="1500" dirty="0">
                <a:solidFill>
                  <a:srgbClr val="5B6B7B"/>
                </a:solidFill>
                <a:latin typeface="Calibri" pitchFamily="34" charset="0"/>
                <a:ea typeface="Calibri" pitchFamily="34" charset="-122"/>
                <a:cs typeface="Calibri" pitchFamily="34" charset="-120"/>
              </a:rPr>
              <a:t>No flood event appears in more than one split, which prevents data leakage</a:t>
            </a:r>
            <a:endParaRPr lang="en-US" sz="1500" dirty="0"/>
          </a:p>
        </p:txBody>
      </p:sp>
      <p:sp>
        <p:nvSpPr>
          <p:cNvPr id="5" name="Text 3"/>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Prithvi Flood-IN  |  CE 766 Integrated Design Project  |  Progress Review</a:t>
            </a:r>
            <a:endParaRPr lang="en-US" sz="1000" dirty="0"/>
          </a:p>
        </p:txBody>
      </p:sp>
      <p:sp>
        <p:nvSpPr>
          <p:cNvPr id="6" name="Text 4"/>
          <p:cNvSpPr/>
          <p:nvPr/>
        </p:nvSpPr>
        <p:spPr>
          <a:xfrm>
            <a:off x="11155680" y="6446520"/>
            <a:ext cx="548640" cy="274320"/>
          </a:xfrm>
          <a:prstGeom prst="rect">
            <a:avLst/>
          </a:prstGeom>
          <a:noFill/>
          <a:ln/>
        </p:spPr>
        <p:txBody>
          <a:bodyPr wrap="square" lIns="0" tIns="0" rIns="0" bIns="0" rtlCol="0" anchor="ctr"/>
          <a:lstStyle/>
          <a:p>
            <a:pPr algn="r" indent="0" marL="0">
              <a:buNone/>
            </a:pPr>
            <a:r>
              <a:rPr lang="en-US" sz="1000" dirty="0">
                <a:solidFill>
                  <a:srgbClr val="5B6B7B"/>
                </a:solidFill>
                <a:latin typeface="Calibri" pitchFamily="34" charset="0"/>
                <a:ea typeface="Calibri" pitchFamily="34" charset="-122"/>
                <a:cs typeface="Calibri" pitchFamily="34" charset="-120"/>
              </a:rPr>
              <a:t>8</a:t>
            </a:r>
            <a:endParaRPr lang="en-US" sz="1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64240" cy="914400"/>
        </p:xfrm>
        <a:graphic>
          <a:graphicData uri="http://schemas.openxmlformats.org/drawingml/2006/table">
            <a:tbl>
              <a:tblPr/>
              <a:tblGrid>
                <a:gridCol w="1828800"/>
                <a:gridCol w="1463040"/>
                <a:gridCol w="1463040"/>
                <a:gridCol w="1463040"/>
                <a:gridCol w="4846320"/>
              </a:tblGrid>
              <a:tr h="566928">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Split</a:t>
                      </a:r>
                      <a:endParaRPr lang="en-US" sz="1700" dirty="0">
                        <a:latin typeface="Calibri" charset="0"/>
                        <a:ea typeface="Calibri" charset="0"/>
                        <a:cs typeface="Calibri" charset="0"/>
                      </a:endParaRPr>
                    </a:p>
                  </a:txBody>
                  <a:tcPr marL="91440" marR="91440" marT="45720" marB="45720" anchor="ctr">
                    <a:lnL w="12700" cap="flat" cmpd="sng" algn="ctr">
                      <a:solidFill>
                        <a:srgbClr val="D5DEE6"/>
                      </a:solidFill>
                      <a:prstDash val="solid"/>
                      <a:round/>
                      <a:headEnd type="none" w="med" len="med"/>
                      <a:tailEnd type="none" w="med" len="med"/>
                    </a:lnL>
                    <a:lnR w="12700" cap="flat" cmpd="sng" algn="ctr">
                      <a:solidFill>
                        <a:srgbClr val="D5DEE6"/>
                      </a:solidFill>
                      <a:prstDash val="solid"/>
                      <a:round/>
                      <a:headEnd type="none" w="med" len="med"/>
                      <a:tailEnd type="none" w="med" len="med"/>
                    </a:lnR>
                    <a:lnT w="12700" cap="flat" cmpd="sng" algn="ctr">
                      <a:solidFill>
                        <a:srgbClr val="D5DEE6"/>
                      </a:solidFill>
                      <a:prstDash val="solid"/>
                      <a:round/>
                      <a:headEnd type="none" w="med" len="med"/>
                      <a:tailEnd type="none" w="med" len="med"/>
                    </a:lnT>
                    <a:lnB w="12700" cap="flat" cmpd="sng" algn="ctr">
                      <a:solidFill>
                        <a:srgbClr val="D5DEE6"/>
                      </a:solidFill>
                      <a:prstDash val="solid"/>
                      <a:round/>
                      <a:headEnd type="none" w="med" len="med"/>
                      <a:tailEnd type="none" w="med" len="med"/>
                    </a:lnB>
                    <a:solidFill>
                      <a:srgbClr val="0B2545"/>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Events</a:t>
                      </a:r>
                      <a:endParaRPr lang="en-US" sz="1700" dirty="0">
                        <a:latin typeface="Calibri" charset="0"/>
                        <a:ea typeface="Calibri" charset="0"/>
                        <a:cs typeface="Calibri" charset="0"/>
                      </a:endParaRPr>
                    </a:p>
                  </a:txBody>
                  <a:tcPr marL="91440" marR="91440" marT="45720" marB="45720" anchor="ctr">
                    <a:lnL w="12700" cap="flat" cmpd="sng" algn="ctr">
                      <a:solidFill>
                        <a:srgbClr val="D5DEE6"/>
                      </a:solidFill>
                      <a:prstDash val="solid"/>
                      <a:round/>
                      <a:headEnd type="none" w="med" len="med"/>
                      <a:tailEnd type="none" w="med" len="med"/>
                    </a:lnL>
                    <a:lnR w="12700" cap="flat" cmpd="sng" algn="ctr">
                      <a:solidFill>
                        <a:srgbClr val="D5DEE6"/>
                      </a:solidFill>
                      <a:prstDash val="solid"/>
                      <a:round/>
                      <a:headEnd type="none" w="med" len="med"/>
                      <a:tailEnd type="none" w="med" len="med"/>
                    </a:lnR>
                    <a:lnT w="12700" cap="flat" cmpd="sng" algn="ctr">
                      <a:solidFill>
                        <a:srgbClr val="D5DEE6"/>
                      </a:solidFill>
                      <a:prstDash val="solid"/>
                      <a:round/>
                      <a:headEnd type="none" w="med" len="med"/>
                      <a:tailEnd type="none" w="med" len="med"/>
                    </a:lnT>
                    <a:lnB w="12700" cap="flat" cmpd="sng" algn="ctr">
                      <a:solidFill>
                        <a:srgbClr val="D5DEE6"/>
                      </a:solidFill>
                      <a:prstDash val="solid"/>
                      <a:round/>
                      <a:headEnd type="none" w="med" len="med"/>
                      <a:tailEnd type="none" w="med" len="med"/>
                    </a:lnB>
                    <a:solidFill>
                      <a:srgbClr val="0B2545"/>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Images</a:t>
                      </a:r>
                      <a:endParaRPr lang="en-US" sz="1700" dirty="0">
                        <a:latin typeface="Calibri" charset="0"/>
                        <a:ea typeface="Calibri" charset="0"/>
                        <a:cs typeface="Calibri" charset="0"/>
                      </a:endParaRPr>
                    </a:p>
                  </a:txBody>
                  <a:tcPr marL="91440" marR="91440" marT="45720" marB="45720" anchor="ctr">
                    <a:lnL w="12700" cap="flat" cmpd="sng" algn="ctr">
                      <a:solidFill>
                        <a:srgbClr val="D5DEE6"/>
                      </a:solidFill>
                      <a:prstDash val="solid"/>
                      <a:round/>
                      <a:headEnd type="none" w="med" len="med"/>
                      <a:tailEnd type="none" w="med" len="med"/>
                    </a:lnL>
                    <a:lnR w="12700" cap="flat" cmpd="sng" algn="ctr">
                      <a:solidFill>
                        <a:srgbClr val="D5DEE6"/>
                      </a:solidFill>
                      <a:prstDash val="solid"/>
                      <a:round/>
                      <a:headEnd type="none" w="med" len="med"/>
                      <a:tailEnd type="none" w="med" len="med"/>
                    </a:lnR>
                    <a:lnT w="12700" cap="flat" cmpd="sng" algn="ctr">
                      <a:solidFill>
                        <a:srgbClr val="D5DEE6"/>
                      </a:solidFill>
                      <a:prstDash val="solid"/>
                      <a:round/>
                      <a:headEnd type="none" w="med" len="med"/>
                      <a:tailEnd type="none" w="med" len="med"/>
                    </a:lnT>
                    <a:lnB w="12700" cap="flat" cmpd="sng" algn="ctr">
                      <a:solidFill>
                        <a:srgbClr val="D5DEE6"/>
                      </a:solidFill>
                      <a:prstDash val="solid"/>
                      <a:round/>
                      <a:headEnd type="none" w="med" len="med"/>
                      <a:tailEnd type="none" w="med" len="med"/>
                    </a:lnB>
                    <a:solidFill>
                      <a:srgbClr val="0B2545"/>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Chips</a:t>
                      </a:r>
                      <a:endParaRPr lang="en-US" sz="1700" dirty="0">
                        <a:latin typeface="Calibri" charset="0"/>
                        <a:ea typeface="Calibri" charset="0"/>
                        <a:cs typeface="Calibri" charset="0"/>
                      </a:endParaRPr>
                    </a:p>
                  </a:txBody>
                  <a:tcPr marL="91440" marR="91440" marT="45720" marB="45720" anchor="ctr">
                    <a:lnL w="12700" cap="flat" cmpd="sng" algn="ctr">
                      <a:solidFill>
                        <a:srgbClr val="D5DEE6"/>
                      </a:solidFill>
                      <a:prstDash val="solid"/>
                      <a:round/>
                      <a:headEnd type="none" w="med" len="med"/>
                      <a:tailEnd type="none" w="med" len="med"/>
                    </a:lnL>
                    <a:lnR w="12700" cap="flat" cmpd="sng" algn="ctr">
                      <a:solidFill>
                        <a:srgbClr val="D5DEE6"/>
                      </a:solidFill>
                      <a:prstDash val="solid"/>
                      <a:round/>
                      <a:headEnd type="none" w="med" len="med"/>
                      <a:tailEnd type="none" w="med" len="med"/>
                    </a:lnR>
                    <a:lnT w="12700" cap="flat" cmpd="sng" algn="ctr">
                      <a:solidFill>
                        <a:srgbClr val="D5DEE6"/>
                      </a:solidFill>
                      <a:prstDash val="solid"/>
                      <a:round/>
                      <a:headEnd type="none" w="med" len="med"/>
                      <a:tailEnd type="none" w="med" len="med"/>
                    </a:lnT>
                    <a:lnB w="12700" cap="flat" cmpd="sng" algn="ctr">
                      <a:solidFill>
                        <a:srgbClr val="D5DEE6"/>
                      </a:solidFill>
                      <a:prstDash val="solid"/>
                      <a:round/>
                      <a:headEnd type="none" w="med" len="med"/>
                      <a:tailEnd type="none" w="med" len="med"/>
                    </a:lnB>
                    <a:solidFill>
                      <a:srgbClr val="0B2545"/>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Purpose</a:t>
                      </a:r>
                      <a:endParaRPr lang="en-US" sz="1700" dirty="0">
                        <a:latin typeface="Calibri" charset="0"/>
                        <a:ea typeface="Calibri" charset="0"/>
                        <a:cs typeface="Calibri" charset="0"/>
                      </a:endParaRPr>
                    </a:p>
                  </a:txBody>
                  <a:tcPr marL="91440" marR="91440" marT="45720" marB="45720" anchor="ctr">
                    <a:lnL w="12700" cap="flat" cmpd="sng" algn="ctr">
                      <a:solidFill>
                        <a:srgbClr val="D5DEE6"/>
                      </a:solidFill>
                      <a:prstDash val="solid"/>
                      <a:round/>
                      <a:headEnd type="none" w="med" len="med"/>
                      <a:tailEnd type="none" w="med" len="med"/>
                    </a:lnL>
                    <a:lnR w="12700" cap="flat" cmpd="sng" algn="ctr">
                      <a:solidFill>
                        <a:srgbClr val="D5DEE6"/>
                      </a:solidFill>
                      <a:prstDash val="solid"/>
                      <a:round/>
                      <a:headEnd type="none" w="med" len="med"/>
                      <a:tailEnd type="none" w="med" len="med"/>
                    </a:lnR>
                    <a:lnT w="12700" cap="flat" cmpd="sng" algn="ctr">
                      <a:solidFill>
                        <a:srgbClr val="D5DEE6"/>
                      </a:solidFill>
                      <a:prstDash val="solid"/>
                      <a:round/>
                      <a:headEnd type="none" w="med" len="med"/>
                      <a:tailEnd type="none" w="med" len="med"/>
                    </a:lnT>
                    <a:lnB w="12700" cap="flat" cmpd="sng" algn="ctr">
                      <a:solidFill>
                        <a:srgbClr val="D5DEE6"/>
                      </a:solidFill>
                      <a:prstDash val="solid"/>
                      <a:round/>
                      <a:headEnd type="none" w="med" len="med"/>
                      <a:tailEnd type="none" w="med" len="med"/>
                    </a:lnB>
                    <a:solidFill>
                      <a:srgbClr val="0B2545"/>
                    </a:solidFill>
                  </a:tcPr>
                </a:tc>
              </a:tr>
              <a:tr h="566928">
                <a:tc>
                  <a:txBody>
                    <a:bodyPr/>
                    <a:lstStyle/>
                    <a:p>
                      <a:pPr indent="0" marL="0">
                        <a:buNone/>
                      </a:pPr>
                      <a:r>
                        <a:rPr lang="en-US" sz="1700" dirty="0">
                          <a:solidFill>
                            <a:srgbClr val="1B2733"/>
                          </a:solidFill>
                          <a:latin typeface="Calibri" pitchFamily="34" charset="0"/>
                          <a:ea typeface="Calibri" pitchFamily="34" charset="-122"/>
                          <a:cs typeface="Calibri" pitchFamily="34" charset="-120"/>
                        </a:rPr>
                        <a:t>Train</a:t>
                      </a:r>
                      <a:endParaRPr lang="en-US" sz="1700" dirty="0">
                        <a:latin typeface="Calibri" charset="0"/>
                        <a:ea typeface="Calibri" charset="0"/>
                        <a:cs typeface="Calibri" charset="0"/>
                      </a:endParaRPr>
                    </a:p>
                  </a:txBody>
                  <a:tcPr marL="91440" marR="91440" marT="45720" marB="45720" anchor="ctr">
                    <a:lnL w="12700" cap="flat" cmpd="sng" algn="ctr">
                      <a:solidFill>
                        <a:srgbClr val="D5DEE6"/>
                      </a:solidFill>
                      <a:prstDash val="solid"/>
                      <a:round/>
                      <a:headEnd type="none" w="med" len="med"/>
                      <a:tailEnd type="none" w="med" len="med"/>
                    </a:lnL>
                    <a:lnR w="12700" cap="flat" cmpd="sng" algn="ctr">
                      <a:solidFill>
                        <a:srgbClr val="D5DEE6"/>
                      </a:solidFill>
                      <a:prstDash val="solid"/>
                      <a:round/>
                      <a:headEnd type="none" w="med" len="med"/>
                      <a:tailEnd type="none" w="med" len="med"/>
                    </a:lnR>
                    <a:lnT w="12700" cap="flat" cmpd="sng" algn="ctr">
                      <a:solidFill>
                        <a:srgbClr val="D5DEE6"/>
                      </a:solidFill>
                      <a:prstDash val="solid"/>
                      <a:round/>
                      <a:headEnd type="none" w="med" len="med"/>
                      <a:tailEnd type="none" w="med" len="med"/>
                    </a:lnT>
                    <a:lnB w="12700"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700" dirty="0">
                          <a:solidFill>
                            <a:srgbClr val="1B2733"/>
                          </a:solidFill>
                          <a:latin typeface="Calibri" pitchFamily="34" charset="0"/>
                          <a:ea typeface="Calibri" pitchFamily="34" charset="-122"/>
                          <a:cs typeface="Calibri" pitchFamily="34" charset="-120"/>
                        </a:rPr>
                        <a:t>72</a:t>
                      </a:r>
                      <a:endParaRPr lang="en-US" sz="1700" dirty="0">
                        <a:latin typeface="Calibri" charset="0"/>
                        <a:ea typeface="Calibri" charset="0"/>
                        <a:cs typeface="Calibri" charset="0"/>
                      </a:endParaRPr>
                    </a:p>
                  </a:txBody>
                  <a:tcPr marL="91440" marR="91440" marT="45720" marB="45720" anchor="ctr">
                    <a:lnL w="12700" cap="flat" cmpd="sng" algn="ctr">
                      <a:solidFill>
                        <a:srgbClr val="D5DEE6"/>
                      </a:solidFill>
                      <a:prstDash val="solid"/>
                      <a:round/>
                      <a:headEnd type="none" w="med" len="med"/>
                      <a:tailEnd type="none" w="med" len="med"/>
                    </a:lnL>
                    <a:lnR w="12700" cap="flat" cmpd="sng" algn="ctr">
                      <a:solidFill>
                        <a:srgbClr val="D5DEE6"/>
                      </a:solidFill>
                      <a:prstDash val="solid"/>
                      <a:round/>
                      <a:headEnd type="none" w="med" len="med"/>
                      <a:tailEnd type="none" w="med" len="med"/>
                    </a:lnR>
                    <a:lnT w="12700" cap="flat" cmpd="sng" algn="ctr">
                      <a:solidFill>
                        <a:srgbClr val="D5DEE6"/>
                      </a:solidFill>
                      <a:prstDash val="solid"/>
                      <a:round/>
                      <a:headEnd type="none" w="med" len="med"/>
                      <a:tailEnd type="none" w="med" len="med"/>
                    </a:lnT>
                    <a:lnB w="12700"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700" dirty="0">
                          <a:solidFill>
                            <a:srgbClr val="1B2733"/>
                          </a:solidFill>
                          <a:latin typeface="Calibri" pitchFamily="34" charset="0"/>
                          <a:ea typeface="Calibri" pitchFamily="34" charset="-122"/>
                          <a:cs typeface="Calibri" pitchFamily="34" charset="-120"/>
                        </a:rPr>
                        <a:t>130</a:t>
                      </a:r>
                      <a:endParaRPr lang="en-US" sz="1700" dirty="0">
                        <a:latin typeface="Calibri" charset="0"/>
                        <a:ea typeface="Calibri" charset="0"/>
                        <a:cs typeface="Calibri" charset="0"/>
                      </a:endParaRPr>
                    </a:p>
                  </a:txBody>
                  <a:tcPr marL="91440" marR="91440" marT="45720" marB="45720" anchor="ctr">
                    <a:lnL w="12700" cap="flat" cmpd="sng" algn="ctr">
                      <a:solidFill>
                        <a:srgbClr val="D5DEE6"/>
                      </a:solidFill>
                      <a:prstDash val="solid"/>
                      <a:round/>
                      <a:headEnd type="none" w="med" len="med"/>
                      <a:tailEnd type="none" w="med" len="med"/>
                    </a:lnL>
                    <a:lnR w="12700" cap="flat" cmpd="sng" algn="ctr">
                      <a:solidFill>
                        <a:srgbClr val="D5DEE6"/>
                      </a:solidFill>
                      <a:prstDash val="solid"/>
                      <a:round/>
                      <a:headEnd type="none" w="med" len="med"/>
                      <a:tailEnd type="none" w="med" len="med"/>
                    </a:lnR>
                    <a:lnT w="12700" cap="flat" cmpd="sng" algn="ctr">
                      <a:solidFill>
                        <a:srgbClr val="D5DEE6"/>
                      </a:solidFill>
                      <a:prstDash val="solid"/>
                      <a:round/>
                      <a:headEnd type="none" w="med" len="med"/>
                      <a:tailEnd type="none" w="med" len="med"/>
                    </a:lnT>
                    <a:lnB w="12700"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700" dirty="0">
                          <a:solidFill>
                            <a:srgbClr val="1B2733"/>
                          </a:solidFill>
                          <a:latin typeface="Calibri" pitchFamily="34" charset="0"/>
                          <a:ea typeface="Calibri" pitchFamily="34" charset="-122"/>
                          <a:cs typeface="Calibri" pitchFamily="34" charset="-120"/>
                        </a:rPr>
                        <a:t>2,635</a:t>
                      </a:r>
                      <a:endParaRPr lang="en-US" sz="1700" dirty="0">
                        <a:latin typeface="Calibri" charset="0"/>
                        <a:ea typeface="Calibri" charset="0"/>
                        <a:cs typeface="Calibri" charset="0"/>
                      </a:endParaRPr>
                    </a:p>
                  </a:txBody>
                  <a:tcPr marL="91440" marR="91440" marT="45720" marB="45720" anchor="ctr">
                    <a:lnL w="12700" cap="flat" cmpd="sng" algn="ctr">
                      <a:solidFill>
                        <a:srgbClr val="D5DEE6"/>
                      </a:solidFill>
                      <a:prstDash val="solid"/>
                      <a:round/>
                      <a:headEnd type="none" w="med" len="med"/>
                      <a:tailEnd type="none" w="med" len="med"/>
                    </a:lnL>
                    <a:lnR w="12700" cap="flat" cmpd="sng" algn="ctr">
                      <a:solidFill>
                        <a:srgbClr val="D5DEE6"/>
                      </a:solidFill>
                      <a:prstDash val="solid"/>
                      <a:round/>
                      <a:headEnd type="none" w="med" len="med"/>
                      <a:tailEnd type="none" w="med" len="med"/>
                    </a:lnR>
                    <a:lnT w="12700" cap="flat" cmpd="sng" algn="ctr">
                      <a:solidFill>
                        <a:srgbClr val="D5DEE6"/>
                      </a:solidFill>
                      <a:prstDash val="solid"/>
                      <a:round/>
                      <a:headEnd type="none" w="med" len="med"/>
                      <a:tailEnd type="none" w="med" len="med"/>
                    </a:lnT>
                    <a:lnB w="12700"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700" dirty="0">
                          <a:solidFill>
                            <a:srgbClr val="1B2733"/>
                          </a:solidFill>
                          <a:latin typeface="Calibri" pitchFamily="34" charset="0"/>
                          <a:ea typeface="Calibri" pitchFamily="34" charset="-122"/>
                          <a:cs typeface="Calibri" pitchFamily="34" charset="-120"/>
                        </a:rPr>
                        <a:t>Model learns from these</a:t>
                      </a:r>
                      <a:endParaRPr lang="en-US" sz="1700" dirty="0">
                        <a:latin typeface="Calibri" charset="0"/>
                        <a:ea typeface="Calibri" charset="0"/>
                        <a:cs typeface="Calibri" charset="0"/>
                      </a:endParaRPr>
                    </a:p>
                  </a:txBody>
                  <a:tcPr marL="91440" marR="91440" marT="45720" marB="45720" anchor="ctr">
                    <a:lnL w="12700" cap="flat" cmpd="sng" algn="ctr">
                      <a:solidFill>
                        <a:srgbClr val="D5DEE6"/>
                      </a:solidFill>
                      <a:prstDash val="solid"/>
                      <a:round/>
                      <a:headEnd type="none" w="med" len="med"/>
                      <a:tailEnd type="none" w="med" len="med"/>
                    </a:lnL>
                    <a:lnR w="12700" cap="flat" cmpd="sng" algn="ctr">
                      <a:solidFill>
                        <a:srgbClr val="D5DEE6"/>
                      </a:solidFill>
                      <a:prstDash val="solid"/>
                      <a:round/>
                      <a:headEnd type="none" w="med" len="med"/>
                      <a:tailEnd type="none" w="med" len="med"/>
                    </a:lnR>
                    <a:lnT w="12700" cap="flat" cmpd="sng" algn="ctr">
                      <a:solidFill>
                        <a:srgbClr val="D5DEE6"/>
                      </a:solidFill>
                      <a:prstDash val="solid"/>
                      <a:round/>
                      <a:headEnd type="none" w="med" len="med"/>
                      <a:tailEnd type="none" w="med" len="med"/>
                    </a:lnT>
                    <a:lnB w="12700" cap="flat" cmpd="sng" algn="ctr">
                      <a:solidFill>
                        <a:srgbClr val="D5DEE6"/>
                      </a:solidFill>
                      <a:prstDash val="solid"/>
                      <a:round/>
                      <a:headEnd type="none" w="med" len="med"/>
                      <a:tailEnd type="none" w="med" len="med"/>
                    </a:lnB>
                    <a:solidFill>
                      <a:srgbClr val="FFFFFF"/>
                    </a:solidFill>
                  </a:tcPr>
                </a:tc>
              </a:tr>
              <a:tr h="566928">
                <a:tc>
                  <a:txBody>
                    <a:bodyPr/>
                    <a:lstStyle/>
                    <a:p>
                      <a:pPr indent="0" marL="0">
                        <a:buNone/>
                      </a:pPr>
                      <a:r>
                        <a:rPr lang="en-US" sz="1700" dirty="0">
                          <a:solidFill>
                            <a:srgbClr val="1B2733"/>
                          </a:solidFill>
                          <a:latin typeface="Calibri" pitchFamily="34" charset="0"/>
                          <a:ea typeface="Calibri" pitchFamily="34" charset="-122"/>
                          <a:cs typeface="Calibri" pitchFamily="34" charset="-120"/>
                        </a:rPr>
                        <a:t>Validation</a:t>
                      </a:r>
                      <a:endParaRPr lang="en-US" sz="1700" dirty="0">
                        <a:latin typeface="Calibri" charset="0"/>
                        <a:ea typeface="Calibri" charset="0"/>
                        <a:cs typeface="Calibri" charset="0"/>
                      </a:endParaRPr>
                    </a:p>
                  </a:txBody>
                  <a:tcPr marL="91440" marR="91440" marT="45720" marB="45720" anchor="ctr">
                    <a:lnL w="12700" cap="flat" cmpd="sng" algn="ctr">
                      <a:solidFill>
                        <a:srgbClr val="D5DEE6"/>
                      </a:solidFill>
                      <a:prstDash val="solid"/>
                      <a:round/>
                      <a:headEnd type="none" w="med" len="med"/>
                      <a:tailEnd type="none" w="med" len="med"/>
                    </a:lnL>
                    <a:lnR w="12700" cap="flat" cmpd="sng" algn="ctr">
                      <a:solidFill>
                        <a:srgbClr val="D5DEE6"/>
                      </a:solidFill>
                      <a:prstDash val="solid"/>
                      <a:round/>
                      <a:headEnd type="none" w="med" len="med"/>
                      <a:tailEnd type="none" w="med" len="med"/>
                    </a:lnR>
                    <a:lnT w="12700" cap="flat" cmpd="sng" algn="ctr">
                      <a:solidFill>
                        <a:srgbClr val="D5DEE6"/>
                      </a:solidFill>
                      <a:prstDash val="solid"/>
                      <a:round/>
                      <a:headEnd type="none" w="med" len="med"/>
                      <a:tailEnd type="none" w="med" len="med"/>
                    </a:lnT>
                    <a:lnB w="12700"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700" dirty="0">
                          <a:solidFill>
                            <a:srgbClr val="1B2733"/>
                          </a:solidFill>
                          <a:latin typeface="Calibri" pitchFamily="34" charset="0"/>
                          <a:ea typeface="Calibri" pitchFamily="34" charset="-122"/>
                          <a:cs typeface="Calibri" pitchFamily="34" charset="-120"/>
                        </a:rPr>
                        <a:t>12</a:t>
                      </a:r>
                      <a:endParaRPr lang="en-US" sz="1700" dirty="0">
                        <a:latin typeface="Calibri" charset="0"/>
                        <a:ea typeface="Calibri" charset="0"/>
                        <a:cs typeface="Calibri" charset="0"/>
                      </a:endParaRPr>
                    </a:p>
                  </a:txBody>
                  <a:tcPr marL="91440" marR="91440" marT="45720" marB="45720" anchor="ctr">
                    <a:lnL w="12700" cap="flat" cmpd="sng" algn="ctr">
                      <a:solidFill>
                        <a:srgbClr val="D5DEE6"/>
                      </a:solidFill>
                      <a:prstDash val="solid"/>
                      <a:round/>
                      <a:headEnd type="none" w="med" len="med"/>
                      <a:tailEnd type="none" w="med" len="med"/>
                    </a:lnL>
                    <a:lnR w="12700" cap="flat" cmpd="sng" algn="ctr">
                      <a:solidFill>
                        <a:srgbClr val="D5DEE6"/>
                      </a:solidFill>
                      <a:prstDash val="solid"/>
                      <a:round/>
                      <a:headEnd type="none" w="med" len="med"/>
                      <a:tailEnd type="none" w="med" len="med"/>
                    </a:lnR>
                    <a:lnT w="12700" cap="flat" cmpd="sng" algn="ctr">
                      <a:solidFill>
                        <a:srgbClr val="D5DEE6"/>
                      </a:solidFill>
                      <a:prstDash val="solid"/>
                      <a:round/>
                      <a:headEnd type="none" w="med" len="med"/>
                      <a:tailEnd type="none" w="med" len="med"/>
                    </a:lnT>
                    <a:lnB w="12700"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700" dirty="0">
                          <a:solidFill>
                            <a:srgbClr val="1B2733"/>
                          </a:solidFill>
                          <a:latin typeface="Calibri" pitchFamily="34" charset="0"/>
                          <a:ea typeface="Calibri" pitchFamily="34" charset="-122"/>
                          <a:cs typeface="Calibri" pitchFamily="34" charset="-120"/>
                        </a:rPr>
                        <a:t>18</a:t>
                      </a:r>
                      <a:endParaRPr lang="en-US" sz="1700" dirty="0">
                        <a:latin typeface="Calibri" charset="0"/>
                        <a:ea typeface="Calibri" charset="0"/>
                        <a:cs typeface="Calibri" charset="0"/>
                      </a:endParaRPr>
                    </a:p>
                  </a:txBody>
                  <a:tcPr marL="91440" marR="91440" marT="45720" marB="45720" anchor="ctr">
                    <a:lnL w="12700" cap="flat" cmpd="sng" algn="ctr">
                      <a:solidFill>
                        <a:srgbClr val="D5DEE6"/>
                      </a:solidFill>
                      <a:prstDash val="solid"/>
                      <a:round/>
                      <a:headEnd type="none" w="med" len="med"/>
                      <a:tailEnd type="none" w="med" len="med"/>
                    </a:lnL>
                    <a:lnR w="12700" cap="flat" cmpd="sng" algn="ctr">
                      <a:solidFill>
                        <a:srgbClr val="D5DEE6"/>
                      </a:solidFill>
                      <a:prstDash val="solid"/>
                      <a:round/>
                      <a:headEnd type="none" w="med" len="med"/>
                      <a:tailEnd type="none" w="med" len="med"/>
                    </a:lnR>
                    <a:lnT w="12700" cap="flat" cmpd="sng" algn="ctr">
                      <a:solidFill>
                        <a:srgbClr val="D5DEE6"/>
                      </a:solidFill>
                      <a:prstDash val="solid"/>
                      <a:round/>
                      <a:headEnd type="none" w="med" len="med"/>
                      <a:tailEnd type="none" w="med" len="med"/>
                    </a:lnT>
                    <a:lnB w="12700"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700" dirty="0">
                          <a:solidFill>
                            <a:srgbClr val="1B2733"/>
                          </a:solidFill>
                          <a:latin typeface="Calibri" pitchFamily="34" charset="0"/>
                          <a:ea typeface="Calibri" pitchFamily="34" charset="-122"/>
                          <a:cs typeface="Calibri" pitchFamily="34" charset="-120"/>
                        </a:rPr>
                        <a:t>212</a:t>
                      </a:r>
                      <a:endParaRPr lang="en-US" sz="1700" dirty="0">
                        <a:latin typeface="Calibri" charset="0"/>
                        <a:ea typeface="Calibri" charset="0"/>
                        <a:cs typeface="Calibri" charset="0"/>
                      </a:endParaRPr>
                    </a:p>
                  </a:txBody>
                  <a:tcPr marL="91440" marR="91440" marT="45720" marB="45720" anchor="ctr">
                    <a:lnL w="12700" cap="flat" cmpd="sng" algn="ctr">
                      <a:solidFill>
                        <a:srgbClr val="D5DEE6"/>
                      </a:solidFill>
                      <a:prstDash val="solid"/>
                      <a:round/>
                      <a:headEnd type="none" w="med" len="med"/>
                      <a:tailEnd type="none" w="med" len="med"/>
                    </a:lnL>
                    <a:lnR w="12700" cap="flat" cmpd="sng" algn="ctr">
                      <a:solidFill>
                        <a:srgbClr val="D5DEE6"/>
                      </a:solidFill>
                      <a:prstDash val="solid"/>
                      <a:round/>
                      <a:headEnd type="none" w="med" len="med"/>
                      <a:tailEnd type="none" w="med" len="med"/>
                    </a:lnR>
                    <a:lnT w="12700" cap="flat" cmpd="sng" algn="ctr">
                      <a:solidFill>
                        <a:srgbClr val="D5DEE6"/>
                      </a:solidFill>
                      <a:prstDash val="solid"/>
                      <a:round/>
                      <a:headEnd type="none" w="med" len="med"/>
                      <a:tailEnd type="none" w="med" len="med"/>
                    </a:lnT>
                    <a:lnB w="12700"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700" dirty="0">
                          <a:solidFill>
                            <a:srgbClr val="1B2733"/>
                          </a:solidFill>
                          <a:latin typeface="Calibri" pitchFamily="34" charset="0"/>
                          <a:ea typeface="Calibri" pitchFamily="34" charset="-122"/>
                          <a:cs typeface="Calibri" pitchFamily="34" charset="-120"/>
                        </a:rPr>
                        <a:t>Checked every epoch; selects best checkpoint</a:t>
                      </a:r>
                      <a:endParaRPr lang="en-US" sz="1700" dirty="0">
                        <a:latin typeface="Calibri" charset="0"/>
                        <a:ea typeface="Calibri" charset="0"/>
                        <a:cs typeface="Calibri" charset="0"/>
                      </a:endParaRPr>
                    </a:p>
                  </a:txBody>
                  <a:tcPr marL="91440" marR="91440" marT="45720" marB="45720" anchor="ctr">
                    <a:lnL w="12700" cap="flat" cmpd="sng" algn="ctr">
                      <a:solidFill>
                        <a:srgbClr val="D5DEE6"/>
                      </a:solidFill>
                      <a:prstDash val="solid"/>
                      <a:round/>
                      <a:headEnd type="none" w="med" len="med"/>
                      <a:tailEnd type="none" w="med" len="med"/>
                    </a:lnL>
                    <a:lnR w="12700" cap="flat" cmpd="sng" algn="ctr">
                      <a:solidFill>
                        <a:srgbClr val="D5DEE6"/>
                      </a:solidFill>
                      <a:prstDash val="solid"/>
                      <a:round/>
                      <a:headEnd type="none" w="med" len="med"/>
                      <a:tailEnd type="none" w="med" len="med"/>
                    </a:lnR>
                    <a:lnT w="12700" cap="flat" cmpd="sng" algn="ctr">
                      <a:solidFill>
                        <a:srgbClr val="D5DEE6"/>
                      </a:solidFill>
                      <a:prstDash val="solid"/>
                      <a:round/>
                      <a:headEnd type="none" w="med" len="med"/>
                      <a:tailEnd type="none" w="med" len="med"/>
                    </a:lnT>
                    <a:lnB w="12700" cap="flat" cmpd="sng" algn="ctr">
                      <a:solidFill>
                        <a:srgbClr val="D5DEE6"/>
                      </a:solidFill>
                      <a:prstDash val="solid"/>
                      <a:round/>
                      <a:headEnd type="none" w="med" len="med"/>
                      <a:tailEnd type="none" w="med" len="med"/>
                    </a:lnB>
                    <a:solidFill>
                      <a:srgbClr val="FFFFFF"/>
                    </a:solidFill>
                  </a:tcPr>
                </a:tc>
              </a:tr>
              <a:tr h="566928">
                <a:tc>
                  <a:txBody>
                    <a:bodyPr/>
                    <a:lstStyle/>
                    <a:p>
                      <a:pPr indent="0" marL="0">
                        <a:buNone/>
                      </a:pPr>
                      <a:r>
                        <a:rPr lang="en-US" sz="1700" dirty="0">
                          <a:solidFill>
                            <a:srgbClr val="1B2733"/>
                          </a:solidFill>
                          <a:latin typeface="Calibri" pitchFamily="34" charset="0"/>
                          <a:ea typeface="Calibri" pitchFamily="34" charset="-122"/>
                          <a:cs typeface="Calibri" pitchFamily="34" charset="-120"/>
                        </a:rPr>
                        <a:t>Test</a:t>
                      </a:r>
                      <a:endParaRPr lang="en-US" sz="1700" dirty="0">
                        <a:latin typeface="Calibri" charset="0"/>
                        <a:ea typeface="Calibri" charset="0"/>
                        <a:cs typeface="Calibri" charset="0"/>
                      </a:endParaRPr>
                    </a:p>
                  </a:txBody>
                  <a:tcPr marL="91440" marR="91440" marT="45720" marB="45720" anchor="ctr">
                    <a:lnL w="12700" cap="flat" cmpd="sng" algn="ctr">
                      <a:solidFill>
                        <a:srgbClr val="D5DEE6"/>
                      </a:solidFill>
                      <a:prstDash val="solid"/>
                      <a:round/>
                      <a:headEnd type="none" w="med" len="med"/>
                      <a:tailEnd type="none" w="med" len="med"/>
                    </a:lnL>
                    <a:lnR w="12700" cap="flat" cmpd="sng" algn="ctr">
                      <a:solidFill>
                        <a:srgbClr val="D5DEE6"/>
                      </a:solidFill>
                      <a:prstDash val="solid"/>
                      <a:round/>
                      <a:headEnd type="none" w="med" len="med"/>
                      <a:tailEnd type="none" w="med" len="med"/>
                    </a:lnR>
                    <a:lnT w="12700" cap="flat" cmpd="sng" algn="ctr">
                      <a:solidFill>
                        <a:srgbClr val="D5DEE6"/>
                      </a:solidFill>
                      <a:prstDash val="solid"/>
                      <a:round/>
                      <a:headEnd type="none" w="med" len="med"/>
                      <a:tailEnd type="none" w="med" len="med"/>
                    </a:lnT>
                    <a:lnB w="12700"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700" dirty="0">
                          <a:solidFill>
                            <a:srgbClr val="1B2733"/>
                          </a:solidFill>
                          <a:latin typeface="Calibri" pitchFamily="34" charset="0"/>
                          <a:ea typeface="Calibri" pitchFamily="34" charset="-122"/>
                          <a:cs typeface="Calibri" pitchFamily="34" charset="-120"/>
                        </a:rPr>
                        <a:t>16</a:t>
                      </a:r>
                      <a:endParaRPr lang="en-US" sz="1700" dirty="0">
                        <a:latin typeface="Calibri" charset="0"/>
                        <a:ea typeface="Calibri" charset="0"/>
                        <a:cs typeface="Calibri" charset="0"/>
                      </a:endParaRPr>
                    </a:p>
                  </a:txBody>
                  <a:tcPr marL="91440" marR="91440" marT="45720" marB="45720" anchor="ctr">
                    <a:lnL w="12700" cap="flat" cmpd="sng" algn="ctr">
                      <a:solidFill>
                        <a:srgbClr val="D5DEE6"/>
                      </a:solidFill>
                      <a:prstDash val="solid"/>
                      <a:round/>
                      <a:headEnd type="none" w="med" len="med"/>
                      <a:tailEnd type="none" w="med" len="med"/>
                    </a:lnL>
                    <a:lnR w="12700" cap="flat" cmpd="sng" algn="ctr">
                      <a:solidFill>
                        <a:srgbClr val="D5DEE6"/>
                      </a:solidFill>
                      <a:prstDash val="solid"/>
                      <a:round/>
                      <a:headEnd type="none" w="med" len="med"/>
                      <a:tailEnd type="none" w="med" len="med"/>
                    </a:lnR>
                    <a:lnT w="12700" cap="flat" cmpd="sng" algn="ctr">
                      <a:solidFill>
                        <a:srgbClr val="D5DEE6"/>
                      </a:solidFill>
                      <a:prstDash val="solid"/>
                      <a:round/>
                      <a:headEnd type="none" w="med" len="med"/>
                      <a:tailEnd type="none" w="med" len="med"/>
                    </a:lnT>
                    <a:lnB w="12700"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700" dirty="0">
                          <a:solidFill>
                            <a:srgbClr val="1B2733"/>
                          </a:solidFill>
                          <a:latin typeface="Calibri" pitchFamily="34" charset="0"/>
                          <a:ea typeface="Calibri" pitchFamily="34" charset="-122"/>
                          <a:cs typeface="Calibri" pitchFamily="34" charset="-120"/>
                        </a:rPr>
                        <a:t>32</a:t>
                      </a:r>
                      <a:endParaRPr lang="en-US" sz="1700" dirty="0">
                        <a:latin typeface="Calibri" charset="0"/>
                        <a:ea typeface="Calibri" charset="0"/>
                        <a:cs typeface="Calibri" charset="0"/>
                      </a:endParaRPr>
                    </a:p>
                  </a:txBody>
                  <a:tcPr marL="91440" marR="91440" marT="45720" marB="45720" anchor="ctr">
                    <a:lnL w="12700" cap="flat" cmpd="sng" algn="ctr">
                      <a:solidFill>
                        <a:srgbClr val="D5DEE6"/>
                      </a:solidFill>
                      <a:prstDash val="solid"/>
                      <a:round/>
                      <a:headEnd type="none" w="med" len="med"/>
                      <a:tailEnd type="none" w="med" len="med"/>
                    </a:lnL>
                    <a:lnR w="12700" cap="flat" cmpd="sng" algn="ctr">
                      <a:solidFill>
                        <a:srgbClr val="D5DEE6"/>
                      </a:solidFill>
                      <a:prstDash val="solid"/>
                      <a:round/>
                      <a:headEnd type="none" w="med" len="med"/>
                      <a:tailEnd type="none" w="med" len="med"/>
                    </a:lnR>
                    <a:lnT w="12700" cap="flat" cmpd="sng" algn="ctr">
                      <a:solidFill>
                        <a:srgbClr val="D5DEE6"/>
                      </a:solidFill>
                      <a:prstDash val="solid"/>
                      <a:round/>
                      <a:headEnd type="none" w="med" len="med"/>
                      <a:tailEnd type="none" w="med" len="med"/>
                    </a:lnT>
                    <a:lnB w="12700"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700" dirty="0">
                          <a:solidFill>
                            <a:srgbClr val="1B2733"/>
                          </a:solidFill>
                          <a:latin typeface="Calibri" pitchFamily="34" charset="0"/>
                          <a:ea typeface="Calibri" pitchFamily="34" charset="-122"/>
                          <a:cs typeface="Calibri" pitchFamily="34" charset="-120"/>
                        </a:rPr>
                        <a:t>737</a:t>
                      </a:r>
                      <a:endParaRPr lang="en-US" sz="1700" dirty="0">
                        <a:latin typeface="Calibri" charset="0"/>
                        <a:ea typeface="Calibri" charset="0"/>
                        <a:cs typeface="Calibri" charset="0"/>
                      </a:endParaRPr>
                    </a:p>
                  </a:txBody>
                  <a:tcPr marL="91440" marR="91440" marT="45720" marB="45720" anchor="ctr">
                    <a:lnL w="12700" cap="flat" cmpd="sng" algn="ctr">
                      <a:solidFill>
                        <a:srgbClr val="D5DEE6"/>
                      </a:solidFill>
                      <a:prstDash val="solid"/>
                      <a:round/>
                      <a:headEnd type="none" w="med" len="med"/>
                      <a:tailEnd type="none" w="med" len="med"/>
                    </a:lnL>
                    <a:lnR w="12700" cap="flat" cmpd="sng" algn="ctr">
                      <a:solidFill>
                        <a:srgbClr val="D5DEE6"/>
                      </a:solidFill>
                      <a:prstDash val="solid"/>
                      <a:round/>
                      <a:headEnd type="none" w="med" len="med"/>
                      <a:tailEnd type="none" w="med" len="med"/>
                    </a:lnR>
                    <a:lnT w="12700" cap="flat" cmpd="sng" algn="ctr">
                      <a:solidFill>
                        <a:srgbClr val="D5DEE6"/>
                      </a:solidFill>
                      <a:prstDash val="solid"/>
                      <a:round/>
                      <a:headEnd type="none" w="med" len="med"/>
                      <a:tailEnd type="none" w="med" len="med"/>
                    </a:lnT>
                    <a:lnB w="12700"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700" dirty="0">
                          <a:solidFill>
                            <a:srgbClr val="1B2733"/>
                          </a:solidFill>
                          <a:latin typeface="Calibri" pitchFamily="34" charset="0"/>
                          <a:ea typeface="Calibri" pitchFamily="34" charset="-122"/>
                          <a:cs typeface="Calibri" pitchFamily="34" charset="-120"/>
                        </a:rPr>
                        <a:t>Held out; used once for final scoring</a:t>
                      </a:r>
                      <a:endParaRPr lang="en-US" sz="1700" dirty="0">
                        <a:latin typeface="Calibri" charset="0"/>
                        <a:ea typeface="Calibri" charset="0"/>
                        <a:cs typeface="Calibri" charset="0"/>
                      </a:endParaRPr>
                    </a:p>
                  </a:txBody>
                  <a:tcPr marL="91440" marR="91440" marT="45720" marB="45720" anchor="ctr">
                    <a:lnL w="12700" cap="flat" cmpd="sng" algn="ctr">
                      <a:solidFill>
                        <a:srgbClr val="D5DEE6"/>
                      </a:solidFill>
                      <a:prstDash val="solid"/>
                      <a:round/>
                      <a:headEnd type="none" w="med" len="med"/>
                      <a:tailEnd type="none" w="med" len="med"/>
                    </a:lnL>
                    <a:lnR w="12700" cap="flat" cmpd="sng" algn="ctr">
                      <a:solidFill>
                        <a:srgbClr val="D5DEE6"/>
                      </a:solidFill>
                      <a:prstDash val="solid"/>
                      <a:round/>
                      <a:headEnd type="none" w="med" len="med"/>
                      <a:tailEnd type="none" w="med" len="med"/>
                    </a:lnR>
                    <a:lnT w="12700" cap="flat" cmpd="sng" algn="ctr">
                      <a:solidFill>
                        <a:srgbClr val="D5DEE6"/>
                      </a:solidFill>
                      <a:prstDash val="solid"/>
                      <a:round/>
                      <a:headEnd type="none" w="med" len="med"/>
                      <a:tailEnd type="none" w="med" len="med"/>
                    </a:lnT>
                    <a:lnB w="12700" cap="flat" cmpd="sng" algn="ctr">
                      <a:solidFill>
                        <a:srgbClr val="D5DEE6"/>
                      </a:solidFill>
                      <a:prstDash val="solid"/>
                      <a:round/>
                      <a:headEnd type="none" w="med" len="med"/>
                      <a:tailEnd type="none" w="med" len="med"/>
                    </a:lnB>
                    <a:solidFill>
                      <a:srgbClr val="FFFFFF"/>
                    </a:solidFill>
                  </a:tcPr>
                </a:tc>
              </a:tr>
            </a:tbl>
          </a:graphicData>
        </a:graphic>
      </p:graphicFrame>
      <p:sp>
        <p:nvSpPr>
          <p:cNvPr id="8" name="Shape 5"/>
          <p:cNvSpPr/>
          <p:nvPr/>
        </p:nvSpPr>
        <p:spPr>
          <a:xfrm>
            <a:off x="548640" y="4206240"/>
            <a:ext cx="11064240" cy="1737360"/>
          </a:xfrm>
          <a:prstGeom prst="rect">
            <a:avLst/>
          </a:prstGeom>
          <a:solidFill>
            <a:srgbClr val="EEF4F8"/>
          </a:solidFill>
          <a:ln w="12700">
            <a:solidFill>
              <a:srgbClr val="EEF4F8"/>
            </a:solidFill>
            <a:prstDash val="solid"/>
          </a:ln>
        </p:spPr>
      </p:sp>
      <p:sp>
        <p:nvSpPr>
          <p:cNvPr id="9" name="Shape 6"/>
          <p:cNvSpPr/>
          <p:nvPr/>
        </p:nvSpPr>
        <p:spPr>
          <a:xfrm>
            <a:off x="548640" y="4206240"/>
            <a:ext cx="73152" cy="1737360"/>
          </a:xfrm>
          <a:prstGeom prst="rect">
            <a:avLst/>
          </a:prstGeom>
          <a:solidFill>
            <a:srgbClr val="13A89E"/>
          </a:solidFill>
          <a:ln w="12700">
            <a:solidFill>
              <a:srgbClr val="13A89E"/>
            </a:solidFill>
            <a:prstDash val="solid"/>
          </a:ln>
        </p:spPr>
      </p:sp>
      <p:sp>
        <p:nvSpPr>
          <p:cNvPr id="10" name="Text 7"/>
          <p:cNvSpPr/>
          <p:nvPr/>
        </p:nvSpPr>
        <p:spPr>
          <a:xfrm>
            <a:off x="777240" y="4315968"/>
            <a:ext cx="10698480" cy="411480"/>
          </a:xfrm>
          <a:prstGeom prst="rect">
            <a:avLst/>
          </a:prstGeom>
          <a:noFill/>
          <a:ln/>
        </p:spPr>
        <p:txBody>
          <a:bodyPr wrap="square" lIns="0" tIns="0" rIns="0" bIns="0" rtlCol="0" anchor="t"/>
          <a:lstStyle/>
          <a:p>
            <a:pPr indent="0" marL="0">
              <a:buNone/>
            </a:pPr>
            <a:r>
              <a:rPr lang="en-US" sz="1700" b="1" dirty="0">
                <a:solidFill>
                  <a:srgbClr val="0B2545"/>
                </a:solidFill>
                <a:latin typeface="Calibri" pitchFamily="34" charset="0"/>
                <a:ea typeface="Calibri" pitchFamily="34" charset="-122"/>
                <a:cs typeface="Calibri" pitchFamily="34" charset="-120"/>
              </a:rPr>
              <a:t>Why split by event, not by image?</a:t>
            </a:r>
            <a:endParaRPr lang="en-US" sz="1700" dirty="0"/>
          </a:p>
        </p:txBody>
      </p:sp>
      <p:sp>
        <p:nvSpPr>
          <p:cNvPr id="11" name="Text 8"/>
          <p:cNvSpPr/>
          <p:nvPr/>
        </p:nvSpPr>
        <p:spPr>
          <a:xfrm>
            <a:off x="777240" y="4754880"/>
            <a:ext cx="10698480" cy="1097280"/>
          </a:xfrm>
          <a:prstGeom prst="rect">
            <a:avLst/>
          </a:prstGeom>
          <a:noFill/>
          <a:ln/>
        </p:spPr>
        <p:txBody>
          <a:bodyPr wrap="square" lIns="0" tIns="0" rIns="0" bIns="0" rtlCol="0" anchor="t"/>
          <a:lstStyle/>
          <a:p>
            <a:pPr indent="0" marL="0">
              <a:buNone/>
            </a:pPr>
            <a:r>
              <a:rPr lang="en-US" sz="1400" dirty="0">
                <a:solidFill>
                  <a:srgbClr val="1B2733"/>
                </a:solidFill>
                <a:latin typeface="Calibri" pitchFamily="34" charset="0"/>
                <a:ea typeface="Calibri" pitchFamily="34" charset="-122"/>
                <a:cs typeface="Calibri" pitchFamily="34" charset="-120"/>
              </a:rPr>
              <a:t>Two images of the same flood look very similar. If one sits in training and the other in testing, the model can score well by recognising the scene rather than understanding floods. Grouping by event makes the test score an honest estimate of performance on a new flood.</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13A89E"/>
          </a:solidFill>
          <a:ln/>
        </p:spPr>
      </p:sp>
      <p:sp>
        <p:nvSpPr>
          <p:cNvPr id="3" name="Text 1"/>
          <p:cNvSpPr/>
          <p:nvPr/>
        </p:nvSpPr>
        <p:spPr>
          <a:xfrm>
            <a:off x="548640" y="320040"/>
            <a:ext cx="10972800" cy="640080"/>
          </a:xfrm>
          <a:prstGeom prst="rect">
            <a:avLst/>
          </a:prstGeom>
          <a:noFill/>
          <a:ln/>
        </p:spPr>
        <p:txBody>
          <a:bodyPr wrap="square" lIns="0" tIns="0" rIns="0" bIns="0" rtlCol="0" anchor="ctr"/>
          <a:lstStyle/>
          <a:p>
            <a:pPr indent="0" marL="0">
              <a:buNone/>
            </a:pPr>
            <a:r>
              <a:rPr lang="en-US" sz="3000" b="1" dirty="0">
                <a:solidFill>
                  <a:srgbClr val="0B2545"/>
                </a:solidFill>
                <a:latin typeface="Calibri" pitchFamily="34" charset="0"/>
                <a:ea typeface="Calibri" pitchFamily="34" charset="-122"/>
                <a:cs typeface="Calibri" pitchFamily="34" charset="-120"/>
              </a:rPr>
              <a:t>Training configuration &amp; environment</a:t>
            </a:r>
            <a:endParaRPr lang="en-US" sz="3000" dirty="0"/>
          </a:p>
        </p:txBody>
      </p:sp>
      <p:sp>
        <p:nvSpPr>
          <p:cNvPr id="4" name="Text 2"/>
          <p:cNvSpPr/>
          <p:nvPr/>
        </p:nvSpPr>
        <p:spPr>
          <a:xfrm>
            <a:off x="548640" y="932688"/>
            <a:ext cx="10972800" cy="365760"/>
          </a:xfrm>
          <a:prstGeom prst="rect">
            <a:avLst/>
          </a:prstGeom>
          <a:noFill/>
          <a:ln/>
        </p:spPr>
        <p:txBody>
          <a:bodyPr wrap="square" lIns="0" tIns="0" rIns="0" bIns="0" rtlCol="0" anchor="ctr"/>
          <a:lstStyle/>
          <a:p>
            <a:pPr indent="0" marL="0">
              <a:buNone/>
            </a:pPr>
            <a:r>
              <a:rPr lang="en-US" sz="1500" dirty="0">
                <a:solidFill>
                  <a:srgbClr val="5B6B7B"/>
                </a:solidFill>
                <a:latin typeface="Calibri" pitchFamily="34" charset="0"/>
                <a:ea typeface="Calibri" pitchFamily="34" charset="-122"/>
                <a:cs typeface="Calibri" pitchFamily="34" charset="-120"/>
              </a:rPr>
              <a:t>Full fine-tune on free-tier Google Colab (Tesla T4)</a:t>
            </a:r>
            <a:endParaRPr lang="en-US" sz="1500" dirty="0"/>
          </a:p>
        </p:txBody>
      </p:sp>
      <p:sp>
        <p:nvSpPr>
          <p:cNvPr id="5" name="Text 3"/>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Prithvi Flood-IN  |  CE 766 Integrated Design Project  |  Progress Review</a:t>
            </a:r>
            <a:endParaRPr lang="en-US" sz="1000" dirty="0"/>
          </a:p>
        </p:txBody>
      </p:sp>
      <p:sp>
        <p:nvSpPr>
          <p:cNvPr id="6" name="Text 4"/>
          <p:cNvSpPr/>
          <p:nvPr/>
        </p:nvSpPr>
        <p:spPr>
          <a:xfrm>
            <a:off x="11155680" y="6446520"/>
            <a:ext cx="548640" cy="274320"/>
          </a:xfrm>
          <a:prstGeom prst="rect">
            <a:avLst/>
          </a:prstGeom>
          <a:noFill/>
          <a:ln/>
        </p:spPr>
        <p:txBody>
          <a:bodyPr wrap="square" lIns="0" tIns="0" rIns="0" bIns="0" rtlCol="0" anchor="ctr"/>
          <a:lstStyle/>
          <a:p>
            <a:pPr algn="r" indent="0" marL="0">
              <a:buNone/>
            </a:pPr>
            <a:r>
              <a:rPr lang="en-US" sz="1000" dirty="0">
                <a:solidFill>
                  <a:srgbClr val="5B6B7B"/>
                </a:solidFill>
                <a:latin typeface="Calibri" pitchFamily="34" charset="0"/>
                <a:ea typeface="Calibri" pitchFamily="34" charset="-122"/>
                <a:cs typeface="Calibri" pitchFamily="34" charset="-120"/>
              </a:rPr>
              <a:t>9</a:t>
            </a:r>
            <a:endParaRPr lang="en-US" sz="1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6766560" cy="914400"/>
        </p:xfrm>
        <a:graphic>
          <a:graphicData uri="http://schemas.openxmlformats.org/drawingml/2006/table">
            <a:tbl>
              <a:tblPr/>
              <a:tblGrid>
                <a:gridCol w="2194560"/>
                <a:gridCol w="4572000"/>
              </a:tblGrid>
              <a:tr h="502920">
                <a:tc>
                  <a:txBody>
                    <a:bodyPr/>
                    <a:lstStyle/>
                    <a:p>
                      <a:pPr indent="0" marL="0">
                        <a:buNone/>
                      </a:pPr>
                      <a:r>
                        <a:rPr lang="en-US" sz="1400" b="1" dirty="0">
                          <a:solidFill>
                            <a:srgbClr val="0B2545"/>
                          </a:solidFill>
                          <a:latin typeface="Calibri" pitchFamily="34" charset="0"/>
                          <a:ea typeface="Calibri" pitchFamily="34" charset="-122"/>
                          <a:cs typeface="Calibri" pitchFamily="34" charset="-120"/>
                        </a:rPr>
                        <a:t>Loss</a:t>
                      </a:r>
                      <a:endParaRPr lang="en-US" sz="1400" dirty="0">
                        <a:latin typeface="Calibri" charset="0"/>
                        <a:ea typeface="Calibri" charset="0"/>
                        <a:cs typeface="Calibri" charset="0"/>
                      </a:endParaRPr>
                    </a:p>
                  </a:txBody>
                  <a:tcPr marL="91440" marR="91440" marT="45720" marB="45720" anchor="ctr">
                    <a:lnL w="12700" cap="flat" cmpd="sng" algn="ctr">
                      <a:solidFill>
                        <a:srgbClr val="D5DEE6"/>
                      </a:solidFill>
                      <a:prstDash val="solid"/>
                      <a:round/>
                      <a:headEnd type="none" w="med" len="med"/>
                      <a:tailEnd type="none" w="med" len="med"/>
                    </a:lnL>
                    <a:lnR w="12700" cap="flat" cmpd="sng" algn="ctr">
                      <a:solidFill>
                        <a:srgbClr val="D5DEE6"/>
                      </a:solidFill>
                      <a:prstDash val="solid"/>
                      <a:round/>
                      <a:headEnd type="none" w="med" len="med"/>
                      <a:tailEnd type="none" w="med" len="med"/>
                    </a:lnR>
                    <a:lnT w="12700" cap="flat" cmpd="sng" algn="ctr">
                      <a:solidFill>
                        <a:srgbClr val="D5DEE6"/>
                      </a:solidFill>
                      <a:prstDash val="solid"/>
                      <a:round/>
                      <a:headEnd type="none" w="med" len="med"/>
                      <a:tailEnd type="none" w="med" len="med"/>
                    </a:lnT>
                    <a:lnB w="12700" cap="flat" cmpd="sng" algn="ctr">
                      <a:solidFill>
                        <a:srgbClr val="D5DEE6"/>
                      </a:solidFill>
                      <a:prstDash val="solid"/>
                      <a:round/>
                      <a:headEnd type="none" w="med" len="med"/>
                      <a:tailEnd type="none" w="med" len="med"/>
                    </a:lnB>
                    <a:solidFill>
                      <a:srgbClr val="EEF4F8"/>
                    </a:solidFill>
                  </a:tcPr>
                </a:tc>
                <a:tc>
                  <a:txBody>
                    <a:bodyPr/>
                    <a:lstStyle/>
                    <a:p>
                      <a:pPr indent="0" marL="0">
                        <a:buNone/>
                      </a:pPr>
                      <a:r>
                        <a:rPr lang="en-US" sz="1400" dirty="0">
                          <a:solidFill>
                            <a:srgbClr val="1B2733"/>
                          </a:solidFill>
                          <a:latin typeface="Calibri" pitchFamily="34" charset="0"/>
                          <a:ea typeface="Calibri" pitchFamily="34" charset="-122"/>
                          <a:cs typeface="Calibri" pitchFamily="34" charset="-120"/>
                        </a:rPr>
                        <a:t>Cross-entropy, ignore_index = −1</a:t>
                      </a:r>
                      <a:endParaRPr lang="en-US" sz="1400" dirty="0">
                        <a:latin typeface="Calibri" charset="0"/>
                        <a:ea typeface="Calibri" charset="0"/>
                        <a:cs typeface="Calibri" charset="0"/>
                      </a:endParaRPr>
                    </a:p>
                  </a:txBody>
                  <a:tcPr marL="91440" marR="91440" marT="45720" marB="45720" anchor="ctr">
                    <a:lnL w="12700" cap="flat" cmpd="sng" algn="ctr">
                      <a:solidFill>
                        <a:srgbClr val="D5DEE6"/>
                      </a:solidFill>
                      <a:prstDash val="solid"/>
                      <a:round/>
                      <a:headEnd type="none" w="med" len="med"/>
                      <a:tailEnd type="none" w="med" len="med"/>
                    </a:lnL>
                    <a:lnR w="12700" cap="flat" cmpd="sng" algn="ctr">
                      <a:solidFill>
                        <a:srgbClr val="D5DEE6"/>
                      </a:solidFill>
                      <a:prstDash val="solid"/>
                      <a:round/>
                      <a:headEnd type="none" w="med" len="med"/>
                      <a:tailEnd type="none" w="med" len="med"/>
                    </a:lnR>
                    <a:lnT w="12700" cap="flat" cmpd="sng" algn="ctr">
                      <a:solidFill>
                        <a:srgbClr val="D5DEE6"/>
                      </a:solidFill>
                      <a:prstDash val="solid"/>
                      <a:round/>
                      <a:headEnd type="none" w="med" len="med"/>
                      <a:tailEnd type="none" w="med" len="med"/>
                    </a:lnT>
                    <a:lnB w="12700" cap="flat" cmpd="sng" algn="ctr">
                      <a:solidFill>
                        <a:srgbClr val="D5DEE6"/>
                      </a:solidFill>
                      <a:prstDash val="solid"/>
                      <a:round/>
                      <a:headEnd type="none" w="med" len="med"/>
                      <a:tailEnd type="none" w="med" len="med"/>
                    </a:lnB>
                  </a:tcPr>
                </a:tc>
              </a:tr>
              <a:tr h="502920">
                <a:tc>
                  <a:txBody>
                    <a:bodyPr/>
                    <a:lstStyle/>
                    <a:p>
                      <a:pPr indent="0" marL="0">
                        <a:buNone/>
                      </a:pPr>
                      <a:r>
                        <a:rPr lang="en-US" sz="1400" b="1" dirty="0">
                          <a:solidFill>
                            <a:srgbClr val="0B2545"/>
                          </a:solidFill>
                          <a:latin typeface="Calibri" pitchFamily="34" charset="0"/>
                          <a:ea typeface="Calibri" pitchFamily="34" charset="-122"/>
                          <a:cs typeface="Calibri" pitchFamily="34" charset="-120"/>
                        </a:rPr>
                        <a:t>Optimizer</a:t>
                      </a:r>
                      <a:endParaRPr lang="en-US" sz="1400" dirty="0">
                        <a:latin typeface="Calibri" charset="0"/>
                        <a:ea typeface="Calibri" charset="0"/>
                        <a:cs typeface="Calibri" charset="0"/>
                      </a:endParaRPr>
                    </a:p>
                  </a:txBody>
                  <a:tcPr marL="91440" marR="91440" marT="45720" marB="45720" anchor="ctr">
                    <a:lnL w="12700" cap="flat" cmpd="sng" algn="ctr">
                      <a:solidFill>
                        <a:srgbClr val="D5DEE6"/>
                      </a:solidFill>
                      <a:prstDash val="solid"/>
                      <a:round/>
                      <a:headEnd type="none" w="med" len="med"/>
                      <a:tailEnd type="none" w="med" len="med"/>
                    </a:lnL>
                    <a:lnR w="12700" cap="flat" cmpd="sng" algn="ctr">
                      <a:solidFill>
                        <a:srgbClr val="D5DEE6"/>
                      </a:solidFill>
                      <a:prstDash val="solid"/>
                      <a:round/>
                      <a:headEnd type="none" w="med" len="med"/>
                      <a:tailEnd type="none" w="med" len="med"/>
                    </a:lnR>
                    <a:lnT w="12700" cap="flat" cmpd="sng" algn="ctr">
                      <a:solidFill>
                        <a:srgbClr val="D5DEE6"/>
                      </a:solidFill>
                      <a:prstDash val="solid"/>
                      <a:round/>
                      <a:headEnd type="none" w="med" len="med"/>
                      <a:tailEnd type="none" w="med" len="med"/>
                    </a:lnT>
                    <a:lnB w="12700" cap="flat" cmpd="sng" algn="ctr">
                      <a:solidFill>
                        <a:srgbClr val="D5DEE6"/>
                      </a:solidFill>
                      <a:prstDash val="solid"/>
                      <a:round/>
                      <a:headEnd type="none" w="med" len="med"/>
                      <a:tailEnd type="none" w="med" len="med"/>
                    </a:lnB>
                    <a:solidFill>
                      <a:srgbClr val="EEF4F8"/>
                    </a:solidFill>
                  </a:tcPr>
                </a:tc>
                <a:tc>
                  <a:txBody>
                    <a:bodyPr/>
                    <a:lstStyle/>
                    <a:p>
                      <a:pPr indent="0" marL="0">
                        <a:buNone/>
                      </a:pPr>
                      <a:r>
                        <a:rPr lang="en-US" sz="1400" dirty="0">
                          <a:solidFill>
                            <a:srgbClr val="1B2733"/>
                          </a:solidFill>
                          <a:latin typeface="Calibri" pitchFamily="34" charset="0"/>
                          <a:ea typeface="Calibri" pitchFamily="34" charset="-122"/>
                          <a:cs typeface="Calibri" pitchFamily="34" charset="-120"/>
                        </a:rPr>
                        <a:t>AdamW, LR 5×10⁻⁵, weight decay 0.05</a:t>
                      </a:r>
                      <a:endParaRPr lang="en-US" sz="1400" dirty="0">
                        <a:latin typeface="Calibri" charset="0"/>
                        <a:ea typeface="Calibri" charset="0"/>
                        <a:cs typeface="Calibri" charset="0"/>
                      </a:endParaRPr>
                    </a:p>
                  </a:txBody>
                  <a:tcPr marL="91440" marR="91440" marT="45720" marB="45720" anchor="ctr">
                    <a:lnL w="12700" cap="flat" cmpd="sng" algn="ctr">
                      <a:solidFill>
                        <a:srgbClr val="D5DEE6"/>
                      </a:solidFill>
                      <a:prstDash val="solid"/>
                      <a:round/>
                      <a:headEnd type="none" w="med" len="med"/>
                      <a:tailEnd type="none" w="med" len="med"/>
                    </a:lnL>
                    <a:lnR w="12700" cap="flat" cmpd="sng" algn="ctr">
                      <a:solidFill>
                        <a:srgbClr val="D5DEE6"/>
                      </a:solidFill>
                      <a:prstDash val="solid"/>
                      <a:round/>
                      <a:headEnd type="none" w="med" len="med"/>
                      <a:tailEnd type="none" w="med" len="med"/>
                    </a:lnR>
                    <a:lnT w="12700" cap="flat" cmpd="sng" algn="ctr">
                      <a:solidFill>
                        <a:srgbClr val="D5DEE6"/>
                      </a:solidFill>
                      <a:prstDash val="solid"/>
                      <a:round/>
                      <a:headEnd type="none" w="med" len="med"/>
                      <a:tailEnd type="none" w="med" len="med"/>
                    </a:lnT>
                    <a:lnB w="12700" cap="flat" cmpd="sng" algn="ctr">
                      <a:solidFill>
                        <a:srgbClr val="D5DEE6"/>
                      </a:solidFill>
                      <a:prstDash val="solid"/>
                      <a:round/>
                      <a:headEnd type="none" w="med" len="med"/>
                      <a:tailEnd type="none" w="med" len="med"/>
                    </a:lnB>
                  </a:tcPr>
                </a:tc>
              </a:tr>
              <a:tr h="502920">
                <a:tc>
                  <a:txBody>
                    <a:bodyPr/>
                    <a:lstStyle/>
                    <a:p>
                      <a:pPr indent="0" marL="0">
                        <a:buNone/>
                      </a:pPr>
                      <a:r>
                        <a:rPr lang="en-US" sz="1400" b="1" dirty="0">
                          <a:solidFill>
                            <a:srgbClr val="0B2545"/>
                          </a:solidFill>
                          <a:latin typeface="Calibri" pitchFamily="34" charset="0"/>
                          <a:ea typeface="Calibri" pitchFamily="34" charset="-122"/>
                          <a:cs typeface="Calibri" pitchFamily="34" charset="-120"/>
                        </a:rPr>
                        <a:t>Scheduler</a:t>
                      </a:r>
                      <a:endParaRPr lang="en-US" sz="1400" dirty="0">
                        <a:latin typeface="Calibri" charset="0"/>
                        <a:ea typeface="Calibri" charset="0"/>
                        <a:cs typeface="Calibri" charset="0"/>
                      </a:endParaRPr>
                    </a:p>
                  </a:txBody>
                  <a:tcPr marL="91440" marR="91440" marT="45720" marB="45720" anchor="ctr">
                    <a:lnL w="12700" cap="flat" cmpd="sng" algn="ctr">
                      <a:solidFill>
                        <a:srgbClr val="D5DEE6"/>
                      </a:solidFill>
                      <a:prstDash val="solid"/>
                      <a:round/>
                      <a:headEnd type="none" w="med" len="med"/>
                      <a:tailEnd type="none" w="med" len="med"/>
                    </a:lnL>
                    <a:lnR w="12700" cap="flat" cmpd="sng" algn="ctr">
                      <a:solidFill>
                        <a:srgbClr val="D5DEE6"/>
                      </a:solidFill>
                      <a:prstDash val="solid"/>
                      <a:round/>
                      <a:headEnd type="none" w="med" len="med"/>
                      <a:tailEnd type="none" w="med" len="med"/>
                    </a:lnR>
                    <a:lnT w="12700" cap="flat" cmpd="sng" algn="ctr">
                      <a:solidFill>
                        <a:srgbClr val="D5DEE6"/>
                      </a:solidFill>
                      <a:prstDash val="solid"/>
                      <a:round/>
                      <a:headEnd type="none" w="med" len="med"/>
                      <a:tailEnd type="none" w="med" len="med"/>
                    </a:lnT>
                    <a:lnB w="12700" cap="flat" cmpd="sng" algn="ctr">
                      <a:solidFill>
                        <a:srgbClr val="D5DEE6"/>
                      </a:solidFill>
                      <a:prstDash val="solid"/>
                      <a:round/>
                      <a:headEnd type="none" w="med" len="med"/>
                      <a:tailEnd type="none" w="med" len="med"/>
                    </a:lnB>
                    <a:solidFill>
                      <a:srgbClr val="EEF4F8"/>
                    </a:solidFill>
                  </a:tcPr>
                </a:tc>
                <a:tc>
                  <a:txBody>
                    <a:bodyPr/>
                    <a:lstStyle/>
                    <a:p>
                      <a:pPr indent="0" marL="0">
                        <a:buNone/>
                      </a:pPr>
                      <a:r>
                        <a:rPr lang="en-US" sz="1400" dirty="0">
                          <a:solidFill>
                            <a:srgbClr val="1B2733"/>
                          </a:solidFill>
                          <a:latin typeface="Calibri" pitchFamily="34" charset="0"/>
                          <a:ea typeface="Calibri" pitchFamily="34" charset="-122"/>
                          <a:cs typeface="Calibri" pitchFamily="34" charset="-120"/>
                        </a:rPr>
                        <a:t>Cosine annealing</a:t>
                      </a:r>
                      <a:endParaRPr lang="en-US" sz="1400" dirty="0">
                        <a:latin typeface="Calibri" charset="0"/>
                        <a:ea typeface="Calibri" charset="0"/>
                        <a:cs typeface="Calibri" charset="0"/>
                      </a:endParaRPr>
                    </a:p>
                  </a:txBody>
                  <a:tcPr marL="91440" marR="91440" marT="45720" marB="45720" anchor="ctr">
                    <a:lnL w="12700" cap="flat" cmpd="sng" algn="ctr">
                      <a:solidFill>
                        <a:srgbClr val="D5DEE6"/>
                      </a:solidFill>
                      <a:prstDash val="solid"/>
                      <a:round/>
                      <a:headEnd type="none" w="med" len="med"/>
                      <a:tailEnd type="none" w="med" len="med"/>
                    </a:lnL>
                    <a:lnR w="12700" cap="flat" cmpd="sng" algn="ctr">
                      <a:solidFill>
                        <a:srgbClr val="D5DEE6"/>
                      </a:solidFill>
                      <a:prstDash val="solid"/>
                      <a:round/>
                      <a:headEnd type="none" w="med" len="med"/>
                      <a:tailEnd type="none" w="med" len="med"/>
                    </a:lnR>
                    <a:lnT w="12700" cap="flat" cmpd="sng" algn="ctr">
                      <a:solidFill>
                        <a:srgbClr val="D5DEE6"/>
                      </a:solidFill>
                      <a:prstDash val="solid"/>
                      <a:round/>
                      <a:headEnd type="none" w="med" len="med"/>
                      <a:tailEnd type="none" w="med" len="med"/>
                    </a:lnT>
                    <a:lnB w="12700" cap="flat" cmpd="sng" algn="ctr">
                      <a:solidFill>
                        <a:srgbClr val="D5DEE6"/>
                      </a:solidFill>
                      <a:prstDash val="solid"/>
                      <a:round/>
                      <a:headEnd type="none" w="med" len="med"/>
                      <a:tailEnd type="none" w="med" len="med"/>
                    </a:lnB>
                  </a:tcPr>
                </a:tc>
              </a:tr>
              <a:tr h="502920">
                <a:tc>
                  <a:txBody>
                    <a:bodyPr/>
                    <a:lstStyle/>
                    <a:p>
                      <a:pPr indent="0" marL="0">
                        <a:buNone/>
                      </a:pPr>
                      <a:r>
                        <a:rPr lang="en-US" sz="1400" b="1" dirty="0">
                          <a:solidFill>
                            <a:srgbClr val="0B2545"/>
                          </a:solidFill>
                          <a:latin typeface="Calibri" pitchFamily="34" charset="0"/>
                          <a:ea typeface="Calibri" pitchFamily="34" charset="-122"/>
                          <a:cs typeface="Calibri" pitchFamily="34" charset="-120"/>
                        </a:rPr>
                        <a:t>Backbone / decoder</a:t>
                      </a:r>
                      <a:endParaRPr lang="en-US" sz="1400" dirty="0">
                        <a:latin typeface="Calibri" charset="0"/>
                        <a:ea typeface="Calibri" charset="0"/>
                        <a:cs typeface="Calibri" charset="0"/>
                      </a:endParaRPr>
                    </a:p>
                  </a:txBody>
                  <a:tcPr marL="91440" marR="91440" marT="45720" marB="45720" anchor="ctr">
                    <a:lnL w="12700" cap="flat" cmpd="sng" algn="ctr">
                      <a:solidFill>
                        <a:srgbClr val="D5DEE6"/>
                      </a:solidFill>
                      <a:prstDash val="solid"/>
                      <a:round/>
                      <a:headEnd type="none" w="med" len="med"/>
                      <a:tailEnd type="none" w="med" len="med"/>
                    </a:lnL>
                    <a:lnR w="12700" cap="flat" cmpd="sng" algn="ctr">
                      <a:solidFill>
                        <a:srgbClr val="D5DEE6"/>
                      </a:solidFill>
                      <a:prstDash val="solid"/>
                      <a:round/>
                      <a:headEnd type="none" w="med" len="med"/>
                      <a:tailEnd type="none" w="med" len="med"/>
                    </a:lnR>
                    <a:lnT w="12700" cap="flat" cmpd="sng" algn="ctr">
                      <a:solidFill>
                        <a:srgbClr val="D5DEE6"/>
                      </a:solidFill>
                      <a:prstDash val="solid"/>
                      <a:round/>
                      <a:headEnd type="none" w="med" len="med"/>
                      <a:tailEnd type="none" w="med" len="med"/>
                    </a:lnT>
                    <a:lnB w="12700" cap="flat" cmpd="sng" algn="ctr">
                      <a:solidFill>
                        <a:srgbClr val="D5DEE6"/>
                      </a:solidFill>
                      <a:prstDash val="solid"/>
                      <a:round/>
                      <a:headEnd type="none" w="med" len="med"/>
                      <a:tailEnd type="none" w="med" len="med"/>
                    </a:lnB>
                    <a:solidFill>
                      <a:srgbClr val="EEF4F8"/>
                    </a:solidFill>
                  </a:tcPr>
                </a:tc>
                <a:tc>
                  <a:txBody>
                    <a:bodyPr/>
                    <a:lstStyle/>
                    <a:p>
                      <a:pPr indent="0" marL="0">
                        <a:buNone/>
                      </a:pPr>
                      <a:r>
                        <a:rPr lang="en-US" sz="1400" dirty="0">
                          <a:solidFill>
                            <a:srgbClr val="1B2733"/>
                          </a:solidFill>
                          <a:latin typeface="Calibri" pitchFamily="34" charset="0"/>
                          <a:ea typeface="Calibri" pitchFamily="34" charset="-122"/>
                          <a:cs typeface="Calibri" pitchFamily="34" charset="-120"/>
                        </a:rPr>
                        <a:t>Both unfrozen (full fine-tune)</a:t>
                      </a:r>
                      <a:endParaRPr lang="en-US" sz="1400" dirty="0">
                        <a:latin typeface="Calibri" charset="0"/>
                        <a:ea typeface="Calibri" charset="0"/>
                        <a:cs typeface="Calibri" charset="0"/>
                      </a:endParaRPr>
                    </a:p>
                  </a:txBody>
                  <a:tcPr marL="91440" marR="91440" marT="45720" marB="45720" anchor="ctr">
                    <a:lnL w="12700" cap="flat" cmpd="sng" algn="ctr">
                      <a:solidFill>
                        <a:srgbClr val="D5DEE6"/>
                      </a:solidFill>
                      <a:prstDash val="solid"/>
                      <a:round/>
                      <a:headEnd type="none" w="med" len="med"/>
                      <a:tailEnd type="none" w="med" len="med"/>
                    </a:lnL>
                    <a:lnR w="12700" cap="flat" cmpd="sng" algn="ctr">
                      <a:solidFill>
                        <a:srgbClr val="D5DEE6"/>
                      </a:solidFill>
                      <a:prstDash val="solid"/>
                      <a:round/>
                      <a:headEnd type="none" w="med" len="med"/>
                      <a:tailEnd type="none" w="med" len="med"/>
                    </a:lnR>
                    <a:lnT w="12700" cap="flat" cmpd="sng" algn="ctr">
                      <a:solidFill>
                        <a:srgbClr val="D5DEE6"/>
                      </a:solidFill>
                      <a:prstDash val="solid"/>
                      <a:round/>
                      <a:headEnd type="none" w="med" len="med"/>
                      <a:tailEnd type="none" w="med" len="med"/>
                    </a:lnT>
                    <a:lnB w="12700" cap="flat" cmpd="sng" algn="ctr">
                      <a:solidFill>
                        <a:srgbClr val="D5DEE6"/>
                      </a:solidFill>
                      <a:prstDash val="solid"/>
                      <a:round/>
                      <a:headEnd type="none" w="med" len="med"/>
                      <a:tailEnd type="none" w="med" len="med"/>
                    </a:lnB>
                  </a:tcPr>
                </a:tc>
              </a:tr>
              <a:tr h="502920">
                <a:tc>
                  <a:txBody>
                    <a:bodyPr/>
                    <a:lstStyle/>
                    <a:p>
                      <a:pPr indent="0" marL="0">
                        <a:buNone/>
                      </a:pPr>
                      <a:r>
                        <a:rPr lang="en-US" sz="1400" b="1" dirty="0">
                          <a:solidFill>
                            <a:srgbClr val="0B2545"/>
                          </a:solidFill>
                          <a:latin typeface="Calibri" pitchFamily="34" charset="0"/>
                          <a:ea typeface="Calibri" pitchFamily="34" charset="-122"/>
                          <a:cs typeface="Calibri" pitchFamily="34" charset="-120"/>
                        </a:rPr>
                        <a:t>Batch · crop</a:t>
                      </a:r>
                      <a:endParaRPr lang="en-US" sz="1400" dirty="0">
                        <a:latin typeface="Calibri" charset="0"/>
                        <a:ea typeface="Calibri" charset="0"/>
                        <a:cs typeface="Calibri" charset="0"/>
                      </a:endParaRPr>
                    </a:p>
                  </a:txBody>
                  <a:tcPr marL="91440" marR="91440" marT="45720" marB="45720" anchor="ctr">
                    <a:lnL w="12700" cap="flat" cmpd="sng" algn="ctr">
                      <a:solidFill>
                        <a:srgbClr val="D5DEE6"/>
                      </a:solidFill>
                      <a:prstDash val="solid"/>
                      <a:round/>
                      <a:headEnd type="none" w="med" len="med"/>
                      <a:tailEnd type="none" w="med" len="med"/>
                    </a:lnL>
                    <a:lnR w="12700" cap="flat" cmpd="sng" algn="ctr">
                      <a:solidFill>
                        <a:srgbClr val="D5DEE6"/>
                      </a:solidFill>
                      <a:prstDash val="solid"/>
                      <a:round/>
                      <a:headEnd type="none" w="med" len="med"/>
                      <a:tailEnd type="none" w="med" len="med"/>
                    </a:lnR>
                    <a:lnT w="12700" cap="flat" cmpd="sng" algn="ctr">
                      <a:solidFill>
                        <a:srgbClr val="D5DEE6"/>
                      </a:solidFill>
                      <a:prstDash val="solid"/>
                      <a:round/>
                      <a:headEnd type="none" w="med" len="med"/>
                      <a:tailEnd type="none" w="med" len="med"/>
                    </a:lnT>
                    <a:lnB w="12700" cap="flat" cmpd="sng" algn="ctr">
                      <a:solidFill>
                        <a:srgbClr val="D5DEE6"/>
                      </a:solidFill>
                      <a:prstDash val="solid"/>
                      <a:round/>
                      <a:headEnd type="none" w="med" len="med"/>
                      <a:tailEnd type="none" w="med" len="med"/>
                    </a:lnB>
                    <a:solidFill>
                      <a:srgbClr val="EEF4F8"/>
                    </a:solidFill>
                  </a:tcPr>
                </a:tc>
                <a:tc>
                  <a:txBody>
                    <a:bodyPr/>
                    <a:lstStyle/>
                    <a:p>
                      <a:pPr indent="0" marL="0">
                        <a:buNone/>
                      </a:pPr>
                      <a:r>
                        <a:rPr lang="en-US" sz="1400" dirty="0">
                          <a:solidFill>
                            <a:srgbClr val="1B2733"/>
                          </a:solidFill>
                          <a:latin typeface="Calibri" pitchFamily="34" charset="0"/>
                          <a:ea typeface="Calibri" pitchFamily="34" charset="-122"/>
                          <a:cs typeface="Calibri" pitchFamily="34" charset="-120"/>
                        </a:rPr>
                        <a:t>8 · random 224×224 crop from 512×512 chip</a:t>
                      </a:r>
                      <a:endParaRPr lang="en-US" sz="1400" dirty="0">
                        <a:latin typeface="Calibri" charset="0"/>
                        <a:ea typeface="Calibri" charset="0"/>
                        <a:cs typeface="Calibri" charset="0"/>
                      </a:endParaRPr>
                    </a:p>
                  </a:txBody>
                  <a:tcPr marL="91440" marR="91440" marT="45720" marB="45720" anchor="ctr">
                    <a:lnL w="12700" cap="flat" cmpd="sng" algn="ctr">
                      <a:solidFill>
                        <a:srgbClr val="D5DEE6"/>
                      </a:solidFill>
                      <a:prstDash val="solid"/>
                      <a:round/>
                      <a:headEnd type="none" w="med" len="med"/>
                      <a:tailEnd type="none" w="med" len="med"/>
                    </a:lnL>
                    <a:lnR w="12700" cap="flat" cmpd="sng" algn="ctr">
                      <a:solidFill>
                        <a:srgbClr val="D5DEE6"/>
                      </a:solidFill>
                      <a:prstDash val="solid"/>
                      <a:round/>
                      <a:headEnd type="none" w="med" len="med"/>
                      <a:tailEnd type="none" w="med" len="med"/>
                    </a:lnR>
                    <a:lnT w="12700" cap="flat" cmpd="sng" algn="ctr">
                      <a:solidFill>
                        <a:srgbClr val="D5DEE6"/>
                      </a:solidFill>
                      <a:prstDash val="solid"/>
                      <a:round/>
                      <a:headEnd type="none" w="med" len="med"/>
                      <a:tailEnd type="none" w="med" len="med"/>
                    </a:lnT>
                    <a:lnB w="12700" cap="flat" cmpd="sng" algn="ctr">
                      <a:solidFill>
                        <a:srgbClr val="D5DEE6"/>
                      </a:solidFill>
                      <a:prstDash val="solid"/>
                      <a:round/>
                      <a:headEnd type="none" w="med" len="med"/>
                      <a:tailEnd type="none" w="med" len="med"/>
                    </a:lnB>
                  </a:tcPr>
                </a:tc>
              </a:tr>
              <a:tr h="502920">
                <a:tc>
                  <a:txBody>
                    <a:bodyPr/>
                    <a:lstStyle/>
                    <a:p>
                      <a:pPr indent="0" marL="0">
                        <a:buNone/>
                      </a:pPr>
                      <a:r>
                        <a:rPr lang="en-US" sz="1400" b="1" dirty="0">
                          <a:solidFill>
                            <a:srgbClr val="0B2545"/>
                          </a:solidFill>
                          <a:latin typeface="Calibri" pitchFamily="34" charset="0"/>
                          <a:ea typeface="Calibri" pitchFamily="34" charset="-122"/>
                          <a:cs typeface="Calibri" pitchFamily="34" charset="-120"/>
                        </a:rPr>
                        <a:t>Precision</a:t>
                      </a:r>
                      <a:endParaRPr lang="en-US" sz="1400" dirty="0">
                        <a:latin typeface="Calibri" charset="0"/>
                        <a:ea typeface="Calibri" charset="0"/>
                        <a:cs typeface="Calibri" charset="0"/>
                      </a:endParaRPr>
                    </a:p>
                  </a:txBody>
                  <a:tcPr marL="91440" marR="91440" marT="45720" marB="45720" anchor="ctr">
                    <a:lnL w="12700" cap="flat" cmpd="sng" algn="ctr">
                      <a:solidFill>
                        <a:srgbClr val="D5DEE6"/>
                      </a:solidFill>
                      <a:prstDash val="solid"/>
                      <a:round/>
                      <a:headEnd type="none" w="med" len="med"/>
                      <a:tailEnd type="none" w="med" len="med"/>
                    </a:lnL>
                    <a:lnR w="12700" cap="flat" cmpd="sng" algn="ctr">
                      <a:solidFill>
                        <a:srgbClr val="D5DEE6"/>
                      </a:solidFill>
                      <a:prstDash val="solid"/>
                      <a:round/>
                      <a:headEnd type="none" w="med" len="med"/>
                      <a:tailEnd type="none" w="med" len="med"/>
                    </a:lnR>
                    <a:lnT w="12700" cap="flat" cmpd="sng" algn="ctr">
                      <a:solidFill>
                        <a:srgbClr val="D5DEE6"/>
                      </a:solidFill>
                      <a:prstDash val="solid"/>
                      <a:round/>
                      <a:headEnd type="none" w="med" len="med"/>
                      <a:tailEnd type="none" w="med" len="med"/>
                    </a:lnT>
                    <a:lnB w="12700" cap="flat" cmpd="sng" algn="ctr">
                      <a:solidFill>
                        <a:srgbClr val="D5DEE6"/>
                      </a:solidFill>
                      <a:prstDash val="solid"/>
                      <a:round/>
                      <a:headEnd type="none" w="med" len="med"/>
                      <a:tailEnd type="none" w="med" len="med"/>
                    </a:lnB>
                    <a:solidFill>
                      <a:srgbClr val="EEF4F8"/>
                    </a:solidFill>
                  </a:tcPr>
                </a:tc>
                <a:tc>
                  <a:txBody>
                    <a:bodyPr/>
                    <a:lstStyle/>
                    <a:p>
                      <a:pPr indent="0" marL="0">
                        <a:buNone/>
                      </a:pPr>
                      <a:r>
                        <a:rPr lang="en-US" sz="1400" dirty="0">
                          <a:solidFill>
                            <a:srgbClr val="1B2733"/>
                          </a:solidFill>
                          <a:latin typeface="Calibri" pitchFamily="34" charset="0"/>
                          <a:ea typeface="Calibri" pitchFamily="34" charset="-122"/>
                          <a:cs typeface="Calibri" pitchFamily="34" charset="-120"/>
                        </a:rPr>
                        <a:t>16-bit mixed</a:t>
                      </a:r>
                      <a:endParaRPr lang="en-US" sz="1400" dirty="0">
                        <a:latin typeface="Calibri" charset="0"/>
                        <a:ea typeface="Calibri" charset="0"/>
                        <a:cs typeface="Calibri" charset="0"/>
                      </a:endParaRPr>
                    </a:p>
                  </a:txBody>
                  <a:tcPr marL="91440" marR="91440" marT="45720" marB="45720" anchor="ctr">
                    <a:lnL w="12700" cap="flat" cmpd="sng" algn="ctr">
                      <a:solidFill>
                        <a:srgbClr val="D5DEE6"/>
                      </a:solidFill>
                      <a:prstDash val="solid"/>
                      <a:round/>
                      <a:headEnd type="none" w="med" len="med"/>
                      <a:tailEnd type="none" w="med" len="med"/>
                    </a:lnL>
                    <a:lnR w="12700" cap="flat" cmpd="sng" algn="ctr">
                      <a:solidFill>
                        <a:srgbClr val="D5DEE6"/>
                      </a:solidFill>
                      <a:prstDash val="solid"/>
                      <a:round/>
                      <a:headEnd type="none" w="med" len="med"/>
                      <a:tailEnd type="none" w="med" len="med"/>
                    </a:lnR>
                    <a:lnT w="12700" cap="flat" cmpd="sng" algn="ctr">
                      <a:solidFill>
                        <a:srgbClr val="D5DEE6"/>
                      </a:solidFill>
                      <a:prstDash val="solid"/>
                      <a:round/>
                      <a:headEnd type="none" w="med" len="med"/>
                      <a:tailEnd type="none" w="med" len="med"/>
                    </a:lnT>
                    <a:lnB w="12700" cap="flat" cmpd="sng" algn="ctr">
                      <a:solidFill>
                        <a:srgbClr val="D5DEE6"/>
                      </a:solidFill>
                      <a:prstDash val="solid"/>
                      <a:round/>
                      <a:headEnd type="none" w="med" len="med"/>
                      <a:tailEnd type="none" w="med" len="med"/>
                    </a:lnB>
                  </a:tcPr>
                </a:tc>
              </a:tr>
              <a:tr h="502920">
                <a:tc>
                  <a:txBody>
                    <a:bodyPr/>
                    <a:lstStyle/>
                    <a:p>
                      <a:pPr indent="0" marL="0">
                        <a:buNone/>
                      </a:pPr>
                      <a:r>
                        <a:rPr lang="en-US" sz="1400" b="1" dirty="0">
                          <a:solidFill>
                            <a:srgbClr val="0B2545"/>
                          </a:solidFill>
                          <a:latin typeface="Calibri" pitchFamily="34" charset="0"/>
                          <a:ea typeface="Calibri" pitchFamily="34" charset="-122"/>
                          <a:cs typeface="Calibri" pitchFamily="34" charset="-120"/>
                        </a:rPr>
                        <a:t>Epochs</a:t>
                      </a:r>
                      <a:endParaRPr lang="en-US" sz="1400" dirty="0">
                        <a:latin typeface="Calibri" charset="0"/>
                        <a:ea typeface="Calibri" charset="0"/>
                        <a:cs typeface="Calibri" charset="0"/>
                      </a:endParaRPr>
                    </a:p>
                  </a:txBody>
                  <a:tcPr marL="91440" marR="91440" marT="45720" marB="45720" anchor="ctr">
                    <a:lnL w="12700" cap="flat" cmpd="sng" algn="ctr">
                      <a:solidFill>
                        <a:srgbClr val="D5DEE6"/>
                      </a:solidFill>
                      <a:prstDash val="solid"/>
                      <a:round/>
                      <a:headEnd type="none" w="med" len="med"/>
                      <a:tailEnd type="none" w="med" len="med"/>
                    </a:lnL>
                    <a:lnR w="12700" cap="flat" cmpd="sng" algn="ctr">
                      <a:solidFill>
                        <a:srgbClr val="D5DEE6"/>
                      </a:solidFill>
                      <a:prstDash val="solid"/>
                      <a:round/>
                      <a:headEnd type="none" w="med" len="med"/>
                      <a:tailEnd type="none" w="med" len="med"/>
                    </a:lnR>
                    <a:lnT w="12700" cap="flat" cmpd="sng" algn="ctr">
                      <a:solidFill>
                        <a:srgbClr val="D5DEE6"/>
                      </a:solidFill>
                      <a:prstDash val="solid"/>
                      <a:round/>
                      <a:headEnd type="none" w="med" len="med"/>
                      <a:tailEnd type="none" w="med" len="med"/>
                    </a:lnT>
                    <a:lnB w="12700" cap="flat" cmpd="sng" algn="ctr">
                      <a:solidFill>
                        <a:srgbClr val="D5DEE6"/>
                      </a:solidFill>
                      <a:prstDash val="solid"/>
                      <a:round/>
                      <a:headEnd type="none" w="med" len="med"/>
                      <a:tailEnd type="none" w="med" len="med"/>
                    </a:lnB>
                    <a:solidFill>
                      <a:srgbClr val="EEF4F8"/>
                    </a:solidFill>
                  </a:tcPr>
                </a:tc>
                <a:tc>
                  <a:txBody>
                    <a:bodyPr/>
                    <a:lstStyle/>
                    <a:p>
                      <a:pPr indent="0" marL="0">
                        <a:buNone/>
                      </a:pPr>
                      <a:r>
                        <a:rPr lang="en-US" sz="1400" dirty="0">
                          <a:solidFill>
                            <a:srgbClr val="1B2733"/>
                          </a:solidFill>
                          <a:latin typeface="Calibri" pitchFamily="34" charset="0"/>
                          <a:ea typeface="Calibri" pitchFamily="34" charset="-122"/>
                          <a:cs typeface="Calibri" pitchFamily="34" charset="-120"/>
                        </a:rPr>
                        <a:t>Max 20; early stop at 15 (patience 8)</a:t>
                      </a:r>
                      <a:endParaRPr lang="en-US" sz="1400" dirty="0">
                        <a:latin typeface="Calibri" charset="0"/>
                        <a:ea typeface="Calibri" charset="0"/>
                        <a:cs typeface="Calibri" charset="0"/>
                      </a:endParaRPr>
                    </a:p>
                  </a:txBody>
                  <a:tcPr marL="91440" marR="91440" marT="45720" marB="45720" anchor="ctr">
                    <a:lnL w="12700" cap="flat" cmpd="sng" algn="ctr">
                      <a:solidFill>
                        <a:srgbClr val="D5DEE6"/>
                      </a:solidFill>
                      <a:prstDash val="solid"/>
                      <a:round/>
                      <a:headEnd type="none" w="med" len="med"/>
                      <a:tailEnd type="none" w="med" len="med"/>
                    </a:lnL>
                    <a:lnR w="12700" cap="flat" cmpd="sng" algn="ctr">
                      <a:solidFill>
                        <a:srgbClr val="D5DEE6"/>
                      </a:solidFill>
                      <a:prstDash val="solid"/>
                      <a:round/>
                      <a:headEnd type="none" w="med" len="med"/>
                      <a:tailEnd type="none" w="med" len="med"/>
                    </a:lnR>
                    <a:lnT w="12700" cap="flat" cmpd="sng" algn="ctr">
                      <a:solidFill>
                        <a:srgbClr val="D5DEE6"/>
                      </a:solidFill>
                      <a:prstDash val="solid"/>
                      <a:round/>
                      <a:headEnd type="none" w="med" len="med"/>
                      <a:tailEnd type="none" w="med" len="med"/>
                    </a:lnT>
                    <a:lnB w="12700" cap="flat" cmpd="sng" algn="ctr">
                      <a:solidFill>
                        <a:srgbClr val="D5DEE6"/>
                      </a:solidFill>
                      <a:prstDash val="solid"/>
                      <a:round/>
                      <a:headEnd type="none" w="med" len="med"/>
                      <a:tailEnd type="none" w="med" len="med"/>
                    </a:lnB>
                  </a:tcPr>
                </a:tc>
              </a:tr>
              <a:tr h="502920">
                <a:tc>
                  <a:txBody>
                    <a:bodyPr/>
                    <a:lstStyle/>
                    <a:p>
                      <a:pPr indent="0" marL="0">
                        <a:buNone/>
                      </a:pPr>
                      <a:r>
                        <a:rPr lang="en-US" sz="1400" b="1" dirty="0">
                          <a:solidFill>
                            <a:srgbClr val="0B2545"/>
                          </a:solidFill>
                          <a:latin typeface="Calibri" pitchFamily="34" charset="0"/>
                          <a:ea typeface="Calibri" pitchFamily="34" charset="-122"/>
                          <a:cs typeface="Calibri" pitchFamily="34" charset="-120"/>
                        </a:rPr>
                        <a:t>Checkpoint</a:t>
                      </a:r>
                      <a:endParaRPr lang="en-US" sz="1400" dirty="0">
                        <a:latin typeface="Calibri" charset="0"/>
                        <a:ea typeface="Calibri" charset="0"/>
                        <a:cs typeface="Calibri" charset="0"/>
                      </a:endParaRPr>
                    </a:p>
                  </a:txBody>
                  <a:tcPr marL="91440" marR="91440" marT="45720" marB="45720" anchor="ctr">
                    <a:lnL w="12700" cap="flat" cmpd="sng" algn="ctr">
                      <a:solidFill>
                        <a:srgbClr val="D5DEE6"/>
                      </a:solidFill>
                      <a:prstDash val="solid"/>
                      <a:round/>
                      <a:headEnd type="none" w="med" len="med"/>
                      <a:tailEnd type="none" w="med" len="med"/>
                    </a:lnL>
                    <a:lnR w="12700" cap="flat" cmpd="sng" algn="ctr">
                      <a:solidFill>
                        <a:srgbClr val="D5DEE6"/>
                      </a:solidFill>
                      <a:prstDash val="solid"/>
                      <a:round/>
                      <a:headEnd type="none" w="med" len="med"/>
                      <a:tailEnd type="none" w="med" len="med"/>
                    </a:lnR>
                    <a:lnT w="12700" cap="flat" cmpd="sng" algn="ctr">
                      <a:solidFill>
                        <a:srgbClr val="D5DEE6"/>
                      </a:solidFill>
                      <a:prstDash val="solid"/>
                      <a:round/>
                      <a:headEnd type="none" w="med" len="med"/>
                      <a:tailEnd type="none" w="med" len="med"/>
                    </a:lnT>
                    <a:lnB w="12700" cap="flat" cmpd="sng" algn="ctr">
                      <a:solidFill>
                        <a:srgbClr val="D5DEE6"/>
                      </a:solidFill>
                      <a:prstDash val="solid"/>
                      <a:round/>
                      <a:headEnd type="none" w="med" len="med"/>
                      <a:tailEnd type="none" w="med" len="med"/>
                    </a:lnB>
                    <a:solidFill>
                      <a:srgbClr val="EEF4F8"/>
                    </a:solidFill>
                  </a:tcPr>
                </a:tc>
                <a:tc>
                  <a:txBody>
                    <a:bodyPr/>
                    <a:lstStyle/>
                    <a:p>
                      <a:pPr indent="0" marL="0">
                        <a:buNone/>
                      </a:pPr>
                      <a:r>
                        <a:rPr lang="en-US" sz="1400" dirty="0">
                          <a:solidFill>
                            <a:srgbClr val="1B2733"/>
                          </a:solidFill>
                          <a:latin typeface="Calibri" pitchFamily="34" charset="0"/>
                          <a:ea typeface="Calibri" pitchFamily="34" charset="-122"/>
                          <a:cs typeface="Calibri" pitchFamily="34" charset="-120"/>
                        </a:rPr>
                        <a:t>Best val. flood IoU → epoch 7 (0.299)</a:t>
                      </a:r>
                      <a:endParaRPr lang="en-US" sz="1400" dirty="0">
                        <a:latin typeface="Calibri" charset="0"/>
                        <a:ea typeface="Calibri" charset="0"/>
                        <a:cs typeface="Calibri" charset="0"/>
                      </a:endParaRPr>
                    </a:p>
                  </a:txBody>
                  <a:tcPr marL="91440" marR="91440" marT="45720" marB="45720" anchor="ctr">
                    <a:lnL w="12700" cap="flat" cmpd="sng" algn="ctr">
                      <a:solidFill>
                        <a:srgbClr val="D5DEE6"/>
                      </a:solidFill>
                      <a:prstDash val="solid"/>
                      <a:round/>
                      <a:headEnd type="none" w="med" len="med"/>
                      <a:tailEnd type="none" w="med" len="med"/>
                    </a:lnL>
                    <a:lnR w="12700" cap="flat" cmpd="sng" algn="ctr">
                      <a:solidFill>
                        <a:srgbClr val="D5DEE6"/>
                      </a:solidFill>
                      <a:prstDash val="solid"/>
                      <a:round/>
                      <a:headEnd type="none" w="med" len="med"/>
                      <a:tailEnd type="none" w="med" len="med"/>
                    </a:lnR>
                    <a:lnT w="12700" cap="flat" cmpd="sng" algn="ctr">
                      <a:solidFill>
                        <a:srgbClr val="D5DEE6"/>
                      </a:solidFill>
                      <a:prstDash val="solid"/>
                      <a:round/>
                      <a:headEnd type="none" w="med" len="med"/>
                      <a:tailEnd type="none" w="med" len="med"/>
                    </a:lnT>
                    <a:lnB w="12700" cap="flat" cmpd="sng" algn="ctr">
                      <a:solidFill>
                        <a:srgbClr val="D5DEE6"/>
                      </a:solidFill>
                      <a:prstDash val="solid"/>
                      <a:round/>
                      <a:headEnd type="none" w="med" len="med"/>
                      <a:tailEnd type="none" w="med" len="med"/>
                    </a:lnB>
                  </a:tcPr>
                </a:tc>
              </a:tr>
            </a:tbl>
          </a:graphicData>
        </a:graphic>
      </p:graphicFrame>
      <p:sp>
        <p:nvSpPr>
          <p:cNvPr id="8" name="Shape 5"/>
          <p:cNvSpPr/>
          <p:nvPr/>
        </p:nvSpPr>
        <p:spPr>
          <a:xfrm>
            <a:off x="7589520" y="1554480"/>
            <a:ext cx="4050792" cy="4023360"/>
          </a:xfrm>
          <a:prstGeom prst="rect">
            <a:avLst/>
          </a:prstGeom>
          <a:solidFill>
            <a:srgbClr val="EEF4F8"/>
          </a:solidFill>
          <a:ln w="12700">
            <a:solidFill>
              <a:srgbClr val="EEF4F8"/>
            </a:solidFill>
            <a:prstDash val="solid"/>
          </a:ln>
        </p:spPr>
      </p:sp>
      <p:sp>
        <p:nvSpPr>
          <p:cNvPr id="9" name="Shape 6"/>
          <p:cNvSpPr/>
          <p:nvPr/>
        </p:nvSpPr>
        <p:spPr>
          <a:xfrm>
            <a:off x="7589520" y="1554480"/>
            <a:ext cx="73152" cy="4023360"/>
          </a:xfrm>
          <a:prstGeom prst="rect">
            <a:avLst/>
          </a:prstGeom>
          <a:solidFill>
            <a:srgbClr val="1F6FB2"/>
          </a:solidFill>
          <a:ln w="12700">
            <a:solidFill>
              <a:srgbClr val="1F6FB2"/>
            </a:solidFill>
            <a:prstDash val="solid"/>
          </a:ln>
        </p:spPr>
      </p:sp>
      <p:sp>
        <p:nvSpPr>
          <p:cNvPr id="10" name="Text 7"/>
          <p:cNvSpPr/>
          <p:nvPr/>
        </p:nvSpPr>
        <p:spPr>
          <a:xfrm>
            <a:off x="7818120" y="1664208"/>
            <a:ext cx="3685032" cy="411480"/>
          </a:xfrm>
          <a:prstGeom prst="rect">
            <a:avLst/>
          </a:prstGeom>
          <a:noFill/>
          <a:ln/>
        </p:spPr>
        <p:txBody>
          <a:bodyPr wrap="square" lIns="0" tIns="0" rIns="0" bIns="0" rtlCol="0" anchor="t"/>
          <a:lstStyle/>
          <a:p>
            <a:pPr indent="0" marL="0">
              <a:buNone/>
            </a:pPr>
            <a:r>
              <a:rPr lang="en-US" sz="1700" b="1" dirty="0">
                <a:solidFill>
                  <a:srgbClr val="0B2545"/>
                </a:solidFill>
                <a:latin typeface="Calibri" pitchFamily="34" charset="0"/>
                <a:ea typeface="Calibri" pitchFamily="34" charset="-122"/>
                <a:cs typeface="Calibri" pitchFamily="34" charset="-120"/>
              </a:rPr>
              <a:t>Environment</a:t>
            </a:r>
            <a:endParaRPr lang="en-US" sz="1700" dirty="0"/>
          </a:p>
        </p:txBody>
      </p:sp>
      <p:sp>
        <p:nvSpPr>
          <p:cNvPr id="11" name="Text 8"/>
          <p:cNvSpPr/>
          <p:nvPr/>
        </p:nvSpPr>
        <p:spPr>
          <a:xfrm>
            <a:off x="7818120" y="2103120"/>
            <a:ext cx="3685032" cy="3383280"/>
          </a:xfrm>
          <a:prstGeom prst="rect">
            <a:avLst/>
          </a:prstGeom>
          <a:noFill/>
          <a:ln/>
        </p:spPr>
        <p:txBody>
          <a:bodyPr wrap="square" lIns="0" tIns="0" rIns="0" bIns="0" rtlCol="0" anchor="t"/>
          <a:lstStyle/>
          <a:p>
            <a:pPr indent="0" marL="0">
              <a:buNone/>
            </a:pPr>
            <a:r>
              <a:rPr lang="en-US" sz="1400" dirty="0">
                <a:solidFill>
                  <a:srgbClr val="1B2733"/>
                </a:solidFill>
                <a:latin typeface="Calibri" pitchFamily="34" charset="0"/>
                <a:ea typeface="Calibri" pitchFamily="34" charset="-122"/>
                <a:cs typeface="Calibri" pitchFamily="34" charset="-120"/>
              </a:rPr>
              <a:t>GPU: NVIDIA Tesla T4 (15 GB), peak use 7.1 GB</a:t>
            </a:r>
            <a:endParaRPr lang="en-US" sz="1400" dirty="0"/>
          </a:p>
          <a:p>
            <a:pPr indent="0" marL="0">
              <a:buNone/>
            </a:pPr>
            <a:r>
              <a:rPr lang="en-US" sz="1400" dirty="0">
                <a:solidFill>
                  <a:srgbClr val="1B2733"/>
                </a:solidFill>
                <a:latin typeface="Calibri" pitchFamily="34" charset="0"/>
                <a:ea typeface="Calibri" pitchFamily="34" charset="-122"/>
                <a:cs typeface="Calibri" pitchFamily="34" charset="-120"/>
              </a:rPr>
              <a:t>RAM: 12.7 GB (shared VM)</a:t>
            </a:r>
            <a:endParaRPr lang="en-US" sz="1400" dirty="0"/>
          </a:p>
          <a:p>
            <a:pPr indent="0" marL="0">
              <a:buNone/>
            </a:pPr>
            <a:r>
              <a:rPr lang="en-US" sz="1400" dirty="0">
                <a:solidFill>
                  <a:srgbClr val="1B2733"/>
                </a:solidFill>
                <a:latin typeface="Calibri" pitchFamily="34" charset="0"/>
                <a:ea typeface="Calibri" pitchFamily="34" charset="-122"/>
                <a:cs typeface="Calibri" pitchFamily="34" charset="-120"/>
              </a:rPr>
              <a:t>Python 3.13, PyTorch 2.6, TerraTorch 0.99.8, Lightning 2.5, rasterio 1.4</a:t>
            </a:r>
            <a:endParaRPr lang="en-US" sz="1400" dirty="0"/>
          </a:p>
          <a:p>
            <a:pPr indent="0" marL="0">
              <a:buNone/>
            </a:pPr>
            <a:r>
              <a:rPr lang="en-US" sz="1400" dirty="0">
                <a:solidFill>
                  <a:srgbClr val="1B2733"/>
                </a:solidFill>
                <a:latin typeface="Calibri" pitchFamily="34" charset="0"/>
                <a:ea typeface="Calibri" pitchFamily="34" charset="-122"/>
                <a:cs typeface="Calibri" pitchFamily="34" charset="-120"/>
              </a:rPr>
              <a:t>Storage: Google Drive for persistence, local disk for training I/O</a:t>
            </a:r>
            <a:endParaRPr lang="en-US" sz="1400" dirty="0"/>
          </a:p>
        </p:txBody>
      </p:sp>
      <p:sp>
        <p:nvSpPr>
          <p:cNvPr id="12" name="Text 9"/>
          <p:cNvSpPr/>
          <p:nvPr/>
        </p:nvSpPr>
        <p:spPr>
          <a:xfrm>
            <a:off x="548640" y="5760720"/>
            <a:ext cx="11064240" cy="457200"/>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Small learning rate on purpose: we are refining a competent model, not training from random weights.</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13A89E"/>
          </a:solidFill>
          <a:ln/>
        </p:spPr>
      </p:sp>
      <p:sp>
        <p:nvSpPr>
          <p:cNvPr id="3" name="Text 1"/>
          <p:cNvSpPr/>
          <p:nvPr/>
        </p:nvSpPr>
        <p:spPr>
          <a:xfrm>
            <a:off x="548640" y="320040"/>
            <a:ext cx="10972800" cy="640080"/>
          </a:xfrm>
          <a:prstGeom prst="rect">
            <a:avLst/>
          </a:prstGeom>
          <a:noFill/>
          <a:ln/>
        </p:spPr>
        <p:txBody>
          <a:bodyPr wrap="square" lIns="0" tIns="0" rIns="0" bIns="0" rtlCol="0" anchor="ctr"/>
          <a:lstStyle/>
          <a:p>
            <a:pPr indent="0" marL="0">
              <a:buNone/>
            </a:pPr>
            <a:r>
              <a:rPr lang="en-US" sz="3000" b="1" dirty="0">
                <a:solidFill>
                  <a:srgbClr val="0B2545"/>
                </a:solidFill>
                <a:latin typeface="Calibri" pitchFamily="34" charset="0"/>
                <a:ea typeface="Calibri" pitchFamily="34" charset="-122"/>
                <a:cs typeface="Calibri" pitchFamily="34" charset="-120"/>
              </a:rPr>
              <a:t>Engineering challenges we solved</a:t>
            </a:r>
            <a:endParaRPr lang="en-US" sz="3000" dirty="0"/>
          </a:p>
        </p:txBody>
      </p:sp>
      <p:sp>
        <p:nvSpPr>
          <p:cNvPr id="4" name="Text 2"/>
          <p:cNvSpPr/>
          <p:nvPr/>
        </p:nvSpPr>
        <p:spPr>
          <a:xfrm>
            <a:off x="548640" y="932688"/>
            <a:ext cx="10972800" cy="365760"/>
          </a:xfrm>
          <a:prstGeom prst="rect">
            <a:avLst/>
          </a:prstGeom>
          <a:noFill/>
          <a:ln/>
        </p:spPr>
        <p:txBody>
          <a:bodyPr wrap="square" lIns="0" tIns="0" rIns="0" bIns="0" rtlCol="0" anchor="ctr"/>
          <a:lstStyle/>
          <a:p>
            <a:pPr indent="0" marL="0">
              <a:buNone/>
            </a:pPr>
            <a:r>
              <a:rPr lang="en-US" sz="1500" dirty="0">
                <a:solidFill>
                  <a:srgbClr val="5B6B7B"/>
                </a:solidFill>
                <a:latin typeface="Calibri" pitchFamily="34" charset="0"/>
                <a:ea typeface="Calibri" pitchFamily="34" charset="-122"/>
                <a:cs typeface="Calibri" pitchFamily="34" charset="-120"/>
              </a:rPr>
              <a:t>Diagnosed by inspecting the live VM (processes, memory, disk I/O), always resumed from a verified checkpoint</a:t>
            </a:r>
            <a:endParaRPr lang="en-US" sz="1500" dirty="0"/>
          </a:p>
        </p:txBody>
      </p:sp>
      <p:sp>
        <p:nvSpPr>
          <p:cNvPr id="5" name="Text 3"/>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Prithvi Flood-IN  |  CE 766 Integrated Design Project  |  Progress Review</a:t>
            </a:r>
            <a:endParaRPr lang="en-US" sz="1000" dirty="0"/>
          </a:p>
        </p:txBody>
      </p:sp>
      <p:sp>
        <p:nvSpPr>
          <p:cNvPr id="6" name="Text 4"/>
          <p:cNvSpPr/>
          <p:nvPr/>
        </p:nvSpPr>
        <p:spPr>
          <a:xfrm>
            <a:off x="11155680" y="6446520"/>
            <a:ext cx="548640" cy="274320"/>
          </a:xfrm>
          <a:prstGeom prst="rect">
            <a:avLst/>
          </a:prstGeom>
          <a:noFill/>
          <a:ln/>
        </p:spPr>
        <p:txBody>
          <a:bodyPr wrap="square" lIns="0" tIns="0" rIns="0" bIns="0" rtlCol="0" anchor="ctr"/>
          <a:lstStyle/>
          <a:p>
            <a:pPr algn="r" indent="0" marL="0">
              <a:buNone/>
            </a:pPr>
            <a:r>
              <a:rPr lang="en-US" sz="1000" dirty="0">
                <a:solidFill>
                  <a:srgbClr val="5B6B7B"/>
                </a:solidFill>
                <a:latin typeface="Calibri" pitchFamily="34" charset="0"/>
                <a:ea typeface="Calibri" pitchFamily="34" charset="-122"/>
                <a:cs typeface="Calibri" pitchFamily="34" charset="-120"/>
              </a:rPr>
              <a:t>10</a:t>
            </a:r>
            <a:endParaRPr lang="en-US" sz="1000" dirty="0"/>
          </a:p>
        </p:txBody>
      </p:sp>
      <p:sp>
        <p:nvSpPr>
          <p:cNvPr id="7" name="Shape 5"/>
          <p:cNvSpPr/>
          <p:nvPr/>
        </p:nvSpPr>
        <p:spPr>
          <a:xfrm>
            <a:off x="548640" y="1554480"/>
            <a:ext cx="5449824" cy="1417320"/>
          </a:xfrm>
          <a:prstGeom prst="rect">
            <a:avLst/>
          </a:prstGeom>
          <a:solidFill>
            <a:srgbClr val="EEF4F8"/>
          </a:solidFill>
          <a:ln w="12700">
            <a:solidFill>
              <a:srgbClr val="EEF4F8"/>
            </a:solidFill>
            <a:prstDash val="solid"/>
          </a:ln>
        </p:spPr>
      </p:sp>
      <p:sp>
        <p:nvSpPr>
          <p:cNvPr id="8" name="Shape 6"/>
          <p:cNvSpPr/>
          <p:nvPr/>
        </p:nvSpPr>
        <p:spPr>
          <a:xfrm>
            <a:off x="548640" y="1554480"/>
            <a:ext cx="73152" cy="1417320"/>
          </a:xfrm>
          <a:prstGeom prst="rect">
            <a:avLst/>
          </a:prstGeom>
          <a:solidFill>
            <a:srgbClr val="13A89E"/>
          </a:solidFill>
          <a:ln w="12700">
            <a:solidFill>
              <a:srgbClr val="13A89E"/>
            </a:solidFill>
            <a:prstDash val="solid"/>
          </a:ln>
        </p:spPr>
      </p:sp>
      <p:sp>
        <p:nvSpPr>
          <p:cNvPr id="9" name="Text 7"/>
          <p:cNvSpPr/>
          <p:nvPr/>
        </p:nvSpPr>
        <p:spPr>
          <a:xfrm>
            <a:off x="777240" y="1664208"/>
            <a:ext cx="5084064" cy="411480"/>
          </a:xfrm>
          <a:prstGeom prst="rect">
            <a:avLst/>
          </a:prstGeom>
          <a:noFill/>
          <a:ln/>
        </p:spPr>
        <p:txBody>
          <a:bodyPr wrap="square" lIns="0" tIns="0" rIns="0" bIns="0" rtlCol="0" anchor="t"/>
          <a:lstStyle/>
          <a:p>
            <a:pPr indent="0" marL="0">
              <a:buNone/>
            </a:pPr>
            <a:r>
              <a:rPr lang="en-US" sz="1700" b="1" dirty="0">
                <a:solidFill>
                  <a:srgbClr val="0B2545"/>
                </a:solidFill>
                <a:latin typeface="Calibri" pitchFamily="34" charset="0"/>
                <a:ea typeface="Calibri" pitchFamily="34" charset="-122"/>
                <a:cs typeface="Calibri" pitchFamily="34" charset="-120"/>
              </a:rPr>
              <a:t>Library version mismatch</a:t>
            </a:r>
            <a:endParaRPr lang="en-US" sz="1700" dirty="0"/>
          </a:p>
        </p:txBody>
      </p:sp>
      <p:sp>
        <p:nvSpPr>
          <p:cNvPr id="10" name="Text 8"/>
          <p:cNvSpPr/>
          <p:nvPr/>
        </p:nvSpPr>
        <p:spPr>
          <a:xfrm>
            <a:off x="777240" y="2103120"/>
            <a:ext cx="5084064" cy="777240"/>
          </a:xfrm>
          <a:prstGeom prst="rect">
            <a:avLst/>
          </a:prstGeom>
          <a:noFill/>
          <a:ln/>
        </p:spPr>
        <p:txBody>
          <a:bodyPr wrap="square" lIns="0" tIns="0" rIns="0" bIns="0" rtlCol="0" anchor="t"/>
          <a:lstStyle/>
          <a:p>
            <a:pPr indent="0" marL="0">
              <a:buNone/>
            </a:pPr>
            <a:r>
              <a:rPr lang="en-US" sz="1400" dirty="0">
                <a:solidFill>
                  <a:srgbClr val="1B2733"/>
                </a:solidFill>
                <a:latin typeface="Calibri" pitchFamily="34" charset="0"/>
                <a:ea typeface="Calibri" pitchFamily="34" charset="-122"/>
                <a:cs typeface="Calibri" pitchFamily="34" charset="-120"/>
              </a:rPr>
              <a:t>Pre-installed torchaudio clashed with pinned torch → pinned all versions in requirements.txt.</a:t>
            </a:r>
            <a:endParaRPr lang="en-US" sz="1400" dirty="0"/>
          </a:p>
        </p:txBody>
      </p:sp>
      <p:sp>
        <p:nvSpPr>
          <p:cNvPr id="11" name="Shape 9"/>
          <p:cNvSpPr/>
          <p:nvPr/>
        </p:nvSpPr>
        <p:spPr>
          <a:xfrm>
            <a:off x="6199632" y="1554480"/>
            <a:ext cx="5449824" cy="1417320"/>
          </a:xfrm>
          <a:prstGeom prst="rect">
            <a:avLst/>
          </a:prstGeom>
          <a:solidFill>
            <a:srgbClr val="EEF4F8"/>
          </a:solidFill>
          <a:ln w="12700">
            <a:solidFill>
              <a:srgbClr val="EEF4F8"/>
            </a:solidFill>
            <a:prstDash val="solid"/>
          </a:ln>
        </p:spPr>
      </p:sp>
      <p:sp>
        <p:nvSpPr>
          <p:cNvPr id="12" name="Shape 10"/>
          <p:cNvSpPr/>
          <p:nvPr/>
        </p:nvSpPr>
        <p:spPr>
          <a:xfrm>
            <a:off x="6199632" y="1554480"/>
            <a:ext cx="73152" cy="1417320"/>
          </a:xfrm>
          <a:prstGeom prst="rect">
            <a:avLst/>
          </a:prstGeom>
          <a:solidFill>
            <a:srgbClr val="1F6FB2"/>
          </a:solidFill>
          <a:ln w="12700">
            <a:solidFill>
              <a:srgbClr val="1F6FB2"/>
            </a:solidFill>
            <a:prstDash val="solid"/>
          </a:ln>
        </p:spPr>
      </p:sp>
      <p:sp>
        <p:nvSpPr>
          <p:cNvPr id="13" name="Text 11"/>
          <p:cNvSpPr/>
          <p:nvPr/>
        </p:nvSpPr>
        <p:spPr>
          <a:xfrm>
            <a:off x="6428232" y="1664208"/>
            <a:ext cx="5084064" cy="411480"/>
          </a:xfrm>
          <a:prstGeom prst="rect">
            <a:avLst/>
          </a:prstGeom>
          <a:noFill/>
          <a:ln/>
        </p:spPr>
        <p:txBody>
          <a:bodyPr wrap="square" lIns="0" tIns="0" rIns="0" bIns="0" rtlCol="0" anchor="t"/>
          <a:lstStyle/>
          <a:p>
            <a:pPr indent="0" marL="0">
              <a:buNone/>
            </a:pPr>
            <a:r>
              <a:rPr lang="en-US" sz="1700" b="1" dirty="0">
                <a:solidFill>
                  <a:srgbClr val="0B2545"/>
                </a:solidFill>
                <a:latin typeface="Calibri" pitchFamily="34" charset="0"/>
                <a:ea typeface="Calibri" pitchFamily="34" charset="-122"/>
                <a:cs typeface="Calibri" pitchFamily="34" charset="-120"/>
              </a:rPr>
              <a:t>Reflectance scaling</a:t>
            </a:r>
            <a:endParaRPr lang="en-US" sz="1700" dirty="0"/>
          </a:p>
        </p:txBody>
      </p:sp>
      <p:sp>
        <p:nvSpPr>
          <p:cNvPr id="14" name="Text 12"/>
          <p:cNvSpPr/>
          <p:nvPr/>
        </p:nvSpPr>
        <p:spPr>
          <a:xfrm>
            <a:off x="6428232" y="2103120"/>
            <a:ext cx="5084064" cy="777240"/>
          </a:xfrm>
          <a:prstGeom prst="rect">
            <a:avLst/>
          </a:prstGeom>
          <a:noFill/>
          <a:ln/>
        </p:spPr>
        <p:txBody>
          <a:bodyPr wrap="square" lIns="0" tIns="0" rIns="0" bIns="0" rtlCol="0" anchor="t"/>
          <a:lstStyle/>
          <a:p>
            <a:pPr indent="0" marL="0">
              <a:buNone/>
            </a:pPr>
            <a:r>
              <a:rPr lang="en-US" sz="1400" dirty="0">
                <a:solidFill>
                  <a:srgbClr val="1B2733"/>
                </a:solidFill>
                <a:latin typeface="Calibri" pitchFamily="34" charset="0"/>
                <a:ea typeface="Calibri" pitchFamily="34" charset="-122"/>
                <a:cs typeface="Calibri" pitchFamily="34" charset="-120"/>
              </a:rPr>
              <a:t>Input values did not match pre-training normalisation, making the model nearly useless → rescaled to expected range.</a:t>
            </a:r>
            <a:endParaRPr lang="en-US" sz="1400" dirty="0"/>
          </a:p>
        </p:txBody>
      </p:sp>
      <p:sp>
        <p:nvSpPr>
          <p:cNvPr id="15" name="Shape 13"/>
          <p:cNvSpPr/>
          <p:nvPr/>
        </p:nvSpPr>
        <p:spPr>
          <a:xfrm>
            <a:off x="548640" y="3127248"/>
            <a:ext cx="5449824" cy="1417320"/>
          </a:xfrm>
          <a:prstGeom prst="rect">
            <a:avLst/>
          </a:prstGeom>
          <a:solidFill>
            <a:srgbClr val="EEF4F8"/>
          </a:solidFill>
          <a:ln w="12700">
            <a:solidFill>
              <a:srgbClr val="EEF4F8"/>
            </a:solidFill>
            <a:prstDash val="solid"/>
          </a:ln>
        </p:spPr>
      </p:sp>
      <p:sp>
        <p:nvSpPr>
          <p:cNvPr id="16" name="Shape 14"/>
          <p:cNvSpPr/>
          <p:nvPr/>
        </p:nvSpPr>
        <p:spPr>
          <a:xfrm>
            <a:off x="548640" y="3127248"/>
            <a:ext cx="73152" cy="1417320"/>
          </a:xfrm>
          <a:prstGeom prst="rect">
            <a:avLst/>
          </a:prstGeom>
          <a:solidFill>
            <a:srgbClr val="E8A33D"/>
          </a:solidFill>
          <a:ln w="12700">
            <a:solidFill>
              <a:srgbClr val="E8A33D"/>
            </a:solidFill>
            <a:prstDash val="solid"/>
          </a:ln>
        </p:spPr>
      </p:sp>
      <p:sp>
        <p:nvSpPr>
          <p:cNvPr id="17" name="Text 15"/>
          <p:cNvSpPr/>
          <p:nvPr/>
        </p:nvSpPr>
        <p:spPr>
          <a:xfrm>
            <a:off x="777240" y="3236976"/>
            <a:ext cx="5084064" cy="411480"/>
          </a:xfrm>
          <a:prstGeom prst="rect">
            <a:avLst/>
          </a:prstGeom>
          <a:noFill/>
          <a:ln/>
        </p:spPr>
        <p:txBody>
          <a:bodyPr wrap="square" lIns="0" tIns="0" rIns="0" bIns="0" rtlCol="0" anchor="t"/>
          <a:lstStyle/>
          <a:p>
            <a:pPr indent="0" marL="0">
              <a:buNone/>
            </a:pPr>
            <a:r>
              <a:rPr lang="en-US" sz="1700" b="1" dirty="0">
                <a:solidFill>
                  <a:srgbClr val="0B2545"/>
                </a:solidFill>
                <a:latin typeface="Calibri" pitchFamily="34" charset="0"/>
                <a:ea typeface="Calibri" pitchFamily="34" charset="-122"/>
                <a:cs typeface="Calibri" pitchFamily="34" charset="-120"/>
              </a:rPr>
              <a:t>Validation plotting crash</a:t>
            </a:r>
            <a:endParaRPr lang="en-US" sz="1700" dirty="0"/>
          </a:p>
        </p:txBody>
      </p:sp>
      <p:sp>
        <p:nvSpPr>
          <p:cNvPr id="18" name="Text 16"/>
          <p:cNvSpPr/>
          <p:nvPr/>
        </p:nvSpPr>
        <p:spPr>
          <a:xfrm>
            <a:off x="777240" y="3675888"/>
            <a:ext cx="5084064" cy="777240"/>
          </a:xfrm>
          <a:prstGeom prst="rect">
            <a:avLst/>
          </a:prstGeom>
          <a:noFill/>
          <a:ln/>
        </p:spPr>
        <p:txBody>
          <a:bodyPr wrap="square" lIns="0" tIns="0" rIns="0" bIns="0" rtlCol="0" anchor="t"/>
          <a:lstStyle/>
          <a:p>
            <a:pPr indent="0" marL="0">
              <a:buNone/>
            </a:pPr>
            <a:r>
              <a:rPr lang="en-US" sz="1400" dirty="0">
                <a:solidFill>
                  <a:srgbClr val="1B2733"/>
                </a:solidFill>
                <a:latin typeface="Calibri" pitchFamily="34" charset="0"/>
                <a:ea typeface="Calibri" pitchFamily="34" charset="-122"/>
                <a:cs typeface="Calibri" pitchFamily="34" charset="-120"/>
              </a:rPr>
              <a:t>Default debug plotting needed an interface our dataset lacked → disabled (plot_on_val = False).</a:t>
            </a:r>
            <a:endParaRPr lang="en-US" sz="1400" dirty="0"/>
          </a:p>
        </p:txBody>
      </p:sp>
      <p:sp>
        <p:nvSpPr>
          <p:cNvPr id="19" name="Shape 17"/>
          <p:cNvSpPr/>
          <p:nvPr/>
        </p:nvSpPr>
        <p:spPr>
          <a:xfrm>
            <a:off x="6199632" y="3127248"/>
            <a:ext cx="5449824" cy="1417320"/>
          </a:xfrm>
          <a:prstGeom prst="rect">
            <a:avLst/>
          </a:prstGeom>
          <a:solidFill>
            <a:srgbClr val="EEF4F8"/>
          </a:solidFill>
          <a:ln w="12700">
            <a:solidFill>
              <a:srgbClr val="EEF4F8"/>
            </a:solidFill>
            <a:prstDash val="solid"/>
          </a:ln>
        </p:spPr>
      </p:sp>
      <p:sp>
        <p:nvSpPr>
          <p:cNvPr id="20" name="Shape 18"/>
          <p:cNvSpPr/>
          <p:nvPr/>
        </p:nvSpPr>
        <p:spPr>
          <a:xfrm>
            <a:off x="6199632" y="3127248"/>
            <a:ext cx="73152" cy="1417320"/>
          </a:xfrm>
          <a:prstGeom prst="rect">
            <a:avLst/>
          </a:prstGeom>
          <a:solidFill>
            <a:srgbClr val="D1495B"/>
          </a:solidFill>
          <a:ln w="12700">
            <a:solidFill>
              <a:srgbClr val="D1495B"/>
            </a:solidFill>
            <a:prstDash val="solid"/>
          </a:ln>
        </p:spPr>
      </p:sp>
      <p:sp>
        <p:nvSpPr>
          <p:cNvPr id="21" name="Text 19"/>
          <p:cNvSpPr/>
          <p:nvPr/>
        </p:nvSpPr>
        <p:spPr>
          <a:xfrm>
            <a:off x="6428232" y="3236976"/>
            <a:ext cx="5084064" cy="411480"/>
          </a:xfrm>
          <a:prstGeom prst="rect">
            <a:avLst/>
          </a:prstGeom>
          <a:noFill/>
          <a:ln/>
        </p:spPr>
        <p:txBody>
          <a:bodyPr wrap="square" lIns="0" tIns="0" rIns="0" bIns="0" rtlCol="0" anchor="t"/>
          <a:lstStyle/>
          <a:p>
            <a:pPr indent="0" marL="0">
              <a:buNone/>
            </a:pPr>
            <a:r>
              <a:rPr lang="en-US" sz="1700" b="1" dirty="0">
                <a:solidFill>
                  <a:srgbClr val="0B2545"/>
                </a:solidFill>
                <a:latin typeface="Calibri" pitchFamily="34" charset="0"/>
                <a:ea typeface="Calibri" pitchFamily="34" charset="-122"/>
                <a:cs typeface="Calibri" pitchFamily="34" charset="-120"/>
              </a:rPr>
              <a:t>Zombie process corrupting checkpoints</a:t>
            </a:r>
            <a:endParaRPr lang="en-US" sz="1700" dirty="0"/>
          </a:p>
        </p:txBody>
      </p:sp>
      <p:sp>
        <p:nvSpPr>
          <p:cNvPr id="22" name="Text 20"/>
          <p:cNvSpPr/>
          <p:nvPr/>
        </p:nvSpPr>
        <p:spPr>
          <a:xfrm>
            <a:off x="6428232" y="3675888"/>
            <a:ext cx="5084064" cy="777240"/>
          </a:xfrm>
          <a:prstGeom prst="rect">
            <a:avLst/>
          </a:prstGeom>
          <a:noFill/>
          <a:ln/>
        </p:spPr>
        <p:txBody>
          <a:bodyPr wrap="square" lIns="0" tIns="0" rIns="0" bIns="0" rtlCol="0" anchor="t"/>
          <a:lstStyle/>
          <a:p>
            <a:pPr indent="0" marL="0">
              <a:buNone/>
            </a:pPr>
            <a:r>
              <a:rPr lang="en-US" sz="1400" dirty="0">
                <a:solidFill>
                  <a:srgbClr val="1B2733"/>
                </a:solidFill>
                <a:latin typeface="Calibri" pitchFamily="34" charset="0"/>
                <a:ea typeface="Calibri" pitchFamily="34" charset="-122"/>
                <a:cs typeface="Calibri" pitchFamily="34" charset="-120"/>
              </a:rPr>
              <a:t>After a Colab disconnect a stale process kept writing to Drive → killed it, restored last intact checkpoint, save locally first then sync.</a:t>
            </a:r>
            <a:endParaRPr lang="en-US" sz="1400" dirty="0"/>
          </a:p>
        </p:txBody>
      </p:sp>
      <p:sp>
        <p:nvSpPr>
          <p:cNvPr id="23" name="Shape 21"/>
          <p:cNvSpPr/>
          <p:nvPr/>
        </p:nvSpPr>
        <p:spPr>
          <a:xfrm>
            <a:off x="548640" y="4700016"/>
            <a:ext cx="11100816" cy="1417320"/>
          </a:xfrm>
          <a:prstGeom prst="rect">
            <a:avLst/>
          </a:prstGeom>
          <a:solidFill>
            <a:srgbClr val="EEF4F8"/>
          </a:solidFill>
          <a:ln w="12700">
            <a:solidFill>
              <a:srgbClr val="EEF4F8"/>
            </a:solidFill>
            <a:prstDash val="solid"/>
          </a:ln>
        </p:spPr>
      </p:sp>
      <p:sp>
        <p:nvSpPr>
          <p:cNvPr id="24" name="Shape 22"/>
          <p:cNvSpPr/>
          <p:nvPr/>
        </p:nvSpPr>
        <p:spPr>
          <a:xfrm>
            <a:off x="548640" y="4700016"/>
            <a:ext cx="73152" cy="1417320"/>
          </a:xfrm>
          <a:prstGeom prst="rect">
            <a:avLst/>
          </a:prstGeom>
          <a:solidFill>
            <a:srgbClr val="0B2545"/>
          </a:solidFill>
          <a:ln w="12700">
            <a:solidFill>
              <a:srgbClr val="0B2545"/>
            </a:solidFill>
            <a:prstDash val="solid"/>
          </a:ln>
        </p:spPr>
      </p:sp>
      <p:sp>
        <p:nvSpPr>
          <p:cNvPr id="25" name="Text 23"/>
          <p:cNvSpPr/>
          <p:nvPr/>
        </p:nvSpPr>
        <p:spPr>
          <a:xfrm>
            <a:off x="777240" y="4809744"/>
            <a:ext cx="10735056" cy="411480"/>
          </a:xfrm>
          <a:prstGeom prst="rect">
            <a:avLst/>
          </a:prstGeom>
          <a:noFill/>
          <a:ln/>
        </p:spPr>
        <p:txBody>
          <a:bodyPr wrap="square" lIns="0" tIns="0" rIns="0" bIns="0" rtlCol="0" anchor="t"/>
          <a:lstStyle/>
          <a:p>
            <a:pPr indent="0" marL="0">
              <a:buNone/>
            </a:pPr>
            <a:r>
              <a:rPr lang="en-US" sz="1700" b="1" dirty="0">
                <a:solidFill>
                  <a:srgbClr val="0B2545"/>
                </a:solidFill>
                <a:latin typeface="Calibri" pitchFamily="34" charset="0"/>
                <a:ea typeface="Calibri" pitchFamily="34" charset="-122"/>
                <a:cs typeface="Calibri" pitchFamily="34" charset="-120"/>
              </a:rPr>
              <a:t>Silent RAM exhaustion</a:t>
            </a:r>
            <a:endParaRPr lang="en-US" sz="1700" dirty="0"/>
          </a:p>
        </p:txBody>
      </p:sp>
      <p:sp>
        <p:nvSpPr>
          <p:cNvPr id="26" name="Text 24"/>
          <p:cNvSpPr/>
          <p:nvPr/>
        </p:nvSpPr>
        <p:spPr>
          <a:xfrm>
            <a:off x="777240" y="5248656"/>
            <a:ext cx="10735056" cy="777240"/>
          </a:xfrm>
          <a:prstGeom prst="rect">
            <a:avLst/>
          </a:prstGeom>
          <a:noFill/>
          <a:ln/>
        </p:spPr>
        <p:txBody>
          <a:bodyPr wrap="square" lIns="0" tIns="0" rIns="0" bIns="0" rtlCol="0" anchor="t"/>
          <a:lstStyle/>
          <a:p>
            <a:pPr indent="0" marL="0">
              <a:buNone/>
            </a:pPr>
            <a:r>
              <a:rPr lang="en-US" sz="1400" dirty="0">
                <a:solidFill>
                  <a:srgbClr val="1B2733"/>
                </a:solidFill>
                <a:latin typeface="Calibri" pitchFamily="34" charset="0"/>
                <a:ea typeface="Calibri" pitchFamily="34" charset="-122"/>
                <a:cs typeface="Calibri" pitchFamily="34" charset="-120"/>
              </a:rPr>
              <a:t>Data-loader workers filled 12 GB RAM and the OS killed training without an error → num_workers = 0 for stability.</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13A89E"/>
          </a:solidFill>
          <a:ln/>
        </p:spPr>
      </p:sp>
      <p:sp>
        <p:nvSpPr>
          <p:cNvPr id="3" name="Text 1"/>
          <p:cNvSpPr/>
          <p:nvPr/>
        </p:nvSpPr>
        <p:spPr>
          <a:xfrm>
            <a:off x="548640" y="320040"/>
            <a:ext cx="10972800" cy="640080"/>
          </a:xfrm>
          <a:prstGeom prst="rect">
            <a:avLst/>
          </a:prstGeom>
          <a:noFill/>
          <a:ln/>
        </p:spPr>
        <p:txBody>
          <a:bodyPr wrap="square" lIns="0" tIns="0" rIns="0" bIns="0" rtlCol="0" anchor="ctr"/>
          <a:lstStyle/>
          <a:p>
            <a:pPr indent="0" marL="0">
              <a:buNone/>
            </a:pPr>
            <a:r>
              <a:rPr lang="en-US" sz="3000" b="1" dirty="0">
                <a:solidFill>
                  <a:srgbClr val="0B2545"/>
                </a:solidFill>
                <a:latin typeface="Calibri" pitchFamily="34" charset="0"/>
                <a:ea typeface="Calibri" pitchFamily="34" charset="-122"/>
                <a:cs typeface="Calibri" pitchFamily="34" charset="-120"/>
              </a:rPr>
              <a:t>Evaluation methodology</a:t>
            </a:r>
            <a:endParaRPr lang="en-US" sz="3000" dirty="0"/>
          </a:p>
        </p:txBody>
      </p:sp>
      <p:sp>
        <p:nvSpPr>
          <p:cNvPr id="4" name="Text 2"/>
          <p:cNvSpPr/>
          <p:nvPr/>
        </p:nvSpPr>
        <p:spPr>
          <a:xfrm>
            <a:off x="548640" y="932688"/>
            <a:ext cx="10972800" cy="365760"/>
          </a:xfrm>
          <a:prstGeom prst="rect">
            <a:avLst/>
          </a:prstGeom>
          <a:noFill/>
          <a:ln/>
        </p:spPr>
        <p:txBody>
          <a:bodyPr wrap="square" lIns="0" tIns="0" rIns="0" bIns="0" rtlCol="0" anchor="ctr"/>
          <a:lstStyle/>
          <a:p>
            <a:pPr indent="0" marL="0">
              <a:buNone/>
            </a:pPr>
            <a:r>
              <a:rPr lang="en-US" sz="1500" dirty="0">
                <a:solidFill>
                  <a:srgbClr val="5B6B7B"/>
                </a:solidFill>
                <a:latin typeface="Calibri" pitchFamily="34" charset="0"/>
                <a:ea typeface="Calibri" pitchFamily="34" charset="-122"/>
                <a:cs typeface="Calibri" pitchFamily="34" charset="-120"/>
              </a:rPr>
              <a:t>Same code, same metrics, same 737-chip test set: only the model weights change</a:t>
            </a:r>
            <a:endParaRPr lang="en-US" sz="1500" dirty="0"/>
          </a:p>
        </p:txBody>
      </p:sp>
      <p:sp>
        <p:nvSpPr>
          <p:cNvPr id="5" name="Text 3"/>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Prithvi Flood-IN  |  CE 766 Integrated Design Project  |  Progress Review</a:t>
            </a:r>
            <a:endParaRPr lang="en-US" sz="1000" dirty="0"/>
          </a:p>
        </p:txBody>
      </p:sp>
      <p:sp>
        <p:nvSpPr>
          <p:cNvPr id="6" name="Text 4"/>
          <p:cNvSpPr/>
          <p:nvPr/>
        </p:nvSpPr>
        <p:spPr>
          <a:xfrm>
            <a:off x="11155680" y="6446520"/>
            <a:ext cx="548640" cy="274320"/>
          </a:xfrm>
          <a:prstGeom prst="rect">
            <a:avLst/>
          </a:prstGeom>
          <a:noFill/>
          <a:ln/>
        </p:spPr>
        <p:txBody>
          <a:bodyPr wrap="square" lIns="0" tIns="0" rIns="0" bIns="0" rtlCol="0" anchor="ctr"/>
          <a:lstStyle/>
          <a:p>
            <a:pPr algn="r" indent="0" marL="0">
              <a:buNone/>
            </a:pPr>
            <a:r>
              <a:rPr lang="en-US" sz="1000" dirty="0">
                <a:solidFill>
                  <a:srgbClr val="5B6B7B"/>
                </a:solidFill>
                <a:latin typeface="Calibri" pitchFamily="34" charset="0"/>
                <a:ea typeface="Calibri" pitchFamily="34" charset="-122"/>
                <a:cs typeface="Calibri" pitchFamily="34" charset="-120"/>
              </a:rPr>
              <a:t>11</a:t>
            </a:r>
            <a:endParaRPr lang="en-US" sz="1000" dirty="0"/>
          </a:p>
        </p:txBody>
      </p:sp>
      <p:sp>
        <p:nvSpPr>
          <p:cNvPr id="7" name="Shape 5"/>
          <p:cNvSpPr/>
          <p:nvPr/>
        </p:nvSpPr>
        <p:spPr>
          <a:xfrm>
            <a:off x="548640" y="1554480"/>
            <a:ext cx="2651760" cy="694944"/>
          </a:xfrm>
          <a:prstGeom prst="rect">
            <a:avLst/>
          </a:prstGeom>
          <a:solidFill>
            <a:srgbClr val="13A89E"/>
          </a:solidFill>
          <a:ln/>
        </p:spPr>
      </p:sp>
      <p:sp>
        <p:nvSpPr>
          <p:cNvPr id="8" name="Text 6"/>
          <p:cNvSpPr/>
          <p:nvPr/>
        </p:nvSpPr>
        <p:spPr>
          <a:xfrm>
            <a:off x="548640" y="1554480"/>
            <a:ext cx="2651760" cy="694944"/>
          </a:xfrm>
          <a:prstGeom prst="rect">
            <a:avLst/>
          </a:prstGeom>
          <a:noFill/>
          <a:ln/>
        </p:spPr>
        <p:txBody>
          <a:bodyPr wrap="square" lIns="25400" tIns="25400" rIns="25400" bIns="2540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IoU</a:t>
            </a:r>
            <a:endParaRPr lang="en-US" sz="1500" dirty="0"/>
          </a:p>
        </p:txBody>
      </p:sp>
      <p:sp>
        <p:nvSpPr>
          <p:cNvPr id="9" name="Text 7"/>
          <p:cNvSpPr/>
          <p:nvPr/>
        </p:nvSpPr>
        <p:spPr>
          <a:xfrm>
            <a:off x="3383280" y="1554480"/>
            <a:ext cx="3931920" cy="694944"/>
          </a:xfrm>
          <a:prstGeom prst="rect">
            <a:avLst/>
          </a:prstGeom>
          <a:noFill/>
          <a:ln/>
        </p:spPr>
        <p:txBody>
          <a:bodyPr wrap="square" lIns="0" tIns="0" rIns="0" bIns="0" rtlCol="0" anchor="ctr"/>
          <a:lstStyle/>
          <a:p>
            <a:pPr indent="0" marL="0">
              <a:buNone/>
            </a:pPr>
            <a:r>
              <a:rPr lang="en-US" sz="1300" dirty="0">
                <a:solidFill>
                  <a:srgbClr val="1B2733"/>
                </a:solidFill>
                <a:latin typeface="Calibri" pitchFamily="34" charset="0"/>
                <a:ea typeface="Calibri" pitchFamily="34" charset="-122"/>
                <a:cs typeface="Calibri" pitchFamily="34" charset="-120"/>
              </a:rPr>
              <a:t>Overlap ÷ union of predicted and true flood area. Primary metric: cannot be gamed by predicting “no flood” everywhere.</a:t>
            </a:r>
            <a:endParaRPr lang="en-US" sz="1300" dirty="0"/>
          </a:p>
        </p:txBody>
      </p:sp>
      <p:sp>
        <p:nvSpPr>
          <p:cNvPr id="10" name="Shape 8"/>
          <p:cNvSpPr/>
          <p:nvPr/>
        </p:nvSpPr>
        <p:spPr>
          <a:xfrm>
            <a:off x="548640" y="2359152"/>
            <a:ext cx="2651760" cy="694944"/>
          </a:xfrm>
          <a:prstGeom prst="rect">
            <a:avLst/>
          </a:prstGeom>
          <a:solidFill>
            <a:srgbClr val="0B2545"/>
          </a:solidFill>
          <a:ln/>
        </p:spPr>
      </p:sp>
      <p:sp>
        <p:nvSpPr>
          <p:cNvPr id="11" name="Text 9"/>
          <p:cNvSpPr/>
          <p:nvPr/>
        </p:nvSpPr>
        <p:spPr>
          <a:xfrm>
            <a:off x="548640" y="2359152"/>
            <a:ext cx="2651760" cy="694944"/>
          </a:xfrm>
          <a:prstGeom prst="rect">
            <a:avLst/>
          </a:prstGeom>
          <a:noFill/>
          <a:ln/>
        </p:spPr>
        <p:txBody>
          <a:bodyPr wrap="square" lIns="25400" tIns="25400" rIns="25400" bIns="2540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Precision</a:t>
            </a:r>
            <a:endParaRPr lang="en-US" sz="1500" dirty="0"/>
          </a:p>
        </p:txBody>
      </p:sp>
      <p:sp>
        <p:nvSpPr>
          <p:cNvPr id="12" name="Text 10"/>
          <p:cNvSpPr/>
          <p:nvPr/>
        </p:nvSpPr>
        <p:spPr>
          <a:xfrm>
            <a:off x="3383280" y="2359152"/>
            <a:ext cx="3931920" cy="694944"/>
          </a:xfrm>
          <a:prstGeom prst="rect">
            <a:avLst/>
          </a:prstGeom>
          <a:noFill/>
          <a:ln/>
        </p:spPr>
        <p:txBody>
          <a:bodyPr wrap="square" lIns="0" tIns="0" rIns="0" bIns="0" rtlCol="0" anchor="ctr"/>
          <a:lstStyle/>
          <a:p>
            <a:pPr indent="0" marL="0">
              <a:buNone/>
            </a:pPr>
            <a:r>
              <a:rPr lang="en-US" sz="1300" dirty="0">
                <a:solidFill>
                  <a:srgbClr val="1B2733"/>
                </a:solidFill>
                <a:latin typeface="Calibri" pitchFamily="34" charset="0"/>
                <a:ea typeface="Calibri" pitchFamily="34" charset="-122"/>
                <a:cs typeface="Calibri" pitchFamily="34" charset="-120"/>
              </a:rPr>
              <a:t>Of pixels predicted as flood, fraction truly flooded (false-alarm rate).</a:t>
            </a:r>
            <a:endParaRPr lang="en-US" sz="1300" dirty="0"/>
          </a:p>
        </p:txBody>
      </p:sp>
      <p:sp>
        <p:nvSpPr>
          <p:cNvPr id="13" name="Shape 11"/>
          <p:cNvSpPr/>
          <p:nvPr/>
        </p:nvSpPr>
        <p:spPr>
          <a:xfrm>
            <a:off x="548640" y="3163824"/>
            <a:ext cx="2651760" cy="694944"/>
          </a:xfrm>
          <a:prstGeom prst="rect">
            <a:avLst/>
          </a:prstGeom>
          <a:solidFill>
            <a:srgbClr val="0B2545"/>
          </a:solidFill>
          <a:ln/>
        </p:spPr>
      </p:sp>
      <p:sp>
        <p:nvSpPr>
          <p:cNvPr id="14" name="Text 12"/>
          <p:cNvSpPr/>
          <p:nvPr/>
        </p:nvSpPr>
        <p:spPr>
          <a:xfrm>
            <a:off x="548640" y="3163824"/>
            <a:ext cx="2651760" cy="694944"/>
          </a:xfrm>
          <a:prstGeom prst="rect">
            <a:avLst/>
          </a:prstGeom>
          <a:noFill/>
          <a:ln/>
        </p:spPr>
        <p:txBody>
          <a:bodyPr wrap="square" lIns="25400" tIns="25400" rIns="25400" bIns="2540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Recall</a:t>
            </a:r>
            <a:endParaRPr lang="en-US" sz="1500" dirty="0"/>
          </a:p>
        </p:txBody>
      </p:sp>
      <p:sp>
        <p:nvSpPr>
          <p:cNvPr id="15" name="Text 13"/>
          <p:cNvSpPr/>
          <p:nvPr/>
        </p:nvSpPr>
        <p:spPr>
          <a:xfrm>
            <a:off x="3383280" y="3163824"/>
            <a:ext cx="3931920" cy="694944"/>
          </a:xfrm>
          <a:prstGeom prst="rect">
            <a:avLst/>
          </a:prstGeom>
          <a:noFill/>
          <a:ln/>
        </p:spPr>
        <p:txBody>
          <a:bodyPr wrap="square" lIns="0" tIns="0" rIns="0" bIns="0" rtlCol="0" anchor="ctr"/>
          <a:lstStyle/>
          <a:p>
            <a:pPr indent="0" marL="0">
              <a:buNone/>
            </a:pPr>
            <a:r>
              <a:rPr lang="en-US" sz="1300" dirty="0">
                <a:solidFill>
                  <a:srgbClr val="1B2733"/>
                </a:solidFill>
                <a:latin typeface="Calibri" pitchFamily="34" charset="0"/>
                <a:ea typeface="Calibri" pitchFamily="34" charset="-122"/>
                <a:cs typeface="Calibri" pitchFamily="34" charset="-120"/>
              </a:rPr>
              <a:t>Of truly flooded pixels, fraction detected (missed-flood rate).</a:t>
            </a:r>
            <a:endParaRPr lang="en-US" sz="1300" dirty="0"/>
          </a:p>
        </p:txBody>
      </p:sp>
      <p:sp>
        <p:nvSpPr>
          <p:cNvPr id="16" name="Shape 14"/>
          <p:cNvSpPr/>
          <p:nvPr/>
        </p:nvSpPr>
        <p:spPr>
          <a:xfrm>
            <a:off x="548640" y="3968496"/>
            <a:ext cx="2651760" cy="694944"/>
          </a:xfrm>
          <a:prstGeom prst="rect">
            <a:avLst/>
          </a:prstGeom>
          <a:solidFill>
            <a:srgbClr val="0B2545"/>
          </a:solidFill>
          <a:ln/>
        </p:spPr>
      </p:sp>
      <p:sp>
        <p:nvSpPr>
          <p:cNvPr id="17" name="Text 15"/>
          <p:cNvSpPr/>
          <p:nvPr/>
        </p:nvSpPr>
        <p:spPr>
          <a:xfrm>
            <a:off x="548640" y="3968496"/>
            <a:ext cx="2651760" cy="694944"/>
          </a:xfrm>
          <a:prstGeom prst="rect">
            <a:avLst/>
          </a:prstGeom>
          <a:noFill/>
          <a:ln/>
        </p:spPr>
        <p:txBody>
          <a:bodyPr wrap="square" lIns="25400" tIns="25400" rIns="25400" bIns="2540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F1-score</a:t>
            </a:r>
            <a:endParaRPr lang="en-US" sz="1500" dirty="0"/>
          </a:p>
        </p:txBody>
      </p:sp>
      <p:sp>
        <p:nvSpPr>
          <p:cNvPr id="18" name="Text 16"/>
          <p:cNvSpPr/>
          <p:nvPr/>
        </p:nvSpPr>
        <p:spPr>
          <a:xfrm>
            <a:off x="3383280" y="3968496"/>
            <a:ext cx="3931920" cy="694944"/>
          </a:xfrm>
          <a:prstGeom prst="rect">
            <a:avLst/>
          </a:prstGeom>
          <a:noFill/>
          <a:ln/>
        </p:spPr>
        <p:txBody>
          <a:bodyPr wrap="square" lIns="0" tIns="0" rIns="0" bIns="0" rtlCol="0" anchor="ctr"/>
          <a:lstStyle/>
          <a:p>
            <a:pPr indent="0" marL="0">
              <a:buNone/>
            </a:pPr>
            <a:r>
              <a:rPr lang="en-US" sz="1300" dirty="0">
                <a:solidFill>
                  <a:srgbClr val="1B2733"/>
                </a:solidFill>
                <a:latin typeface="Calibri" pitchFamily="34" charset="0"/>
                <a:ea typeface="Calibri" pitchFamily="34" charset="-122"/>
                <a:cs typeface="Calibri" pitchFamily="34" charset="-120"/>
              </a:rPr>
              <a:t>Harmonic mean of precision and recall.</a:t>
            </a:r>
            <a:endParaRPr lang="en-US" sz="1300" dirty="0"/>
          </a:p>
        </p:txBody>
      </p:sp>
      <p:sp>
        <p:nvSpPr>
          <p:cNvPr id="19" name="Shape 17"/>
          <p:cNvSpPr/>
          <p:nvPr/>
        </p:nvSpPr>
        <p:spPr>
          <a:xfrm>
            <a:off x="548640" y="4773168"/>
            <a:ext cx="2651760" cy="694944"/>
          </a:xfrm>
          <a:prstGeom prst="rect">
            <a:avLst/>
          </a:prstGeom>
          <a:solidFill>
            <a:srgbClr val="0B2545"/>
          </a:solidFill>
          <a:ln/>
        </p:spPr>
      </p:sp>
      <p:sp>
        <p:nvSpPr>
          <p:cNvPr id="20" name="Text 18"/>
          <p:cNvSpPr/>
          <p:nvPr/>
        </p:nvSpPr>
        <p:spPr>
          <a:xfrm>
            <a:off x="548640" y="4773168"/>
            <a:ext cx="2651760" cy="694944"/>
          </a:xfrm>
          <a:prstGeom prst="rect">
            <a:avLst/>
          </a:prstGeom>
          <a:noFill/>
          <a:ln/>
        </p:spPr>
        <p:txBody>
          <a:bodyPr wrap="square" lIns="25400" tIns="25400" rIns="25400" bIns="2540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Confusion matrix &amp; inference time</a:t>
            </a:r>
            <a:endParaRPr lang="en-US" sz="1500" dirty="0"/>
          </a:p>
        </p:txBody>
      </p:sp>
      <p:sp>
        <p:nvSpPr>
          <p:cNvPr id="21" name="Text 19"/>
          <p:cNvSpPr/>
          <p:nvPr/>
        </p:nvSpPr>
        <p:spPr>
          <a:xfrm>
            <a:off x="3383280" y="4773168"/>
            <a:ext cx="3931920" cy="694944"/>
          </a:xfrm>
          <a:prstGeom prst="rect">
            <a:avLst/>
          </a:prstGeom>
          <a:noFill/>
          <a:ln/>
        </p:spPr>
        <p:txBody>
          <a:bodyPr wrap="square" lIns="0" tIns="0" rIns="0" bIns="0" rtlCol="0" anchor="ctr"/>
          <a:lstStyle/>
          <a:p>
            <a:pPr indent="0" marL="0">
              <a:buNone/>
            </a:pPr>
            <a:r>
              <a:rPr lang="en-US" sz="1300" dirty="0">
                <a:solidFill>
                  <a:srgbClr val="1B2733"/>
                </a:solidFill>
                <a:latin typeface="Calibri" pitchFamily="34" charset="0"/>
                <a:ea typeface="Calibri" pitchFamily="34" charset="-122"/>
                <a:cs typeface="Calibri" pitchFamily="34" charset="-120"/>
              </a:rPr>
              <a:t>Error breakdown and speed for operational use.</a:t>
            </a:r>
            <a:endParaRPr lang="en-US" sz="1300" dirty="0"/>
          </a:p>
        </p:txBody>
      </p:sp>
      <p:sp>
        <p:nvSpPr>
          <p:cNvPr id="22" name="Shape 20"/>
          <p:cNvSpPr/>
          <p:nvPr/>
        </p:nvSpPr>
        <p:spPr>
          <a:xfrm>
            <a:off x="7589520" y="1554480"/>
            <a:ext cx="4050792" cy="3931920"/>
          </a:xfrm>
          <a:prstGeom prst="rect">
            <a:avLst/>
          </a:prstGeom>
          <a:solidFill>
            <a:srgbClr val="EEF4F8"/>
          </a:solidFill>
          <a:ln w="12700">
            <a:solidFill>
              <a:srgbClr val="EEF4F8"/>
            </a:solidFill>
            <a:prstDash val="solid"/>
          </a:ln>
        </p:spPr>
      </p:sp>
      <p:sp>
        <p:nvSpPr>
          <p:cNvPr id="23" name="Shape 21"/>
          <p:cNvSpPr/>
          <p:nvPr/>
        </p:nvSpPr>
        <p:spPr>
          <a:xfrm>
            <a:off x="7589520" y="1554480"/>
            <a:ext cx="73152" cy="3931920"/>
          </a:xfrm>
          <a:prstGeom prst="rect">
            <a:avLst/>
          </a:prstGeom>
          <a:solidFill>
            <a:srgbClr val="1F6FB2"/>
          </a:solidFill>
          <a:ln w="12700">
            <a:solidFill>
              <a:srgbClr val="1F6FB2"/>
            </a:solidFill>
            <a:prstDash val="solid"/>
          </a:ln>
        </p:spPr>
      </p:sp>
      <p:sp>
        <p:nvSpPr>
          <p:cNvPr id="24" name="Text 22"/>
          <p:cNvSpPr/>
          <p:nvPr/>
        </p:nvSpPr>
        <p:spPr>
          <a:xfrm>
            <a:off x="7818120" y="1664208"/>
            <a:ext cx="3685032" cy="411480"/>
          </a:xfrm>
          <a:prstGeom prst="rect">
            <a:avLst/>
          </a:prstGeom>
          <a:noFill/>
          <a:ln/>
        </p:spPr>
        <p:txBody>
          <a:bodyPr wrap="square" lIns="0" tIns="0" rIns="0" bIns="0" rtlCol="0" anchor="t"/>
          <a:lstStyle/>
          <a:p>
            <a:pPr indent="0" marL="0">
              <a:buNone/>
            </a:pPr>
            <a:r>
              <a:rPr lang="en-US" sz="1700" b="1" dirty="0">
                <a:solidFill>
                  <a:srgbClr val="0B2545"/>
                </a:solidFill>
                <a:latin typeface="Calibri" pitchFamily="34" charset="0"/>
                <a:ea typeface="Calibri" pitchFamily="34" charset="-122"/>
                <a:cs typeface="Calibri" pitchFamily="34" charset="-120"/>
              </a:rPr>
              <a:t>Fair scoring rules</a:t>
            </a:r>
            <a:endParaRPr lang="en-US" sz="1700" dirty="0"/>
          </a:p>
        </p:txBody>
      </p:sp>
      <p:sp>
        <p:nvSpPr>
          <p:cNvPr id="25" name="Text 23"/>
          <p:cNvSpPr/>
          <p:nvPr/>
        </p:nvSpPr>
        <p:spPr>
          <a:xfrm>
            <a:off x="7818120" y="2103120"/>
            <a:ext cx="3685032" cy="3291840"/>
          </a:xfrm>
          <a:prstGeom prst="rect">
            <a:avLst/>
          </a:prstGeom>
          <a:noFill/>
          <a:ln/>
        </p:spPr>
        <p:txBody>
          <a:bodyPr wrap="square" lIns="0" tIns="0" rIns="0" bIns="0" rtlCol="0" anchor="t"/>
          <a:lstStyle/>
          <a:p>
            <a:pPr indent="0" marL="0">
              <a:buNone/>
            </a:pPr>
            <a:r>
              <a:rPr lang="en-US" sz="1400" dirty="0">
                <a:solidFill>
                  <a:srgbClr val="1B2733"/>
                </a:solidFill>
                <a:latin typeface="Calibri" pitchFamily="34" charset="0"/>
                <a:ea typeface="Calibri" pitchFamily="34" charset="-122"/>
                <a:cs typeface="Calibri" pitchFamily="34" charset="-120"/>
              </a:rPr>
              <a:t>• Scored only on the held-out test set: 16 unseen events, 32 images</a:t>
            </a:r>
            <a:endParaRPr lang="en-US" sz="1400" dirty="0"/>
          </a:p>
          <a:p>
            <a:pPr indent="0" marL="0">
              <a:buNone/>
            </a:pPr>
            <a:r>
              <a:rPr lang="en-US" sz="1400" dirty="0">
                <a:solidFill>
                  <a:srgbClr val="1B2733"/>
                </a:solidFill>
                <a:latin typeface="Calibri" pitchFamily="34" charset="0"/>
                <a:ea typeface="Calibri" pitchFamily="34" charset="-122"/>
                <a:cs typeface="Calibri" pitchFamily="34" charset="-120"/>
              </a:rPr>
              <a:t>• Cloud and permanent-water ignore pixels excluded</a:t>
            </a:r>
            <a:endParaRPr lang="en-US" sz="1400" dirty="0"/>
          </a:p>
          <a:p>
            <a:pPr indent="0" marL="0">
              <a:buNone/>
            </a:pPr>
            <a:r>
              <a:rPr lang="en-US" sz="1400" dirty="0">
                <a:solidFill>
                  <a:srgbClr val="1B2733"/>
                </a:solidFill>
                <a:latin typeface="Calibri" pitchFamily="34" charset="0"/>
                <a:ea typeface="Calibri" pitchFamily="34" charset="-122"/>
                <a:cs typeface="Calibri" pitchFamily="34" charset="-120"/>
              </a:rPr>
              <a:t>• Metrics pooled across all test pixels, plus per-event breakdown</a:t>
            </a:r>
            <a:endParaRPr lang="en-US" sz="1400" dirty="0"/>
          </a:p>
          <a:p>
            <a:pPr indent="0" marL="0">
              <a:buNone/>
            </a:pPr>
            <a:r>
              <a:rPr lang="en-US" sz="1400" dirty="0">
                <a:solidFill>
                  <a:srgbClr val="1B2733"/>
                </a:solidFill>
                <a:latin typeface="Calibri" pitchFamily="34" charset="0"/>
                <a:ea typeface="Calibri" pitchFamily="34" charset="-122"/>
                <a:cs typeface="Calibri" pitchFamily="34" charset="-120"/>
              </a:rPr>
              <a:t>• Visual check: image | NDEM truth | prediction | error map (hits, false alarms, misses)</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13A89E"/>
          </a:solidFill>
          <a:ln/>
        </p:spPr>
      </p:sp>
      <p:sp>
        <p:nvSpPr>
          <p:cNvPr id="3" name="Text 1"/>
          <p:cNvSpPr/>
          <p:nvPr/>
        </p:nvSpPr>
        <p:spPr>
          <a:xfrm>
            <a:off x="548640" y="320040"/>
            <a:ext cx="10972800" cy="640080"/>
          </a:xfrm>
          <a:prstGeom prst="rect">
            <a:avLst/>
          </a:prstGeom>
          <a:noFill/>
          <a:ln/>
        </p:spPr>
        <p:txBody>
          <a:bodyPr wrap="square" lIns="0" tIns="0" rIns="0" bIns="0" rtlCol="0" anchor="ctr"/>
          <a:lstStyle/>
          <a:p>
            <a:pPr indent="0" marL="0">
              <a:buNone/>
            </a:pPr>
            <a:r>
              <a:rPr lang="en-US" sz="3000" b="1" dirty="0">
                <a:solidFill>
                  <a:srgbClr val="0B2545"/>
                </a:solidFill>
                <a:latin typeface="Calibri" pitchFamily="34" charset="0"/>
                <a:ea typeface="Calibri" pitchFamily="34" charset="-122"/>
                <a:cs typeface="Calibri" pitchFamily="34" charset="-120"/>
              </a:rPr>
              <a:t>Results: baseline vs fine-tuned</a:t>
            </a:r>
            <a:endParaRPr lang="en-US" sz="3000" dirty="0"/>
          </a:p>
        </p:txBody>
      </p:sp>
      <p:sp>
        <p:nvSpPr>
          <p:cNvPr id="4" name="Text 2"/>
          <p:cNvSpPr/>
          <p:nvPr/>
        </p:nvSpPr>
        <p:spPr>
          <a:xfrm>
            <a:off x="548640" y="932688"/>
            <a:ext cx="10972800" cy="365760"/>
          </a:xfrm>
          <a:prstGeom prst="rect">
            <a:avLst/>
          </a:prstGeom>
          <a:noFill/>
          <a:ln/>
        </p:spPr>
        <p:txBody>
          <a:bodyPr wrap="square" lIns="0" tIns="0" rIns="0" bIns="0" rtlCol="0" anchor="ctr"/>
          <a:lstStyle/>
          <a:p>
            <a:pPr indent="0" marL="0">
              <a:buNone/>
            </a:pPr>
            <a:r>
              <a:rPr lang="en-US" sz="1500" dirty="0">
                <a:solidFill>
                  <a:srgbClr val="5B6B7B"/>
                </a:solidFill>
                <a:latin typeface="Calibri" pitchFamily="34" charset="0"/>
                <a:ea typeface="Calibri" pitchFamily="34" charset="-122"/>
                <a:cs typeface="Calibri" pitchFamily="34" charset="-120"/>
              </a:rPr>
              <a:t>Held-out test set of 16 unseen Indian flood events</a:t>
            </a:r>
            <a:endParaRPr lang="en-US" sz="1500" dirty="0"/>
          </a:p>
        </p:txBody>
      </p:sp>
      <p:sp>
        <p:nvSpPr>
          <p:cNvPr id="5" name="Text 3"/>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Prithvi Flood-IN  |  CE 766 Integrated Design Project  |  Progress Review</a:t>
            </a:r>
            <a:endParaRPr lang="en-US" sz="1000" dirty="0"/>
          </a:p>
        </p:txBody>
      </p:sp>
      <p:sp>
        <p:nvSpPr>
          <p:cNvPr id="6" name="Text 4"/>
          <p:cNvSpPr/>
          <p:nvPr/>
        </p:nvSpPr>
        <p:spPr>
          <a:xfrm>
            <a:off x="11155680" y="6446520"/>
            <a:ext cx="548640" cy="274320"/>
          </a:xfrm>
          <a:prstGeom prst="rect">
            <a:avLst/>
          </a:prstGeom>
          <a:noFill/>
          <a:ln/>
        </p:spPr>
        <p:txBody>
          <a:bodyPr wrap="square" lIns="0" tIns="0" rIns="0" bIns="0" rtlCol="0" anchor="ctr"/>
          <a:lstStyle/>
          <a:p>
            <a:pPr algn="r" indent="0" marL="0">
              <a:buNone/>
            </a:pPr>
            <a:r>
              <a:rPr lang="en-US" sz="1000" dirty="0">
                <a:solidFill>
                  <a:srgbClr val="5B6B7B"/>
                </a:solidFill>
                <a:latin typeface="Calibri" pitchFamily="34" charset="0"/>
                <a:ea typeface="Calibri" pitchFamily="34" charset="-122"/>
                <a:cs typeface="Calibri" pitchFamily="34" charset="-120"/>
              </a:rPr>
              <a:t>12</a:t>
            </a:r>
            <a:endParaRPr lang="en-US" sz="1000" dirty="0"/>
          </a:p>
        </p:txBody>
      </p:sp>
      <p:graphicFrame>
        <p:nvGraphicFramePr>
          <p:cNvPr id="7" name="Chart 0" descr=""/>
          <p:cNvGraphicFramePr/>
          <p:nvPr/>
        </p:nvGraphicFramePr>
        <p:xfrm>
          <a:off x="457200" y="1463040"/>
          <a:ext cx="6309360" cy="4754880"/>
        </p:xfrm>
        <a:graphic xmlns:a="http://schemas.openxmlformats.org/drawingml/2006/main">
          <a:graphicData uri="http://schemas.openxmlformats.org/drawingml/2006/chart">
            <c:chart xmlns:c="http://schemas.openxmlformats.org/drawingml/2006/chart" r:id="rId1"/>
          </a:graphicData>
        </a:graphic>
      </p:graphicFrame>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7040880" y="1554480"/>
          <a:ext cx="4663440" cy="914400"/>
        </p:xfrm>
        <a:graphic>
          <a:graphicData uri="http://schemas.openxmlformats.org/drawingml/2006/table">
            <a:tbl>
              <a:tblPr/>
              <a:tblGrid>
                <a:gridCol w="1463040"/>
                <a:gridCol w="1005840"/>
                <a:gridCol w="1005840"/>
                <a:gridCol w="1188720"/>
              </a:tblGrid>
              <a:tr h="457200">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Metric</a:t>
                      </a:r>
                      <a:endParaRPr lang="en-US" sz="1500" dirty="0">
                        <a:latin typeface="Calibri" charset="0"/>
                        <a:ea typeface="Calibri" charset="0"/>
                        <a:cs typeface="Calibri" charset="0"/>
                      </a:endParaRPr>
                    </a:p>
                  </a:txBody>
                  <a:tcPr marL="91440" marR="91440" marT="45720" marB="45720" anchor="ctr">
                    <a:lnL w="12700" cap="flat" cmpd="sng" algn="ctr">
                      <a:solidFill>
                        <a:srgbClr val="D5DEE6"/>
                      </a:solidFill>
                      <a:prstDash val="solid"/>
                      <a:round/>
                      <a:headEnd type="none" w="med" len="med"/>
                      <a:tailEnd type="none" w="med" len="med"/>
                    </a:lnL>
                    <a:lnR w="12700" cap="flat" cmpd="sng" algn="ctr">
                      <a:solidFill>
                        <a:srgbClr val="D5DEE6"/>
                      </a:solidFill>
                      <a:prstDash val="solid"/>
                      <a:round/>
                      <a:headEnd type="none" w="med" len="med"/>
                      <a:tailEnd type="none" w="med" len="med"/>
                    </a:lnR>
                    <a:lnT w="12700" cap="flat" cmpd="sng" algn="ctr">
                      <a:solidFill>
                        <a:srgbClr val="D5DEE6"/>
                      </a:solidFill>
                      <a:prstDash val="solid"/>
                      <a:round/>
                      <a:headEnd type="none" w="med" len="med"/>
                      <a:tailEnd type="none" w="med" len="med"/>
                    </a:lnT>
                    <a:lnB w="12700" cap="flat" cmpd="sng" algn="ctr">
                      <a:solidFill>
                        <a:srgbClr val="D5DEE6"/>
                      </a:solidFill>
                      <a:prstDash val="solid"/>
                      <a:round/>
                      <a:headEnd type="none" w="med" len="med"/>
                      <a:tailEnd type="none" w="med" len="med"/>
                    </a:lnB>
                    <a:solidFill>
                      <a:srgbClr val="0B2545"/>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Base</a:t>
                      </a:r>
                      <a:endParaRPr lang="en-US" sz="1500" dirty="0">
                        <a:latin typeface="Calibri" charset="0"/>
                        <a:ea typeface="Calibri" charset="0"/>
                        <a:cs typeface="Calibri" charset="0"/>
                      </a:endParaRPr>
                    </a:p>
                  </a:txBody>
                  <a:tcPr marL="91440" marR="91440" marT="45720" marB="45720" anchor="ctr">
                    <a:lnL w="12700" cap="flat" cmpd="sng" algn="ctr">
                      <a:solidFill>
                        <a:srgbClr val="D5DEE6"/>
                      </a:solidFill>
                      <a:prstDash val="solid"/>
                      <a:round/>
                      <a:headEnd type="none" w="med" len="med"/>
                      <a:tailEnd type="none" w="med" len="med"/>
                    </a:lnL>
                    <a:lnR w="12700" cap="flat" cmpd="sng" algn="ctr">
                      <a:solidFill>
                        <a:srgbClr val="D5DEE6"/>
                      </a:solidFill>
                      <a:prstDash val="solid"/>
                      <a:round/>
                      <a:headEnd type="none" w="med" len="med"/>
                      <a:tailEnd type="none" w="med" len="med"/>
                    </a:lnR>
                    <a:lnT w="12700" cap="flat" cmpd="sng" algn="ctr">
                      <a:solidFill>
                        <a:srgbClr val="D5DEE6"/>
                      </a:solidFill>
                      <a:prstDash val="solid"/>
                      <a:round/>
                      <a:headEnd type="none" w="med" len="med"/>
                      <a:tailEnd type="none" w="med" len="med"/>
                    </a:lnT>
                    <a:lnB w="12700" cap="flat" cmpd="sng" algn="ctr">
                      <a:solidFill>
                        <a:srgbClr val="D5DEE6"/>
                      </a:solidFill>
                      <a:prstDash val="solid"/>
                      <a:round/>
                      <a:headEnd type="none" w="med" len="med"/>
                      <a:tailEnd type="none" w="med" len="med"/>
                    </a:lnB>
                    <a:solidFill>
                      <a:srgbClr val="0B2545"/>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Ours</a:t>
                      </a:r>
                      <a:endParaRPr lang="en-US" sz="1500" dirty="0">
                        <a:latin typeface="Calibri" charset="0"/>
                        <a:ea typeface="Calibri" charset="0"/>
                        <a:cs typeface="Calibri" charset="0"/>
                      </a:endParaRPr>
                    </a:p>
                  </a:txBody>
                  <a:tcPr marL="91440" marR="91440" marT="45720" marB="45720" anchor="ctr">
                    <a:lnL w="12700" cap="flat" cmpd="sng" algn="ctr">
                      <a:solidFill>
                        <a:srgbClr val="D5DEE6"/>
                      </a:solidFill>
                      <a:prstDash val="solid"/>
                      <a:round/>
                      <a:headEnd type="none" w="med" len="med"/>
                      <a:tailEnd type="none" w="med" len="med"/>
                    </a:lnL>
                    <a:lnR w="12700" cap="flat" cmpd="sng" algn="ctr">
                      <a:solidFill>
                        <a:srgbClr val="D5DEE6"/>
                      </a:solidFill>
                      <a:prstDash val="solid"/>
                      <a:round/>
                      <a:headEnd type="none" w="med" len="med"/>
                      <a:tailEnd type="none" w="med" len="med"/>
                    </a:lnR>
                    <a:lnT w="12700" cap="flat" cmpd="sng" algn="ctr">
                      <a:solidFill>
                        <a:srgbClr val="D5DEE6"/>
                      </a:solidFill>
                      <a:prstDash val="solid"/>
                      <a:round/>
                      <a:headEnd type="none" w="med" len="med"/>
                      <a:tailEnd type="none" w="med" len="med"/>
                    </a:lnT>
                    <a:lnB w="12700" cap="flat" cmpd="sng" algn="ctr">
                      <a:solidFill>
                        <a:srgbClr val="D5DEE6"/>
                      </a:solidFill>
                      <a:prstDash val="solid"/>
                      <a:round/>
                      <a:headEnd type="none" w="med" len="med"/>
                      <a:tailEnd type="none" w="med" len="med"/>
                    </a:lnB>
                    <a:solidFill>
                      <a:srgbClr val="0B2545"/>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Δ</a:t>
                      </a:r>
                      <a:endParaRPr lang="en-US" sz="1500" dirty="0">
                        <a:latin typeface="Calibri" charset="0"/>
                        <a:ea typeface="Calibri" charset="0"/>
                        <a:cs typeface="Calibri" charset="0"/>
                      </a:endParaRPr>
                    </a:p>
                  </a:txBody>
                  <a:tcPr marL="91440" marR="91440" marT="45720" marB="45720" anchor="ctr">
                    <a:lnL w="12700" cap="flat" cmpd="sng" algn="ctr">
                      <a:solidFill>
                        <a:srgbClr val="D5DEE6"/>
                      </a:solidFill>
                      <a:prstDash val="solid"/>
                      <a:round/>
                      <a:headEnd type="none" w="med" len="med"/>
                      <a:tailEnd type="none" w="med" len="med"/>
                    </a:lnL>
                    <a:lnR w="12700" cap="flat" cmpd="sng" algn="ctr">
                      <a:solidFill>
                        <a:srgbClr val="D5DEE6"/>
                      </a:solidFill>
                      <a:prstDash val="solid"/>
                      <a:round/>
                      <a:headEnd type="none" w="med" len="med"/>
                      <a:tailEnd type="none" w="med" len="med"/>
                    </a:lnR>
                    <a:lnT w="12700" cap="flat" cmpd="sng" algn="ctr">
                      <a:solidFill>
                        <a:srgbClr val="D5DEE6"/>
                      </a:solidFill>
                      <a:prstDash val="solid"/>
                      <a:round/>
                      <a:headEnd type="none" w="med" len="med"/>
                      <a:tailEnd type="none" w="med" len="med"/>
                    </a:lnT>
                    <a:lnB w="12700" cap="flat" cmpd="sng" algn="ctr">
                      <a:solidFill>
                        <a:srgbClr val="D5DEE6"/>
                      </a:solidFill>
                      <a:prstDash val="solid"/>
                      <a:round/>
                      <a:headEnd type="none" w="med" len="med"/>
                      <a:tailEnd type="none" w="med" len="med"/>
                    </a:lnB>
                    <a:solidFill>
                      <a:srgbClr val="0B2545"/>
                    </a:solidFill>
                  </a:tcPr>
                </a:tc>
              </a:tr>
              <a:tr h="457200">
                <a:tc>
                  <a:txBody>
                    <a:bodyPr/>
                    <a:lstStyle/>
                    <a:p>
                      <a:pPr algn="ctr" indent="0" marL="0">
                        <a:buNone/>
                      </a:pPr>
                      <a:r>
                        <a:rPr lang="en-US" sz="1500" dirty="0">
                          <a:solidFill>
                            <a:srgbClr val="1B2733"/>
                          </a:solidFill>
                          <a:latin typeface="Calibri" pitchFamily="34" charset="0"/>
                          <a:ea typeface="Calibri" pitchFamily="34" charset="-122"/>
                          <a:cs typeface="Calibri" pitchFamily="34" charset="-120"/>
                        </a:rPr>
                        <a:t>IoU</a:t>
                      </a:r>
                      <a:endParaRPr lang="en-US" sz="1500" dirty="0">
                        <a:latin typeface="Calibri" charset="0"/>
                        <a:ea typeface="Calibri" charset="0"/>
                        <a:cs typeface="Calibri" charset="0"/>
                      </a:endParaRPr>
                    </a:p>
                  </a:txBody>
                  <a:tcPr marL="91440" marR="91440" marT="45720" marB="45720" anchor="ctr">
                    <a:lnL w="12700" cap="flat" cmpd="sng" algn="ctr">
                      <a:solidFill>
                        <a:srgbClr val="D5DEE6"/>
                      </a:solidFill>
                      <a:prstDash val="solid"/>
                      <a:round/>
                      <a:headEnd type="none" w="med" len="med"/>
                      <a:tailEnd type="none" w="med" len="med"/>
                    </a:lnL>
                    <a:lnR w="12700" cap="flat" cmpd="sng" algn="ctr">
                      <a:solidFill>
                        <a:srgbClr val="D5DEE6"/>
                      </a:solidFill>
                      <a:prstDash val="solid"/>
                      <a:round/>
                      <a:headEnd type="none" w="med" len="med"/>
                      <a:tailEnd type="none" w="med" len="med"/>
                    </a:lnR>
                    <a:lnT w="12700" cap="flat" cmpd="sng" algn="ctr">
                      <a:solidFill>
                        <a:srgbClr val="D5DEE6"/>
                      </a:solidFill>
                      <a:prstDash val="solid"/>
                      <a:round/>
                      <a:headEnd type="none" w="med" len="med"/>
                      <a:tailEnd type="none" w="med" len="med"/>
                    </a:lnT>
                    <a:lnB w="12700" cap="flat" cmpd="sng" algn="ctr">
                      <a:solidFill>
                        <a:srgbClr val="D5DEE6"/>
                      </a:solidFill>
                      <a:prstDash val="solid"/>
                      <a:round/>
                      <a:headEnd type="none" w="med" len="med"/>
                      <a:tailEnd type="none" w="med" len="med"/>
                    </a:lnB>
                  </a:tcPr>
                </a:tc>
                <a:tc>
                  <a:txBody>
                    <a:bodyPr/>
                    <a:lstStyle/>
                    <a:p>
                      <a:pPr algn="ctr" indent="0" marL="0">
                        <a:buNone/>
                      </a:pPr>
                      <a:r>
                        <a:rPr lang="en-US" sz="1500" dirty="0">
                          <a:solidFill>
                            <a:srgbClr val="1B2733"/>
                          </a:solidFill>
                          <a:latin typeface="Calibri" pitchFamily="34" charset="0"/>
                          <a:ea typeface="Calibri" pitchFamily="34" charset="-122"/>
                          <a:cs typeface="Calibri" pitchFamily="34" charset="-120"/>
                        </a:rPr>
                        <a:t>0.337</a:t>
                      </a:r>
                      <a:endParaRPr lang="en-US" sz="1500" dirty="0">
                        <a:latin typeface="Calibri" charset="0"/>
                        <a:ea typeface="Calibri" charset="0"/>
                        <a:cs typeface="Calibri" charset="0"/>
                      </a:endParaRPr>
                    </a:p>
                  </a:txBody>
                  <a:tcPr marL="91440" marR="91440" marT="45720" marB="45720" anchor="ctr">
                    <a:lnL w="12700" cap="flat" cmpd="sng" algn="ctr">
                      <a:solidFill>
                        <a:srgbClr val="D5DEE6"/>
                      </a:solidFill>
                      <a:prstDash val="solid"/>
                      <a:round/>
                      <a:headEnd type="none" w="med" len="med"/>
                      <a:tailEnd type="none" w="med" len="med"/>
                    </a:lnL>
                    <a:lnR w="12700" cap="flat" cmpd="sng" algn="ctr">
                      <a:solidFill>
                        <a:srgbClr val="D5DEE6"/>
                      </a:solidFill>
                      <a:prstDash val="solid"/>
                      <a:round/>
                      <a:headEnd type="none" w="med" len="med"/>
                      <a:tailEnd type="none" w="med" len="med"/>
                    </a:lnR>
                    <a:lnT w="12700" cap="flat" cmpd="sng" algn="ctr">
                      <a:solidFill>
                        <a:srgbClr val="D5DEE6"/>
                      </a:solidFill>
                      <a:prstDash val="solid"/>
                      <a:round/>
                      <a:headEnd type="none" w="med" len="med"/>
                      <a:tailEnd type="none" w="med" len="med"/>
                    </a:lnT>
                    <a:lnB w="12700" cap="flat" cmpd="sng" algn="ctr">
                      <a:solidFill>
                        <a:srgbClr val="D5DEE6"/>
                      </a:solidFill>
                      <a:prstDash val="solid"/>
                      <a:round/>
                      <a:headEnd type="none" w="med" len="med"/>
                      <a:tailEnd type="none" w="med" len="med"/>
                    </a:lnB>
                  </a:tcPr>
                </a:tc>
                <a:tc>
                  <a:txBody>
                    <a:bodyPr/>
                    <a:lstStyle/>
                    <a:p>
                      <a:pPr algn="ctr" indent="0" marL="0">
                        <a:buNone/>
                      </a:pPr>
                      <a:r>
                        <a:rPr lang="en-US" sz="1500" dirty="0">
                          <a:solidFill>
                            <a:srgbClr val="1B2733"/>
                          </a:solidFill>
                          <a:latin typeface="Calibri" pitchFamily="34" charset="0"/>
                          <a:ea typeface="Calibri" pitchFamily="34" charset="-122"/>
                          <a:cs typeface="Calibri" pitchFamily="34" charset="-120"/>
                        </a:rPr>
                        <a:t>0.375</a:t>
                      </a:r>
                      <a:endParaRPr lang="en-US" sz="1500" dirty="0">
                        <a:latin typeface="Calibri" charset="0"/>
                        <a:ea typeface="Calibri" charset="0"/>
                        <a:cs typeface="Calibri" charset="0"/>
                      </a:endParaRPr>
                    </a:p>
                  </a:txBody>
                  <a:tcPr marL="91440" marR="91440" marT="45720" marB="45720" anchor="ctr">
                    <a:lnL w="12700" cap="flat" cmpd="sng" algn="ctr">
                      <a:solidFill>
                        <a:srgbClr val="D5DEE6"/>
                      </a:solidFill>
                      <a:prstDash val="solid"/>
                      <a:round/>
                      <a:headEnd type="none" w="med" len="med"/>
                      <a:tailEnd type="none" w="med" len="med"/>
                    </a:lnL>
                    <a:lnR w="12700" cap="flat" cmpd="sng" algn="ctr">
                      <a:solidFill>
                        <a:srgbClr val="D5DEE6"/>
                      </a:solidFill>
                      <a:prstDash val="solid"/>
                      <a:round/>
                      <a:headEnd type="none" w="med" len="med"/>
                      <a:tailEnd type="none" w="med" len="med"/>
                    </a:lnR>
                    <a:lnT w="12700" cap="flat" cmpd="sng" algn="ctr">
                      <a:solidFill>
                        <a:srgbClr val="D5DEE6"/>
                      </a:solidFill>
                      <a:prstDash val="solid"/>
                      <a:round/>
                      <a:headEnd type="none" w="med" len="med"/>
                      <a:tailEnd type="none" w="med" len="med"/>
                    </a:lnT>
                    <a:lnB w="12700" cap="flat" cmpd="sng" algn="ctr">
                      <a:solidFill>
                        <a:srgbClr val="D5DEE6"/>
                      </a:solidFill>
                      <a:prstDash val="solid"/>
                      <a:round/>
                      <a:headEnd type="none" w="med" len="med"/>
                      <a:tailEnd type="none" w="med" len="med"/>
                    </a:lnB>
                  </a:tcPr>
                </a:tc>
                <a:tc>
                  <a:txBody>
                    <a:bodyPr/>
                    <a:lstStyle/>
                    <a:p>
                      <a:pPr algn="ctr" indent="0" marL="0">
                        <a:buNone/>
                      </a:pPr>
                      <a:r>
                        <a:rPr lang="en-US" sz="1500" b="1" dirty="0">
                          <a:solidFill>
                            <a:srgbClr val="13A89E"/>
                          </a:solidFill>
                          <a:latin typeface="Calibri" pitchFamily="34" charset="0"/>
                          <a:ea typeface="Calibri" pitchFamily="34" charset="-122"/>
                          <a:cs typeface="Calibri" pitchFamily="34" charset="-120"/>
                        </a:rPr>
                        <a:t>+11%</a:t>
                      </a:r>
                      <a:endParaRPr lang="en-US" sz="1500" dirty="0">
                        <a:latin typeface="Calibri" charset="0"/>
                        <a:ea typeface="Calibri" charset="0"/>
                        <a:cs typeface="Calibri" charset="0"/>
                      </a:endParaRPr>
                    </a:p>
                  </a:txBody>
                  <a:tcPr marL="91440" marR="91440" marT="45720" marB="45720" anchor="ctr">
                    <a:lnL w="12700" cap="flat" cmpd="sng" algn="ctr">
                      <a:solidFill>
                        <a:srgbClr val="D5DEE6"/>
                      </a:solidFill>
                      <a:prstDash val="solid"/>
                      <a:round/>
                      <a:headEnd type="none" w="med" len="med"/>
                      <a:tailEnd type="none" w="med" len="med"/>
                    </a:lnL>
                    <a:lnR w="12700" cap="flat" cmpd="sng" algn="ctr">
                      <a:solidFill>
                        <a:srgbClr val="D5DEE6"/>
                      </a:solidFill>
                      <a:prstDash val="solid"/>
                      <a:round/>
                      <a:headEnd type="none" w="med" len="med"/>
                      <a:tailEnd type="none" w="med" len="med"/>
                    </a:lnR>
                    <a:lnT w="12700" cap="flat" cmpd="sng" algn="ctr">
                      <a:solidFill>
                        <a:srgbClr val="D5DEE6"/>
                      </a:solidFill>
                      <a:prstDash val="solid"/>
                      <a:round/>
                      <a:headEnd type="none" w="med" len="med"/>
                      <a:tailEnd type="none" w="med" len="med"/>
                    </a:lnT>
                    <a:lnB w="12700" cap="flat" cmpd="sng" algn="ctr">
                      <a:solidFill>
                        <a:srgbClr val="D5DEE6"/>
                      </a:solidFill>
                      <a:prstDash val="solid"/>
                      <a:round/>
                      <a:headEnd type="none" w="med" len="med"/>
                      <a:tailEnd type="none" w="med" len="med"/>
                    </a:lnB>
                  </a:tcPr>
                </a:tc>
              </a:tr>
              <a:tr h="457200">
                <a:tc>
                  <a:txBody>
                    <a:bodyPr/>
                    <a:lstStyle/>
                    <a:p>
                      <a:pPr algn="ctr" indent="0" marL="0">
                        <a:buNone/>
                      </a:pPr>
                      <a:r>
                        <a:rPr lang="en-US" sz="1500" dirty="0">
                          <a:solidFill>
                            <a:srgbClr val="1B2733"/>
                          </a:solidFill>
                          <a:latin typeface="Calibri" pitchFamily="34" charset="0"/>
                          <a:ea typeface="Calibri" pitchFamily="34" charset="-122"/>
                          <a:cs typeface="Calibri" pitchFamily="34" charset="-120"/>
                        </a:rPr>
                        <a:t>Precision</a:t>
                      </a:r>
                      <a:endParaRPr lang="en-US" sz="1500" dirty="0">
                        <a:latin typeface="Calibri" charset="0"/>
                        <a:ea typeface="Calibri" charset="0"/>
                        <a:cs typeface="Calibri" charset="0"/>
                      </a:endParaRPr>
                    </a:p>
                  </a:txBody>
                  <a:tcPr marL="91440" marR="91440" marT="45720" marB="45720" anchor="ctr">
                    <a:lnL w="12700" cap="flat" cmpd="sng" algn="ctr">
                      <a:solidFill>
                        <a:srgbClr val="D5DEE6"/>
                      </a:solidFill>
                      <a:prstDash val="solid"/>
                      <a:round/>
                      <a:headEnd type="none" w="med" len="med"/>
                      <a:tailEnd type="none" w="med" len="med"/>
                    </a:lnL>
                    <a:lnR w="12700" cap="flat" cmpd="sng" algn="ctr">
                      <a:solidFill>
                        <a:srgbClr val="D5DEE6"/>
                      </a:solidFill>
                      <a:prstDash val="solid"/>
                      <a:round/>
                      <a:headEnd type="none" w="med" len="med"/>
                      <a:tailEnd type="none" w="med" len="med"/>
                    </a:lnR>
                    <a:lnT w="12700" cap="flat" cmpd="sng" algn="ctr">
                      <a:solidFill>
                        <a:srgbClr val="D5DEE6"/>
                      </a:solidFill>
                      <a:prstDash val="solid"/>
                      <a:round/>
                      <a:headEnd type="none" w="med" len="med"/>
                      <a:tailEnd type="none" w="med" len="med"/>
                    </a:lnT>
                    <a:lnB w="12700" cap="flat" cmpd="sng" algn="ctr">
                      <a:solidFill>
                        <a:srgbClr val="D5DEE6"/>
                      </a:solidFill>
                      <a:prstDash val="solid"/>
                      <a:round/>
                      <a:headEnd type="none" w="med" len="med"/>
                      <a:tailEnd type="none" w="med" len="med"/>
                    </a:lnB>
                  </a:tcPr>
                </a:tc>
                <a:tc>
                  <a:txBody>
                    <a:bodyPr/>
                    <a:lstStyle/>
                    <a:p>
                      <a:pPr algn="ctr" indent="0" marL="0">
                        <a:buNone/>
                      </a:pPr>
                      <a:r>
                        <a:rPr lang="en-US" sz="1500" dirty="0">
                          <a:solidFill>
                            <a:srgbClr val="1B2733"/>
                          </a:solidFill>
                          <a:latin typeface="Calibri" pitchFamily="34" charset="0"/>
                          <a:ea typeface="Calibri" pitchFamily="34" charset="-122"/>
                          <a:cs typeface="Calibri" pitchFamily="34" charset="-120"/>
                        </a:rPr>
                        <a:t>0.391</a:t>
                      </a:r>
                      <a:endParaRPr lang="en-US" sz="1500" dirty="0">
                        <a:latin typeface="Calibri" charset="0"/>
                        <a:ea typeface="Calibri" charset="0"/>
                        <a:cs typeface="Calibri" charset="0"/>
                      </a:endParaRPr>
                    </a:p>
                  </a:txBody>
                  <a:tcPr marL="91440" marR="91440" marT="45720" marB="45720" anchor="ctr">
                    <a:lnL w="12700" cap="flat" cmpd="sng" algn="ctr">
                      <a:solidFill>
                        <a:srgbClr val="D5DEE6"/>
                      </a:solidFill>
                      <a:prstDash val="solid"/>
                      <a:round/>
                      <a:headEnd type="none" w="med" len="med"/>
                      <a:tailEnd type="none" w="med" len="med"/>
                    </a:lnL>
                    <a:lnR w="12700" cap="flat" cmpd="sng" algn="ctr">
                      <a:solidFill>
                        <a:srgbClr val="D5DEE6"/>
                      </a:solidFill>
                      <a:prstDash val="solid"/>
                      <a:round/>
                      <a:headEnd type="none" w="med" len="med"/>
                      <a:tailEnd type="none" w="med" len="med"/>
                    </a:lnR>
                    <a:lnT w="12700" cap="flat" cmpd="sng" algn="ctr">
                      <a:solidFill>
                        <a:srgbClr val="D5DEE6"/>
                      </a:solidFill>
                      <a:prstDash val="solid"/>
                      <a:round/>
                      <a:headEnd type="none" w="med" len="med"/>
                      <a:tailEnd type="none" w="med" len="med"/>
                    </a:lnT>
                    <a:lnB w="12700" cap="flat" cmpd="sng" algn="ctr">
                      <a:solidFill>
                        <a:srgbClr val="D5DEE6"/>
                      </a:solidFill>
                      <a:prstDash val="solid"/>
                      <a:round/>
                      <a:headEnd type="none" w="med" len="med"/>
                      <a:tailEnd type="none" w="med" len="med"/>
                    </a:lnB>
                  </a:tcPr>
                </a:tc>
                <a:tc>
                  <a:txBody>
                    <a:bodyPr/>
                    <a:lstStyle/>
                    <a:p>
                      <a:pPr algn="ctr" indent="0" marL="0">
                        <a:buNone/>
                      </a:pPr>
                      <a:r>
                        <a:rPr lang="en-US" sz="1500" dirty="0">
                          <a:solidFill>
                            <a:srgbClr val="1B2733"/>
                          </a:solidFill>
                          <a:latin typeface="Calibri" pitchFamily="34" charset="0"/>
                          <a:ea typeface="Calibri" pitchFamily="34" charset="-122"/>
                          <a:cs typeface="Calibri" pitchFamily="34" charset="-120"/>
                        </a:rPr>
                        <a:t>0.560</a:t>
                      </a:r>
                      <a:endParaRPr lang="en-US" sz="1500" dirty="0">
                        <a:latin typeface="Calibri" charset="0"/>
                        <a:ea typeface="Calibri" charset="0"/>
                        <a:cs typeface="Calibri" charset="0"/>
                      </a:endParaRPr>
                    </a:p>
                  </a:txBody>
                  <a:tcPr marL="91440" marR="91440" marT="45720" marB="45720" anchor="ctr">
                    <a:lnL w="12700" cap="flat" cmpd="sng" algn="ctr">
                      <a:solidFill>
                        <a:srgbClr val="D5DEE6"/>
                      </a:solidFill>
                      <a:prstDash val="solid"/>
                      <a:round/>
                      <a:headEnd type="none" w="med" len="med"/>
                      <a:tailEnd type="none" w="med" len="med"/>
                    </a:lnL>
                    <a:lnR w="12700" cap="flat" cmpd="sng" algn="ctr">
                      <a:solidFill>
                        <a:srgbClr val="D5DEE6"/>
                      </a:solidFill>
                      <a:prstDash val="solid"/>
                      <a:round/>
                      <a:headEnd type="none" w="med" len="med"/>
                      <a:tailEnd type="none" w="med" len="med"/>
                    </a:lnR>
                    <a:lnT w="12700" cap="flat" cmpd="sng" algn="ctr">
                      <a:solidFill>
                        <a:srgbClr val="D5DEE6"/>
                      </a:solidFill>
                      <a:prstDash val="solid"/>
                      <a:round/>
                      <a:headEnd type="none" w="med" len="med"/>
                      <a:tailEnd type="none" w="med" len="med"/>
                    </a:lnT>
                    <a:lnB w="12700" cap="flat" cmpd="sng" algn="ctr">
                      <a:solidFill>
                        <a:srgbClr val="D5DEE6"/>
                      </a:solidFill>
                      <a:prstDash val="solid"/>
                      <a:round/>
                      <a:headEnd type="none" w="med" len="med"/>
                      <a:tailEnd type="none" w="med" len="med"/>
                    </a:lnB>
                  </a:tcPr>
                </a:tc>
                <a:tc>
                  <a:txBody>
                    <a:bodyPr/>
                    <a:lstStyle/>
                    <a:p>
                      <a:pPr algn="ctr" indent="0" marL="0">
                        <a:buNone/>
                      </a:pPr>
                      <a:r>
                        <a:rPr lang="en-US" sz="1500" b="1" dirty="0">
                          <a:solidFill>
                            <a:srgbClr val="13A89E"/>
                          </a:solidFill>
                          <a:latin typeface="Calibri" pitchFamily="34" charset="0"/>
                          <a:ea typeface="Calibri" pitchFamily="34" charset="-122"/>
                          <a:cs typeface="Calibri" pitchFamily="34" charset="-120"/>
                        </a:rPr>
                        <a:t>+43%</a:t>
                      </a:r>
                      <a:endParaRPr lang="en-US" sz="1500" dirty="0">
                        <a:latin typeface="Calibri" charset="0"/>
                        <a:ea typeface="Calibri" charset="0"/>
                        <a:cs typeface="Calibri" charset="0"/>
                      </a:endParaRPr>
                    </a:p>
                  </a:txBody>
                  <a:tcPr marL="91440" marR="91440" marT="45720" marB="45720" anchor="ctr">
                    <a:lnL w="12700" cap="flat" cmpd="sng" algn="ctr">
                      <a:solidFill>
                        <a:srgbClr val="D5DEE6"/>
                      </a:solidFill>
                      <a:prstDash val="solid"/>
                      <a:round/>
                      <a:headEnd type="none" w="med" len="med"/>
                      <a:tailEnd type="none" w="med" len="med"/>
                    </a:lnL>
                    <a:lnR w="12700" cap="flat" cmpd="sng" algn="ctr">
                      <a:solidFill>
                        <a:srgbClr val="D5DEE6"/>
                      </a:solidFill>
                      <a:prstDash val="solid"/>
                      <a:round/>
                      <a:headEnd type="none" w="med" len="med"/>
                      <a:tailEnd type="none" w="med" len="med"/>
                    </a:lnR>
                    <a:lnT w="12700" cap="flat" cmpd="sng" algn="ctr">
                      <a:solidFill>
                        <a:srgbClr val="D5DEE6"/>
                      </a:solidFill>
                      <a:prstDash val="solid"/>
                      <a:round/>
                      <a:headEnd type="none" w="med" len="med"/>
                      <a:tailEnd type="none" w="med" len="med"/>
                    </a:lnT>
                    <a:lnB w="12700" cap="flat" cmpd="sng" algn="ctr">
                      <a:solidFill>
                        <a:srgbClr val="D5DEE6"/>
                      </a:solidFill>
                      <a:prstDash val="solid"/>
                      <a:round/>
                      <a:headEnd type="none" w="med" len="med"/>
                      <a:tailEnd type="none" w="med" len="med"/>
                    </a:lnB>
                  </a:tcPr>
                </a:tc>
              </a:tr>
              <a:tr h="457200">
                <a:tc>
                  <a:txBody>
                    <a:bodyPr/>
                    <a:lstStyle/>
                    <a:p>
                      <a:pPr algn="ctr" indent="0" marL="0">
                        <a:buNone/>
                      </a:pPr>
                      <a:r>
                        <a:rPr lang="en-US" sz="1500" dirty="0">
                          <a:solidFill>
                            <a:srgbClr val="1B2733"/>
                          </a:solidFill>
                          <a:latin typeface="Calibri" pitchFamily="34" charset="0"/>
                          <a:ea typeface="Calibri" pitchFamily="34" charset="-122"/>
                          <a:cs typeface="Calibri" pitchFamily="34" charset="-120"/>
                        </a:rPr>
                        <a:t>Recall</a:t>
                      </a:r>
                      <a:endParaRPr lang="en-US" sz="1500" dirty="0">
                        <a:latin typeface="Calibri" charset="0"/>
                        <a:ea typeface="Calibri" charset="0"/>
                        <a:cs typeface="Calibri" charset="0"/>
                      </a:endParaRPr>
                    </a:p>
                  </a:txBody>
                  <a:tcPr marL="91440" marR="91440" marT="45720" marB="45720" anchor="ctr">
                    <a:lnL w="12700" cap="flat" cmpd="sng" algn="ctr">
                      <a:solidFill>
                        <a:srgbClr val="D5DEE6"/>
                      </a:solidFill>
                      <a:prstDash val="solid"/>
                      <a:round/>
                      <a:headEnd type="none" w="med" len="med"/>
                      <a:tailEnd type="none" w="med" len="med"/>
                    </a:lnL>
                    <a:lnR w="12700" cap="flat" cmpd="sng" algn="ctr">
                      <a:solidFill>
                        <a:srgbClr val="D5DEE6"/>
                      </a:solidFill>
                      <a:prstDash val="solid"/>
                      <a:round/>
                      <a:headEnd type="none" w="med" len="med"/>
                      <a:tailEnd type="none" w="med" len="med"/>
                    </a:lnR>
                    <a:lnT w="12700" cap="flat" cmpd="sng" algn="ctr">
                      <a:solidFill>
                        <a:srgbClr val="D5DEE6"/>
                      </a:solidFill>
                      <a:prstDash val="solid"/>
                      <a:round/>
                      <a:headEnd type="none" w="med" len="med"/>
                      <a:tailEnd type="none" w="med" len="med"/>
                    </a:lnT>
                    <a:lnB w="12700" cap="flat" cmpd="sng" algn="ctr">
                      <a:solidFill>
                        <a:srgbClr val="D5DEE6"/>
                      </a:solidFill>
                      <a:prstDash val="solid"/>
                      <a:round/>
                      <a:headEnd type="none" w="med" len="med"/>
                      <a:tailEnd type="none" w="med" len="med"/>
                    </a:lnB>
                  </a:tcPr>
                </a:tc>
                <a:tc>
                  <a:txBody>
                    <a:bodyPr/>
                    <a:lstStyle/>
                    <a:p>
                      <a:pPr algn="ctr" indent="0" marL="0">
                        <a:buNone/>
                      </a:pPr>
                      <a:r>
                        <a:rPr lang="en-US" sz="1500" dirty="0">
                          <a:solidFill>
                            <a:srgbClr val="1B2733"/>
                          </a:solidFill>
                          <a:latin typeface="Calibri" pitchFamily="34" charset="0"/>
                          <a:ea typeface="Calibri" pitchFamily="34" charset="-122"/>
                          <a:cs typeface="Calibri" pitchFamily="34" charset="-120"/>
                        </a:rPr>
                        <a:t>0.711</a:t>
                      </a:r>
                      <a:endParaRPr lang="en-US" sz="1500" dirty="0">
                        <a:latin typeface="Calibri" charset="0"/>
                        <a:ea typeface="Calibri" charset="0"/>
                        <a:cs typeface="Calibri" charset="0"/>
                      </a:endParaRPr>
                    </a:p>
                  </a:txBody>
                  <a:tcPr marL="91440" marR="91440" marT="45720" marB="45720" anchor="ctr">
                    <a:lnL w="12700" cap="flat" cmpd="sng" algn="ctr">
                      <a:solidFill>
                        <a:srgbClr val="D5DEE6"/>
                      </a:solidFill>
                      <a:prstDash val="solid"/>
                      <a:round/>
                      <a:headEnd type="none" w="med" len="med"/>
                      <a:tailEnd type="none" w="med" len="med"/>
                    </a:lnL>
                    <a:lnR w="12700" cap="flat" cmpd="sng" algn="ctr">
                      <a:solidFill>
                        <a:srgbClr val="D5DEE6"/>
                      </a:solidFill>
                      <a:prstDash val="solid"/>
                      <a:round/>
                      <a:headEnd type="none" w="med" len="med"/>
                      <a:tailEnd type="none" w="med" len="med"/>
                    </a:lnR>
                    <a:lnT w="12700" cap="flat" cmpd="sng" algn="ctr">
                      <a:solidFill>
                        <a:srgbClr val="D5DEE6"/>
                      </a:solidFill>
                      <a:prstDash val="solid"/>
                      <a:round/>
                      <a:headEnd type="none" w="med" len="med"/>
                      <a:tailEnd type="none" w="med" len="med"/>
                    </a:lnT>
                    <a:lnB w="12700" cap="flat" cmpd="sng" algn="ctr">
                      <a:solidFill>
                        <a:srgbClr val="D5DEE6"/>
                      </a:solidFill>
                      <a:prstDash val="solid"/>
                      <a:round/>
                      <a:headEnd type="none" w="med" len="med"/>
                      <a:tailEnd type="none" w="med" len="med"/>
                    </a:lnB>
                  </a:tcPr>
                </a:tc>
                <a:tc>
                  <a:txBody>
                    <a:bodyPr/>
                    <a:lstStyle/>
                    <a:p>
                      <a:pPr algn="ctr" indent="0" marL="0">
                        <a:buNone/>
                      </a:pPr>
                      <a:r>
                        <a:rPr lang="en-US" sz="1500" dirty="0">
                          <a:solidFill>
                            <a:srgbClr val="1B2733"/>
                          </a:solidFill>
                          <a:latin typeface="Calibri" pitchFamily="34" charset="0"/>
                          <a:ea typeface="Calibri" pitchFamily="34" charset="-122"/>
                          <a:cs typeface="Calibri" pitchFamily="34" charset="-120"/>
                        </a:rPr>
                        <a:t>0.532</a:t>
                      </a:r>
                      <a:endParaRPr lang="en-US" sz="1500" dirty="0">
                        <a:latin typeface="Calibri" charset="0"/>
                        <a:ea typeface="Calibri" charset="0"/>
                        <a:cs typeface="Calibri" charset="0"/>
                      </a:endParaRPr>
                    </a:p>
                  </a:txBody>
                  <a:tcPr marL="91440" marR="91440" marT="45720" marB="45720" anchor="ctr">
                    <a:lnL w="12700" cap="flat" cmpd="sng" algn="ctr">
                      <a:solidFill>
                        <a:srgbClr val="D5DEE6"/>
                      </a:solidFill>
                      <a:prstDash val="solid"/>
                      <a:round/>
                      <a:headEnd type="none" w="med" len="med"/>
                      <a:tailEnd type="none" w="med" len="med"/>
                    </a:lnL>
                    <a:lnR w="12700" cap="flat" cmpd="sng" algn="ctr">
                      <a:solidFill>
                        <a:srgbClr val="D5DEE6"/>
                      </a:solidFill>
                      <a:prstDash val="solid"/>
                      <a:round/>
                      <a:headEnd type="none" w="med" len="med"/>
                      <a:tailEnd type="none" w="med" len="med"/>
                    </a:lnR>
                    <a:lnT w="12700" cap="flat" cmpd="sng" algn="ctr">
                      <a:solidFill>
                        <a:srgbClr val="D5DEE6"/>
                      </a:solidFill>
                      <a:prstDash val="solid"/>
                      <a:round/>
                      <a:headEnd type="none" w="med" len="med"/>
                      <a:tailEnd type="none" w="med" len="med"/>
                    </a:lnT>
                    <a:lnB w="12700" cap="flat" cmpd="sng" algn="ctr">
                      <a:solidFill>
                        <a:srgbClr val="D5DEE6"/>
                      </a:solidFill>
                      <a:prstDash val="solid"/>
                      <a:round/>
                      <a:headEnd type="none" w="med" len="med"/>
                      <a:tailEnd type="none" w="med" len="med"/>
                    </a:lnB>
                  </a:tcPr>
                </a:tc>
                <a:tc>
                  <a:txBody>
                    <a:bodyPr/>
                    <a:lstStyle/>
                    <a:p>
                      <a:pPr algn="ctr" indent="0" marL="0">
                        <a:buNone/>
                      </a:pPr>
                      <a:r>
                        <a:rPr lang="en-US" sz="1500" b="1" dirty="0">
                          <a:solidFill>
                            <a:srgbClr val="D1495B"/>
                          </a:solidFill>
                          <a:latin typeface="Calibri" pitchFamily="34" charset="0"/>
                          <a:ea typeface="Calibri" pitchFamily="34" charset="-122"/>
                          <a:cs typeface="Calibri" pitchFamily="34" charset="-120"/>
                        </a:rPr>
                        <a:t>−25%</a:t>
                      </a:r>
                      <a:endParaRPr lang="en-US" sz="1500" dirty="0">
                        <a:latin typeface="Calibri" charset="0"/>
                        <a:ea typeface="Calibri" charset="0"/>
                        <a:cs typeface="Calibri" charset="0"/>
                      </a:endParaRPr>
                    </a:p>
                  </a:txBody>
                  <a:tcPr marL="91440" marR="91440" marT="45720" marB="45720" anchor="ctr">
                    <a:lnL w="12700" cap="flat" cmpd="sng" algn="ctr">
                      <a:solidFill>
                        <a:srgbClr val="D5DEE6"/>
                      </a:solidFill>
                      <a:prstDash val="solid"/>
                      <a:round/>
                      <a:headEnd type="none" w="med" len="med"/>
                      <a:tailEnd type="none" w="med" len="med"/>
                    </a:lnL>
                    <a:lnR w="12700" cap="flat" cmpd="sng" algn="ctr">
                      <a:solidFill>
                        <a:srgbClr val="D5DEE6"/>
                      </a:solidFill>
                      <a:prstDash val="solid"/>
                      <a:round/>
                      <a:headEnd type="none" w="med" len="med"/>
                      <a:tailEnd type="none" w="med" len="med"/>
                    </a:lnR>
                    <a:lnT w="12700" cap="flat" cmpd="sng" algn="ctr">
                      <a:solidFill>
                        <a:srgbClr val="D5DEE6"/>
                      </a:solidFill>
                      <a:prstDash val="solid"/>
                      <a:round/>
                      <a:headEnd type="none" w="med" len="med"/>
                      <a:tailEnd type="none" w="med" len="med"/>
                    </a:lnT>
                    <a:lnB w="12700" cap="flat" cmpd="sng" algn="ctr">
                      <a:solidFill>
                        <a:srgbClr val="D5DEE6"/>
                      </a:solidFill>
                      <a:prstDash val="solid"/>
                      <a:round/>
                      <a:headEnd type="none" w="med" len="med"/>
                      <a:tailEnd type="none" w="med" len="med"/>
                    </a:lnB>
                  </a:tcPr>
                </a:tc>
              </a:tr>
            </a:tbl>
          </a:graphicData>
        </a:graphic>
      </p:graphicFrame>
      <p:sp>
        <p:nvSpPr>
          <p:cNvPr id="9" name="Text 5"/>
          <p:cNvSpPr/>
          <p:nvPr/>
        </p:nvSpPr>
        <p:spPr>
          <a:xfrm>
            <a:off x="6949440" y="3566160"/>
            <a:ext cx="4754880" cy="2743200"/>
          </a:xfrm>
          <a:prstGeom prst="rect">
            <a:avLst/>
          </a:prstGeom>
          <a:noFill/>
          <a:ln/>
        </p:spPr>
        <p:txBody>
          <a:bodyPr wrap="square" lIns="50800" tIns="50800" rIns="50800" bIns="50800" rtlCol="0" anchor="t"/>
          <a:lstStyle/>
          <a:p>
            <a:pPr marL="228600" indent="-228600">
              <a:spcAft>
                <a:spcPts val="800"/>
              </a:spcAft>
              <a:buSzPct val="100000"/>
              <a:buChar char="•"/>
            </a:pPr>
            <a:r>
              <a:rPr lang="en-US" sz="1400" dirty="0">
                <a:solidFill>
                  <a:srgbClr val="1B2733"/>
                </a:solidFill>
                <a:latin typeface="Calibri" pitchFamily="34" charset="0"/>
                <a:ea typeface="Calibri" pitchFamily="34" charset="-122"/>
                <a:cs typeface="Calibri" pitchFamily="34" charset="-120"/>
              </a:rPr>
              <a:t>Baseline was over-eager: caught most floods, but only 39% of its flood calls were correct</a:t>
            </a:r>
            <a:endParaRPr lang="en-US" sz="1400" dirty="0"/>
          </a:p>
          <a:p>
            <a:pPr marL="228600" indent="-228600">
              <a:spcAft>
                <a:spcPts val="800"/>
              </a:spcAft>
              <a:buSzPct val="100000"/>
              <a:buChar char="•"/>
            </a:pPr>
            <a:r>
              <a:rPr lang="en-US" sz="1400" dirty="0">
                <a:solidFill>
                  <a:srgbClr val="1B2733"/>
                </a:solidFill>
                <a:latin typeface="Calibri" pitchFamily="34" charset="0"/>
                <a:ea typeface="Calibri" pitchFamily="34" charset="-122"/>
                <a:cs typeface="Calibri" pitchFamily="34" charset="-120"/>
              </a:rPr>
              <a:t>Fine-tuning recalibrated it to Indian conditions: far fewer false alarms</a:t>
            </a:r>
            <a:endParaRPr lang="en-US" sz="1400" dirty="0"/>
          </a:p>
          <a:p>
            <a:pPr marL="228600" indent="-228600">
              <a:spcAft>
                <a:spcPts val="800"/>
              </a:spcAft>
              <a:buSzPct val="100000"/>
              <a:buChar char="•"/>
            </a:pPr>
            <a:r>
              <a:rPr lang="en-US" sz="1400" dirty="0">
                <a:solidFill>
                  <a:srgbClr val="1B2733"/>
                </a:solidFill>
                <a:latin typeface="Calibri" pitchFamily="34" charset="0"/>
                <a:ea typeface="Calibri" pitchFamily="34" charset="-122"/>
                <a:cs typeface="Calibri" pitchFamily="34" charset="-120"/>
              </a:rPr>
              <a:t>Net effect on IoU, the primary metric, is a clear +11% gain</a:t>
            </a:r>
            <a:endParaRPr lang="en-US" sz="1400" dirty="0"/>
          </a:p>
          <a:p>
            <a:pPr marL="228600" indent="-228600">
              <a:spcAft>
                <a:spcPts val="800"/>
              </a:spcAft>
              <a:buSzPct val="100000"/>
              <a:buChar char="•"/>
            </a:pPr>
            <a:r>
              <a:rPr lang="en-US" sz="1400" dirty="0">
                <a:solidFill>
                  <a:srgbClr val="1B2733"/>
                </a:solidFill>
                <a:latin typeface="Calibri" pitchFamily="34" charset="0"/>
                <a:ea typeface="Calibri" pitchFamily="34" charset="-122"/>
                <a:cs typeface="Calibri" pitchFamily="34" charset="-120"/>
              </a:rPr>
              <a:t>Precision–recall trade-off is a design choice tied to the end use</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13A89E"/>
          </a:solidFill>
          <a:ln/>
        </p:spPr>
      </p:sp>
      <p:sp>
        <p:nvSpPr>
          <p:cNvPr id="3" name="Text 1"/>
          <p:cNvSpPr/>
          <p:nvPr/>
        </p:nvSpPr>
        <p:spPr>
          <a:xfrm>
            <a:off x="548640" y="320040"/>
            <a:ext cx="10972800" cy="640080"/>
          </a:xfrm>
          <a:prstGeom prst="rect">
            <a:avLst/>
          </a:prstGeom>
          <a:noFill/>
          <a:ln/>
        </p:spPr>
        <p:txBody>
          <a:bodyPr wrap="square" lIns="0" tIns="0" rIns="0" bIns="0" rtlCol="0" anchor="ctr"/>
          <a:lstStyle/>
          <a:p>
            <a:pPr indent="0" marL="0">
              <a:buNone/>
            </a:pPr>
            <a:r>
              <a:rPr lang="en-US" sz="3000" b="1" dirty="0">
                <a:solidFill>
                  <a:srgbClr val="0B2545"/>
                </a:solidFill>
                <a:latin typeface="Calibri" pitchFamily="34" charset="0"/>
                <a:ea typeface="Calibri" pitchFamily="34" charset="-122"/>
                <a:cs typeface="Calibri" pitchFamily="34" charset="-120"/>
              </a:rPr>
              <a:t>Inference workflow</a:t>
            </a:r>
            <a:endParaRPr lang="en-US" sz="3000" dirty="0"/>
          </a:p>
        </p:txBody>
      </p:sp>
      <p:sp>
        <p:nvSpPr>
          <p:cNvPr id="4" name="Text 2"/>
          <p:cNvSpPr/>
          <p:nvPr/>
        </p:nvSpPr>
        <p:spPr>
          <a:xfrm>
            <a:off x="548640" y="932688"/>
            <a:ext cx="10972800" cy="365760"/>
          </a:xfrm>
          <a:prstGeom prst="rect">
            <a:avLst/>
          </a:prstGeom>
          <a:noFill/>
          <a:ln/>
        </p:spPr>
        <p:txBody>
          <a:bodyPr wrap="square" lIns="0" tIns="0" rIns="0" bIns="0" rtlCol="0" anchor="ctr"/>
          <a:lstStyle/>
          <a:p>
            <a:pPr indent="0" marL="0">
              <a:buNone/>
            </a:pPr>
            <a:r>
              <a:rPr lang="en-US" sz="1500" dirty="0">
                <a:solidFill>
                  <a:srgbClr val="5B6B7B"/>
                </a:solidFill>
                <a:latin typeface="Calibri" pitchFamily="34" charset="0"/>
                <a:ea typeface="Calibri" pitchFamily="34" charset="-122"/>
                <a:cs typeface="Calibri" pitchFamily="34" charset="-120"/>
              </a:rPr>
              <a:t>From a new satellite pass to an actionable flood map</a:t>
            </a:r>
            <a:endParaRPr lang="en-US" sz="1500" dirty="0"/>
          </a:p>
        </p:txBody>
      </p:sp>
      <p:sp>
        <p:nvSpPr>
          <p:cNvPr id="5" name="Text 3"/>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Prithvi Flood-IN  |  CE 766 Integrated Design Project  |  Progress Review</a:t>
            </a:r>
            <a:endParaRPr lang="en-US" sz="1000" dirty="0"/>
          </a:p>
        </p:txBody>
      </p:sp>
      <p:sp>
        <p:nvSpPr>
          <p:cNvPr id="6" name="Text 4"/>
          <p:cNvSpPr/>
          <p:nvPr/>
        </p:nvSpPr>
        <p:spPr>
          <a:xfrm>
            <a:off x="11155680" y="6446520"/>
            <a:ext cx="548640" cy="274320"/>
          </a:xfrm>
          <a:prstGeom prst="rect">
            <a:avLst/>
          </a:prstGeom>
          <a:noFill/>
          <a:ln/>
        </p:spPr>
        <p:txBody>
          <a:bodyPr wrap="square" lIns="0" tIns="0" rIns="0" bIns="0" rtlCol="0" anchor="ctr"/>
          <a:lstStyle/>
          <a:p>
            <a:pPr algn="r" indent="0" marL="0">
              <a:buNone/>
            </a:pPr>
            <a:r>
              <a:rPr lang="en-US" sz="1000" dirty="0">
                <a:solidFill>
                  <a:srgbClr val="5B6B7B"/>
                </a:solidFill>
                <a:latin typeface="Calibri" pitchFamily="34" charset="0"/>
                <a:ea typeface="Calibri" pitchFamily="34" charset="-122"/>
                <a:cs typeface="Calibri" pitchFamily="34" charset="-120"/>
              </a:rPr>
              <a:t>13</a:t>
            </a:r>
            <a:endParaRPr lang="en-US" sz="1000" dirty="0"/>
          </a:p>
        </p:txBody>
      </p:sp>
      <p:sp>
        <p:nvSpPr>
          <p:cNvPr id="7" name="Shape 5"/>
          <p:cNvSpPr/>
          <p:nvPr/>
        </p:nvSpPr>
        <p:spPr>
          <a:xfrm>
            <a:off x="548640" y="1737360"/>
            <a:ext cx="1653540" cy="1005840"/>
          </a:xfrm>
          <a:prstGeom prst="rect">
            <a:avLst/>
          </a:prstGeom>
          <a:solidFill>
            <a:srgbClr val="0B2545"/>
          </a:solidFill>
          <a:ln w="12700">
            <a:solidFill>
              <a:srgbClr val="0B2545"/>
            </a:solidFill>
            <a:prstDash val="solid"/>
          </a:ln>
        </p:spPr>
      </p:sp>
      <p:sp>
        <p:nvSpPr>
          <p:cNvPr id="8" name="Text 6"/>
          <p:cNvSpPr/>
          <p:nvPr/>
        </p:nvSpPr>
        <p:spPr>
          <a:xfrm>
            <a:off x="548640" y="1737360"/>
            <a:ext cx="1653540" cy="1005840"/>
          </a:xfrm>
          <a:prstGeom prst="rect">
            <a:avLst/>
          </a:prstGeom>
          <a:noFill/>
          <a:ln/>
        </p:spPr>
        <p:txBody>
          <a:bodyPr wrap="square" lIns="50800" tIns="50800" rIns="50800" bIns="508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New Sentinel-2</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image</a:t>
            </a:r>
            <a:endParaRPr lang="en-US" sz="1300" dirty="0"/>
          </a:p>
        </p:txBody>
      </p:sp>
      <p:sp>
        <p:nvSpPr>
          <p:cNvPr id="9" name="Text 7"/>
          <p:cNvSpPr/>
          <p:nvPr/>
        </p:nvSpPr>
        <p:spPr>
          <a:xfrm>
            <a:off x="2183892" y="2057400"/>
            <a:ext cx="265176" cy="365760"/>
          </a:xfrm>
          <a:prstGeom prst="rect">
            <a:avLst/>
          </a:prstGeom>
          <a:noFill/>
          <a:ln/>
        </p:spPr>
        <p:txBody>
          <a:bodyPr wrap="square" lIns="0" tIns="0" rIns="0" bIns="0" rtlCol="0" anchor="ctr"/>
          <a:lstStyle/>
          <a:p>
            <a:pPr algn="ctr" indent="0" marL="0">
              <a:buNone/>
            </a:pPr>
            <a:r>
              <a:rPr lang="en-US" sz="1200" dirty="0">
                <a:solidFill>
                  <a:srgbClr val="13A89E"/>
                </a:solidFill>
              </a:rPr>
              <a:t>▶</a:t>
            </a:r>
            <a:endParaRPr lang="en-US" sz="1200" dirty="0"/>
          </a:p>
        </p:txBody>
      </p:sp>
      <p:sp>
        <p:nvSpPr>
          <p:cNvPr id="10" name="Shape 8"/>
          <p:cNvSpPr/>
          <p:nvPr/>
        </p:nvSpPr>
        <p:spPr>
          <a:xfrm>
            <a:off x="2430780" y="1737360"/>
            <a:ext cx="1653540" cy="1005840"/>
          </a:xfrm>
          <a:prstGeom prst="rect">
            <a:avLst/>
          </a:prstGeom>
          <a:solidFill>
            <a:srgbClr val="0B2545"/>
          </a:solidFill>
          <a:ln w="12700">
            <a:solidFill>
              <a:srgbClr val="0B2545"/>
            </a:solidFill>
            <a:prstDash val="solid"/>
          </a:ln>
        </p:spPr>
      </p:sp>
      <p:sp>
        <p:nvSpPr>
          <p:cNvPr id="11" name="Text 9"/>
          <p:cNvSpPr/>
          <p:nvPr/>
        </p:nvSpPr>
        <p:spPr>
          <a:xfrm>
            <a:off x="2430780" y="1737360"/>
            <a:ext cx="1653540" cy="1005840"/>
          </a:xfrm>
          <a:prstGeom prst="rect">
            <a:avLst/>
          </a:prstGeom>
          <a:noFill/>
          <a:ln/>
        </p:spPr>
        <p:txBody>
          <a:bodyPr wrap="square" lIns="50800" tIns="50800" rIns="50800" bIns="508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Six-band</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pre-processing</a:t>
            </a:r>
            <a:endParaRPr lang="en-US" sz="1300" dirty="0"/>
          </a:p>
        </p:txBody>
      </p:sp>
      <p:sp>
        <p:nvSpPr>
          <p:cNvPr id="12" name="Text 10"/>
          <p:cNvSpPr/>
          <p:nvPr/>
        </p:nvSpPr>
        <p:spPr>
          <a:xfrm>
            <a:off x="4066032" y="2057400"/>
            <a:ext cx="265176" cy="365760"/>
          </a:xfrm>
          <a:prstGeom prst="rect">
            <a:avLst/>
          </a:prstGeom>
          <a:noFill/>
          <a:ln/>
        </p:spPr>
        <p:txBody>
          <a:bodyPr wrap="square" lIns="0" tIns="0" rIns="0" bIns="0" rtlCol="0" anchor="ctr"/>
          <a:lstStyle/>
          <a:p>
            <a:pPr algn="ctr" indent="0" marL="0">
              <a:buNone/>
            </a:pPr>
            <a:r>
              <a:rPr lang="en-US" sz="1200" dirty="0">
                <a:solidFill>
                  <a:srgbClr val="13A89E"/>
                </a:solidFill>
              </a:rPr>
              <a:t>▶</a:t>
            </a:r>
            <a:endParaRPr lang="en-US" sz="1200" dirty="0"/>
          </a:p>
        </p:txBody>
      </p:sp>
      <p:sp>
        <p:nvSpPr>
          <p:cNvPr id="13" name="Shape 11"/>
          <p:cNvSpPr/>
          <p:nvPr/>
        </p:nvSpPr>
        <p:spPr>
          <a:xfrm>
            <a:off x="4312920" y="1737360"/>
            <a:ext cx="1653540" cy="1005840"/>
          </a:xfrm>
          <a:prstGeom prst="rect">
            <a:avLst/>
          </a:prstGeom>
          <a:solidFill>
            <a:srgbClr val="0B2545"/>
          </a:solidFill>
          <a:ln w="12700">
            <a:solidFill>
              <a:srgbClr val="0B2545"/>
            </a:solidFill>
            <a:prstDash val="solid"/>
          </a:ln>
        </p:spPr>
      </p:sp>
      <p:sp>
        <p:nvSpPr>
          <p:cNvPr id="14" name="Text 12"/>
          <p:cNvSpPr/>
          <p:nvPr/>
        </p:nvSpPr>
        <p:spPr>
          <a:xfrm>
            <a:off x="4312920" y="1737360"/>
            <a:ext cx="1653540" cy="1005840"/>
          </a:xfrm>
          <a:prstGeom prst="rect">
            <a:avLst/>
          </a:prstGeom>
          <a:noFill/>
          <a:ln/>
        </p:spPr>
        <p:txBody>
          <a:bodyPr wrap="square" lIns="50800" tIns="50800" rIns="50800" bIns="508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Cloud / ignore</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masking</a:t>
            </a:r>
            <a:endParaRPr lang="en-US" sz="1300" dirty="0"/>
          </a:p>
        </p:txBody>
      </p:sp>
      <p:sp>
        <p:nvSpPr>
          <p:cNvPr id="15" name="Text 13"/>
          <p:cNvSpPr/>
          <p:nvPr/>
        </p:nvSpPr>
        <p:spPr>
          <a:xfrm>
            <a:off x="5948172" y="2057400"/>
            <a:ext cx="265176" cy="365760"/>
          </a:xfrm>
          <a:prstGeom prst="rect">
            <a:avLst/>
          </a:prstGeom>
          <a:noFill/>
          <a:ln/>
        </p:spPr>
        <p:txBody>
          <a:bodyPr wrap="square" lIns="0" tIns="0" rIns="0" bIns="0" rtlCol="0" anchor="ctr"/>
          <a:lstStyle/>
          <a:p>
            <a:pPr algn="ctr" indent="0" marL="0">
              <a:buNone/>
            </a:pPr>
            <a:r>
              <a:rPr lang="en-US" sz="1200" dirty="0">
                <a:solidFill>
                  <a:srgbClr val="13A89E"/>
                </a:solidFill>
              </a:rPr>
              <a:t>▶</a:t>
            </a:r>
            <a:endParaRPr lang="en-US" sz="1200" dirty="0"/>
          </a:p>
        </p:txBody>
      </p:sp>
      <p:sp>
        <p:nvSpPr>
          <p:cNvPr id="16" name="Shape 14"/>
          <p:cNvSpPr/>
          <p:nvPr/>
        </p:nvSpPr>
        <p:spPr>
          <a:xfrm>
            <a:off x="6195060" y="1737360"/>
            <a:ext cx="1653540" cy="1005840"/>
          </a:xfrm>
          <a:prstGeom prst="rect">
            <a:avLst/>
          </a:prstGeom>
          <a:solidFill>
            <a:srgbClr val="0B2545"/>
          </a:solidFill>
          <a:ln w="12700">
            <a:solidFill>
              <a:srgbClr val="0B2545"/>
            </a:solidFill>
            <a:prstDash val="solid"/>
          </a:ln>
        </p:spPr>
      </p:sp>
      <p:sp>
        <p:nvSpPr>
          <p:cNvPr id="17" name="Text 15"/>
          <p:cNvSpPr/>
          <p:nvPr/>
        </p:nvSpPr>
        <p:spPr>
          <a:xfrm>
            <a:off x="6195060" y="1737360"/>
            <a:ext cx="1653540" cy="1005840"/>
          </a:xfrm>
          <a:prstGeom prst="rect">
            <a:avLst/>
          </a:prstGeom>
          <a:noFill/>
          <a:ln/>
        </p:spPr>
        <p:txBody>
          <a:bodyPr wrap="square" lIns="50800" tIns="50800" rIns="50800" bIns="508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Fine-tuned</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Prithvi model</a:t>
            </a:r>
            <a:endParaRPr lang="en-US" sz="1300" dirty="0"/>
          </a:p>
        </p:txBody>
      </p:sp>
      <p:sp>
        <p:nvSpPr>
          <p:cNvPr id="18" name="Text 16"/>
          <p:cNvSpPr/>
          <p:nvPr/>
        </p:nvSpPr>
        <p:spPr>
          <a:xfrm>
            <a:off x="7830312" y="2057400"/>
            <a:ext cx="265176" cy="365760"/>
          </a:xfrm>
          <a:prstGeom prst="rect">
            <a:avLst/>
          </a:prstGeom>
          <a:noFill/>
          <a:ln/>
        </p:spPr>
        <p:txBody>
          <a:bodyPr wrap="square" lIns="0" tIns="0" rIns="0" bIns="0" rtlCol="0" anchor="ctr"/>
          <a:lstStyle/>
          <a:p>
            <a:pPr algn="ctr" indent="0" marL="0">
              <a:buNone/>
            </a:pPr>
            <a:r>
              <a:rPr lang="en-US" sz="1200" dirty="0">
                <a:solidFill>
                  <a:srgbClr val="13A89E"/>
                </a:solidFill>
              </a:rPr>
              <a:t>▶</a:t>
            </a:r>
            <a:endParaRPr lang="en-US" sz="1200" dirty="0"/>
          </a:p>
        </p:txBody>
      </p:sp>
      <p:sp>
        <p:nvSpPr>
          <p:cNvPr id="19" name="Shape 17"/>
          <p:cNvSpPr/>
          <p:nvPr/>
        </p:nvSpPr>
        <p:spPr>
          <a:xfrm>
            <a:off x="8077200" y="1737360"/>
            <a:ext cx="1653540" cy="1005840"/>
          </a:xfrm>
          <a:prstGeom prst="rect">
            <a:avLst/>
          </a:prstGeom>
          <a:solidFill>
            <a:srgbClr val="0B2545"/>
          </a:solidFill>
          <a:ln w="12700">
            <a:solidFill>
              <a:srgbClr val="0B2545"/>
            </a:solidFill>
            <a:prstDash val="solid"/>
          </a:ln>
        </p:spPr>
      </p:sp>
      <p:sp>
        <p:nvSpPr>
          <p:cNvPr id="20" name="Text 18"/>
          <p:cNvSpPr/>
          <p:nvPr/>
        </p:nvSpPr>
        <p:spPr>
          <a:xfrm>
            <a:off x="8077200" y="1737360"/>
            <a:ext cx="1653540" cy="1005840"/>
          </a:xfrm>
          <a:prstGeom prst="rect">
            <a:avLst/>
          </a:prstGeom>
          <a:noFill/>
          <a:ln/>
        </p:spPr>
        <p:txBody>
          <a:bodyPr wrap="square" lIns="50800" tIns="50800" rIns="50800" bIns="508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Flood-probability</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map</a:t>
            </a:r>
            <a:endParaRPr lang="en-US" sz="1300" dirty="0"/>
          </a:p>
        </p:txBody>
      </p:sp>
      <p:sp>
        <p:nvSpPr>
          <p:cNvPr id="21" name="Text 19"/>
          <p:cNvSpPr/>
          <p:nvPr/>
        </p:nvSpPr>
        <p:spPr>
          <a:xfrm>
            <a:off x="9712452" y="2057400"/>
            <a:ext cx="265176" cy="365760"/>
          </a:xfrm>
          <a:prstGeom prst="rect">
            <a:avLst/>
          </a:prstGeom>
          <a:noFill/>
          <a:ln/>
        </p:spPr>
        <p:txBody>
          <a:bodyPr wrap="square" lIns="0" tIns="0" rIns="0" bIns="0" rtlCol="0" anchor="ctr"/>
          <a:lstStyle/>
          <a:p>
            <a:pPr algn="ctr" indent="0" marL="0">
              <a:buNone/>
            </a:pPr>
            <a:r>
              <a:rPr lang="en-US" sz="1200" dirty="0">
                <a:solidFill>
                  <a:srgbClr val="13A89E"/>
                </a:solidFill>
              </a:rPr>
              <a:t>▶</a:t>
            </a:r>
            <a:endParaRPr lang="en-US" sz="1200" dirty="0"/>
          </a:p>
        </p:txBody>
      </p:sp>
      <p:sp>
        <p:nvSpPr>
          <p:cNvPr id="22" name="Shape 20"/>
          <p:cNvSpPr/>
          <p:nvPr/>
        </p:nvSpPr>
        <p:spPr>
          <a:xfrm>
            <a:off x="9959340" y="1737360"/>
            <a:ext cx="1653540" cy="1005840"/>
          </a:xfrm>
          <a:prstGeom prst="rect">
            <a:avLst/>
          </a:prstGeom>
          <a:solidFill>
            <a:srgbClr val="13A89E"/>
          </a:solidFill>
          <a:ln w="12700">
            <a:solidFill>
              <a:srgbClr val="0B2545"/>
            </a:solidFill>
            <a:prstDash val="solid"/>
          </a:ln>
        </p:spPr>
      </p:sp>
      <p:sp>
        <p:nvSpPr>
          <p:cNvPr id="23" name="Text 21"/>
          <p:cNvSpPr/>
          <p:nvPr/>
        </p:nvSpPr>
        <p:spPr>
          <a:xfrm>
            <a:off x="9959340" y="1737360"/>
            <a:ext cx="1653540" cy="1005840"/>
          </a:xfrm>
          <a:prstGeom prst="rect">
            <a:avLst/>
          </a:prstGeom>
          <a:noFill/>
          <a:ln/>
        </p:spPr>
        <p:txBody>
          <a:bodyPr wrap="square" lIns="50800" tIns="50800" rIns="50800" bIns="508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Georeferenced</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flood-extent map</a:t>
            </a:r>
            <a:endParaRPr lang="en-US" sz="1300" dirty="0"/>
          </a:p>
        </p:txBody>
      </p:sp>
      <p:sp>
        <p:nvSpPr>
          <p:cNvPr id="24" name="Text 22"/>
          <p:cNvSpPr/>
          <p:nvPr/>
        </p:nvSpPr>
        <p:spPr>
          <a:xfrm>
            <a:off x="548640" y="3154680"/>
            <a:ext cx="10972800" cy="365760"/>
          </a:xfrm>
          <a:prstGeom prst="rect">
            <a:avLst/>
          </a:prstGeom>
          <a:noFill/>
          <a:ln/>
        </p:spPr>
        <p:txBody>
          <a:bodyPr wrap="square" lIns="0" tIns="0" rIns="0" bIns="0" rtlCol="0" anchor="ctr"/>
          <a:lstStyle/>
          <a:p>
            <a:pPr indent="0" marL="0">
              <a:buNone/>
            </a:pPr>
            <a:r>
              <a:rPr lang="en-US" sz="1800" b="1" dirty="0">
                <a:solidFill>
                  <a:srgbClr val="0B2545"/>
                </a:solidFill>
                <a:latin typeface="Calibri" pitchFamily="34" charset="0"/>
                <a:ea typeface="Calibri" pitchFamily="34" charset="-122"/>
                <a:cs typeface="Calibri" pitchFamily="34" charset="-120"/>
              </a:rPr>
              <a:t>Overlay layers for decision support</a:t>
            </a:r>
            <a:endParaRPr lang="en-US" sz="1800" dirty="0"/>
          </a:p>
        </p:txBody>
      </p:sp>
      <p:sp>
        <p:nvSpPr>
          <p:cNvPr id="25" name="Shape 23"/>
          <p:cNvSpPr/>
          <p:nvPr/>
        </p:nvSpPr>
        <p:spPr>
          <a:xfrm>
            <a:off x="548640" y="3657600"/>
            <a:ext cx="2057400" cy="1097280"/>
          </a:xfrm>
          <a:prstGeom prst="rect">
            <a:avLst/>
          </a:prstGeom>
          <a:solidFill>
            <a:srgbClr val="EEF4F8"/>
          </a:solidFill>
          <a:ln w="19050">
            <a:solidFill>
              <a:srgbClr val="13A89E"/>
            </a:solidFill>
            <a:prstDash val="solid"/>
          </a:ln>
        </p:spPr>
      </p:sp>
      <p:sp>
        <p:nvSpPr>
          <p:cNvPr id="26" name="Text 24"/>
          <p:cNvSpPr/>
          <p:nvPr/>
        </p:nvSpPr>
        <p:spPr>
          <a:xfrm>
            <a:off x="548640" y="3657600"/>
            <a:ext cx="2057400" cy="1097280"/>
          </a:xfrm>
          <a:prstGeom prst="rect">
            <a:avLst/>
          </a:prstGeom>
          <a:noFill/>
          <a:ln/>
        </p:spPr>
        <p:txBody>
          <a:bodyPr wrap="square" lIns="50800" tIns="50800" rIns="50800" bIns="50800" rtlCol="0" anchor="ctr"/>
          <a:lstStyle/>
          <a:p>
            <a:pPr algn="ctr" indent="0" marL="0">
              <a:buNone/>
            </a:pPr>
            <a:r>
              <a:rPr lang="en-US" sz="1400" b="1" dirty="0">
                <a:solidFill>
                  <a:srgbClr val="0B2545"/>
                </a:solidFill>
                <a:latin typeface="Calibri" pitchFamily="34" charset="0"/>
                <a:ea typeface="Calibri" pitchFamily="34" charset="-122"/>
                <a:cs typeface="Calibri" pitchFamily="34" charset="-120"/>
              </a:rPr>
              <a:t>Dams &amp; reservoir releases</a:t>
            </a:r>
            <a:endParaRPr lang="en-US" sz="1400" dirty="0"/>
          </a:p>
        </p:txBody>
      </p:sp>
      <p:sp>
        <p:nvSpPr>
          <p:cNvPr id="27" name="Shape 25"/>
          <p:cNvSpPr/>
          <p:nvPr/>
        </p:nvSpPr>
        <p:spPr>
          <a:xfrm>
            <a:off x="2807208" y="3657600"/>
            <a:ext cx="2057400" cy="1097280"/>
          </a:xfrm>
          <a:prstGeom prst="rect">
            <a:avLst/>
          </a:prstGeom>
          <a:solidFill>
            <a:srgbClr val="EEF4F8"/>
          </a:solidFill>
          <a:ln w="19050">
            <a:solidFill>
              <a:srgbClr val="13A89E"/>
            </a:solidFill>
            <a:prstDash val="solid"/>
          </a:ln>
        </p:spPr>
      </p:sp>
      <p:sp>
        <p:nvSpPr>
          <p:cNvPr id="28" name="Text 26"/>
          <p:cNvSpPr/>
          <p:nvPr/>
        </p:nvSpPr>
        <p:spPr>
          <a:xfrm>
            <a:off x="2807208" y="3657600"/>
            <a:ext cx="2057400" cy="1097280"/>
          </a:xfrm>
          <a:prstGeom prst="rect">
            <a:avLst/>
          </a:prstGeom>
          <a:noFill/>
          <a:ln/>
        </p:spPr>
        <p:txBody>
          <a:bodyPr wrap="square" lIns="50800" tIns="50800" rIns="50800" bIns="50800" rtlCol="0" anchor="ctr"/>
          <a:lstStyle/>
          <a:p>
            <a:pPr algn="ctr" indent="0" marL="0">
              <a:buNone/>
            </a:pPr>
            <a:r>
              <a:rPr lang="en-US" sz="1400" b="1" dirty="0">
                <a:solidFill>
                  <a:srgbClr val="0B2545"/>
                </a:solidFill>
                <a:latin typeface="Calibri" pitchFamily="34" charset="0"/>
                <a:ea typeface="Calibri" pitchFamily="34" charset="-122"/>
                <a:cs typeface="Calibri" pitchFamily="34" charset="-120"/>
              </a:rPr>
              <a:t>Water-level sensors / gauges</a:t>
            </a:r>
            <a:endParaRPr lang="en-US" sz="1400" dirty="0"/>
          </a:p>
        </p:txBody>
      </p:sp>
      <p:sp>
        <p:nvSpPr>
          <p:cNvPr id="29" name="Shape 27"/>
          <p:cNvSpPr/>
          <p:nvPr/>
        </p:nvSpPr>
        <p:spPr>
          <a:xfrm>
            <a:off x="5065776" y="3657600"/>
            <a:ext cx="2057400" cy="1097280"/>
          </a:xfrm>
          <a:prstGeom prst="rect">
            <a:avLst/>
          </a:prstGeom>
          <a:solidFill>
            <a:srgbClr val="EEF4F8"/>
          </a:solidFill>
          <a:ln w="19050">
            <a:solidFill>
              <a:srgbClr val="13A89E"/>
            </a:solidFill>
            <a:prstDash val="solid"/>
          </a:ln>
        </p:spPr>
      </p:sp>
      <p:sp>
        <p:nvSpPr>
          <p:cNvPr id="30" name="Text 28"/>
          <p:cNvSpPr/>
          <p:nvPr/>
        </p:nvSpPr>
        <p:spPr>
          <a:xfrm>
            <a:off x="5065776" y="3657600"/>
            <a:ext cx="2057400" cy="1097280"/>
          </a:xfrm>
          <a:prstGeom prst="rect">
            <a:avLst/>
          </a:prstGeom>
          <a:noFill/>
          <a:ln/>
        </p:spPr>
        <p:txBody>
          <a:bodyPr wrap="square" lIns="50800" tIns="50800" rIns="50800" bIns="50800" rtlCol="0" anchor="ctr"/>
          <a:lstStyle/>
          <a:p>
            <a:pPr algn="ctr" indent="0" marL="0">
              <a:buNone/>
            </a:pPr>
            <a:r>
              <a:rPr lang="en-US" sz="1400" b="1" dirty="0">
                <a:solidFill>
                  <a:srgbClr val="0B2545"/>
                </a:solidFill>
                <a:latin typeface="Calibri" pitchFamily="34" charset="0"/>
                <a:ea typeface="Calibri" pitchFamily="34" charset="-122"/>
                <a:cs typeface="Calibri" pitchFamily="34" charset="-120"/>
              </a:rPr>
              <a:t>Roads &amp; bridges</a:t>
            </a:r>
            <a:endParaRPr lang="en-US" sz="1400" dirty="0"/>
          </a:p>
        </p:txBody>
      </p:sp>
      <p:sp>
        <p:nvSpPr>
          <p:cNvPr id="31" name="Shape 29"/>
          <p:cNvSpPr/>
          <p:nvPr/>
        </p:nvSpPr>
        <p:spPr>
          <a:xfrm>
            <a:off x="7324344" y="3657600"/>
            <a:ext cx="2057400" cy="1097280"/>
          </a:xfrm>
          <a:prstGeom prst="rect">
            <a:avLst/>
          </a:prstGeom>
          <a:solidFill>
            <a:srgbClr val="EEF4F8"/>
          </a:solidFill>
          <a:ln w="19050">
            <a:solidFill>
              <a:srgbClr val="13A89E"/>
            </a:solidFill>
            <a:prstDash val="solid"/>
          </a:ln>
        </p:spPr>
      </p:sp>
      <p:sp>
        <p:nvSpPr>
          <p:cNvPr id="32" name="Text 30"/>
          <p:cNvSpPr/>
          <p:nvPr/>
        </p:nvSpPr>
        <p:spPr>
          <a:xfrm>
            <a:off x="7324344" y="3657600"/>
            <a:ext cx="2057400" cy="1097280"/>
          </a:xfrm>
          <a:prstGeom prst="rect">
            <a:avLst/>
          </a:prstGeom>
          <a:noFill/>
          <a:ln/>
        </p:spPr>
        <p:txBody>
          <a:bodyPr wrap="square" lIns="50800" tIns="50800" rIns="50800" bIns="50800" rtlCol="0" anchor="ctr"/>
          <a:lstStyle/>
          <a:p>
            <a:pPr algn="ctr" indent="0" marL="0">
              <a:buNone/>
            </a:pPr>
            <a:r>
              <a:rPr lang="en-US" sz="1400" b="1" dirty="0">
                <a:solidFill>
                  <a:srgbClr val="0B2545"/>
                </a:solidFill>
                <a:latin typeface="Calibri" pitchFamily="34" charset="0"/>
                <a:ea typeface="Calibri" pitchFamily="34" charset="-122"/>
                <a:cs typeface="Calibri" pitchFamily="34" charset="-120"/>
              </a:rPr>
              <a:t>Villages &amp; population</a:t>
            </a:r>
            <a:endParaRPr lang="en-US" sz="1400" dirty="0"/>
          </a:p>
        </p:txBody>
      </p:sp>
      <p:sp>
        <p:nvSpPr>
          <p:cNvPr id="33" name="Shape 31"/>
          <p:cNvSpPr/>
          <p:nvPr/>
        </p:nvSpPr>
        <p:spPr>
          <a:xfrm>
            <a:off x="9582912" y="3657600"/>
            <a:ext cx="2057400" cy="1097280"/>
          </a:xfrm>
          <a:prstGeom prst="rect">
            <a:avLst/>
          </a:prstGeom>
          <a:solidFill>
            <a:srgbClr val="EEF4F8"/>
          </a:solidFill>
          <a:ln w="19050">
            <a:solidFill>
              <a:srgbClr val="13A89E"/>
            </a:solidFill>
            <a:prstDash val="solid"/>
          </a:ln>
        </p:spPr>
      </p:sp>
      <p:sp>
        <p:nvSpPr>
          <p:cNvPr id="34" name="Text 32"/>
          <p:cNvSpPr/>
          <p:nvPr/>
        </p:nvSpPr>
        <p:spPr>
          <a:xfrm>
            <a:off x="9582912" y="3657600"/>
            <a:ext cx="2057400" cy="1097280"/>
          </a:xfrm>
          <a:prstGeom prst="rect">
            <a:avLst/>
          </a:prstGeom>
          <a:noFill/>
          <a:ln/>
        </p:spPr>
        <p:txBody>
          <a:bodyPr wrap="square" lIns="50800" tIns="50800" rIns="50800" bIns="50800" rtlCol="0" anchor="ctr"/>
          <a:lstStyle/>
          <a:p>
            <a:pPr algn="ctr" indent="0" marL="0">
              <a:buNone/>
            </a:pPr>
            <a:r>
              <a:rPr lang="en-US" sz="1400" b="1" dirty="0">
                <a:solidFill>
                  <a:srgbClr val="0B2545"/>
                </a:solidFill>
                <a:latin typeface="Calibri" pitchFamily="34" charset="0"/>
                <a:ea typeface="Calibri" pitchFamily="34" charset="-122"/>
                <a:cs typeface="Calibri" pitchFamily="34" charset="-120"/>
              </a:rPr>
              <a:t>Critical infrastructure (hospitals, shelters, power)</a:t>
            </a:r>
            <a:endParaRPr lang="en-US" sz="1400" dirty="0"/>
          </a:p>
        </p:txBody>
      </p:sp>
      <p:sp>
        <p:nvSpPr>
          <p:cNvPr id="35" name="Shape 33"/>
          <p:cNvSpPr/>
          <p:nvPr/>
        </p:nvSpPr>
        <p:spPr>
          <a:xfrm>
            <a:off x="548640" y="5029200"/>
            <a:ext cx="11064240" cy="1097280"/>
          </a:xfrm>
          <a:prstGeom prst="rect">
            <a:avLst/>
          </a:prstGeom>
          <a:solidFill>
            <a:srgbClr val="0B2545"/>
          </a:solidFill>
          <a:ln/>
        </p:spPr>
      </p:sp>
      <p:sp>
        <p:nvSpPr>
          <p:cNvPr id="36" name="Text 34"/>
          <p:cNvSpPr/>
          <p:nvPr/>
        </p:nvSpPr>
        <p:spPr>
          <a:xfrm>
            <a:off x="822960" y="5029200"/>
            <a:ext cx="10515600" cy="109728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A new six-band image goes into the trained model, which marks flooded locations and outputs a flood-extent map. Overlaid on roads, villages, dams, sensors and infrastructure, it supports during-event flood-response decisions.</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13A89E"/>
          </a:solidFill>
          <a:ln/>
        </p:spPr>
      </p:sp>
      <p:sp>
        <p:nvSpPr>
          <p:cNvPr id="3" name="Text 1"/>
          <p:cNvSpPr/>
          <p:nvPr/>
        </p:nvSpPr>
        <p:spPr>
          <a:xfrm>
            <a:off x="548640" y="320040"/>
            <a:ext cx="10972800" cy="640080"/>
          </a:xfrm>
          <a:prstGeom prst="rect">
            <a:avLst/>
          </a:prstGeom>
          <a:noFill/>
          <a:ln/>
        </p:spPr>
        <p:txBody>
          <a:bodyPr wrap="square" lIns="0" tIns="0" rIns="0" bIns="0" rtlCol="0" anchor="ctr"/>
          <a:lstStyle/>
          <a:p>
            <a:pPr indent="0" marL="0">
              <a:buNone/>
            </a:pPr>
            <a:r>
              <a:rPr lang="en-US" sz="3000" b="1" dirty="0">
                <a:solidFill>
                  <a:srgbClr val="0B2545"/>
                </a:solidFill>
                <a:latin typeface="Calibri" pitchFamily="34" charset="0"/>
                <a:ea typeface="Calibri" pitchFamily="34" charset="-122"/>
                <a:cs typeface="Calibri" pitchFamily="34" charset="-120"/>
              </a:rPr>
              <a:t>Where Prithvi Flood-IN can be applied</a:t>
            </a:r>
            <a:endParaRPr lang="en-US" sz="3000" dirty="0"/>
          </a:p>
        </p:txBody>
      </p:sp>
      <p:sp>
        <p:nvSpPr>
          <p:cNvPr id="4" name="Text 2"/>
          <p:cNvSpPr/>
          <p:nvPr/>
        </p:nvSpPr>
        <p:spPr>
          <a:xfrm>
            <a:off x="548640" y="932688"/>
            <a:ext cx="10972800" cy="365760"/>
          </a:xfrm>
          <a:prstGeom prst="rect">
            <a:avLst/>
          </a:prstGeom>
          <a:noFill/>
          <a:ln/>
        </p:spPr>
        <p:txBody>
          <a:bodyPr wrap="square" lIns="0" tIns="0" rIns="0" bIns="0" rtlCol="0" anchor="ctr"/>
          <a:lstStyle/>
          <a:p>
            <a:pPr indent="0" marL="0">
              <a:buNone/>
            </a:pPr>
            <a:r>
              <a:rPr lang="en-US" sz="1500" dirty="0">
                <a:solidFill>
                  <a:srgbClr val="5B6B7B"/>
                </a:solidFill>
                <a:latin typeface="Calibri" pitchFamily="34" charset="0"/>
                <a:ea typeface="Calibri" pitchFamily="34" charset="-122"/>
                <a:cs typeface="Calibri" pitchFamily="34" charset="-120"/>
              </a:rPr>
              <a:t>Application pathways we have researched for the model</a:t>
            </a:r>
            <a:endParaRPr lang="en-US" sz="1500" dirty="0"/>
          </a:p>
        </p:txBody>
      </p:sp>
      <p:sp>
        <p:nvSpPr>
          <p:cNvPr id="5" name="Text 3"/>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Prithvi Flood-IN  |  CE 766 Integrated Design Project  |  Progress Review</a:t>
            </a:r>
            <a:endParaRPr lang="en-US" sz="1000" dirty="0"/>
          </a:p>
        </p:txBody>
      </p:sp>
      <p:sp>
        <p:nvSpPr>
          <p:cNvPr id="6" name="Text 4"/>
          <p:cNvSpPr/>
          <p:nvPr/>
        </p:nvSpPr>
        <p:spPr>
          <a:xfrm>
            <a:off x="11155680" y="6446520"/>
            <a:ext cx="548640" cy="274320"/>
          </a:xfrm>
          <a:prstGeom prst="rect">
            <a:avLst/>
          </a:prstGeom>
          <a:noFill/>
          <a:ln/>
        </p:spPr>
        <p:txBody>
          <a:bodyPr wrap="square" lIns="0" tIns="0" rIns="0" bIns="0" rtlCol="0" anchor="ctr"/>
          <a:lstStyle/>
          <a:p>
            <a:pPr algn="r" indent="0" marL="0">
              <a:buNone/>
            </a:pPr>
            <a:r>
              <a:rPr lang="en-US" sz="1000" dirty="0">
                <a:solidFill>
                  <a:srgbClr val="5B6B7B"/>
                </a:solidFill>
                <a:latin typeface="Calibri" pitchFamily="34" charset="0"/>
                <a:ea typeface="Calibri" pitchFamily="34" charset="-122"/>
                <a:cs typeface="Calibri" pitchFamily="34" charset="-120"/>
              </a:rPr>
              <a:t>14</a:t>
            </a:r>
            <a:endParaRPr lang="en-US" sz="1000" dirty="0"/>
          </a:p>
        </p:txBody>
      </p:sp>
      <p:sp>
        <p:nvSpPr>
          <p:cNvPr id="7" name="Shape 5"/>
          <p:cNvSpPr/>
          <p:nvPr/>
        </p:nvSpPr>
        <p:spPr>
          <a:xfrm>
            <a:off x="548640" y="1508760"/>
            <a:ext cx="3566160" cy="2194560"/>
          </a:xfrm>
          <a:prstGeom prst="rect">
            <a:avLst/>
          </a:prstGeom>
          <a:solidFill>
            <a:srgbClr val="EEF4F8"/>
          </a:solidFill>
          <a:ln w="12700">
            <a:solidFill>
              <a:srgbClr val="EEF4F8"/>
            </a:solidFill>
            <a:prstDash val="solid"/>
          </a:ln>
        </p:spPr>
      </p:sp>
      <p:sp>
        <p:nvSpPr>
          <p:cNvPr id="8" name="Shape 6"/>
          <p:cNvSpPr/>
          <p:nvPr/>
        </p:nvSpPr>
        <p:spPr>
          <a:xfrm>
            <a:off x="548640" y="1508760"/>
            <a:ext cx="73152" cy="2194560"/>
          </a:xfrm>
          <a:prstGeom prst="rect">
            <a:avLst/>
          </a:prstGeom>
          <a:solidFill>
            <a:srgbClr val="13A89E"/>
          </a:solidFill>
          <a:ln w="12700">
            <a:solidFill>
              <a:srgbClr val="13A89E"/>
            </a:solidFill>
            <a:prstDash val="solid"/>
          </a:ln>
        </p:spPr>
      </p:sp>
      <p:sp>
        <p:nvSpPr>
          <p:cNvPr id="9" name="Text 7"/>
          <p:cNvSpPr/>
          <p:nvPr/>
        </p:nvSpPr>
        <p:spPr>
          <a:xfrm>
            <a:off x="777240" y="1618488"/>
            <a:ext cx="3200400" cy="411480"/>
          </a:xfrm>
          <a:prstGeom prst="rect">
            <a:avLst/>
          </a:prstGeom>
          <a:noFill/>
          <a:ln/>
        </p:spPr>
        <p:txBody>
          <a:bodyPr wrap="square" lIns="0" tIns="0" rIns="0" bIns="0" rtlCol="0" anchor="t"/>
          <a:lstStyle/>
          <a:p>
            <a:pPr indent="0" marL="0">
              <a:buNone/>
            </a:pPr>
            <a:r>
              <a:rPr lang="en-US" sz="1700" b="1" dirty="0">
                <a:solidFill>
                  <a:srgbClr val="0B2545"/>
                </a:solidFill>
                <a:latin typeface="Calibri" pitchFamily="34" charset="0"/>
                <a:ea typeface="Calibri" pitchFamily="34" charset="-122"/>
                <a:cs typeface="Calibri" pitchFamily="34" charset="-120"/>
              </a:rPr>
              <a:t>Mahanadi basin HIS</a:t>
            </a:r>
            <a:endParaRPr lang="en-US" sz="1700" dirty="0"/>
          </a:p>
        </p:txBody>
      </p:sp>
      <p:sp>
        <p:nvSpPr>
          <p:cNvPr id="10" name="Text 8"/>
          <p:cNvSpPr/>
          <p:nvPr/>
        </p:nvSpPr>
        <p:spPr>
          <a:xfrm>
            <a:off x="777240" y="2057400"/>
            <a:ext cx="3200400" cy="1554480"/>
          </a:xfrm>
          <a:prstGeom prst="rect">
            <a:avLst/>
          </a:prstGeom>
          <a:noFill/>
          <a:ln/>
        </p:spPr>
        <p:txBody>
          <a:bodyPr wrap="square" lIns="0" tIns="0" rIns="0" bIns="0" rtlCol="0" anchor="t"/>
          <a:lstStyle/>
          <a:p>
            <a:pPr indent="0" marL="0">
              <a:buNone/>
            </a:pPr>
            <a:r>
              <a:rPr lang="en-US" sz="1400" dirty="0">
                <a:solidFill>
                  <a:srgbClr val="1B2733"/>
                </a:solidFill>
                <a:latin typeface="Calibri" pitchFamily="34" charset="0"/>
                <a:ea typeface="Calibri" pitchFamily="34" charset="-122"/>
                <a:cs typeface="Calibri" pitchFamily="34" charset="-120"/>
              </a:rPr>
              <a:t>Near-real-time inundation layer for the AI-enabled Hydrological Information System; combine with Hirakud reservoir releases and CWC gauge data.</a:t>
            </a:r>
            <a:endParaRPr lang="en-US" sz="1400" dirty="0"/>
          </a:p>
        </p:txBody>
      </p:sp>
      <p:sp>
        <p:nvSpPr>
          <p:cNvPr id="11" name="Shape 9"/>
          <p:cNvSpPr/>
          <p:nvPr/>
        </p:nvSpPr>
        <p:spPr>
          <a:xfrm>
            <a:off x="4315968" y="1508760"/>
            <a:ext cx="3566160" cy="2194560"/>
          </a:xfrm>
          <a:prstGeom prst="rect">
            <a:avLst/>
          </a:prstGeom>
          <a:solidFill>
            <a:srgbClr val="EEF4F8"/>
          </a:solidFill>
          <a:ln w="12700">
            <a:solidFill>
              <a:srgbClr val="EEF4F8"/>
            </a:solidFill>
            <a:prstDash val="solid"/>
          </a:ln>
        </p:spPr>
      </p:sp>
      <p:sp>
        <p:nvSpPr>
          <p:cNvPr id="12" name="Shape 10"/>
          <p:cNvSpPr/>
          <p:nvPr/>
        </p:nvSpPr>
        <p:spPr>
          <a:xfrm>
            <a:off x="4315968" y="1508760"/>
            <a:ext cx="73152" cy="2194560"/>
          </a:xfrm>
          <a:prstGeom prst="rect">
            <a:avLst/>
          </a:prstGeom>
          <a:solidFill>
            <a:srgbClr val="1F6FB2"/>
          </a:solidFill>
          <a:ln w="12700">
            <a:solidFill>
              <a:srgbClr val="1F6FB2"/>
            </a:solidFill>
            <a:prstDash val="solid"/>
          </a:ln>
        </p:spPr>
      </p:sp>
      <p:sp>
        <p:nvSpPr>
          <p:cNvPr id="13" name="Text 11"/>
          <p:cNvSpPr/>
          <p:nvPr/>
        </p:nvSpPr>
        <p:spPr>
          <a:xfrm>
            <a:off x="4544568" y="1618488"/>
            <a:ext cx="3200400" cy="411480"/>
          </a:xfrm>
          <a:prstGeom prst="rect">
            <a:avLst/>
          </a:prstGeom>
          <a:noFill/>
          <a:ln/>
        </p:spPr>
        <p:txBody>
          <a:bodyPr wrap="square" lIns="0" tIns="0" rIns="0" bIns="0" rtlCol="0" anchor="t"/>
          <a:lstStyle/>
          <a:p>
            <a:pPr indent="0" marL="0">
              <a:buNone/>
            </a:pPr>
            <a:r>
              <a:rPr lang="en-US" sz="1700" b="1" dirty="0">
                <a:solidFill>
                  <a:srgbClr val="0B2545"/>
                </a:solidFill>
                <a:latin typeface="Calibri" pitchFamily="34" charset="0"/>
                <a:ea typeface="Calibri" pitchFamily="34" charset="-122"/>
                <a:cs typeface="Calibri" pitchFamily="34" charset="-120"/>
              </a:rPr>
              <a:t>Disaster response</a:t>
            </a:r>
            <a:endParaRPr lang="en-US" sz="1700" dirty="0"/>
          </a:p>
        </p:txBody>
      </p:sp>
      <p:sp>
        <p:nvSpPr>
          <p:cNvPr id="14" name="Text 12"/>
          <p:cNvSpPr/>
          <p:nvPr/>
        </p:nvSpPr>
        <p:spPr>
          <a:xfrm>
            <a:off x="4544568" y="2057400"/>
            <a:ext cx="3200400" cy="1554480"/>
          </a:xfrm>
          <a:prstGeom prst="rect">
            <a:avLst/>
          </a:prstGeom>
          <a:noFill/>
          <a:ln/>
        </p:spPr>
        <p:txBody>
          <a:bodyPr wrap="square" lIns="0" tIns="0" rIns="0" bIns="0" rtlCol="0" anchor="t"/>
          <a:lstStyle/>
          <a:p>
            <a:pPr indent="0" marL="0">
              <a:buNone/>
            </a:pPr>
            <a:r>
              <a:rPr lang="en-US" sz="1400" dirty="0">
                <a:solidFill>
                  <a:srgbClr val="1B2733"/>
                </a:solidFill>
                <a:latin typeface="Calibri" pitchFamily="34" charset="0"/>
                <a:ea typeface="Calibri" pitchFamily="34" charset="-122"/>
                <a:cs typeface="Calibri" pitchFamily="34" charset="-120"/>
              </a:rPr>
              <a:t>Flood-extent maps for NDMA / SDMA and district control rooms: evacuation planning, relief routing, identifying cut-off villages and roads.</a:t>
            </a:r>
            <a:endParaRPr lang="en-US" sz="1400" dirty="0"/>
          </a:p>
        </p:txBody>
      </p:sp>
      <p:sp>
        <p:nvSpPr>
          <p:cNvPr id="15" name="Shape 13"/>
          <p:cNvSpPr/>
          <p:nvPr/>
        </p:nvSpPr>
        <p:spPr>
          <a:xfrm>
            <a:off x="8083296" y="1508760"/>
            <a:ext cx="3566160" cy="2194560"/>
          </a:xfrm>
          <a:prstGeom prst="rect">
            <a:avLst/>
          </a:prstGeom>
          <a:solidFill>
            <a:srgbClr val="EEF4F8"/>
          </a:solidFill>
          <a:ln w="12700">
            <a:solidFill>
              <a:srgbClr val="EEF4F8"/>
            </a:solidFill>
            <a:prstDash val="solid"/>
          </a:ln>
        </p:spPr>
      </p:sp>
      <p:sp>
        <p:nvSpPr>
          <p:cNvPr id="16" name="Shape 14"/>
          <p:cNvSpPr/>
          <p:nvPr/>
        </p:nvSpPr>
        <p:spPr>
          <a:xfrm>
            <a:off x="8083296" y="1508760"/>
            <a:ext cx="73152" cy="2194560"/>
          </a:xfrm>
          <a:prstGeom prst="rect">
            <a:avLst/>
          </a:prstGeom>
          <a:solidFill>
            <a:srgbClr val="E8A33D"/>
          </a:solidFill>
          <a:ln w="12700">
            <a:solidFill>
              <a:srgbClr val="E8A33D"/>
            </a:solidFill>
            <a:prstDash val="solid"/>
          </a:ln>
        </p:spPr>
      </p:sp>
      <p:sp>
        <p:nvSpPr>
          <p:cNvPr id="17" name="Text 15"/>
          <p:cNvSpPr/>
          <p:nvPr/>
        </p:nvSpPr>
        <p:spPr>
          <a:xfrm>
            <a:off x="8311896" y="1618488"/>
            <a:ext cx="3200400" cy="411480"/>
          </a:xfrm>
          <a:prstGeom prst="rect">
            <a:avLst/>
          </a:prstGeom>
          <a:noFill/>
          <a:ln/>
        </p:spPr>
        <p:txBody>
          <a:bodyPr wrap="square" lIns="0" tIns="0" rIns="0" bIns="0" rtlCol="0" anchor="t"/>
          <a:lstStyle/>
          <a:p>
            <a:pPr indent="0" marL="0">
              <a:buNone/>
            </a:pPr>
            <a:r>
              <a:rPr lang="en-US" sz="1700" b="1" dirty="0">
                <a:solidFill>
                  <a:srgbClr val="0B2545"/>
                </a:solidFill>
                <a:latin typeface="Calibri" pitchFamily="34" charset="0"/>
                <a:ea typeface="Calibri" pitchFamily="34" charset="-122"/>
                <a:cs typeface="Calibri" pitchFamily="34" charset="-120"/>
              </a:rPr>
              <a:t>Agriculture &amp; insurance</a:t>
            </a:r>
            <a:endParaRPr lang="en-US" sz="1700" dirty="0"/>
          </a:p>
        </p:txBody>
      </p:sp>
      <p:sp>
        <p:nvSpPr>
          <p:cNvPr id="18" name="Text 16"/>
          <p:cNvSpPr/>
          <p:nvPr/>
        </p:nvSpPr>
        <p:spPr>
          <a:xfrm>
            <a:off x="8311896" y="2057400"/>
            <a:ext cx="3200400" cy="1554480"/>
          </a:xfrm>
          <a:prstGeom prst="rect">
            <a:avLst/>
          </a:prstGeom>
          <a:noFill/>
          <a:ln/>
        </p:spPr>
        <p:txBody>
          <a:bodyPr wrap="square" lIns="0" tIns="0" rIns="0" bIns="0" rtlCol="0" anchor="t"/>
          <a:lstStyle/>
          <a:p>
            <a:pPr indent="0" marL="0">
              <a:buNone/>
            </a:pPr>
            <a:r>
              <a:rPr lang="en-US" sz="1400" dirty="0">
                <a:solidFill>
                  <a:srgbClr val="1B2733"/>
                </a:solidFill>
                <a:latin typeface="Calibri" pitchFamily="34" charset="0"/>
                <a:ea typeface="Calibri" pitchFamily="34" charset="-122"/>
                <a:cs typeface="Calibri" pitchFamily="34" charset="-120"/>
              </a:rPr>
              <a:t>Estimate inundated cropland per district to speed crop-loss assessment and insurance claims (e.g. PMFBY).</a:t>
            </a:r>
            <a:endParaRPr lang="en-US" sz="1400" dirty="0"/>
          </a:p>
        </p:txBody>
      </p:sp>
      <p:sp>
        <p:nvSpPr>
          <p:cNvPr id="19" name="Shape 17"/>
          <p:cNvSpPr/>
          <p:nvPr/>
        </p:nvSpPr>
        <p:spPr>
          <a:xfrm>
            <a:off x="548640" y="3886200"/>
            <a:ext cx="3566160" cy="2194560"/>
          </a:xfrm>
          <a:prstGeom prst="rect">
            <a:avLst/>
          </a:prstGeom>
          <a:solidFill>
            <a:srgbClr val="EEF4F8"/>
          </a:solidFill>
          <a:ln w="12700">
            <a:solidFill>
              <a:srgbClr val="EEF4F8"/>
            </a:solidFill>
            <a:prstDash val="solid"/>
          </a:ln>
        </p:spPr>
      </p:sp>
      <p:sp>
        <p:nvSpPr>
          <p:cNvPr id="20" name="Shape 18"/>
          <p:cNvSpPr/>
          <p:nvPr/>
        </p:nvSpPr>
        <p:spPr>
          <a:xfrm>
            <a:off x="548640" y="3886200"/>
            <a:ext cx="73152" cy="2194560"/>
          </a:xfrm>
          <a:prstGeom prst="rect">
            <a:avLst/>
          </a:prstGeom>
          <a:solidFill>
            <a:srgbClr val="0B2545"/>
          </a:solidFill>
          <a:ln w="12700">
            <a:solidFill>
              <a:srgbClr val="0B2545"/>
            </a:solidFill>
            <a:prstDash val="solid"/>
          </a:ln>
        </p:spPr>
      </p:sp>
      <p:sp>
        <p:nvSpPr>
          <p:cNvPr id="21" name="Text 19"/>
          <p:cNvSpPr/>
          <p:nvPr/>
        </p:nvSpPr>
        <p:spPr>
          <a:xfrm>
            <a:off x="777240" y="3995928"/>
            <a:ext cx="3200400" cy="411480"/>
          </a:xfrm>
          <a:prstGeom prst="rect">
            <a:avLst/>
          </a:prstGeom>
          <a:noFill/>
          <a:ln/>
        </p:spPr>
        <p:txBody>
          <a:bodyPr wrap="square" lIns="0" tIns="0" rIns="0" bIns="0" rtlCol="0" anchor="t"/>
          <a:lstStyle/>
          <a:p>
            <a:pPr indent="0" marL="0">
              <a:buNone/>
            </a:pPr>
            <a:r>
              <a:rPr lang="en-US" sz="1700" b="1" dirty="0">
                <a:solidFill>
                  <a:srgbClr val="0B2545"/>
                </a:solidFill>
                <a:latin typeface="Calibri" pitchFamily="34" charset="0"/>
                <a:ea typeface="Calibri" pitchFamily="34" charset="-122"/>
                <a:cs typeface="Calibri" pitchFamily="34" charset="-120"/>
              </a:rPr>
              <a:t>Infrastructure risk</a:t>
            </a:r>
            <a:endParaRPr lang="en-US" sz="1700" dirty="0"/>
          </a:p>
        </p:txBody>
      </p:sp>
      <p:sp>
        <p:nvSpPr>
          <p:cNvPr id="22" name="Text 20"/>
          <p:cNvSpPr/>
          <p:nvPr/>
        </p:nvSpPr>
        <p:spPr>
          <a:xfrm>
            <a:off x="777240" y="4434840"/>
            <a:ext cx="3200400" cy="1554480"/>
          </a:xfrm>
          <a:prstGeom prst="rect">
            <a:avLst/>
          </a:prstGeom>
          <a:noFill/>
          <a:ln/>
        </p:spPr>
        <p:txBody>
          <a:bodyPr wrap="square" lIns="0" tIns="0" rIns="0" bIns="0" rtlCol="0" anchor="t"/>
          <a:lstStyle/>
          <a:p>
            <a:pPr indent="0" marL="0">
              <a:buNone/>
            </a:pPr>
            <a:r>
              <a:rPr lang="en-US" sz="1400" dirty="0">
                <a:solidFill>
                  <a:srgbClr val="1B2733"/>
                </a:solidFill>
                <a:latin typeface="Calibri" pitchFamily="34" charset="0"/>
                <a:ea typeface="Calibri" pitchFamily="34" charset="-122"/>
                <a:cs typeface="Calibri" pitchFamily="34" charset="-120"/>
              </a:rPr>
              <a:t>Flag flooded roads, bridges, substations, hospitals and schools; prioritise restoration.</a:t>
            </a:r>
            <a:endParaRPr lang="en-US" sz="1400" dirty="0"/>
          </a:p>
        </p:txBody>
      </p:sp>
      <p:sp>
        <p:nvSpPr>
          <p:cNvPr id="23" name="Shape 21"/>
          <p:cNvSpPr/>
          <p:nvPr/>
        </p:nvSpPr>
        <p:spPr>
          <a:xfrm>
            <a:off x="4315968" y="3886200"/>
            <a:ext cx="3566160" cy="2194560"/>
          </a:xfrm>
          <a:prstGeom prst="rect">
            <a:avLst/>
          </a:prstGeom>
          <a:solidFill>
            <a:srgbClr val="EEF4F8"/>
          </a:solidFill>
          <a:ln w="12700">
            <a:solidFill>
              <a:srgbClr val="EEF4F8"/>
            </a:solidFill>
            <a:prstDash val="solid"/>
          </a:ln>
        </p:spPr>
      </p:sp>
      <p:sp>
        <p:nvSpPr>
          <p:cNvPr id="24" name="Shape 22"/>
          <p:cNvSpPr/>
          <p:nvPr/>
        </p:nvSpPr>
        <p:spPr>
          <a:xfrm>
            <a:off x="4315968" y="3886200"/>
            <a:ext cx="73152" cy="2194560"/>
          </a:xfrm>
          <a:prstGeom prst="rect">
            <a:avLst/>
          </a:prstGeom>
          <a:solidFill>
            <a:srgbClr val="1C8FA8"/>
          </a:solidFill>
          <a:ln w="12700">
            <a:solidFill>
              <a:srgbClr val="1C8FA8"/>
            </a:solidFill>
            <a:prstDash val="solid"/>
          </a:ln>
        </p:spPr>
      </p:sp>
      <p:sp>
        <p:nvSpPr>
          <p:cNvPr id="25" name="Text 23"/>
          <p:cNvSpPr/>
          <p:nvPr/>
        </p:nvSpPr>
        <p:spPr>
          <a:xfrm>
            <a:off x="4544568" y="3995928"/>
            <a:ext cx="3200400" cy="411480"/>
          </a:xfrm>
          <a:prstGeom prst="rect">
            <a:avLst/>
          </a:prstGeom>
          <a:noFill/>
          <a:ln/>
        </p:spPr>
        <p:txBody>
          <a:bodyPr wrap="square" lIns="0" tIns="0" rIns="0" bIns="0" rtlCol="0" anchor="t"/>
          <a:lstStyle/>
          <a:p>
            <a:pPr indent="0" marL="0">
              <a:buNone/>
            </a:pPr>
            <a:r>
              <a:rPr lang="en-US" sz="1700" b="1" dirty="0">
                <a:solidFill>
                  <a:srgbClr val="0B2545"/>
                </a:solidFill>
                <a:latin typeface="Calibri" pitchFamily="34" charset="0"/>
                <a:ea typeface="Calibri" pitchFamily="34" charset="-122"/>
                <a:cs typeface="Calibri" pitchFamily="34" charset="-120"/>
              </a:rPr>
              <a:t>Hydrological model validation</a:t>
            </a:r>
            <a:endParaRPr lang="en-US" sz="1700" dirty="0"/>
          </a:p>
        </p:txBody>
      </p:sp>
      <p:sp>
        <p:nvSpPr>
          <p:cNvPr id="26" name="Text 24"/>
          <p:cNvSpPr/>
          <p:nvPr/>
        </p:nvSpPr>
        <p:spPr>
          <a:xfrm>
            <a:off x="4544568" y="4434840"/>
            <a:ext cx="3200400" cy="1554480"/>
          </a:xfrm>
          <a:prstGeom prst="rect">
            <a:avLst/>
          </a:prstGeom>
          <a:noFill/>
          <a:ln/>
        </p:spPr>
        <p:txBody>
          <a:bodyPr wrap="square" lIns="0" tIns="0" rIns="0" bIns="0" rtlCol="0" anchor="t"/>
          <a:lstStyle/>
          <a:p>
            <a:pPr indent="0" marL="0">
              <a:buNone/>
            </a:pPr>
            <a:r>
              <a:rPr lang="en-US" sz="1400" dirty="0">
                <a:solidFill>
                  <a:srgbClr val="1B2733"/>
                </a:solidFill>
                <a:latin typeface="Calibri" pitchFamily="34" charset="0"/>
                <a:ea typeface="Calibri" pitchFamily="34" charset="-122"/>
                <a:cs typeface="Calibri" pitchFamily="34" charset="-120"/>
              </a:rPr>
              <a:t>Observed flood extents to calibrate and validate hydrodynamic / rainfall-runoff model simulations.</a:t>
            </a:r>
            <a:endParaRPr lang="en-US" sz="1400" dirty="0"/>
          </a:p>
        </p:txBody>
      </p:sp>
      <p:sp>
        <p:nvSpPr>
          <p:cNvPr id="27" name="Shape 25"/>
          <p:cNvSpPr/>
          <p:nvPr/>
        </p:nvSpPr>
        <p:spPr>
          <a:xfrm>
            <a:off x="8083296" y="3886200"/>
            <a:ext cx="3566160" cy="2194560"/>
          </a:xfrm>
          <a:prstGeom prst="rect">
            <a:avLst/>
          </a:prstGeom>
          <a:solidFill>
            <a:srgbClr val="EEF4F8"/>
          </a:solidFill>
          <a:ln w="12700">
            <a:solidFill>
              <a:srgbClr val="EEF4F8"/>
            </a:solidFill>
            <a:prstDash val="solid"/>
          </a:ln>
        </p:spPr>
      </p:sp>
      <p:sp>
        <p:nvSpPr>
          <p:cNvPr id="28" name="Shape 26"/>
          <p:cNvSpPr/>
          <p:nvPr/>
        </p:nvSpPr>
        <p:spPr>
          <a:xfrm>
            <a:off x="8083296" y="3886200"/>
            <a:ext cx="73152" cy="2194560"/>
          </a:xfrm>
          <a:prstGeom prst="rect">
            <a:avLst/>
          </a:prstGeom>
          <a:solidFill>
            <a:srgbClr val="D1495B"/>
          </a:solidFill>
          <a:ln w="12700">
            <a:solidFill>
              <a:srgbClr val="D1495B"/>
            </a:solidFill>
            <a:prstDash val="solid"/>
          </a:ln>
        </p:spPr>
      </p:sp>
      <p:sp>
        <p:nvSpPr>
          <p:cNvPr id="29" name="Text 27"/>
          <p:cNvSpPr/>
          <p:nvPr/>
        </p:nvSpPr>
        <p:spPr>
          <a:xfrm>
            <a:off x="8311896" y="3995928"/>
            <a:ext cx="3200400" cy="411480"/>
          </a:xfrm>
          <a:prstGeom prst="rect">
            <a:avLst/>
          </a:prstGeom>
          <a:noFill/>
          <a:ln/>
        </p:spPr>
        <p:txBody>
          <a:bodyPr wrap="square" lIns="0" tIns="0" rIns="0" bIns="0" rtlCol="0" anchor="t"/>
          <a:lstStyle/>
          <a:p>
            <a:pPr indent="0" marL="0">
              <a:buNone/>
            </a:pPr>
            <a:r>
              <a:rPr lang="en-US" sz="1700" b="1" dirty="0">
                <a:solidFill>
                  <a:srgbClr val="0B2545"/>
                </a:solidFill>
                <a:latin typeface="Calibri" pitchFamily="34" charset="0"/>
                <a:ea typeface="Calibri" pitchFamily="34" charset="-122"/>
                <a:cs typeface="Calibri" pitchFamily="34" charset="-120"/>
              </a:rPr>
              <a:t>Flood-risk planning</a:t>
            </a:r>
            <a:endParaRPr lang="en-US" sz="1700" dirty="0"/>
          </a:p>
        </p:txBody>
      </p:sp>
      <p:sp>
        <p:nvSpPr>
          <p:cNvPr id="30" name="Text 28"/>
          <p:cNvSpPr/>
          <p:nvPr/>
        </p:nvSpPr>
        <p:spPr>
          <a:xfrm>
            <a:off x="8311896" y="4434840"/>
            <a:ext cx="3200400" cy="1554480"/>
          </a:xfrm>
          <a:prstGeom prst="rect">
            <a:avLst/>
          </a:prstGeom>
          <a:noFill/>
          <a:ln/>
        </p:spPr>
        <p:txBody>
          <a:bodyPr wrap="square" lIns="0" tIns="0" rIns="0" bIns="0" rtlCol="0" anchor="t"/>
          <a:lstStyle/>
          <a:p>
            <a:pPr indent="0" marL="0">
              <a:buNone/>
            </a:pPr>
            <a:r>
              <a:rPr lang="en-US" sz="1400" dirty="0">
                <a:solidFill>
                  <a:srgbClr val="1B2733"/>
                </a:solidFill>
                <a:latin typeface="Calibri" pitchFamily="34" charset="0"/>
                <a:ea typeface="Calibri" pitchFamily="34" charset="-122"/>
                <a:cs typeface="Calibri" pitchFamily="34" charset="-120"/>
              </a:rPr>
              <a:t>Build multi-year inundation frequency maps to support zoning, embankment planning and climate-risk studies.</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13A89E"/>
          </a:solidFill>
          <a:ln/>
        </p:spPr>
      </p:sp>
      <p:sp>
        <p:nvSpPr>
          <p:cNvPr id="3" name="Text 1"/>
          <p:cNvSpPr/>
          <p:nvPr/>
        </p:nvSpPr>
        <p:spPr>
          <a:xfrm>
            <a:off x="548640" y="320040"/>
            <a:ext cx="10972800" cy="640080"/>
          </a:xfrm>
          <a:prstGeom prst="rect">
            <a:avLst/>
          </a:prstGeom>
          <a:noFill/>
          <a:ln/>
        </p:spPr>
        <p:txBody>
          <a:bodyPr wrap="square" lIns="0" tIns="0" rIns="0" bIns="0" rtlCol="0" anchor="ctr"/>
          <a:lstStyle/>
          <a:p>
            <a:pPr indent="0" marL="0">
              <a:buNone/>
            </a:pPr>
            <a:r>
              <a:rPr lang="en-US" sz="3000" b="1" dirty="0">
                <a:solidFill>
                  <a:srgbClr val="0B2545"/>
                </a:solidFill>
                <a:latin typeface="Calibri" pitchFamily="34" charset="0"/>
                <a:ea typeface="Calibri" pitchFamily="34" charset="-122"/>
                <a:cs typeface="Calibri" pitchFamily="34" charset="-120"/>
              </a:rPr>
              <a:t>Limitations</a:t>
            </a:r>
            <a:endParaRPr lang="en-US" sz="3000" dirty="0"/>
          </a:p>
        </p:txBody>
      </p:sp>
      <p:sp>
        <p:nvSpPr>
          <p:cNvPr id="4" name="Text 2"/>
          <p:cNvSpPr/>
          <p:nvPr/>
        </p:nvSpPr>
        <p:spPr>
          <a:xfrm>
            <a:off x="548640" y="932688"/>
            <a:ext cx="10972800" cy="365760"/>
          </a:xfrm>
          <a:prstGeom prst="rect">
            <a:avLst/>
          </a:prstGeom>
          <a:noFill/>
          <a:ln/>
        </p:spPr>
        <p:txBody>
          <a:bodyPr wrap="square" lIns="0" tIns="0" rIns="0" bIns="0" rtlCol="0" anchor="ctr"/>
          <a:lstStyle/>
          <a:p>
            <a:pPr indent="0" marL="0">
              <a:buNone/>
            </a:pPr>
            <a:r>
              <a:rPr lang="en-US" sz="1500" dirty="0">
                <a:solidFill>
                  <a:srgbClr val="5B6B7B"/>
                </a:solidFill>
                <a:latin typeface="Calibri" pitchFamily="34" charset="0"/>
                <a:ea typeface="Calibri" pitchFamily="34" charset="-122"/>
                <a:cs typeface="Calibri" pitchFamily="34" charset="-120"/>
              </a:rPr>
              <a:t>What the current results do and do not show</a:t>
            </a:r>
            <a:endParaRPr lang="en-US" sz="1500" dirty="0"/>
          </a:p>
        </p:txBody>
      </p:sp>
      <p:sp>
        <p:nvSpPr>
          <p:cNvPr id="5" name="Text 3"/>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Prithvi Flood-IN  |  CE 766 Integrated Design Project  |  Progress Review</a:t>
            </a:r>
            <a:endParaRPr lang="en-US" sz="1000" dirty="0"/>
          </a:p>
        </p:txBody>
      </p:sp>
      <p:sp>
        <p:nvSpPr>
          <p:cNvPr id="6" name="Text 4"/>
          <p:cNvSpPr/>
          <p:nvPr/>
        </p:nvSpPr>
        <p:spPr>
          <a:xfrm>
            <a:off x="11155680" y="6446520"/>
            <a:ext cx="548640" cy="274320"/>
          </a:xfrm>
          <a:prstGeom prst="rect">
            <a:avLst/>
          </a:prstGeom>
          <a:noFill/>
          <a:ln/>
        </p:spPr>
        <p:txBody>
          <a:bodyPr wrap="square" lIns="0" tIns="0" rIns="0" bIns="0" rtlCol="0" anchor="ctr"/>
          <a:lstStyle/>
          <a:p>
            <a:pPr algn="r" indent="0" marL="0">
              <a:buNone/>
            </a:pPr>
            <a:r>
              <a:rPr lang="en-US" sz="1000" dirty="0">
                <a:solidFill>
                  <a:srgbClr val="5B6B7B"/>
                </a:solidFill>
                <a:latin typeface="Calibri" pitchFamily="34" charset="0"/>
                <a:ea typeface="Calibri" pitchFamily="34" charset="-122"/>
                <a:cs typeface="Calibri" pitchFamily="34" charset="-120"/>
              </a:rPr>
              <a:t>15</a:t>
            </a:r>
            <a:endParaRPr lang="en-US" sz="1000" dirty="0"/>
          </a:p>
        </p:txBody>
      </p:sp>
      <p:sp>
        <p:nvSpPr>
          <p:cNvPr id="7" name="Shape 5"/>
          <p:cNvSpPr/>
          <p:nvPr/>
        </p:nvSpPr>
        <p:spPr>
          <a:xfrm>
            <a:off x="548640" y="1554480"/>
            <a:ext cx="5440680" cy="2011680"/>
          </a:xfrm>
          <a:prstGeom prst="rect">
            <a:avLst/>
          </a:prstGeom>
          <a:solidFill>
            <a:srgbClr val="EEF4F8"/>
          </a:solidFill>
          <a:ln w="12700">
            <a:solidFill>
              <a:srgbClr val="EEF4F8"/>
            </a:solidFill>
            <a:prstDash val="solid"/>
          </a:ln>
        </p:spPr>
      </p:sp>
      <p:sp>
        <p:nvSpPr>
          <p:cNvPr id="8" name="Shape 6"/>
          <p:cNvSpPr/>
          <p:nvPr/>
        </p:nvSpPr>
        <p:spPr>
          <a:xfrm>
            <a:off x="548640" y="1554480"/>
            <a:ext cx="73152" cy="2011680"/>
          </a:xfrm>
          <a:prstGeom prst="rect">
            <a:avLst/>
          </a:prstGeom>
          <a:solidFill>
            <a:srgbClr val="E8A33D"/>
          </a:solidFill>
          <a:ln w="12700">
            <a:solidFill>
              <a:srgbClr val="E8A33D"/>
            </a:solidFill>
            <a:prstDash val="solid"/>
          </a:ln>
        </p:spPr>
      </p:sp>
      <p:sp>
        <p:nvSpPr>
          <p:cNvPr id="9" name="Text 7"/>
          <p:cNvSpPr/>
          <p:nvPr/>
        </p:nvSpPr>
        <p:spPr>
          <a:xfrm>
            <a:off x="777240" y="1664208"/>
            <a:ext cx="5074920" cy="411480"/>
          </a:xfrm>
          <a:prstGeom prst="rect">
            <a:avLst/>
          </a:prstGeom>
          <a:noFill/>
          <a:ln/>
        </p:spPr>
        <p:txBody>
          <a:bodyPr wrap="square" lIns="0" tIns="0" rIns="0" bIns="0" rtlCol="0" anchor="t"/>
          <a:lstStyle/>
          <a:p>
            <a:pPr indent="0" marL="0">
              <a:buNone/>
            </a:pPr>
            <a:r>
              <a:rPr lang="en-US" sz="1700" b="1" dirty="0">
                <a:solidFill>
                  <a:srgbClr val="0B2545"/>
                </a:solidFill>
                <a:latin typeface="Calibri" pitchFamily="34" charset="0"/>
                <a:ea typeface="Calibri" pitchFamily="34" charset="-122"/>
                <a:cs typeface="Calibri" pitchFamily="34" charset="-120"/>
              </a:rPr>
              <a:t>Small dataset</a:t>
            </a:r>
            <a:endParaRPr lang="en-US" sz="1700" dirty="0"/>
          </a:p>
        </p:txBody>
      </p:sp>
      <p:sp>
        <p:nvSpPr>
          <p:cNvPr id="10" name="Text 8"/>
          <p:cNvSpPr/>
          <p:nvPr/>
        </p:nvSpPr>
        <p:spPr>
          <a:xfrm>
            <a:off x="777240" y="2103120"/>
            <a:ext cx="5074920" cy="1371600"/>
          </a:xfrm>
          <a:prstGeom prst="rect">
            <a:avLst/>
          </a:prstGeom>
          <a:noFill/>
          <a:ln/>
        </p:spPr>
        <p:txBody>
          <a:bodyPr wrap="square" lIns="0" tIns="0" rIns="0" bIns="0" rtlCol="0" anchor="t"/>
          <a:lstStyle/>
          <a:p>
            <a:pPr indent="0" marL="0">
              <a:buNone/>
            </a:pPr>
            <a:r>
              <a:rPr lang="en-US" sz="1400" dirty="0">
                <a:solidFill>
                  <a:srgbClr val="1B2733"/>
                </a:solidFill>
                <a:latin typeface="Calibri" pitchFamily="34" charset="0"/>
                <a:ea typeface="Calibri" pitchFamily="34" charset="-122"/>
                <a:cs typeface="Calibri" pitchFamily="34" charset="-120"/>
              </a:rPr>
              <a:t>~100 events is a meaningful pilot, not production scale. More diverse events (regions, seasons, terrain) are needed.</a:t>
            </a:r>
            <a:endParaRPr lang="en-US" sz="1400" dirty="0"/>
          </a:p>
        </p:txBody>
      </p:sp>
      <p:sp>
        <p:nvSpPr>
          <p:cNvPr id="11" name="Shape 9"/>
          <p:cNvSpPr/>
          <p:nvPr/>
        </p:nvSpPr>
        <p:spPr>
          <a:xfrm>
            <a:off x="6199632" y="1554480"/>
            <a:ext cx="5440680" cy="2011680"/>
          </a:xfrm>
          <a:prstGeom prst="rect">
            <a:avLst/>
          </a:prstGeom>
          <a:solidFill>
            <a:srgbClr val="EEF4F8"/>
          </a:solidFill>
          <a:ln w="12700">
            <a:solidFill>
              <a:srgbClr val="EEF4F8"/>
            </a:solidFill>
            <a:prstDash val="solid"/>
          </a:ln>
        </p:spPr>
      </p:sp>
      <p:sp>
        <p:nvSpPr>
          <p:cNvPr id="12" name="Shape 10"/>
          <p:cNvSpPr/>
          <p:nvPr/>
        </p:nvSpPr>
        <p:spPr>
          <a:xfrm>
            <a:off x="6199632" y="1554480"/>
            <a:ext cx="73152" cy="2011680"/>
          </a:xfrm>
          <a:prstGeom prst="rect">
            <a:avLst/>
          </a:prstGeom>
          <a:solidFill>
            <a:srgbClr val="E8A33D"/>
          </a:solidFill>
          <a:ln w="12700">
            <a:solidFill>
              <a:srgbClr val="E8A33D"/>
            </a:solidFill>
            <a:prstDash val="solid"/>
          </a:ln>
        </p:spPr>
      </p:sp>
      <p:sp>
        <p:nvSpPr>
          <p:cNvPr id="13" name="Text 11"/>
          <p:cNvSpPr/>
          <p:nvPr/>
        </p:nvSpPr>
        <p:spPr>
          <a:xfrm>
            <a:off x="6428232" y="1664208"/>
            <a:ext cx="5074920" cy="411480"/>
          </a:xfrm>
          <a:prstGeom prst="rect">
            <a:avLst/>
          </a:prstGeom>
          <a:noFill/>
          <a:ln/>
        </p:spPr>
        <p:txBody>
          <a:bodyPr wrap="square" lIns="0" tIns="0" rIns="0" bIns="0" rtlCol="0" anchor="t"/>
          <a:lstStyle/>
          <a:p>
            <a:pPr indent="0" marL="0">
              <a:buNone/>
            </a:pPr>
            <a:r>
              <a:rPr lang="en-US" sz="1700" b="1" dirty="0">
                <a:solidFill>
                  <a:srgbClr val="0B2545"/>
                </a:solidFill>
                <a:latin typeface="Calibri" pitchFamily="34" charset="0"/>
                <a:ea typeface="Calibri" pitchFamily="34" charset="-122"/>
                <a:cs typeface="Calibri" pitchFamily="34" charset="-120"/>
              </a:rPr>
              <a:t>Optical imagery &amp; clouds</a:t>
            </a:r>
            <a:endParaRPr lang="en-US" sz="1700" dirty="0"/>
          </a:p>
        </p:txBody>
      </p:sp>
      <p:sp>
        <p:nvSpPr>
          <p:cNvPr id="14" name="Text 12"/>
          <p:cNvSpPr/>
          <p:nvPr/>
        </p:nvSpPr>
        <p:spPr>
          <a:xfrm>
            <a:off x="6428232" y="2103120"/>
            <a:ext cx="5074920" cy="1371600"/>
          </a:xfrm>
          <a:prstGeom prst="rect">
            <a:avLst/>
          </a:prstGeom>
          <a:noFill/>
          <a:ln/>
        </p:spPr>
        <p:txBody>
          <a:bodyPr wrap="square" lIns="0" tIns="0" rIns="0" bIns="0" rtlCol="0" anchor="t"/>
          <a:lstStyle/>
          <a:p>
            <a:pPr indent="0" marL="0">
              <a:buNone/>
            </a:pPr>
            <a:r>
              <a:rPr lang="en-US" sz="1400" dirty="0">
                <a:solidFill>
                  <a:srgbClr val="1B2733"/>
                </a:solidFill>
                <a:latin typeface="Calibri" pitchFamily="34" charset="0"/>
                <a:ea typeface="Calibri" pitchFamily="34" charset="-122"/>
                <a:cs typeface="Calibri" pitchFamily="34" charset="-120"/>
              </a:rPr>
              <a:t>Sentinel-2 cannot see through monsoon cloud, so many during-event scenes are unusable. SAR (Sentinel-1) fusion would help.</a:t>
            </a:r>
            <a:endParaRPr lang="en-US" sz="1400" dirty="0"/>
          </a:p>
        </p:txBody>
      </p:sp>
      <p:sp>
        <p:nvSpPr>
          <p:cNvPr id="15" name="Shape 13"/>
          <p:cNvSpPr/>
          <p:nvPr/>
        </p:nvSpPr>
        <p:spPr>
          <a:xfrm>
            <a:off x="548640" y="3749040"/>
            <a:ext cx="5440680" cy="2011680"/>
          </a:xfrm>
          <a:prstGeom prst="rect">
            <a:avLst/>
          </a:prstGeom>
          <a:solidFill>
            <a:srgbClr val="EEF4F8"/>
          </a:solidFill>
          <a:ln w="12700">
            <a:solidFill>
              <a:srgbClr val="EEF4F8"/>
            </a:solidFill>
            <a:prstDash val="solid"/>
          </a:ln>
        </p:spPr>
      </p:sp>
      <p:sp>
        <p:nvSpPr>
          <p:cNvPr id="16" name="Shape 14"/>
          <p:cNvSpPr/>
          <p:nvPr/>
        </p:nvSpPr>
        <p:spPr>
          <a:xfrm>
            <a:off x="548640" y="3749040"/>
            <a:ext cx="73152" cy="2011680"/>
          </a:xfrm>
          <a:prstGeom prst="rect">
            <a:avLst/>
          </a:prstGeom>
          <a:solidFill>
            <a:srgbClr val="D1495B"/>
          </a:solidFill>
          <a:ln w="12700">
            <a:solidFill>
              <a:srgbClr val="D1495B"/>
            </a:solidFill>
            <a:prstDash val="solid"/>
          </a:ln>
        </p:spPr>
      </p:sp>
      <p:sp>
        <p:nvSpPr>
          <p:cNvPr id="17" name="Text 15"/>
          <p:cNvSpPr/>
          <p:nvPr/>
        </p:nvSpPr>
        <p:spPr>
          <a:xfrm>
            <a:off x="777240" y="3858768"/>
            <a:ext cx="5074920" cy="411480"/>
          </a:xfrm>
          <a:prstGeom prst="rect">
            <a:avLst/>
          </a:prstGeom>
          <a:noFill/>
          <a:ln/>
        </p:spPr>
        <p:txBody>
          <a:bodyPr wrap="square" lIns="0" tIns="0" rIns="0" bIns="0" rtlCol="0" anchor="t"/>
          <a:lstStyle/>
          <a:p>
            <a:pPr indent="0" marL="0">
              <a:buNone/>
            </a:pPr>
            <a:r>
              <a:rPr lang="en-US" sz="1700" b="1" dirty="0">
                <a:solidFill>
                  <a:srgbClr val="0B2545"/>
                </a:solidFill>
                <a:latin typeface="Calibri" pitchFamily="34" charset="0"/>
                <a:ea typeface="Calibri" pitchFamily="34" charset="-122"/>
                <a:cs typeface="Calibri" pitchFamily="34" charset="-120"/>
              </a:rPr>
              <a:t>Recall dropped</a:t>
            </a:r>
            <a:endParaRPr lang="en-US" sz="1700" dirty="0"/>
          </a:p>
        </p:txBody>
      </p:sp>
      <p:sp>
        <p:nvSpPr>
          <p:cNvPr id="18" name="Text 16"/>
          <p:cNvSpPr/>
          <p:nvPr/>
        </p:nvSpPr>
        <p:spPr>
          <a:xfrm>
            <a:off x="777240" y="4297680"/>
            <a:ext cx="5074920" cy="1371600"/>
          </a:xfrm>
          <a:prstGeom prst="rect">
            <a:avLst/>
          </a:prstGeom>
          <a:noFill/>
          <a:ln/>
        </p:spPr>
        <p:txBody>
          <a:bodyPr wrap="square" lIns="0" tIns="0" rIns="0" bIns="0" rtlCol="0" anchor="t"/>
          <a:lstStyle/>
          <a:p>
            <a:pPr indent="0" marL="0">
              <a:buNone/>
            </a:pPr>
            <a:r>
              <a:rPr lang="en-US" sz="1400" dirty="0">
                <a:solidFill>
                  <a:srgbClr val="1B2733"/>
                </a:solidFill>
                <a:latin typeface="Calibri" pitchFamily="34" charset="0"/>
                <a:ea typeface="Calibri" pitchFamily="34" charset="-122"/>
                <a:cs typeface="Calibri" pitchFamily="34" charset="-120"/>
              </a:rPr>
              <a:t>The model now misses more real flood area (recall 0.71 → 0.53). Acceptable for mapping; needs tuning for early warning.</a:t>
            </a:r>
            <a:endParaRPr lang="en-US" sz="1400" dirty="0"/>
          </a:p>
        </p:txBody>
      </p:sp>
      <p:sp>
        <p:nvSpPr>
          <p:cNvPr id="19" name="Shape 17"/>
          <p:cNvSpPr/>
          <p:nvPr/>
        </p:nvSpPr>
        <p:spPr>
          <a:xfrm>
            <a:off x="6199632" y="3749040"/>
            <a:ext cx="5440680" cy="2011680"/>
          </a:xfrm>
          <a:prstGeom prst="rect">
            <a:avLst/>
          </a:prstGeom>
          <a:solidFill>
            <a:srgbClr val="EEF4F8"/>
          </a:solidFill>
          <a:ln w="12700">
            <a:solidFill>
              <a:srgbClr val="EEF4F8"/>
            </a:solidFill>
            <a:prstDash val="solid"/>
          </a:ln>
        </p:spPr>
      </p:sp>
      <p:sp>
        <p:nvSpPr>
          <p:cNvPr id="20" name="Shape 18"/>
          <p:cNvSpPr/>
          <p:nvPr/>
        </p:nvSpPr>
        <p:spPr>
          <a:xfrm>
            <a:off x="6199632" y="3749040"/>
            <a:ext cx="73152" cy="2011680"/>
          </a:xfrm>
          <a:prstGeom prst="rect">
            <a:avLst/>
          </a:prstGeom>
          <a:solidFill>
            <a:srgbClr val="5B6B7B"/>
          </a:solidFill>
          <a:ln w="12700">
            <a:solidFill>
              <a:srgbClr val="5B6B7B"/>
            </a:solidFill>
            <a:prstDash val="solid"/>
          </a:ln>
        </p:spPr>
      </p:sp>
      <p:sp>
        <p:nvSpPr>
          <p:cNvPr id="21" name="Text 19"/>
          <p:cNvSpPr/>
          <p:nvPr/>
        </p:nvSpPr>
        <p:spPr>
          <a:xfrm>
            <a:off x="6428232" y="3858768"/>
            <a:ext cx="5074920" cy="411480"/>
          </a:xfrm>
          <a:prstGeom prst="rect">
            <a:avLst/>
          </a:prstGeom>
          <a:noFill/>
          <a:ln/>
        </p:spPr>
        <p:txBody>
          <a:bodyPr wrap="square" lIns="0" tIns="0" rIns="0" bIns="0" rtlCol="0" anchor="t"/>
          <a:lstStyle/>
          <a:p>
            <a:pPr indent="0" marL="0">
              <a:buNone/>
            </a:pPr>
            <a:r>
              <a:rPr lang="en-US" sz="1700" b="1" dirty="0">
                <a:solidFill>
                  <a:srgbClr val="0B2545"/>
                </a:solidFill>
                <a:latin typeface="Calibri" pitchFamily="34" charset="0"/>
                <a:ea typeface="Calibri" pitchFamily="34" charset="-122"/>
                <a:cs typeface="Calibri" pitchFamily="34" charset="-120"/>
              </a:rPr>
              <a:t>Free-tier compute</a:t>
            </a:r>
            <a:endParaRPr lang="en-US" sz="1700" dirty="0"/>
          </a:p>
        </p:txBody>
      </p:sp>
      <p:sp>
        <p:nvSpPr>
          <p:cNvPr id="22" name="Text 20"/>
          <p:cNvSpPr/>
          <p:nvPr/>
        </p:nvSpPr>
        <p:spPr>
          <a:xfrm>
            <a:off x="6428232" y="4297680"/>
            <a:ext cx="5074920" cy="1371600"/>
          </a:xfrm>
          <a:prstGeom prst="rect">
            <a:avLst/>
          </a:prstGeom>
          <a:noFill/>
          <a:ln/>
        </p:spPr>
        <p:txBody>
          <a:bodyPr wrap="square" lIns="0" tIns="0" rIns="0" bIns="0" rtlCol="0" anchor="t"/>
          <a:lstStyle/>
          <a:p>
            <a:pPr indent="0" marL="0">
              <a:buNone/>
            </a:pPr>
            <a:r>
              <a:rPr lang="en-US" sz="1400" dirty="0">
                <a:solidFill>
                  <a:srgbClr val="1B2733"/>
                </a:solidFill>
                <a:latin typeface="Calibri" pitchFamily="34" charset="0"/>
                <a:ea typeface="Calibri" pitchFamily="34" charset="-122"/>
                <a:cs typeface="Calibri" pitchFamily="34" charset="-120"/>
              </a:rPr>
              <a:t>Colab disconnects and memory limits constrained experimentation; production runs need stable dedicated compute.</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13A89E"/>
          </a:solidFill>
          <a:ln/>
        </p:spPr>
      </p:sp>
      <p:sp>
        <p:nvSpPr>
          <p:cNvPr id="3" name="Text 1"/>
          <p:cNvSpPr/>
          <p:nvPr/>
        </p:nvSpPr>
        <p:spPr>
          <a:xfrm>
            <a:off x="548640" y="320040"/>
            <a:ext cx="10972800" cy="640080"/>
          </a:xfrm>
          <a:prstGeom prst="rect">
            <a:avLst/>
          </a:prstGeom>
          <a:noFill/>
          <a:ln/>
        </p:spPr>
        <p:txBody>
          <a:bodyPr wrap="square" lIns="0" tIns="0" rIns="0" bIns="0" rtlCol="0" anchor="ctr"/>
          <a:lstStyle/>
          <a:p>
            <a:pPr indent="0" marL="0">
              <a:buNone/>
            </a:pPr>
            <a:r>
              <a:rPr lang="en-US" sz="3000" b="1" dirty="0">
                <a:solidFill>
                  <a:srgbClr val="0B2545"/>
                </a:solidFill>
                <a:latin typeface="Calibri" pitchFamily="34" charset="0"/>
                <a:ea typeface="Calibri" pitchFamily="34" charset="-122"/>
                <a:cs typeface="Calibri" pitchFamily="34" charset="-120"/>
              </a:rPr>
              <a:t>Next steps</a:t>
            </a:r>
            <a:endParaRPr lang="en-US" sz="3000" dirty="0"/>
          </a:p>
        </p:txBody>
      </p:sp>
      <p:sp>
        <p:nvSpPr>
          <p:cNvPr id="4" name="Text 2"/>
          <p:cNvSpPr/>
          <p:nvPr/>
        </p:nvSpPr>
        <p:spPr>
          <a:xfrm>
            <a:off x="548640" y="932688"/>
            <a:ext cx="10972800" cy="365760"/>
          </a:xfrm>
          <a:prstGeom prst="rect">
            <a:avLst/>
          </a:prstGeom>
          <a:noFill/>
          <a:ln/>
        </p:spPr>
        <p:txBody>
          <a:bodyPr wrap="square" lIns="0" tIns="0" rIns="0" bIns="0" rtlCol="0" anchor="ctr"/>
          <a:lstStyle/>
          <a:p>
            <a:pPr indent="0" marL="0">
              <a:buNone/>
            </a:pPr>
            <a:r>
              <a:rPr lang="en-US" sz="1500" dirty="0">
                <a:solidFill>
                  <a:srgbClr val="5B6B7B"/>
                </a:solidFill>
                <a:latin typeface="Calibri" pitchFamily="34" charset="0"/>
                <a:ea typeface="Calibri" pitchFamily="34" charset="-122"/>
                <a:cs typeface="Calibri" pitchFamily="34" charset="-120"/>
              </a:rPr>
              <a:t>Plan for the remainder of the project</a:t>
            </a:r>
            <a:endParaRPr lang="en-US" sz="1500" dirty="0"/>
          </a:p>
        </p:txBody>
      </p:sp>
      <p:sp>
        <p:nvSpPr>
          <p:cNvPr id="5" name="Text 3"/>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Prithvi Flood-IN  |  CE 766 Integrated Design Project  |  Progress Review</a:t>
            </a:r>
            <a:endParaRPr lang="en-US" sz="1000" dirty="0"/>
          </a:p>
        </p:txBody>
      </p:sp>
      <p:sp>
        <p:nvSpPr>
          <p:cNvPr id="6" name="Text 4"/>
          <p:cNvSpPr/>
          <p:nvPr/>
        </p:nvSpPr>
        <p:spPr>
          <a:xfrm>
            <a:off x="11155680" y="6446520"/>
            <a:ext cx="548640" cy="274320"/>
          </a:xfrm>
          <a:prstGeom prst="rect">
            <a:avLst/>
          </a:prstGeom>
          <a:noFill/>
          <a:ln/>
        </p:spPr>
        <p:txBody>
          <a:bodyPr wrap="square" lIns="0" tIns="0" rIns="0" bIns="0" rtlCol="0" anchor="ctr"/>
          <a:lstStyle/>
          <a:p>
            <a:pPr algn="r" indent="0" marL="0">
              <a:buNone/>
            </a:pPr>
            <a:r>
              <a:rPr lang="en-US" sz="1000" dirty="0">
                <a:solidFill>
                  <a:srgbClr val="5B6B7B"/>
                </a:solidFill>
                <a:latin typeface="Calibri" pitchFamily="34" charset="0"/>
                <a:ea typeface="Calibri" pitchFamily="34" charset="-122"/>
                <a:cs typeface="Calibri" pitchFamily="34" charset="-120"/>
              </a:rPr>
              <a:t>16</a:t>
            </a:r>
            <a:endParaRPr lang="en-US" sz="1000" dirty="0"/>
          </a:p>
        </p:txBody>
      </p:sp>
      <p:sp>
        <p:nvSpPr>
          <p:cNvPr id="7" name="Shape 5"/>
          <p:cNvSpPr/>
          <p:nvPr/>
        </p:nvSpPr>
        <p:spPr>
          <a:xfrm>
            <a:off x="548640" y="1600200"/>
            <a:ext cx="731520" cy="731520"/>
          </a:xfrm>
          <a:prstGeom prst="ellipse">
            <a:avLst/>
          </a:prstGeom>
          <a:solidFill>
            <a:srgbClr val="13A89E"/>
          </a:solidFill>
          <a:ln/>
        </p:spPr>
      </p:sp>
      <p:sp>
        <p:nvSpPr>
          <p:cNvPr id="8" name="Text 6"/>
          <p:cNvSpPr/>
          <p:nvPr/>
        </p:nvSpPr>
        <p:spPr>
          <a:xfrm>
            <a:off x="548640" y="160020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9" name="Text 7"/>
          <p:cNvSpPr/>
          <p:nvPr/>
        </p:nvSpPr>
        <p:spPr>
          <a:xfrm>
            <a:off x="1463040" y="1508760"/>
            <a:ext cx="4480560" cy="411480"/>
          </a:xfrm>
          <a:prstGeom prst="rect">
            <a:avLst/>
          </a:prstGeom>
          <a:noFill/>
          <a:ln/>
        </p:spPr>
        <p:txBody>
          <a:bodyPr wrap="square" lIns="0" tIns="0" rIns="0" bIns="0" rtlCol="0" anchor="ctr"/>
          <a:lstStyle/>
          <a:p>
            <a:pPr indent="0" marL="0">
              <a:buNone/>
            </a:pPr>
            <a:r>
              <a:rPr lang="en-US" sz="1700" b="1" dirty="0">
                <a:solidFill>
                  <a:srgbClr val="0B2545"/>
                </a:solidFill>
                <a:latin typeface="Calibri" pitchFamily="34" charset="0"/>
                <a:ea typeface="Calibri" pitchFamily="34" charset="-122"/>
                <a:cs typeface="Calibri" pitchFamily="34" charset="-120"/>
              </a:rPr>
              <a:t>Qualitative analysis</a:t>
            </a:r>
            <a:endParaRPr lang="en-US" sz="1700" dirty="0"/>
          </a:p>
        </p:txBody>
      </p:sp>
      <p:sp>
        <p:nvSpPr>
          <p:cNvPr id="10" name="Text 8"/>
          <p:cNvSpPr/>
          <p:nvPr/>
        </p:nvSpPr>
        <p:spPr>
          <a:xfrm>
            <a:off x="1463040" y="1947672"/>
            <a:ext cx="4480560" cy="1005840"/>
          </a:xfrm>
          <a:prstGeom prst="rect">
            <a:avLst/>
          </a:prstGeom>
          <a:noFill/>
          <a:ln/>
        </p:spPr>
        <p:txBody>
          <a:bodyPr wrap="square" lIns="0" tIns="0" rIns="0" bIns="0" rtlCol="0" anchor="t"/>
          <a:lstStyle/>
          <a:p>
            <a:pPr indent="0" marL="0">
              <a:buNone/>
            </a:pPr>
            <a:r>
              <a:rPr lang="en-US" sz="1400" dirty="0">
                <a:solidFill>
                  <a:srgbClr val="1B2733"/>
                </a:solidFill>
                <a:latin typeface="Calibri" pitchFamily="34" charset="0"/>
                <a:ea typeface="Calibri" pitchFamily="34" charset="-122"/>
                <a:cs typeface="Calibri" pitchFamily="34" charset="-120"/>
              </a:rPr>
              <a:t>Error maps (hits / false alarms / misses) and per-event breakdown to find where the model struggles.</a:t>
            </a:r>
            <a:endParaRPr lang="en-US" sz="1400" dirty="0"/>
          </a:p>
        </p:txBody>
      </p:sp>
      <p:sp>
        <p:nvSpPr>
          <p:cNvPr id="11" name="Shape 9"/>
          <p:cNvSpPr/>
          <p:nvPr/>
        </p:nvSpPr>
        <p:spPr>
          <a:xfrm>
            <a:off x="6199632" y="1600200"/>
            <a:ext cx="731520" cy="731520"/>
          </a:xfrm>
          <a:prstGeom prst="ellipse">
            <a:avLst/>
          </a:prstGeom>
          <a:solidFill>
            <a:srgbClr val="13A89E"/>
          </a:solidFill>
          <a:ln/>
        </p:spPr>
      </p:sp>
      <p:sp>
        <p:nvSpPr>
          <p:cNvPr id="12" name="Text 10"/>
          <p:cNvSpPr/>
          <p:nvPr/>
        </p:nvSpPr>
        <p:spPr>
          <a:xfrm>
            <a:off x="6199632" y="160020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3" name="Text 11"/>
          <p:cNvSpPr/>
          <p:nvPr/>
        </p:nvSpPr>
        <p:spPr>
          <a:xfrm>
            <a:off x="7114032" y="1508760"/>
            <a:ext cx="4480560" cy="411480"/>
          </a:xfrm>
          <a:prstGeom prst="rect">
            <a:avLst/>
          </a:prstGeom>
          <a:noFill/>
          <a:ln/>
        </p:spPr>
        <p:txBody>
          <a:bodyPr wrap="square" lIns="0" tIns="0" rIns="0" bIns="0" rtlCol="0" anchor="ctr"/>
          <a:lstStyle/>
          <a:p>
            <a:pPr indent="0" marL="0">
              <a:buNone/>
            </a:pPr>
            <a:r>
              <a:rPr lang="en-US" sz="1700" b="1" dirty="0">
                <a:solidFill>
                  <a:srgbClr val="0B2545"/>
                </a:solidFill>
                <a:latin typeface="Calibri" pitchFamily="34" charset="0"/>
                <a:ea typeface="Calibri" pitchFamily="34" charset="-122"/>
                <a:cs typeface="Calibri" pitchFamily="34" charset="-120"/>
              </a:rPr>
              <a:t>Recover recall</a:t>
            </a:r>
            <a:endParaRPr lang="en-US" sz="1700" dirty="0"/>
          </a:p>
        </p:txBody>
      </p:sp>
      <p:sp>
        <p:nvSpPr>
          <p:cNvPr id="14" name="Text 12"/>
          <p:cNvSpPr/>
          <p:nvPr/>
        </p:nvSpPr>
        <p:spPr>
          <a:xfrm>
            <a:off x="7114032" y="1947672"/>
            <a:ext cx="4480560" cy="1005840"/>
          </a:xfrm>
          <a:prstGeom prst="rect">
            <a:avLst/>
          </a:prstGeom>
          <a:noFill/>
          <a:ln/>
        </p:spPr>
        <p:txBody>
          <a:bodyPr wrap="square" lIns="0" tIns="0" rIns="0" bIns="0" rtlCol="0" anchor="t"/>
          <a:lstStyle/>
          <a:p>
            <a:pPr indent="0" marL="0">
              <a:buNone/>
            </a:pPr>
            <a:r>
              <a:rPr lang="en-US" sz="1400" dirty="0">
                <a:solidFill>
                  <a:srgbClr val="1B2733"/>
                </a:solidFill>
                <a:latin typeface="Calibri" pitchFamily="34" charset="0"/>
                <a:ea typeface="Calibri" pitchFamily="34" charset="-122"/>
                <a:cs typeface="Calibri" pitchFamily="34" charset="-120"/>
              </a:rPr>
              <a:t>Tune decision threshold on flood probability; explore class-weighted or Dice loss; report F1.</a:t>
            </a:r>
            <a:endParaRPr lang="en-US" sz="1400" dirty="0"/>
          </a:p>
        </p:txBody>
      </p:sp>
      <p:sp>
        <p:nvSpPr>
          <p:cNvPr id="15" name="Shape 13"/>
          <p:cNvSpPr/>
          <p:nvPr/>
        </p:nvSpPr>
        <p:spPr>
          <a:xfrm>
            <a:off x="548640" y="3200400"/>
            <a:ext cx="731520" cy="731520"/>
          </a:xfrm>
          <a:prstGeom prst="ellipse">
            <a:avLst/>
          </a:prstGeom>
          <a:solidFill>
            <a:srgbClr val="13A89E"/>
          </a:solidFill>
          <a:ln/>
        </p:spPr>
      </p:sp>
      <p:sp>
        <p:nvSpPr>
          <p:cNvPr id="16" name="Text 14"/>
          <p:cNvSpPr/>
          <p:nvPr/>
        </p:nvSpPr>
        <p:spPr>
          <a:xfrm>
            <a:off x="548640" y="320040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17" name="Text 15"/>
          <p:cNvSpPr/>
          <p:nvPr/>
        </p:nvSpPr>
        <p:spPr>
          <a:xfrm>
            <a:off x="1463040" y="3108960"/>
            <a:ext cx="4480560" cy="411480"/>
          </a:xfrm>
          <a:prstGeom prst="rect">
            <a:avLst/>
          </a:prstGeom>
          <a:noFill/>
          <a:ln/>
        </p:spPr>
        <p:txBody>
          <a:bodyPr wrap="square" lIns="0" tIns="0" rIns="0" bIns="0" rtlCol="0" anchor="ctr"/>
          <a:lstStyle/>
          <a:p>
            <a:pPr indent="0" marL="0">
              <a:buNone/>
            </a:pPr>
            <a:r>
              <a:rPr lang="en-US" sz="1700" b="1" dirty="0">
                <a:solidFill>
                  <a:srgbClr val="0B2545"/>
                </a:solidFill>
                <a:latin typeface="Calibri" pitchFamily="34" charset="0"/>
                <a:ea typeface="Calibri" pitchFamily="34" charset="-122"/>
                <a:cs typeface="Calibri" pitchFamily="34" charset="-120"/>
              </a:rPr>
              <a:t>Grow the dataset</a:t>
            </a:r>
            <a:endParaRPr lang="en-US" sz="1700" dirty="0"/>
          </a:p>
        </p:txBody>
      </p:sp>
      <p:sp>
        <p:nvSpPr>
          <p:cNvPr id="18" name="Text 16"/>
          <p:cNvSpPr/>
          <p:nvPr/>
        </p:nvSpPr>
        <p:spPr>
          <a:xfrm>
            <a:off x="1463040" y="3547872"/>
            <a:ext cx="4480560" cy="1005840"/>
          </a:xfrm>
          <a:prstGeom prst="rect">
            <a:avLst/>
          </a:prstGeom>
          <a:noFill/>
          <a:ln/>
        </p:spPr>
        <p:txBody>
          <a:bodyPr wrap="square" lIns="0" tIns="0" rIns="0" bIns="0" rtlCol="0" anchor="t"/>
          <a:lstStyle/>
          <a:p>
            <a:pPr indent="0" marL="0">
              <a:buNone/>
            </a:pPr>
            <a:r>
              <a:rPr lang="en-US" sz="1400" dirty="0">
                <a:solidFill>
                  <a:srgbClr val="1B2733"/>
                </a:solidFill>
                <a:latin typeface="Calibri" pitchFamily="34" charset="0"/>
                <a:ea typeface="Calibri" pitchFamily="34" charset="-122"/>
                <a:cs typeface="Calibri" pitchFamily="34" charset="-120"/>
              </a:rPr>
              <a:t>Screen ~2,680 more NDEM layers; add SAR (Sentinel-1) to handle cloudy monsoon scenes.</a:t>
            </a:r>
            <a:endParaRPr lang="en-US" sz="1400" dirty="0"/>
          </a:p>
        </p:txBody>
      </p:sp>
      <p:sp>
        <p:nvSpPr>
          <p:cNvPr id="19" name="Shape 17"/>
          <p:cNvSpPr/>
          <p:nvPr/>
        </p:nvSpPr>
        <p:spPr>
          <a:xfrm>
            <a:off x="6199632" y="3200400"/>
            <a:ext cx="731520" cy="731520"/>
          </a:xfrm>
          <a:prstGeom prst="ellipse">
            <a:avLst/>
          </a:prstGeom>
          <a:solidFill>
            <a:srgbClr val="13A89E"/>
          </a:solidFill>
          <a:ln/>
        </p:spPr>
      </p:sp>
      <p:sp>
        <p:nvSpPr>
          <p:cNvPr id="20" name="Text 18"/>
          <p:cNvSpPr/>
          <p:nvPr/>
        </p:nvSpPr>
        <p:spPr>
          <a:xfrm>
            <a:off x="6199632" y="320040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4</a:t>
            </a:r>
            <a:endParaRPr lang="en-US" sz="2200" dirty="0"/>
          </a:p>
        </p:txBody>
      </p:sp>
      <p:sp>
        <p:nvSpPr>
          <p:cNvPr id="21" name="Text 19"/>
          <p:cNvSpPr/>
          <p:nvPr/>
        </p:nvSpPr>
        <p:spPr>
          <a:xfrm>
            <a:off x="7114032" y="3108960"/>
            <a:ext cx="4480560" cy="411480"/>
          </a:xfrm>
          <a:prstGeom prst="rect">
            <a:avLst/>
          </a:prstGeom>
          <a:noFill/>
          <a:ln/>
        </p:spPr>
        <p:txBody>
          <a:bodyPr wrap="square" lIns="0" tIns="0" rIns="0" bIns="0" rtlCol="0" anchor="ctr"/>
          <a:lstStyle/>
          <a:p>
            <a:pPr indent="0" marL="0">
              <a:buNone/>
            </a:pPr>
            <a:r>
              <a:rPr lang="en-US" sz="1700" b="1" dirty="0">
                <a:solidFill>
                  <a:srgbClr val="0B2545"/>
                </a:solidFill>
                <a:latin typeface="Calibri" pitchFamily="34" charset="0"/>
                <a:ea typeface="Calibri" pitchFamily="34" charset="-122"/>
                <a:cs typeface="Calibri" pitchFamily="34" charset="-120"/>
              </a:rPr>
              <a:t>Mahanadi pilot</a:t>
            </a:r>
            <a:endParaRPr lang="en-US" sz="1700" dirty="0"/>
          </a:p>
        </p:txBody>
      </p:sp>
      <p:sp>
        <p:nvSpPr>
          <p:cNvPr id="22" name="Text 20"/>
          <p:cNvSpPr/>
          <p:nvPr/>
        </p:nvSpPr>
        <p:spPr>
          <a:xfrm>
            <a:off x="7114032" y="3547872"/>
            <a:ext cx="4480560" cy="1005840"/>
          </a:xfrm>
          <a:prstGeom prst="rect">
            <a:avLst/>
          </a:prstGeom>
          <a:noFill/>
          <a:ln/>
        </p:spPr>
        <p:txBody>
          <a:bodyPr wrap="square" lIns="0" tIns="0" rIns="0" bIns="0" rtlCol="0" anchor="t"/>
          <a:lstStyle/>
          <a:p>
            <a:pPr indent="0" marL="0">
              <a:buNone/>
            </a:pPr>
            <a:r>
              <a:rPr lang="en-US" sz="1400" dirty="0">
                <a:solidFill>
                  <a:srgbClr val="1B2733"/>
                </a:solidFill>
                <a:latin typeface="Calibri" pitchFamily="34" charset="0"/>
                <a:ea typeface="Calibri" pitchFamily="34" charset="-122"/>
                <a:cs typeface="Calibri" pitchFamily="34" charset="-120"/>
              </a:rPr>
              <a:t>Run inference on recent Mahanadi-basin events; validate with ClimMaTech and CWC gauge data.</a:t>
            </a:r>
            <a:endParaRPr lang="en-US" sz="1400" dirty="0"/>
          </a:p>
        </p:txBody>
      </p:sp>
      <p:sp>
        <p:nvSpPr>
          <p:cNvPr id="23" name="Shape 21"/>
          <p:cNvSpPr/>
          <p:nvPr/>
        </p:nvSpPr>
        <p:spPr>
          <a:xfrm>
            <a:off x="548640" y="4800600"/>
            <a:ext cx="731520" cy="731520"/>
          </a:xfrm>
          <a:prstGeom prst="ellipse">
            <a:avLst/>
          </a:prstGeom>
          <a:solidFill>
            <a:srgbClr val="13A89E"/>
          </a:solidFill>
          <a:ln/>
        </p:spPr>
      </p:sp>
      <p:sp>
        <p:nvSpPr>
          <p:cNvPr id="24" name="Text 22"/>
          <p:cNvSpPr/>
          <p:nvPr/>
        </p:nvSpPr>
        <p:spPr>
          <a:xfrm>
            <a:off x="548640" y="480060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5</a:t>
            </a:r>
            <a:endParaRPr lang="en-US" sz="2200" dirty="0"/>
          </a:p>
        </p:txBody>
      </p:sp>
      <p:sp>
        <p:nvSpPr>
          <p:cNvPr id="25" name="Text 23"/>
          <p:cNvSpPr/>
          <p:nvPr/>
        </p:nvSpPr>
        <p:spPr>
          <a:xfrm>
            <a:off x="1463040" y="4709160"/>
            <a:ext cx="4480560" cy="411480"/>
          </a:xfrm>
          <a:prstGeom prst="rect">
            <a:avLst/>
          </a:prstGeom>
          <a:noFill/>
          <a:ln/>
        </p:spPr>
        <p:txBody>
          <a:bodyPr wrap="square" lIns="0" tIns="0" rIns="0" bIns="0" rtlCol="0" anchor="ctr"/>
          <a:lstStyle/>
          <a:p>
            <a:pPr indent="0" marL="0">
              <a:buNone/>
            </a:pPr>
            <a:r>
              <a:rPr lang="en-US" sz="1700" b="1" dirty="0">
                <a:solidFill>
                  <a:srgbClr val="0B2545"/>
                </a:solidFill>
                <a:latin typeface="Calibri" pitchFamily="34" charset="0"/>
                <a:ea typeface="Calibri" pitchFamily="34" charset="-122"/>
                <a:cs typeface="Calibri" pitchFamily="34" charset="-120"/>
              </a:rPr>
              <a:t>Dashboard prototype</a:t>
            </a:r>
            <a:endParaRPr lang="en-US" sz="1700" dirty="0"/>
          </a:p>
        </p:txBody>
      </p:sp>
      <p:sp>
        <p:nvSpPr>
          <p:cNvPr id="26" name="Text 24"/>
          <p:cNvSpPr/>
          <p:nvPr/>
        </p:nvSpPr>
        <p:spPr>
          <a:xfrm>
            <a:off x="1463040" y="5148072"/>
            <a:ext cx="4480560" cy="1005840"/>
          </a:xfrm>
          <a:prstGeom prst="rect">
            <a:avLst/>
          </a:prstGeom>
          <a:noFill/>
          <a:ln/>
        </p:spPr>
        <p:txBody>
          <a:bodyPr wrap="square" lIns="0" tIns="0" rIns="0" bIns="0" rtlCol="0" anchor="t"/>
          <a:lstStyle/>
          <a:p>
            <a:pPr indent="0" marL="0">
              <a:buNone/>
            </a:pPr>
            <a:r>
              <a:rPr lang="en-US" sz="1400" dirty="0">
                <a:solidFill>
                  <a:srgbClr val="1B2733"/>
                </a:solidFill>
                <a:latin typeface="Calibri" pitchFamily="34" charset="0"/>
                <a:ea typeface="Calibri" pitchFamily="34" charset="-122"/>
                <a:cs typeface="Calibri" pitchFamily="34" charset="-120"/>
              </a:rPr>
              <a:t>Overlay flood extent with dams, sensors, roads, villages and infrastructure for during-event response.</a:t>
            </a:r>
            <a:endParaRPr lang="en-US" sz="1400" dirty="0"/>
          </a:p>
        </p:txBody>
      </p:sp>
      <p:sp>
        <p:nvSpPr>
          <p:cNvPr id="27" name="Shape 25"/>
          <p:cNvSpPr/>
          <p:nvPr/>
        </p:nvSpPr>
        <p:spPr>
          <a:xfrm>
            <a:off x="6199632" y="4800600"/>
            <a:ext cx="731520" cy="731520"/>
          </a:xfrm>
          <a:prstGeom prst="ellipse">
            <a:avLst/>
          </a:prstGeom>
          <a:solidFill>
            <a:srgbClr val="13A89E"/>
          </a:solidFill>
          <a:ln/>
        </p:spPr>
      </p:sp>
      <p:sp>
        <p:nvSpPr>
          <p:cNvPr id="28" name="Text 26"/>
          <p:cNvSpPr/>
          <p:nvPr/>
        </p:nvSpPr>
        <p:spPr>
          <a:xfrm>
            <a:off x="6199632" y="480060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6</a:t>
            </a:r>
            <a:endParaRPr lang="en-US" sz="2200" dirty="0"/>
          </a:p>
        </p:txBody>
      </p:sp>
      <p:sp>
        <p:nvSpPr>
          <p:cNvPr id="29" name="Text 27"/>
          <p:cNvSpPr/>
          <p:nvPr/>
        </p:nvSpPr>
        <p:spPr>
          <a:xfrm>
            <a:off x="7114032" y="4709160"/>
            <a:ext cx="4480560" cy="411480"/>
          </a:xfrm>
          <a:prstGeom prst="rect">
            <a:avLst/>
          </a:prstGeom>
          <a:noFill/>
          <a:ln/>
        </p:spPr>
        <p:txBody>
          <a:bodyPr wrap="square" lIns="0" tIns="0" rIns="0" bIns="0" rtlCol="0" anchor="ctr"/>
          <a:lstStyle/>
          <a:p>
            <a:pPr indent="0" marL="0">
              <a:buNone/>
            </a:pPr>
            <a:r>
              <a:rPr lang="en-US" sz="1700" b="1" dirty="0">
                <a:solidFill>
                  <a:srgbClr val="0B2545"/>
                </a:solidFill>
                <a:latin typeface="Calibri" pitchFamily="34" charset="0"/>
                <a:ea typeface="Calibri" pitchFamily="34" charset="-122"/>
                <a:cs typeface="Calibri" pitchFamily="34" charset="-120"/>
              </a:rPr>
              <a:t>Final report &amp; demo</a:t>
            </a:r>
            <a:endParaRPr lang="en-US" sz="1700" dirty="0"/>
          </a:p>
        </p:txBody>
      </p:sp>
      <p:sp>
        <p:nvSpPr>
          <p:cNvPr id="30" name="Text 28"/>
          <p:cNvSpPr/>
          <p:nvPr/>
        </p:nvSpPr>
        <p:spPr>
          <a:xfrm>
            <a:off x="7114032" y="5148072"/>
            <a:ext cx="4480560" cy="1005840"/>
          </a:xfrm>
          <a:prstGeom prst="rect">
            <a:avLst/>
          </a:prstGeom>
          <a:noFill/>
          <a:ln/>
        </p:spPr>
        <p:txBody>
          <a:bodyPr wrap="square" lIns="0" tIns="0" rIns="0" bIns="0" rtlCol="0" anchor="t"/>
          <a:lstStyle/>
          <a:p>
            <a:pPr indent="0" marL="0">
              <a:buNone/>
            </a:pPr>
            <a:r>
              <a:rPr lang="en-US" sz="1400" dirty="0">
                <a:solidFill>
                  <a:srgbClr val="1B2733"/>
                </a:solidFill>
                <a:latin typeface="Calibri" pitchFamily="34" charset="0"/>
                <a:ea typeface="Calibri" pitchFamily="34" charset="-122"/>
                <a:cs typeface="Calibri" pitchFamily="34" charset="-120"/>
              </a:rPr>
              <a:t>Document methods and results; deliver model checkpoint, code and presentation.</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13A89E"/>
          </a:solidFill>
          <a:ln/>
        </p:spPr>
      </p:sp>
      <p:sp>
        <p:nvSpPr>
          <p:cNvPr id="3" name="Text 1"/>
          <p:cNvSpPr/>
          <p:nvPr/>
        </p:nvSpPr>
        <p:spPr>
          <a:xfrm>
            <a:off x="548640" y="320040"/>
            <a:ext cx="10972800" cy="640080"/>
          </a:xfrm>
          <a:prstGeom prst="rect">
            <a:avLst/>
          </a:prstGeom>
          <a:noFill/>
          <a:ln/>
        </p:spPr>
        <p:txBody>
          <a:bodyPr wrap="square" lIns="0" tIns="0" rIns="0" bIns="0" rtlCol="0" anchor="ctr"/>
          <a:lstStyle/>
          <a:p>
            <a:pPr indent="0" marL="0">
              <a:buNone/>
            </a:pPr>
            <a:r>
              <a:rPr lang="en-US" sz="3000" b="1" dirty="0">
                <a:solidFill>
                  <a:srgbClr val="0B2545"/>
                </a:solidFill>
                <a:latin typeface="Calibri" pitchFamily="34" charset="0"/>
                <a:ea typeface="Calibri" pitchFamily="34" charset="-122"/>
                <a:cs typeface="Calibri" pitchFamily="34" charset="-120"/>
              </a:rPr>
              <a:t>References</a:t>
            </a:r>
            <a:endParaRPr lang="en-US" sz="3000" dirty="0"/>
          </a:p>
        </p:txBody>
      </p:sp>
      <p:sp>
        <p:nvSpPr>
          <p:cNvPr id="4" name="Text 2"/>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Prithvi Flood-IN  |  CE 766 Integrated Design Project  |  Progress Review</a:t>
            </a:r>
            <a:endParaRPr lang="en-US" sz="1000" dirty="0"/>
          </a:p>
        </p:txBody>
      </p:sp>
      <p:sp>
        <p:nvSpPr>
          <p:cNvPr id="5" name="Text 3"/>
          <p:cNvSpPr/>
          <p:nvPr/>
        </p:nvSpPr>
        <p:spPr>
          <a:xfrm>
            <a:off x="11155680" y="6446520"/>
            <a:ext cx="548640" cy="274320"/>
          </a:xfrm>
          <a:prstGeom prst="rect">
            <a:avLst/>
          </a:prstGeom>
          <a:noFill/>
          <a:ln/>
        </p:spPr>
        <p:txBody>
          <a:bodyPr wrap="square" lIns="0" tIns="0" rIns="0" bIns="0" rtlCol="0" anchor="ctr"/>
          <a:lstStyle/>
          <a:p>
            <a:pPr algn="r" indent="0" marL="0">
              <a:buNone/>
            </a:pPr>
            <a:r>
              <a:rPr lang="en-US" sz="1000" dirty="0">
                <a:solidFill>
                  <a:srgbClr val="5B6B7B"/>
                </a:solidFill>
                <a:latin typeface="Calibri" pitchFamily="34" charset="0"/>
                <a:ea typeface="Calibri" pitchFamily="34" charset="-122"/>
                <a:cs typeface="Calibri" pitchFamily="34" charset="-120"/>
              </a:rPr>
              <a:t>17</a:t>
            </a:r>
            <a:endParaRPr lang="en-US" sz="1000" dirty="0"/>
          </a:p>
        </p:txBody>
      </p:sp>
      <p:sp>
        <p:nvSpPr>
          <p:cNvPr id="6" name="Text 4"/>
          <p:cNvSpPr/>
          <p:nvPr/>
        </p:nvSpPr>
        <p:spPr>
          <a:xfrm>
            <a:off x="548640" y="1280160"/>
            <a:ext cx="11064240" cy="4937760"/>
          </a:xfrm>
          <a:prstGeom prst="rect">
            <a:avLst/>
          </a:prstGeom>
          <a:noFill/>
          <a:ln/>
        </p:spPr>
        <p:txBody>
          <a:bodyPr wrap="square" lIns="50800" tIns="50800" rIns="50800" bIns="50800" rtlCol="0" anchor="t"/>
          <a:lstStyle/>
          <a:p>
            <a:pPr marL="228600" indent="-228600">
              <a:spcAft>
                <a:spcPts val="800"/>
              </a:spcAft>
              <a:buSzPct val="100000"/>
              <a:buChar char="•"/>
            </a:pPr>
            <a:r>
              <a:rPr lang="en-US" sz="1500" dirty="0">
                <a:solidFill>
                  <a:srgbClr val="1B2733"/>
                </a:solidFill>
                <a:latin typeface="Calibri" pitchFamily="34" charset="0"/>
                <a:ea typeface="Calibri" pitchFamily="34" charset="-122"/>
                <a:cs typeface="Calibri" pitchFamily="34" charset="-120"/>
              </a:rPr>
              <a:t>Szwarcman, D. et al. (2024). Prithvi-EO-2.0: A Versatile Multi-Temporal Foundation Model for Earth Observation Applications. arXiv:2412.02732.</a:t>
            </a:r>
            <a:endParaRPr lang="en-US" sz="1500" dirty="0"/>
          </a:p>
          <a:p>
            <a:pPr marL="228600" indent="-228600">
              <a:spcAft>
                <a:spcPts val="800"/>
              </a:spcAft>
              <a:buSzPct val="100000"/>
              <a:buChar char="•"/>
            </a:pPr>
            <a:r>
              <a:rPr lang="en-US" sz="1500" dirty="0">
                <a:solidFill>
                  <a:srgbClr val="1B2733"/>
                </a:solidFill>
                <a:latin typeface="Calibri" pitchFamily="34" charset="0"/>
                <a:ea typeface="Calibri" pitchFamily="34" charset="-122"/>
                <a:cs typeface="Calibri" pitchFamily="34" charset="-120"/>
              </a:rPr>
              <a:t>Jakubik, J. et al. (2023). Foundation Models for Generalist Geospatial Artificial Intelligence (Prithvi). arXiv:2310.18660.</a:t>
            </a:r>
            <a:endParaRPr lang="en-US" sz="1500" dirty="0"/>
          </a:p>
          <a:p>
            <a:pPr marL="228600" indent="-228600">
              <a:spcAft>
                <a:spcPts val="800"/>
              </a:spcAft>
              <a:buSzPct val="100000"/>
              <a:buChar char="•"/>
            </a:pPr>
            <a:r>
              <a:rPr lang="en-US" sz="1500" dirty="0">
                <a:solidFill>
                  <a:srgbClr val="1B2733"/>
                </a:solidFill>
                <a:latin typeface="Calibri" pitchFamily="34" charset="0"/>
                <a:ea typeface="Calibri" pitchFamily="34" charset="-122"/>
                <a:cs typeface="Calibri" pitchFamily="34" charset="-120"/>
              </a:rPr>
              <a:t>Bonafilia, D. et al. (2020). Sen1Floods11: A Georeferenced Dataset to Train and Test Deep Learning Flood Algorithms for Sentinel-1. CVPR Workshops.</a:t>
            </a:r>
            <a:endParaRPr lang="en-US" sz="1500" dirty="0"/>
          </a:p>
          <a:p>
            <a:pPr marL="228600" indent="-228600">
              <a:spcAft>
                <a:spcPts val="800"/>
              </a:spcAft>
              <a:buSzPct val="100000"/>
              <a:buChar char="•"/>
            </a:pPr>
            <a:r>
              <a:rPr lang="en-US" sz="1500" dirty="0">
                <a:solidFill>
                  <a:srgbClr val="1B2733"/>
                </a:solidFill>
                <a:latin typeface="Calibri" pitchFamily="34" charset="0"/>
                <a:ea typeface="Calibri" pitchFamily="34" charset="-122"/>
                <a:cs typeface="Calibri" pitchFamily="34" charset="-120"/>
              </a:rPr>
              <a:t>Dosovitskiy, A. et al. (2021). An Image is Worth 16×16 Words: Transformers for Image Recognition at Scale. ICLR.</a:t>
            </a:r>
            <a:endParaRPr lang="en-US" sz="1500" dirty="0"/>
          </a:p>
          <a:p>
            <a:pPr marL="228600" indent="-228600">
              <a:spcAft>
                <a:spcPts val="800"/>
              </a:spcAft>
              <a:buSzPct val="100000"/>
              <a:buChar char="•"/>
            </a:pPr>
            <a:r>
              <a:rPr lang="en-US" sz="1500" dirty="0">
                <a:solidFill>
                  <a:srgbClr val="1B2733"/>
                </a:solidFill>
                <a:latin typeface="Calibri" pitchFamily="34" charset="0"/>
                <a:ea typeface="Calibri" pitchFamily="34" charset="-122"/>
                <a:cs typeface="Calibri" pitchFamily="34" charset="-120"/>
              </a:rPr>
              <a:t>Xiao, T. et al. (2018). Unified Perceptual Parsing for Scene Understanding (UperNet). ECCV.</a:t>
            </a:r>
            <a:endParaRPr lang="en-US" sz="1500" dirty="0"/>
          </a:p>
          <a:p>
            <a:pPr marL="228600" indent="-228600">
              <a:spcAft>
                <a:spcPts val="800"/>
              </a:spcAft>
              <a:buSzPct val="100000"/>
              <a:buChar char="•"/>
            </a:pPr>
            <a:r>
              <a:rPr lang="en-US" sz="1500" dirty="0">
                <a:solidFill>
                  <a:srgbClr val="1B2733"/>
                </a:solidFill>
                <a:latin typeface="Calibri" pitchFamily="34" charset="0"/>
                <a:ea typeface="Calibri" pitchFamily="34" charset="-122"/>
                <a:cs typeface="Calibri" pitchFamily="34" charset="-120"/>
              </a:rPr>
              <a:t>IBM &amp; NASA. Prithvi-EO-2.0-300M-TL-Sen1Floods11 model card, Hugging Face; TerraTorch library (GitHub).</a:t>
            </a:r>
            <a:endParaRPr lang="en-US" sz="1500" dirty="0"/>
          </a:p>
          <a:p>
            <a:pPr marL="228600" indent="-228600">
              <a:spcAft>
                <a:spcPts val="800"/>
              </a:spcAft>
              <a:buSzPct val="100000"/>
              <a:buChar char="•"/>
            </a:pPr>
            <a:r>
              <a:rPr lang="en-US" sz="1500" dirty="0">
                <a:solidFill>
                  <a:srgbClr val="1B2733"/>
                </a:solidFill>
                <a:latin typeface="Calibri" pitchFamily="34" charset="0"/>
                <a:ea typeface="Calibri" pitchFamily="34" charset="-122"/>
                <a:cs typeface="Calibri" pitchFamily="34" charset="-120"/>
              </a:rPr>
              <a:t>NDEM, National Database for Emergency Management, NRSC/ISRO: flood inundation layers.</a:t>
            </a:r>
            <a:endParaRPr lang="en-US" sz="1500" dirty="0"/>
          </a:p>
          <a:p>
            <a:pPr marL="228600" indent="-228600">
              <a:spcAft>
                <a:spcPts val="800"/>
              </a:spcAft>
              <a:buSzPct val="100000"/>
              <a:buChar char="•"/>
            </a:pPr>
            <a:r>
              <a:rPr lang="en-US" sz="1500" dirty="0">
                <a:solidFill>
                  <a:srgbClr val="1B2733"/>
                </a:solidFill>
                <a:latin typeface="Calibri" pitchFamily="34" charset="0"/>
                <a:ea typeface="Calibri" pitchFamily="34" charset="-122"/>
                <a:cs typeface="Calibri" pitchFamily="34" charset="-120"/>
              </a:rPr>
              <a:t>ESA Copernicus Sentinel-2 Level-2A surface reflectance data.</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2545"/>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13A89E"/>
          </a:solidFill>
          <a:ln/>
        </p:spPr>
      </p:sp>
      <p:sp>
        <p:nvSpPr>
          <p:cNvPr id="3" name="Text 1"/>
          <p:cNvSpPr/>
          <p:nvPr/>
        </p:nvSpPr>
        <p:spPr>
          <a:xfrm>
            <a:off x="822960" y="2103120"/>
            <a:ext cx="10058400" cy="1097280"/>
          </a:xfrm>
          <a:prstGeom prst="rect">
            <a:avLst/>
          </a:prstGeom>
          <a:noFill/>
          <a:ln/>
        </p:spPr>
        <p:txBody>
          <a:bodyPr wrap="square" rtlCol="0" anchor="ctr"/>
          <a:lstStyle/>
          <a:p>
            <a:pPr indent="0" marL="0">
              <a:buNone/>
            </a:pPr>
            <a:r>
              <a:rPr lang="en-US" sz="5400" b="1" dirty="0">
                <a:solidFill>
                  <a:srgbClr val="FFFFFF"/>
                </a:solidFill>
                <a:latin typeface="Calibri" pitchFamily="34" charset="0"/>
                <a:ea typeface="Calibri" pitchFamily="34" charset="-122"/>
                <a:cs typeface="Calibri" pitchFamily="34" charset="-120"/>
              </a:rPr>
              <a:t>Thank you</a:t>
            </a:r>
            <a:endParaRPr lang="en-US" sz="5400" dirty="0"/>
          </a:p>
        </p:txBody>
      </p:sp>
      <p:sp>
        <p:nvSpPr>
          <p:cNvPr id="4" name="Text 2"/>
          <p:cNvSpPr/>
          <p:nvPr/>
        </p:nvSpPr>
        <p:spPr>
          <a:xfrm>
            <a:off x="822960" y="3200400"/>
            <a:ext cx="10058400" cy="548640"/>
          </a:xfrm>
          <a:prstGeom prst="rect">
            <a:avLst/>
          </a:prstGeom>
          <a:noFill/>
          <a:ln/>
        </p:spPr>
        <p:txBody>
          <a:bodyPr wrap="square" rtlCol="0" anchor="ctr"/>
          <a:lstStyle/>
          <a:p>
            <a:pPr indent="0" marL="0">
              <a:buNone/>
            </a:pPr>
            <a:r>
              <a:rPr lang="en-US" sz="2400" dirty="0">
                <a:solidFill>
                  <a:srgbClr val="13A89E"/>
                </a:solidFill>
                <a:latin typeface="Calibri" pitchFamily="34" charset="0"/>
                <a:ea typeface="Calibri" pitchFamily="34" charset="-122"/>
                <a:cs typeface="Calibri" pitchFamily="34" charset="-120"/>
              </a:rPr>
              <a:t>Questions &amp; feedback welcome</a:t>
            </a:r>
            <a:endParaRPr lang="en-US" sz="2400" dirty="0"/>
          </a:p>
        </p:txBody>
      </p:sp>
      <p:sp>
        <p:nvSpPr>
          <p:cNvPr id="5" name="Text 3"/>
          <p:cNvSpPr/>
          <p:nvPr/>
        </p:nvSpPr>
        <p:spPr>
          <a:xfrm>
            <a:off x="822960" y="4206240"/>
            <a:ext cx="10515600" cy="914400"/>
          </a:xfrm>
          <a:prstGeom prst="rect">
            <a:avLst/>
          </a:prstGeom>
          <a:noFill/>
          <a:ln/>
        </p:spPr>
        <p:txBody>
          <a:bodyPr wrap="square" rtlCol="0" anchor="ctr"/>
          <a:lstStyle/>
          <a:p>
            <a:pPr indent="0" marL="0">
              <a:buNone/>
            </a:pPr>
            <a:r>
              <a:rPr lang="en-US" sz="1600" dirty="0">
                <a:solidFill>
                  <a:srgbClr val="CFE3F0"/>
                </a:solidFill>
                <a:latin typeface="Calibri" pitchFamily="34" charset="0"/>
                <a:ea typeface="Calibri" pitchFamily="34" charset="-122"/>
                <a:cs typeface="Calibri" pitchFamily="34" charset="-120"/>
              </a:rPr>
              <a:t>Nikhil Upadhyay · Prakhar Gupta · Prabhat Kumar · Vineet Jangir · Himanshu Shete</a:t>
            </a:r>
            <a:endParaRPr lang="en-US" sz="1600" dirty="0"/>
          </a:p>
          <a:p>
            <a:pPr indent="0" marL="0">
              <a:buNone/>
            </a:pPr>
            <a:r>
              <a:rPr lang="en-US" sz="1600" dirty="0">
                <a:solidFill>
                  <a:srgbClr val="CFE3F0"/>
                </a:solidFill>
                <a:latin typeface="Calibri" pitchFamily="34" charset="0"/>
                <a:ea typeface="Calibri" pitchFamily="34" charset="-122"/>
                <a:cs typeface="Calibri" pitchFamily="34" charset="-120"/>
              </a:rPr>
              <a:t>Prof. Basudev Biswal (IIT Bombay) · Vivek Gupta (ClimMaTech Pvt. Ltd.)</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2026-09-23T11:44:08Z</dcterms:created>
  <dcterms:modified xsi:type="dcterms:W3CDTF">2026-09-23T11:44:08Z</dcterms:modified>
</cp:coreProperties>
</file>