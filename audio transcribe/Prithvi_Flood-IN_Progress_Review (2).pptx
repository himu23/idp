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(published)</c:v>
                </c:pt>
              </c:strCache>
            </c:strRef>
          </c:tx>
          <c:spPr>
            <a:solidFill>
              <a:srgbClr val="9FB0C0"/>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IoU</c:v>
                  </c:pt>
                  <c:pt idx="1">
                    <c:v>Precision</c:v>
                  </c:pt>
                  <c:pt idx="2">
                    <c:v>Recall</c:v>
                  </c:pt>
                </c:lvl>
              </c:multiLvlStrCache>
            </c:multiLvlStrRef>
          </c:cat>
          <c:val>
            <c:numRef>
              <c:f>Sheet1!$B$2:$B$4</c:f>
              <c:numCache>
                <c:formatCode>General</c:formatCode>
                <c:ptCount val="3"/>
                <c:pt idx="0">
                  <c:v>0.337</c:v>
                </c:pt>
                <c:pt idx="1">
                  <c:v>0.391</c:v>
                </c:pt>
                <c:pt idx="2">
                  <c:v>0.711</c:v>
                </c:pt>
              </c:numCache>
            </c:numRef>
          </c:val>
        </c:ser>
        <c:ser>
          <c:idx val="1"/>
          <c:order val="1"/>
          <c:tx>
            <c:strRef>
              <c:f>Sheet1!$C$1</c:f>
              <c:strCache>
                <c:ptCount val="1"/>
                <c:pt idx="0">
                  <c:v>Fine-tuned (ours)</c:v>
                </c:pt>
              </c:strCache>
            </c:strRef>
          </c:tx>
          <c:spPr>
            <a:solidFill>
              <a:srgbClr val="13A89E"/>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IoU</c:v>
                  </c:pt>
                  <c:pt idx="1">
                    <c:v>Precision</c:v>
                  </c:pt>
                  <c:pt idx="2">
                    <c:v>Recall</c:v>
                  </c:pt>
                </c:lvl>
              </c:multiLvlStrCache>
            </c:multiLvlStrRef>
          </c:cat>
          <c:val>
            <c:numRef>
              <c:f>Sheet1!$C$2:$C$4</c:f>
              <c:numCache>
                <c:formatCode>General</c:formatCode>
                <c:ptCount val="3"/>
                <c:pt idx="0">
                  <c:v>0.375</c:v>
                </c:pt>
                <c:pt idx="1">
                  <c:v>0.56</c:v>
                </c:pt>
                <c:pt idx="2">
                  <c:v>0.532</c:v>
                </c:pt>
              </c:numCache>
            </c:numRef>
          </c:val>
        </c:ser>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5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x = 0 km (inflow)</c:v>
                </c:pt>
              </c:strCache>
            </c:strRef>
          </c:tx>
          <c:spPr>
            <a:solidFill>
              <a:srgbClr val="0B2545"/>
            </a:solidFill>
            <a:ln w="31750" cap="flat">
              <a:solidFill>
                <a:srgbClr val="0B25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2545"/>
              </a:solidFill>
              <a:ln w="9525" cap="flat">
                <a:solidFill>
                  <a:srgbClr val="0B2545"/>
                </a:solidFill>
                <a:prstDash val="solid"/>
                <a:round/>
              </a:ln>
              <a:effectLst/>
            </c:spPr>
          </c:marker>
          <c:cat>
            <c:multiLvlStrRef>
              <c:f>Sheet1!$A$2:$A$42</c:f>
              <c:multiLvlStrCache>
                <c:ptCount val="41"/>
                <c:lvl>
                  <c:pt idx="0">
                    <c:v>0</c:v>
                  </c:pt>
                  <c:pt idx="1">
                    <c:v/>
                  </c:pt>
                  <c:pt idx="2">
                    <c:v/>
                  </c:pt>
                  <c:pt idx="3">
                    <c:v/>
                  </c:pt>
                  <c:pt idx="4">
                    <c:v>1</c:v>
                  </c:pt>
                  <c:pt idx="5">
                    <c:v/>
                  </c:pt>
                  <c:pt idx="6">
                    <c:v/>
                  </c:pt>
                  <c:pt idx="7">
                    <c:v/>
                  </c:pt>
                  <c:pt idx="8">
                    <c:v>2</c:v>
                  </c:pt>
                  <c:pt idx="9">
                    <c:v/>
                  </c:pt>
                  <c:pt idx="10">
                    <c:v/>
                  </c:pt>
                  <c:pt idx="11">
                    <c:v/>
                  </c:pt>
                  <c:pt idx="12">
                    <c:v>3</c:v>
                  </c:pt>
                  <c:pt idx="13">
                    <c:v/>
                  </c:pt>
                  <c:pt idx="14">
                    <c:v/>
                  </c:pt>
                  <c:pt idx="15">
                    <c:v/>
                  </c:pt>
                  <c:pt idx="16">
                    <c:v>4</c:v>
                  </c:pt>
                  <c:pt idx="17">
                    <c:v/>
                  </c:pt>
                  <c:pt idx="18">
                    <c:v/>
                  </c:pt>
                  <c:pt idx="19">
                    <c:v/>
                  </c:pt>
                  <c:pt idx="20">
                    <c:v>5</c:v>
                  </c:pt>
                  <c:pt idx="21">
                    <c:v/>
                  </c:pt>
                  <c:pt idx="22">
                    <c:v/>
                  </c:pt>
                  <c:pt idx="23">
                    <c:v/>
                  </c:pt>
                  <c:pt idx="24">
                    <c:v>6</c:v>
                  </c:pt>
                  <c:pt idx="25">
                    <c:v/>
                  </c:pt>
                  <c:pt idx="26">
                    <c:v/>
                  </c:pt>
                  <c:pt idx="27">
                    <c:v/>
                  </c:pt>
                  <c:pt idx="28">
                    <c:v>7</c:v>
                  </c:pt>
                  <c:pt idx="29">
                    <c:v/>
                  </c:pt>
                  <c:pt idx="30">
                    <c:v/>
                  </c:pt>
                  <c:pt idx="31">
                    <c:v/>
                  </c:pt>
                  <c:pt idx="32">
                    <c:v>8</c:v>
                  </c:pt>
                  <c:pt idx="33">
                    <c:v/>
                  </c:pt>
                  <c:pt idx="34">
                    <c:v/>
                  </c:pt>
                  <c:pt idx="35">
                    <c:v/>
                  </c:pt>
                  <c:pt idx="36">
                    <c:v>9</c:v>
                  </c:pt>
                  <c:pt idx="37">
                    <c:v/>
                  </c:pt>
                  <c:pt idx="38">
                    <c:v/>
                  </c:pt>
                  <c:pt idx="39">
                    <c:v/>
                  </c:pt>
                  <c:pt idx="40">
                    <c:v>10</c:v>
                  </c:pt>
                </c:lvl>
              </c:multiLvlStrCache>
            </c:multiLvlStrRef>
          </c:cat>
          <c:val>
            <c:numRef>
              <c:f>Sheet1!$B$2:$B$42</c:f>
              <c:numCache>
                <c:formatCode>General</c:formatCode>
                <c:ptCount val="41"/>
                <c:pt idx="0">
                  <c:v>50</c:v>
                </c:pt>
                <c:pt idx="1">
                  <c:v>50.1</c:v>
                </c:pt>
                <c:pt idx="2">
                  <c:v>50.3</c:v>
                </c:pt>
                <c:pt idx="3">
                  <c:v>51.2</c:v>
                </c:pt>
                <c:pt idx="4">
                  <c:v>53.9</c:v>
                </c:pt>
                <c:pt idx="5">
                  <c:v>61.7</c:v>
                </c:pt>
                <c:pt idx="6">
                  <c:v>78.7</c:v>
                </c:pt>
                <c:pt idx="7">
                  <c:v>111.5</c:v>
                </c:pt>
                <c:pt idx="8">
                  <c:v>165.3</c:v>
                </c:pt>
                <c:pt idx="9">
                  <c:v>236.7</c:v>
                </c:pt>
                <c:pt idx="10">
                  <c:v>315.2</c:v>
                </c:pt>
                <c:pt idx="11">
                  <c:v>377.3</c:v>
                </c:pt>
                <c:pt idx="12">
                  <c:v>400</c:v>
                </c:pt>
                <c:pt idx="13">
                  <c:v>375.3</c:v>
                </c:pt>
                <c:pt idx="14">
                  <c:v>312.5</c:v>
                </c:pt>
                <c:pt idx="15">
                  <c:v>234.1</c:v>
                </c:pt>
                <c:pt idx="16">
                  <c:v>162.6</c:v>
                </c:pt>
                <c:pt idx="17">
                  <c:v>109.1</c:v>
                </c:pt>
                <c:pt idx="18">
                  <c:v>77.8</c:v>
                </c:pt>
                <c:pt idx="19">
                  <c:v>60.9</c:v>
                </c:pt>
                <c:pt idx="20">
                  <c:v>53.8</c:v>
                </c:pt>
                <c:pt idx="21">
                  <c:v>51.2</c:v>
                </c:pt>
                <c:pt idx="22">
                  <c:v>50.3</c:v>
                </c:pt>
                <c:pt idx="23">
                  <c:v>50.1</c:v>
                </c:pt>
                <c:pt idx="24">
                  <c:v>50</c:v>
                </c:pt>
                <c:pt idx="25">
                  <c:v>50</c:v>
                </c:pt>
                <c:pt idx="26">
                  <c:v>50</c:v>
                </c:pt>
                <c:pt idx="27">
                  <c:v>50</c:v>
                </c:pt>
                <c:pt idx="28">
                  <c:v>50</c:v>
                </c:pt>
                <c:pt idx="29">
                  <c:v>50</c:v>
                </c:pt>
                <c:pt idx="30">
                  <c:v>50</c:v>
                </c:pt>
                <c:pt idx="31">
                  <c:v>50</c:v>
                </c:pt>
                <c:pt idx="32">
                  <c:v>50</c:v>
                </c:pt>
                <c:pt idx="33">
                  <c:v>50</c:v>
                </c:pt>
                <c:pt idx="34">
                  <c:v>50</c:v>
                </c:pt>
                <c:pt idx="35">
                  <c:v>50</c:v>
                </c:pt>
                <c:pt idx="36">
                  <c:v>50</c:v>
                </c:pt>
                <c:pt idx="37">
                  <c:v>50</c:v>
                </c:pt>
                <c:pt idx="38">
                  <c:v>50</c:v>
                </c:pt>
                <c:pt idx="39">
                  <c:v>50</c:v>
                </c:pt>
                <c:pt idx="40">
                  <c:v>50</c:v>
                </c:pt>
              </c:numCache>
            </c:numRef>
          </c:val>
          <c:smooth val="0"/>
        </c:ser>
        <c:ser>
          <c:idx val="1"/>
          <c:order val="1"/>
          <c:tx>
            <c:strRef>
              <c:f>Sheet1!$C$1</c:f>
              <c:strCache>
                <c:ptCount val="1"/>
                <c:pt idx="0">
                  <c:v>x = 8 km</c:v>
                </c:pt>
              </c:strCache>
            </c:strRef>
          </c:tx>
          <c:spPr>
            <a:solidFill>
              <a:srgbClr val="1F6FB2"/>
            </a:solidFill>
            <a:ln w="31750" cap="flat">
              <a:solidFill>
                <a:srgbClr val="1F6F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6FB2"/>
              </a:solidFill>
              <a:ln w="9525" cap="flat">
                <a:solidFill>
                  <a:srgbClr val="1F6FB2"/>
                </a:solidFill>
                <a:prstDash val="solid"/>
                <a:round/>
              </a:ln>
              <a:effectLst/>
            </c:spPr>
          </c:marker>
          <c:cat>
            <c:multiLvlStrRef>
              <c:f>Sheet1!$A$2:$A$42</c:f>
              <c:multiLvlStrCache>
                <c:ptCount val="41"/>
                <c:lvl>
                  <c:pt idx="0">
                    <c:v>0</c:v>
                  </c:pt>
                  <c:pt idx="1">
                    <c:v/>
                  </c:pt>
                  <c:pt idx="2">
                    <c:v/>
                  </c:pt>
                  <c:pt idx="3">
                    <c:v/>
                  </c:pt>
                  <c:pt idx="4">
                    <c:v>1</c:v>
                  </c:pt>
                  <c:pt idx="5">
                    <c:v/>
                  </c:pt>
                  <c:pt idx="6">
                    <c:v/>
                  </c:pt>
                  <c:pt idx="7">
                    <c:v/>
                  </c:pt>
                  <c:pt idx="8">
                    <c:v>2</c:v>
                  </c:pt>
                  <c:pt idx="9">
                    <c:v/>
                  </c:pt>
                  <c:pt idx="10">
                    <c:v/>
                  </c:pt>
                  <c:pt idx="11">
                    <c:v/>
                  </c:pt>
                  <c:pt idx="12">
                    <c:v>3</c:v>
                  </c:pt>
                  <c:pt idx="13">
                    <c:v/>
                  </c:pt>
                  <c:pt idx="14">
                    <c:v/>
                  </c:pt>
                  <c:pt idx="15">
                    <c:v/>
                  </c:pt>
                  <c:pt idx="16">
                    <c:v>4</c:v>
                  </c:pt>
                  <c:pt idx="17">
                    <c:v/>
                  </c:pt>
                  <c:pt idx="18">
                    <c:v/>
                  </c:pt>
                  <c:pt idx="19">
                    <c:v/>
                  </c:pt>
                  <c:pt idx="20">
                    <c:v>5</c:v>
                  </c:pt>
                  <c:pt idx="21">
                    <c:v/>
                  </c:pt>
                  <c:pt idx="22">
                    <c:v/>
                  </c:pt>
                  <c:pt idx="23">
                    <c:v/>
                  </c:pt>
                  <c:pt idx="24">
                    <c:v>6</c:v>
                  </c:pt>
                  <c:pt idx="25">
                    <c:v/>
                  </c:pt>
                  <c:pt idx="26">
                    <c:v/>
                  </c:pt>
                  <c:pt idx="27">
                    <c:v/>
                  </c:pt>
                  <c:pt idx="28">
                    <c:v>7</c:v>
                  </c:pt>
                  <c:pt idx="29">
                    <c:v/>
                  </c:pt>
                  <c:pt idx="30">
                    <c:v/>
                  </c:pt>
                  <c:pt idx="31">
                    <c:v/>
                  </c:pt>
                  <c:pt idx="32">
                    <c:v>8</c:v>
                  </c:pt>
                  <c:pt idx="33">
                    <c:v/>
                  </c:pt>
                  <c:pt idx="34">
                    <c:v/>
                  </c:pt>
                  <c:pt idx="35">
                    <c:v/>
                  </c:pt>
                  <c:pt idx="36">
                    <c:v>9</c:v>
                  </c:pt>
                  <c:pt idx="37">
                    <c:v/>
                  </c:pt>
                  <c:pt idx="38">
                    <c:v/>
                  </c:pt>
                  <c:pt idx="39">
                    <c:v/>
                  </c:pt>
                  <c:pt idx="40">
                    <c:v>10</c:v>
                  </c:pt>
                </c:lvl>
              </c:multiLvlStrCache>
            </c:multiLvlStrRef>
          </c:cat>
          <c:val>
            <c:numRef>
              <c:f>Sheet1!$C$2:$C$42</c:f>
              <c:numCache>
                <c:formatCode>General</c:formatCode>
                <c:ptCount val="41"/>
                <c:pt idx="0">
                  <c:v>49.3</c:v>
                </c:pt>
                <c:pt idx="1">
                  <c:v>48.3</c:v>
                </c:pt>
                <c:pt idx="2">
                  <c:v>48.3</c:v>
                </c:pt>
                <c:pt idx="3">
                  <c:v>48.3</c:v>
                </c:pt>
                <c:pt idx="4">
                  <c:v>48.4</c:v>
                </c:pt>
                <c:pt idx="5">
                  <c:v>48.6</c:v>
                </c:pt>
                <c:pt idx="6">
                  <c:v>48.9</c:v>
                </c:pt>
                <c:pt idx="7">
                  <c:v>49.4</c:v>
                </c:pt>
                <c:pt idx="8">
                  <c:v>50.4</c:v>
                </c:pt>
                <c:pt idx="9">
                  <c:v>53.1</c:v>
                </c:pt>
                <c:pt idx="10">
                  <c:v>62.2</c:v>
                </c:pt>
                <c:pt idx="11">
                  <c:v>93.7</c:v>
                </c:pt>
                <c:pt idx="12">
                  <c:v>162.8</c:v>
                </c:pt>
                <c:pt idx="13">
                  <c:v>243.4</c:v>
                </c:pt>
                <c:pt idx="14">
                  <c:v>296.9</c:v>
                </c:pt>
                <c:pt idx="15">
                  <c:v>313.7</c:v>
                </c:pt>
                <c:pt idx="16">
                  <c:v>301.4</c:v>
                </c:pt>
                <c:pt idx="17">
                  <c:v>272.5</c:v>
                </c:pt>
                <c:pt idx="18">
                  <c:v>239.7</c:v>
                </c:pt>
                <c:pt idx="19">
                  <c:v>206.7</c:v>
                </c:pt>
                <c:pt idx="20">
                  <c:v>178.2</c:v>
                </c:pt>
                <c:pt idx="21">
                  <c:v>154.8</c:v>
                </c:pt>
                <c:pt idx="22">
                  <c:v>135.1</c:v>
                </c:pt>
                <c:pt idx="23">
                  <c:v>118.8</c:v>
                </c:pt>
                <c:pt idx="24">
                  <c:v>105.2</c:v>
                </c:pt>
                <c:pt idx="25">
                  <c:v>94.1</c:v>
                </c:pt>
                <c:pt idx="26">
                  <c:v>85.1</c:v>
                </c:pt>
                <c:pt idx="27">
                  <c:v>77.8</c:v>
                </c:pt>
                <c:pt idx="28">
                  <c:v>71.6</c:v>
                </c:pt>
                <c:pt idx="29">
                  <c:v>66.7</c:v>
                </c:pt>
                <c:pt idx="30">
                  <c:v>62.7</c:v>
                </c:pt>
                <c:pt idx="31">
                  <c:v>59.7</c:v>
                </c:pt>
                <c:pt idx="32">
                  <c:v>57.3</c:v>
                </c:pt>
                <c:pt idx="33">
                  <c:v>55.3</c:v>
                </c:pt>
                <c:pt idx="34">
                  <c:v>53.9</c:v>
                </c:pt>
                <c:pt idx="35">
                  <c:v>52.9</c:v>
                </c:pt>
                <c:pt idx="36">
                  <c:v>52.1</c:v>
                </c:pt>
                <c:pt idx="37">
                  <c:v>51.5</c:v>
                </c:pt>
                <c:pt idx="38">
                  <c:v>51.1</c:v>
                </c:pt>
                <c:pt idx="39">
                  <c:v>50.8</c:v>
                </c:pt>
                <c:pt idx="40">
                  <c:v>50.6</c:v>
                </c:pt>
              </c:numCache>
            </c:numRef>
          </c:val>
          <c:smooth val="0"/>
        </c:ser>
        <c:ser>
          <c:idx val="2"/>
          <c:order val="2"/>
          <c:tx>
            <c:strRef>
              <c:f>Sheet1!$D$1</c:f>
              <c:strCache>
                <c:ptCount val="1"/>
                <c:pt idx="0">
                  <c:v>x = 20 km</c:v>
                </c:pt>
              </c:strCache>
            </c:strRef>
          </c:tx>
          <c:spPr>
            <a:solidFill>
              <a:srgbClr val="13A89E"/>
            </a:solidFill>
            <a:ln w="31750" cap="flat">
              <a:solidFill>
                <a:srgbClr val="13A8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3A89E"/>
              </a:solidFill>
              <a:ln w="9525" cap="flat">
                <a:solidFill>
                  <a:srgbClr val="13A89E"/>
                </a:solidFill>
                <a:prstDash val="solid"/>
                <a:round/>
              </a:ln>
              <a:effectLst/>
            </c:spPr>
          </c:marker>
          <c:cat>
            <c:multiLvlStrRef>
              <c:f>Sheet1!$A$2:$A$42</c:f>
              <c:multiLvlStrCache>
                <c:ptCount val="41"/>
                <c:lvl>
                  <c:pt idx="0">
                    <c:v>0</c:v>
                  </c:pt>
                  <c:pt idx="1">
                    <c:v/>
                  </c:pt>
                  <c:pt idx="2">
                    <c:v/>
                  </c:pt>
                  <c:pt idx="3">
                    <c:v/>
                  </c:pt>
                  <c:pt idx="4">
                    <c:v>1</c:v>
                  </c:pt>
                  <c:pt idx="5">
                    <c:v/>
                  </c:pt>
                  <c:pt idx="6">
                    <c:v/>
                  </c:pt>
                  <c:pt idx="7">
                    <c:v/>
                  </c:pt>
                  <c:pt idx="8">
                    <c:v>2</c:v>
                  </c:pt>
                  <c:pt idx="9">
                    <c:v/>
                  </c:pt>
                  <c:pt idx="10">
                    <c:v/>
                  </c:pt>
                  <c:pt idx="11">
                    <c:v/>
                  </c:pt>
                  <c:pt idx="12">
                    <c:v>3</c:v>
                  </c:pt>
                  <c:pt idx="13">
                    <c:v/>
                  </c:pt>
                  <c:pt idx="14">
                    <c:v/>
                  </c:pt>
                  <c:pt idx="15">
                    <c:v/>
                  </c:pt>
                  <c:pt idx="16">
                    <c:v>4</c:v>
                  </c:pt>
                  <c:pt idx="17">
                    <c:v/>
                  </c:pt>
                  <c:pt idx="18">
                    <c:v/>
                  </c:pt>
                  <c:pt idx="19">
                    <c:v/>
                  </c:pt>
                  <c:pt idx="20">
                    <c:v>5</c:v>
                  </c:pt>
                  <c:pt idx="21">
                    <c:v/>
                  </c:pt>
                  <c:pt idx="22">
                    <c:v/>
                  </c:pt>
                  <c:pt idx="23">
                    <c:v/>
                  </c:pt>
                  <c:pt idx="24">
                    <c:v>6</c:v>
                  </c:pt>
                  <c:pt idx="25">
                    <c:v/>
                  </c:pt>
                  <c:pt idx="26">
                    <c:v/>
                  </c:pt>
                  <c:pt idx="27">
                    <c:v/>
                  </c:pt>
                  <c:pt idx="28">
                    <c:v>7</c:v>
                  </c:pt>
                  <c:pt idx="29">
                    <c:v/>
                  </c:pt>
                  <c:pt idx="30">
                    <c:v/>
                  </c:pt>
                  <c:pt idx="31">
                    <c:v/>
                  </c:pt>
                  <c:pt idx="32">
                    <c:v>8</c:v>
                  </c:pt>
                  <c:pt idx="33">
                    <c:v/>
                  </c:pt>
                  <c:pt idx="34">
                    <c:v/>
                  </c:pt>
                  <c:pt idx="35">
                    <c:v/>
                  </c:pt>
                  <c:pt idx="36">
                    <c:v>9</c:v>
                  </c:pt>
                  <c:pt idx="37">
                    <c:v/>
                  </c:pt>
                  <c:pt idx="38">
                    <c:v/>
                  </c:pt>
                  <c:pt idx="39">
                    <c:v/>
                  </c:pt>
                  <c:pt idx="40">
                    <c:v>10</c:v>
                  </c:pt>
                </c:lvl>
              </c:multiLvlStrCache>
            </c:multiLvlStrRef>
          </c:cat>
          <c:val>
            <c:numRef>
              <c:f>Sheet1!$D$2:$D$42</c:f>
              <c:numCache>
                <c:formatCode>General</c:formatCode>
                <c:ptCount val="41"/>
                <c:pt idx="0">
                  <c:v>49.3</c:v>
                </c:pt>
                <c:pt idx="1">
                  <c:v>48.3</c:v>
                </c:pt>
                <c:pt idx="2">
                  <c:v>48.3</c:v>
                </c:pt>
                <c:pt idx="3">
                  <c:v>48.3</c:v>
                </c:pt>
                <c:pt idx="4">
                  <c:v>48.3</c:v>
                </c:pt>
                <c:pt idx="5">
                  <c:v>48.3</c:v>
                </c:pt>
                <c:pt idx="6">
                  <c:v>48.3</c:v>
                </c:pt>
                <c:pt idx="7">
                  <c:v>48.3</c:v>
                </c:pt>
                <c:pt idx="8">
                  <c:v>48.3</c:v>
                </c:pt>
                <c:pt idx="9">
                  <c:v>48.3</c:v>
                </c:pt>
                <c:pt idx="10">
                  <c:v>48.3</c:v>
                </c:pt>
                <c:pt idx="11">
                  <c:v>48.4</c:v>
                </c:pt>
                <c:pt idx="12">
                  <c:v>48.5</c:v>
                </c:pt>
                <c:pt idx="13">
                  <c:v>48.6</c:v>
                </c:pt>
                <c:pt idx="14">
                  <c:v>49</c:v>
                </c:pt>
                <c:pt idx="15">
                  <c:v>50.3</c:v>
                </c:pt>
                <c:pt idx="16">
                  <c:v>58.4</c:v>
                </c:pt>
                <c:pt idx="17">
                  <c:v>98.3</c:v>
                </c:pt>
                <c:pt idx="18">
                  <c:v>157.4</c:v>
                </c:pt>
                <c:pt idx="19">
                  <c:v>201.4</c:v>
                </c:pt>
                <c:pt idx="20">
                  <c:v>223.2</c:v>
                </c:pt>
                <c:pt idx="21">
                  <c:v>229.8</c:v>
                </c:pt>
                <c:pt idx="22">
                  <c:v>227.1</c:v>
                </c:pt>
                <c:pt idx="23">
                  <c:v>218.8</c:v>
                </c:pt>
                <c:pt idx="24">
                  <c:v>207.1</c:v>
                </c:pt>
                <c:pt idx="25">
                  <c:v>194.2</c:v>
                </c:pt>
                <c:pt idx="26">
                  <c:v>180.9</c:v>
                </c:pt>
                <c:pt idx="27">
                  <c:v>168</c:v>
                </c:pt>
                <c:pt idx="28">
                  <c:v>155.3</c:v>
                </c:pt>
                <c:pt idx="29">
                  <c:v>143.5</c:v>
                </c:pt>
                <c:pt idx="30">
                  <c:v>132.3</c:v>
                </c:pt>
                <c:pt idx="31">
                  <c:v>122.5</c:v>
                </c:pt>
                <c:pt idx="32">
                  <c:v>113.4</c:v>
                </c:pt>
                <c:pt idx="33">
                  <c:v>104.9</c:v>
                </c:pt>
                <c:pt idx="34">
                  <c:v>97.4</c:v>
                </c:pt>
                <c:pt idx="35">
                  <c:v>90.8</c:v>
                </c:pt>
                <c:pt idx="36">
                  <c:v>84.8</c:v>
                </c:pt>
                <c:pt idx="37">
                  <c:v>79.6</c:v>
                </c:pt>
                <c:pt idx="38">
                  <c:v>75.1</c:v>
                </c:pt>
                <c:pt idx="39">
                  <c:v>70.9</c:v>
                </c:pt>
                <c:pt idx="40">
                  <c:v>67.4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Time (h)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BF0"/>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Discharge Q (m³/s)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supervisor and industry mentor. One line: we adapted a global satellite foundation model to map floods in India, and today we report where we are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scorecard so the audience knows the headline before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kick-off meeting (3 Aug) with the supervisor and TA, and the objective statement for the DUGC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taken from the project group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good global model, but not calibrated for India. Our objective is the India-specific adaptation plus an application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two-stage lineage: general EO model, then flood model, then our India-specific second fine-tune.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 did not design a new architecture; we reused the proven one and adapted its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effort went here: finding usable image and flood-map pairs taken during the flood, over the same area, without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ignore label (-1) is the key design decision. Also mention the bug where reflectance scaling had to match the model pre-training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rigour: the test set is 16 floods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stopping is by design: no epoch after 7 improved validation IoU, so epoch 7 is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engineering rigour: real failures on free infrastructure, each diagnosed and fixed without losing training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and fine-tuned model evaluated identically so the comparison is apples to apples.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IoU +11%, precision +43%. Be upfront that recall dropped; early warning may prefer recall, damage assessment prefers precision. Threshold tuning can shift this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model plugs into the hydrological information system envisioned for the Mahanadi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Mahanadi HIS link with ClimMaTech, then broader uses. Precision gains matter most for damage assessment and insurance; recall matters most for early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Assigned at the start of the project as a discussion topic. Two equations, mass and momentum, in terms of A and Q. Mention the approximation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link: physics models predict, satellite ML observes. Together they support a hydrological information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cases = six different river reaches. Phase 1 scripts: p1a_read_reference, p1b_build_training_sets, p1c_explore_plots. Validation target: validate.py --case 3 reports 0.0% deviation. Update status to what the team actually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script sve_demo.py (NumPy). Illustrative only; numerical diffusion also contributes some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visit briefly. Replace the observation bullets with anything specific you discussed on site (gate operation, level gauges, release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visit back to the application: dam data overlay and the need for SAR in cloudy monsoon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upfront builds credibility with the mentor and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ordered plan. Invite feedback from the mentor on the preferred precision/recall balance for their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3A89E"/>
          </a:solidFill>
          <a:ln/>
        </p:spPr>
      </p:sp>
      <p:sp>
        <p:nvSpPr>
          <p:cNvPr id="3" name="Text 1"/>
          <p:cNvSpPr/>
          <p:nvPr/>
        </p:nvSpPr>
        <p:spPr>
          <a:xfrm>
            <a:off x="822960" y="914400"/>
            <a:ext cx="10058400" cy="365760"/>
          </a:xfrm>
          <a:prstGeom prst="rect">
            <a:avLst/>
          </a:prstGeom>
          <a:noFill/>
          <a:ln/>
        </p:spPr>
        <p:txBody>
          <a:bodyPr wrap="square" rtlCol="0" anchor="ctr"/>
          <a:lstStyle/>
          <a:p>
            <a:pPr indent="0" marL="0">
              <a:buNone/>
            </a:pPr>
            <a:r>
              <a:rPr lang="en-US" sz="1400" b="1" spc="200" kern="0" dirty="0">
                <a:solidFill>
                  <a:srgbClr val="13A89E"/>
                </a:solidFill>
                <a:latin typeface="Calibri" pitchFamily="34" charset="0"/>
                <a:ea typeface="Calibri" pitchFamily="34" charset="-122"/>
                <a:cs typeface="Calibri" pitchFamily="34" charset="-120"/>
              </a:rPr>
              <a:t>PROGRESS REVIEW  ·  CE 766 INTEGRATED DESIGN PROJECT</a:t>
            </a:r>
            <a:endParaRPr lang="en-US" sz="1400" dirty="0"/>
          </a:p>
        </p:txBody>
      </p:sp>
      <p:sp>
        <p:nvSpPr>
          <p:cNvPr id="4" name="Text 2"/>
          <p:cNvSpPr/>
          <p:nvPr/>
        </p:nvSpPr>
        <p:spPr>
          <a:xfrm>
            <a:off x="822960" y="1463040"/>
            <a:ext cx="10058400"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Prithvi Flood-IN</a:t>
            </a:r>
            <a:endParaRPr lang="en-US" sz="5400" dirty="0"/>
          </a:p>
        </p:txBody>
      </p:sp>
      <p:sp>
        <p:nvSpPr>
          <p:cNvPr id="5" name="Text 3"/>
          <p:cNvSpPr/>
          <p:nvPr/>
        </p:nvSpPr>
        <p:spPr>
          <a:xfrm>
            <a:off x="822960" y="2377440"/>
            <a:ext cx="10058400" cy="822960"/>
          </a:xfrm>
          <a:prstGeom prst="rect">
            <a:avLst/>
          </a:prstGeom>
          <a:noFill/>
          <a:ln/>
        </p:spPr>
        <p:txBody>
          <a:bodyPr wrap="square" rtlCol="0" anchor="ctr"/>
          <a:lstStyle/>
          <a:p>
            <a:pPr indent="0" marL="0">
              <a:buNone/>
            </a:pPr>
            <a:r>
              <a:rPr lang="en-US" sz="2200" dirty="0">
                <a:solidFill>
                  <a:srgbClr val="CFE3F0"/>
                </a:solidFill>
                <a:latin typeface="Calibri" pitchFamily="34" charset="0"/>
                <a:ea typeface="Calibri" pitchFamily="34" charset="-122"/>
                <a:cs typeface="Calibri" pitchFamily="34" charset="-120"/>
              </a:rPr>
              <a:t>Pre- &amp; During-Event Inundation Mapping with Prithvi-EO-2.0 over the Indian Subcontinent</a:t>
            </a:r>
            <a:endParaRPr lang="en-US" sz="2200" dirty="0"/>
          </a:p>
        </p:txBody>
      </p:sp>
      <p:sp>
        <p:nvSpPr>
          <p:cNvPr id="6" name="Text 4"/>
          <p:cNvSpPr/>
          <p:nvPr/>
        </p:nvSpPr>
        <p:spPr>
          <a:xfrm>
            <a:off x="822960" y="3154680"/>
            <a:ext cx="10058400" cy="457200"/>
          </a:xfrm>
          <a:prstGeom prst="rect">
            <a:avLst/>
          </a:prstGeom>
          <a:noFill/>
          <a:ln/>
        </p:spPr>
        <p:txBody>
          <a:bodyPr wrap="square" rtlCol="0" anchor="ctr"/>
          <a:lstStyle/>
          <a:p>
            <a:pPr indent="0" marL="0">
              <a:buNone/>
            </a:pPr>
            <a:r>
              <a:rPr lang="en-US" sz="1600" i="1" dirty="0">
                <a:solidFill>
                  <a:srgbClr val="9FB8CC"/>
                </a:solidFill>
                <a:latin typeface="Calibri" pitchFamily="34" charset="0"/>
                <a:ea typeface="Calibri" pitchFamily="34" charset="-122"/>
                <a:cs typeface="Calibri" pitchFamily="34" charset="-120"/>
              </a:rPr>
              <a:t>INCLINE / LSHMS  ·  AI-Enabled Hydrological Information System for the Mahanadi Basin</a:t>
            </a:r>
            <a:endParaRPr lang="en-US" sz="1600" dirty="0"/>
          </a:p>
        </p:txBody>
      </p:sp>
      <p:sp>
        <p:nvSpPr>
          <p:cNvPr id="7" name="Text 5"/>
          <p:cNvSpPr/>
          <p:nvPr/>
        </p:nvSpPr>
        <p:spPr>
          <a:xfrm>
            <a:off x="822960" y="4206240"/>
            <a:ext cx="10515600" cy="1371600"/>
          </a:xfrm>
          <a:prstGeom prst="rect">
            <a:avLst/>
          </a:prstGeom>
          <a:noFill/>
          <a:ln/>
        </p:spPr>
        <p:txBody>
          <a:bodyPr wrap="square" rtlCol="0" anchor="t"/>
          <a:lstStyle/>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Team: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Nikhil Upadhyay (Lead) · Prakhar Gupta · Prabhat Kumar · Vineet Jangir · Himanshu Shete</a:t>
            </a:r>
            <a:endParaRPr lang="en-US" sz="1600" dirty="0"/>
          </a:p>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Faculty Supervisor: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Prof. Basudev Biswal, Dept. of Civil Engineering, IIT Bombay</a:t>
            </a:r>
            <a:endParaRPr lang="en-US" sz="1600" dirty="0"/>
          </a:p>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Industry Mentor: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Vivek Gupta, CTO, ClimMaTech Pvt. Ltd.</a:t>
            </a:r>
            <a:endParaRPr lang="en-US" sz="1600" dirty="0"/>
          </a:p>
        </p:txBody>
      </p:sp>
      <p:sp>
        <p:nvSpPr>
          <p:cNvPr id="8" name="Text 6"/>
          <p:cNvSpPr/>
          <p:nvPr/>
        </p:nvSpPr>
        <p:spPr>
          <a:xfrm>
            <a:off x="822960" y="6035040"/>
            <a:ext cx="4572000" cy="365760"/>
          </a:xfrm>
          <a:prstGeom prst="rect">
            <a:avLst/>
          </a:prstGeom>
          <a:noFill/>
          <a:ln/>
        </p:spPr>
        <p:txBody>
          <a:bodyPr wrap="square" rtlCol="0" anchor="ctr"/>
          <a:lstStyle/>
          <a:p>
            <a:pPr indent="0" marL="0">
              <a:buNone/>
            </a:pPr>
            <a:r>
              <a:rPr lang="en-US" sz="1300" dirty="0">
                <a:solidFill>
                  <a:srgbClr val="9FB8CC"/>
                </a:solidFill>
                <a:latin typeface="Calibri" pitchFamily="34" charset="0"/>
                <a:ea typeface="Calibri" pitchFamily="34" charset="-122"/>
                <a:cs typeface="Calibri" pitchFamily="34" charset="-120"/>
              </a:rPr>
              <a:t>23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Where we stand today</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Fine-tuning is complete; the model now beats the published baseline on unseen Indian floods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a:t>
            </a:r>
            <a:endParaRPr lang="en-US" sz="1000" dirty="0"/>
          </a:p>
        </p:txBody>
      </p:sp>
      <p:sp>
        <p:nvSpPr>
          <p:cNvPr id="7" name="Text 5"/>
          <p:cNvSpPr/>
          <p:nvPr/>
        </p:nvSpPr>
        <p:spPr>
          <a:xfrm>
            <a:off x="54864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~100</a:t>
            </a:r>
            <a:endParaRPr lang="en-US" sz="4000" dirty="0"/>
          </a:p>
        </p:txBody>
      </p:sp>
      <p:sp>
        <p:nvSpPr>
          <p:cNvPr id="8" name="Text 6"/>
          <p:cNvSpPr/>
          <p:nvPr/>
        </p:nvSpPr>
        <p:spPr>
          <a:xfrm>
            <a:off x="54864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real Indian flood events curated (2021–2026)</a:t>
            </a:r>
            <a:endParaRPr lang="en-US" sz="1300" dirty="0"/>
          </a:p>
        </p:txBody>
      </p:sp>
      <p:sp>
        <p:nvSpPr>
          <p:cNvPr id="9" name="Text 7"/>
          <p:cNvSpPr/>
          <p:nvPr/>
        </p:nvSpPr>
        <p:spPr>
          <a:xfrm>
            <a:off x="338328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3,584</a:t>
            </a:r>
            <a:endParaRPr lang="en-US" sz="4000" dirty="0"/>
          </a:p>
        </p:txBody>
      </p:sp>
      <p:sp>
        <p:nvSpPr>
          <p:cNvPr id="10" name="Text 8"/>
          <p:cNvSpPr/>
          <p:nvPr/>
        </p:nvSpPr>
        <p:spPr>
          <a:xfrm>
            <a:off x="338328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512×512 training chips from 180 image–map pairs</a:t>
            </a:r>
            <a:endParaRPr lang="en-US" sz="1300" dirty="0"/>
          </a:p>
        </p:txBody>
      </p:sp>
      <p:sp>
        <p:nvSpPr>
          <p:cNvPr id="11" name="Text 9"/>
          <p:cNvSpPr/>
          <p:nvPr/>
        </p:nvSpPr>
        <p:spPr>
          <a:xfrm>
            <a:off x="621792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+11%</a:t>
            </a:r>
            <a:endParaRPr lang="en-US" sz="4000" dirty="0"/>
          </a:p>
        </p:txBody>
      </p:sp>
      <p:sp>
        <p:nvSpPr>
          <p:cNvPr id="12" name="Text 10"/>
          <p:cNvSpPr/>
          <p:nvPr/>
        </p:nvSpPr>
        <p:spPr>
          <a:xfrm>
            <a:off x="621792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IoU gain over baseline on held-out test set</a:t>
            </a:r>
            <a:endParaRPr lang="en-US" sz="1300" dirty="0"/>
          </a:p>
        </p:txBody>
      </p:sp>
      <p:sp>
        <p:nvSpPr>
          <p:cNvPr id="13" name="Text 11"/>
          <p:cNvSpPr/>
          <p:nvPr/>
        </p:nvSpPr>
        <p:spPr>
          <a:xfrm>
            <a:off x="905256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+43%</a:t>
            </a:r>
            <a:endParaRPr lang="en-US" sz="4000" dirty="0"/>
          </a:p>
        </p:txBody>
      </p:sp>
      <p:sp>
        <p:nvSpPr>
          <p:cNvPr id="14" name="Text 12"/>
          <p:cNvSpPr/>
          <p:nvPr/>
        </p:nvSpPr>
        <p:spPr>
          <a:xfrm>
            <a:off x="905256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precision gain: far fewer false flood alarms</a:t>
            </a:r>
            <a:endParaRPr lang="en-US" sz="1300" dirty="0"/>
          </a:p>
        </p:txBody>
      </p:sp>
      <p:sp>
        <p:nvSpPr>
          <p:cNvPr id="15" name="Text 13"/>
          <p:cNvSpPr/>
          <p:nvPr/>
        </p:nvSpPr>
        <p:spPr>
          <a:xfrm>
            <a:off x="548640" y="3429000"/>
            <a:ext cx="5486400" cy="365760"/>
          </a:xfrm>
          <a:prstGeom prst="rect">
            <a:avLst/>
          </a:prstGeom>
          <a:noFill/>
          <a:ln/>
        </p:spPr>
        <p:txBody>
          <a:bodyPr wrap="square" lIns="0" tIns="0" rIns="0" bIns="0" rtlCol="0" anchor="ctr"/>
          <a:lstStyle/>
          <a:p>
            <a:pPr indent="0" marL="0">
              <a:buNone/>
            </a:pPr>
            <a:r>
              <a:rPr lang="en-US" sz="1800" b="1" dirty="0">
                <a:solidFill>
                  <a:srgbClr val="13A89E"/>
                </a:solidFill>
                <a:latin typeface="Calibri" pitchFamily="34" charset="0"/>
                <a:ea typeface="Calibri" pitchFamily="34" charset="-122"/>
                <a:cs typeface="Calibri" pitchFamily="34" charset="-120"/>
              </a:rPr>
              <a:t>Completed</a:t>
            </a:r>
            <a:endParaRPr lang="en-US" sz="1800" dirty="0"/>
          </a:p>
        </p:txBody>
      </p:sp>
      <p:sp>
        <p:nvSpPr>
          <p:cNvPr id="16" name="Text 14"/>
          <p:cNvSpPr/>
          <p:nvPr/>
        </p:nvSpPr>
        <p:spPr>
          <a:xfrm>
            <a:off x="548640" y="3840480"/>
            <a:ext cx="5486400" cy="2468880"/>
          </a:xfrm>
          <a:prstGeom prst="rect">
            <a:avLst/>
          </a:prstGeom>
          <a:noFill/>
          <a:ln/>
        </p:spPr>
        <p:txBody>
          <a:bodyPr wrap="square" lIns="50800" tIns="50800" rIns="50800" bIns="50800" rtlCol="0" anchor="t"/>
          <a:lstStyle/>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Platform walkthrough &amp; literature review</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Saint-Venant study + PINN code-base setup</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Indian flood dataset built &amp; quality-checked</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Evaluation protocol &amp; baseline</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Full fine-tune of 300M-param model + before/after evaluation</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Inference workflow, applications &amp; Pawna Dam visit</a:t>
            </a:r>
            <a:endParaRPr lang="en-US" sz="1500" dirty="0"/>
          </a:p>
        </p:txBody>
      </p:sp>
      <p:sp>
        <p:nvSpPr>
          <p:cNvPr id="17" name="Text 15"/>
          <p:cNvSpPr/>
          <p:nvPr/>
        </p:nvSpPr>
        <p:spPr>
          <a:xfrm>
            <a:off x="6400800" y="3429000"/>
            <a:ext cx="5486400" cy="365760"/>
          </a:xfrm>
          <a:prstGeom prst="rect">
            <a:avLst/>
          </a:prstGeom>
          <a:noFill/>
          <a:ln/>
        </p:spPr>
        <p:txBody>
          <a:bodyPr wrap="square" lIns="0" tIns="0" rIns="0" bIns="0"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Next</a:t>
            </a:r>
            <a:endParaRPr lang="en-US" sz="1800" dirty="0"/>
          </a:p>
        </p:txBody>
      </p:sp>
      <p:sp>
        <p:nvSpPr>
          <p:cNvPr id="18" name="Text 16"/>
          <p:cNvSpPr/>
          <p:nvPr/>
        </p:nvSpPr>
        <p:spPr>
          <a:xfrm>
            <a:off x="6400800" y="3840480"/>
            <a:ext cx="5303520" cy="2468880"/>
          </a:xfrm>
          <a:prstGeom prst="rect">
            <a:avLst/>
          </a:prstGeom>
          <a:noFill/>
          <a:ln/>
        </p:spPr>
        <p:txBody>
          <a:bodyPr wrap="square" lIns="50800" tIns="50800" rIns="50800" bIns="50800" rtlCol="0" anchor="t"/>
          <a:lstStyle/>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Visual error maps &amp; per-event analysis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Threshold tuning for recall/precision balance</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Benchmark against FastFlood; scale up dataset</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PINN–SVE training &amp; validation on assigned reaches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Mahanadi-basin pilot &amp; dashboard prototype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Project context: INCLINE / LSHMS with ClimMaTech</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Our work contributes to product development of the ClimMaTech–IIT Bombay hydrological platform</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48640" y="1508760"/>
            <a:ext cx="5440680" cy="2148840"/>
          </a:xfrm>
          <a:prstGeom prst="rect">
            <a:avLst/>
          </a:prstGeom>
          <a:solidFill>
            <a:srgbClr val="EEF4F8"/>
          </a:solidFill>
          <a:ln w="12700">
            <a:solidFill>
              <a:srgbClr val="EEF4F8"/>
            </a:solidFill>
            <a:prstDash val="solid"/>
          </a:ln>
        </p:spPr>
      </p:sp>
      <p:sp>
        <p:nvSpPr>
          <p:cNvPr id="8" name="Shape 6"/>
          <p:cNvSpPr/>
          <p:nvPr/>
        </p:nvSpPr>
        <p:spPr>
          <a:xfrm>
            <a:off x="548640" y="1508760"/>
            <a:ext cx="73152" cy="2148840"/>
          </a:xfrm>
          <a:prstGeom prst="rect">
            <a:avLst/>
          </a:prstGeom>
          <a:solidFill>
            <a:srgbClr val="13A89E"/>
          </a:solidFill>
          <a:ln w="12700">
            <a:solidFill>
              <a:srgbClr val="13A89E"/>
            </a:solidFill>
            <a:prstDash val="solid"/>
          </a:ln>
        </p:spPr>
      </p:sp>
      <p:sp>
        <p:nvSpPr>
          <p:cNvPr id="9" name="Text 7"/>
          <p:cNvSpPr/>
          <p:nvPr/>
        </p:nvSpPr>
        <p:spPr>
          <a:xfrm>
            <a:off x="777240" y="161848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The existing platform</a:t>
            </a:r>
            <a:endParaRPr lang="en-US" sz="1700" dirty="0"/>
          </a:p>
        </p:txBody>
      </p:sp>
      <p:sp>
        <p:nvSpPr>
          <p:cNvPr id="10" name="Text 8"/>
          <p:cNvSpPr/>
          <p:nvPr/>
        </p:nvSpPr>
        <p:spPr>
          <a:xfrm>
            <a:off x="777240" y="2057400"/>
            <a:ext cx="5074920" cy="15087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 working flood / hydrological modelling software already exists. The brief: understand the code, add parameters, improve the mathematical structure and build a better interface. It also generates automatic LLM-written reports in 16 languages.</a:t>
            </a:r>
            <a:endParaRPr lang="en-US" sz="1400" dirty="0"/>
          </a:p>
        </p:txBody>
      </p:sp>
      <p:sp>
        <p:nvSpPr>
          <p:cNvPr id="11" name="Shape 9"/>
          <p:cNvSpPr/>
          <p:nvPr/>
        </p:nvSpPr>
        <p:spPr>
          <a:xfrm>
            <a:off x="6199632" y="1508760"/>
            <a:ext cx="5440680" cy="2148840"/>
          </a:xfrm>
          <a:prstGeom prst="rect">
            <a:avLst/>
          </a:prstGeom>
          <a:solidFill>
            <a:srgbClr val="EEF4F8"/>
          </a:solidFill>
          <a:ln w="12700">
            <a:solidFill>
              <a:srgbClr val="EEF4F8"/>
            </a:solidFill>
            <a:prstDash val="solid"/>
          </a:ln>
        </p:spPr>
      </p:sp>
      <p:sp>
        <p:nvSpPr>
          <p:cNvPr id="12" name="Shape 10"/>
          <p:cNvSpPr/>
          <p:nvPr/>
        </p:nvSpPr>
        <p:spPr>
          <a:xfrm>
            <a:off x="6199632" y="1508760"/>
            <a:ext cx="73152" cy="2148840"/>
          </a:xfrm>
          <a:prstGeom prst="rect">
            <a:avLst/>
          </a:prstGeom>
          <a:solidFill>
            <a:srgbClr val="1F6FB2"/>
          </a:solidFill>
          <a:ln w="12700">
            <a:solidFill>
              <a:srgbClr val="1F6FB2"/>
            </a:solidFill>
            <a:prstDash val="solid"/>
          </a:ln>
        </p:spPr>
      </p:sp>
      <p:sp>
        <p:nvSpPr>
          <p:cNvPr id="13" name="Text 11"/>
          <p:cNvSpPr/>
          <p:nvPr/>
        </p:nvSpPr>
        <p:spPr>
          <a:xfrm>
            <a:off x="6428232" y="161848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Inputs it relies on</a:t>
            </a:r>
            <a:endParaRPr lang="en-US" sz="1700" dirty="0"/>
          </a:p>
        </p:txBody>
      </p:sp>
      <p:sp>
        <p:nvSpPr>
          <p:cNvPr id="14" name="Text 12"/>
          <p:cNvSpPr/>
          <p:nvPr/>
        </p:nvSpPr>
        <p:spPr>
          <a:xfrm>
            <a:off x="6428232" y="2057400"/>
            <a:ext cx="5074920" cy="15087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Topographic data: river geometry + elevation (DEM).</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Rainfall data: observed records for two regions, plus future rainfall to flag flood-prone areas.</a:t>
            </a:r>
            <a:endParaRPr lang="en-US" sz="1400" dirty="0"/>
          </a:p>
        </p:txBody>
      </p:sp>
      <p:sp>
        <p:nvSpPr>
          <p:cNvPr id="15" name="Shape 13"/>
          <p:cNvSpPr/>
          <p:nvPr/>
        </p:nvSpPr>
        <p:spPr>
          <a:xfrm>
            <a:off x="548640" y="3840480"/>
            <a:ext cx="5440680" cy="2286000"/>
          </a:xfrm>
          <a:prstGeom prst="rect">
            <a:avLst/>
          </a:prstGeom>
          <a:solidFill>
            <a:srgbClr val="EEF4F8"/>
          </a:solidFill>
          <a:ln w="12700">
            <a:solidFill>
              <a:srgbClr val="EEF4F8"/>
            </a:solidFill>
            <a:prstDash val="solid"/>
          </a:ln>
        </p:spPr>
      </p:sp>
      <p:sp>
        <p:nvSpPr>
          <p:cNvPr id="16" name="Shape 14"/>
          <p:cNvSpPr/>
          <p:nvPr/>
        </p:nvSpPr>
        <p:spPr>
          <a:xfrm>
            <a:off x="548640" y="3840480"/>
            <a:ext cx="73152" cy="2286000"/>
          </a:xfrm>
          <a:prstGeom prst="rect">
            <a:avLst/>
          </a:prstGeom>
          <a:solidFill>
            <a:srgbClr val="E8A33D"/>
          </a:solidFill>
          <a:ln w="12700">
            <a:solidFill>
              <a:srgbClr val="E8A33D"/>
            </a:solidFill>
            <a:prstDash val="solid"/>
          </a:ln>
        </p:spPr>
      </p:sp>
      <p:sp>
        <p:nvSpPr>
          <p:cNvPr id="17" name="Text 15"/>
          <p:cNvSpPr/>
          <p:nvPr/>
        </p:nvSpPr>
        <p:spPr>
          <a:xfrm>
            <a:off x="777240" y="3950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Known gaps (kick-off discussion)</a:t>
            </a:r>
            <a:endParaRPr lang="en-US" sz="1700" dirty="0"/>
          </a:p>
        </p:txBody>
      </p:sp>
      <p:sp>
        <p:nvSpPr>
          <p:cNvPr id="18" name="Text 16"/>
          <p:cNvSpPr/>
          <p:nvPr/>
        </p:nvSpPr>
        <p:spPr>
          <a:xfrm>
            <a:off x="777240" y="4389120"/>
            <a:ext cx="5074920" cy="16459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 Field surveys of river geometry are costly: ~₹1 lakh for 10–15 km</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River width is observed; depth is computed from equations</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DEM carries about ±1 m vertical error</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Slope comes from a smoothing algorithm, which can be improved</a:t>
            </a:r>
            <a:endParaRPr lang="en-US" sz="1400" dirty="0"/>
          </a:p>
        </p:txBody>
      </p:sp>
      <p:sp>
        <p:nvSpPr>
          <p:cNvPr id="19" name="Shape 17"/>
          <p:cNvSpPr/>
          <p:nvPr/>
        </p:nvSpPr>
        <p:spPr>
          <a:xfrm>
            <a:off x="6199632" y="3840480"/>
            <a:ext cx="5440680" cy="2286000"/>
          </a:xfrm>
          <a:prstGeom prst="rect">
            <a:avLst/>
          </a:prstGeom>
          <a:solidFill>
            <a:srgbClr val="EEF4F8"/>
          </a:solidFill>
          <a:ln w="12700">
            <a:solidFill>
              <a:srgbClr val="EEF4F8"/>
            </a:solidFill>
            <a:prstDash val="solid"/>
          </a:ln>
        </p:spPr>
      </p:sp>
      <p:sp>
        <p:nvSpPr>
          <p:cNvPr id="20" name="Shape 18"/>
          <p:cNvSpPr/>
          <p:nvPr/>
        </p:nvSpPr>
        <p:spPr>
          <a:xfrm>
            <a:off x="6199632" y="3840480"/>
            <a:ext cx="73152" cy="2286000"/>
          </a:xfrm>
          <a:prstGeom prst="rect">
            <a:avLst/>
          </a:prstGeom>
          <a:solidFill>
            <a:srgbClr val="0B2545"/>
          </a:solidFill>
          <a:ln w="12700">
            <a:solidFill>
              <a:srgbClr val="0B2545"/>
            </a:solidFill>
            <a:prstDash val="solid"/>
          </a:ln>
        </p:spPr>
      </p:sp>
      <p:sp>
        <p:nvSpPr>
          <p:cNvPr id="21" name="Text 19"/>
          <p:cNvSpPr/>
          <p:nvPr/>
        </p:nvSpPr>
        <p:spPr>
          <a:xfrm>
            <a:off x="6428232" y="3950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Where our work fits</a:t>
            </a:r>
            <a:endParaRPr lang="en-US" sz="1700" dirty="0"/>
          </a:p>
        </p:txBody>
      </p:sp>
      <p:sp>
        <p:nvSpPr>
          <p:cNvPr id="22" name="Text 20"/>
          <p:cNvSpPr/>
          <p:nvPr/>
        </p:nvSpPr>
        <p:spPr>
          <a:xfrm>
            <a:off x="6428232" y="4389120"/>
            <a:ext cx="5074920" cy="16459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Objective 1 (agreed with supervisor &amp; mentor): flood inundation mapping with machine learning on satellite imagery (Prithvi Flood-IN). It gives an observed flood extent to validate and enrich the physics-based platform.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Project journey so far</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From team formation to a fine-tuned model in about eight weeks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1188720" y="3246120"/>
            <a:ext cx="9875520" cy="0"/>
          </a:xfrm>
          <a:prstGeom prst="line">
            <a:avLst/>
          </a:prstGeom>
          <a:noFill/>
          <a:ln w="38100">
            <a:solidFill>
              <a:srgbClr val="13A89E"/>
            </a:solidFill>
            <a:prstDash val="solid"/>
          </a:ln>
        </p:spPr>
      </p:sp>
      <p:sp>
        <p:nvSpPr>
          <p:cNvPr id="8" name="Shape 6"/>
          <p:cNvSpPr/>
          <p:nvPr/>
        </p:nvSpPr>
        <p:spPr>
          <a:xfrm>
            <a:off x="1069848" y="3127248"/>
            <a:ext cx="237744" cy="237744"/>
          </a:xfrm>
          <a:prstGeom prst="ellipse">
            <a:avLst/>
          </a:prstGeom>
          <a:solidFill>
            <a:srgbClr val="0B2545"/>
          </a:solidFill>
          <a:ln w="19050">
            <a:solidFill>
              <a:srgbClr val="FFFFFF"/>
            </a:solidFill>
            <a:prstDash val="solid"/>
          </a:ln>
        </p:spPr>
      </p:sp>
      <p:sp>
        <p:nvSpPr>
          <p:cNvPr id="9" name="Text 7"/>
          <p:cNvSpPr/>
          <p:nvPr/>
        </p:nvSpPr>
        <p:spPr>
          <a:xfrm>
            <a:off x="457200" y="265176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29 Jul</a:t>
            </a:r>
            <a:endParaRPr lang="en-US" sz="1400" dirty="0"/>
          </a:p>
        </p:txBody>
      </p:sp>
      <p:sp>
        <p:nvSpPr>
          <p:cNvPr id="10" name="Text 8"/>
          <p:cNvSpPr/>
          <p:nvPr/>
        </p:nvSpPr>
        <p:spPr>
          <a:xfrm>
            <a:off x="457200" y="1417320"/>
            <a:ext cx="1463040" cy="1188720"/>
          </a:xfrm>
          <a:prstGeom prst="rect">
            <a:avLst/>
          </a:prstGeom>
          <a:noFill/>
          <a:ln/>
        </p:spPr>
        <p:txBody>
          <a:bodyPr wrap="square" lIns="0" tIns="0" rIns="0" bIns="0" rtlCol="0" anchor="b"/>
          <a:lstStyle/>
          <a:p>
            <a:pPr algn="ctr" indent="0" marL="0">
              <a:buNone/>
            </a:pPr>
            <a:r>
              <a:rPr lang="en-US" sz="1150" dirty="0">
                <a:solidFill>
                  <a:srgbClr val="1B2733"/>
                </a:solidFill>
                <a:latin typeface="Calibri" pitchFamily="34" charset="0"/>
                <a:ea typeface="Calibri" pitchFamily="34" charset="-122"/>
                <a:cs typeface="Calibri" pitchFamily="34" charset="-120"/>
              </a:rPr>
              <a:t>Team formed; registered for the IDP</a:t>
            </a:r>
            <a:endParaRPr lang="en-US" sz="1150" dirty="0"/>
          </a:p>
        </p:txBody>
      </p:sp>
      <p:sp>
        <p:nvSpPr>
          <p:cNvPr id="11" name="Shape 9"/>
          <p:cNvSpPr/>
          <p:nvPr/>
        </p:nvSpPr>
        <p:spPr>
          <a:xfrm>
            <a:off x="2304288" y="3127248"/>
            <a:ext cx="237744" cy="237744"/>
          </a:xfrm>
          <a:prstGeom prst="ellipse">
            <a:avLst/>
          </a:prstGeom>
          <a:solidFill>
            <a:srgbClr val="0B2545"/>
          </a:solidFill>
          <a:ln w="19050">
            <a:solidFill>
              <a:srgbClr val="FFFFFF"/>
            </a:solidFill>
            <a:prstDash val="solid"/>
          </a:ln>
        </p:spPr>
      </p:sp>
      <p:sp>
        <p:nvSpPr>
          <p:cNvPr id="12" name="Text 10"/>
          <p:cNvSpPr/>
          <p:nvPr/>
        </p:nvSpPr>
        <p:spPr>
          <a:xfrm>
            <a:off x="1691640" y="347472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3–7 Aug</a:t>
            </a:r>
            <a:endParaRPr lang="en-US" sz="1400" dirty="0"/>
          </a:p>
        </p:txBody>
      </p:sp>
      <p:sp>
        <p:nvSpPr>
          <p:cNvPr id="13" name="Text 11"/>
          <p:cNvSpPr/>
          <p:nvPr/>
        </p:nvSpPr>
        <p:spPr>
          <a:xfrm>
            <a:off x="1691640" y="3840480"/>
            <a:ext cx="1463040" cy="1188720"/>
          </a:xfrm>
          <a:prstGeom prst="rect">
            <a:avLst/>
          </a:prstGeom>
          <a:noFill/>
          <a:ln/>
        </p:spPr>
        <p:txBody>
          <a:bodyPr wrap="square" lIns="0" tIns="0" rIns="0" bIns="0" rtlCol="0" anchor="t"/>
          <a:lstStyle/>
          <a:p>
            <a:pPr algn="ctr" indent="0" marL="0">
              <a:buNone/>
            </a:pPr>
            <a:r>
              <a:rPr lang="en-US" sz="1150" dirty="0">
                <a:solidFill>
                  <a:srgbClr val="1B2733"/>
                </a:solidFill>
                <a:latin typeface="Calibri" pitchFamily="34" charset="0"/>
                <a:ea typeface="Calibri" pitchFamily="34" charset="-122"/>
                <a:cs typeface="Calibri" pitchFamily="34" charset="-120"/>
              </a:rPr>
              <a:t>Kick-off with Prof. Biswal &amp; TA; platform walkthrough; ClimMaTech team joins</a:t>
            </a:r>
            <a:endParaRPr lang="en-US" sz="1150" dirty="0"/>
          </a:p>
        </p:txBody>
      </p:sp>
      <p:sp>
        <p:nvSpPr>
          <p:cNvPr id="14" name="Shape 12"/>
          <p:cNvSpPr/>
          <p:nvPr/>
        </p:nvSpPr>
        <p:spPr>
          <a:xfrm>
            <a:off x="3538728" y="3127248"/>
            <a:ext cx="237744" cy="237744"/>
          </a:xfrm>
          <a:prstGeom prst="ellipse">
            <a:avLst/>
          </a:prstGeom>
          <a:solidFill>
            <a:srgbClr val="0B2545"/>
          </a:solidFill>
          <a:ln w="19050">
            <a:solidFill>
              <a:srgbClr val="FFFFFF"/>
            </a:solidFill>
            <a:prstDash val="solid"/>
          </a:ln>
        </p:spPr>
      </p:sp>
      <p:sp>
        <p:nvSpPr>
          <p:cNvPr id="15" name="Text 13"/>
          <p:cNvSpPr/>
          <p:nvPr/>
        </p:nvSpPr>
        <p:spPr>
          <a:xfrm>
            <a:off x="2926080" y="265176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12 Aug</a:t>
            </a:r>
            <a:endParaRPr lang="en-US" sz="1400" dirty="0"/>
          </a:p>
        </p:txBody>
      </p:sp>
      <p:sp>
        <p:nvSpPr>
          <p:cNvPr id="16" name="Text 14"/>
          <p:cNvSpPr/>
          <p:nvPr/>
        </p:nvSpPr>
        <p:spPr>
          <a:xfrm>
            <a:off x="2926080" y="1417320"/>
            <a:ext cx="1463040" cy="1188720"/>
          </a:xfrm>
          <a:prstGeom prst="rect">
            <a:avLst/>
          </a:prstGeom>
          <a:noFill/>
          <a:ln/>
        </p:spPr>
        <p:txBody>
          <a:bodyPr wrap="square" lIns="0" tIns="0" rIns="0" bIns="0" rtlCol="0" anchor="b"/>
          <a:lstStyle/>
          <a:p>
            <a:pPr algn="ctr" indent="0" marL="0">
              <a:buNone/>
            </a:pPr>
            <a:r>
              <a:rPr lang="en-US" sz="1150" dirty="0">
                <a:solidFill>
                  <a:srgbClr val="1B2733"/>
                </a:solidFill>
                <a:latin typeface="Calibri" pitchFamily="34" charset="0"/>
                <a:ea typeface="Calibri" pitchFamily="34" charset="-122"/>
                <a:cs typeface="Calibri" pitchFamily="34" charset="-120"/>
              </a:rPr>
              <a:t>Saint-Venant / PINN code base shared: setup + Phase 1</a:t>
            </a:r>
            <a:endParaRPr lang="en-US" sz="1150" dirty="0"/>
          </a:p>
        </p:txBody>
      </p:sp>
      <p:sp>
        <p:nvSpPr>
          <p:cNvPr id="17" name="Shape 15"/>
          <p:cNvSpPr/>
          <p:nvPr/>
        </p:nvSpPr>
        <p:spPr>
          <a:xfrm>
            <a:off x="4773168" y="3127248"/>
            <a:ext cx="237744" cy="237744"/>
          </a:xfrm>
          <a:prstGeom prst="ellipse">
            <a:avLst/>
          </a:prstGeom>
          <a:solidFill>
            <a:srgbClr val="0B2545"/>
          </a:solidFill>
          <a:ln w="19050">
            <a:solidFill>
              <a:srgbClr val="FFFFFF"/>
            </a:solidFill>
            <a:prstDash val="solid"/>
          </a:ln>
        </p:spPr>
      </p:sp>
      <p:sp>
        <p:nvSpPr>
          <p:cNvPr id="18" name="Text 16"/>
          <p:cNvSpPr/>
          <p:nvPr/>
        </p:nvSpPr>
        <p:spPr>
          <a:xfrm>
            <a:off x="4160520" y="347472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14 Aug</a:t>
            </a:r>
            <a:endParaRPr lang="en-US" sz="1400" dirty="0"/>
          </a:p>
        </p:txBody>
      </p:sp>
      <p:sp>
        <p:nvSpPr>
          <p:cNvPr id="19" name="Text 17"/>
          <p:cNvSpPr/>
          <p:nvPr/>
        </p:nvSpPr>
        <p:spPr>
          <a:xfrm>
            <a:off x="4160520" y="3840480"/>
            <a:ext cx="1463040" cy="1188720"/>
          </a:xfrm>
          <a:prstGeom prst="rect">
            <a:avLst/>
          </a:prstGeom>
          <a:noFill/>
          <a:ln/>
        </p:spPr>
        <p:txBody>
          <a:bodyPr wrap="square" lIns="0" tIns="0" rIns="0" bIns="0" rtlCol="0" anchor="t"/>
          <a:lstStyle/>
          <a:p>
            <a:pPr algn="ctr" indent="0" marL="0">
              <a:buNone/>
            </a:pPr>
            <a:r>
              <a:rPr lang="en-US" sz="1150" dirty="0">
                <a:solidFill>
                  <a:srgbClr val="1B2733"/>
                </a:solidFill>
                <a:latin typeface="Calibri" pitchFamily="34" charset="0"/>
                <a:ea typeface="Calibri" pitchFamily="34" charset="-122"/>
                <a:cs typeface="Calibri" pitchFamily="34" charset="-120"/>
              </a:rPr>
              <a:t>Readings: inundation, routing, runoff generation</a:t>
            </a:r>
            <a:endParaRPr lang="en-US" sz="1150" dirty="0"/>
          </a:p>
        </p:txBody>
      </p:sp>
      <p:sp>
        <p:nvSpPr>
          <p:cNvPr id="20" name="Shape 18"/>
          <p:cNvSpPr/>
          <p:nvPr/>
        </p:nvSpPr>
        <p:spPr>
          <a:xfrm>
            <a:off x="6007608" y="3127248"/>
            <a:ext cx="237744" cy="237744"/>
          </a:xfrm>
          <a:prstGeom prst="ellipse">
            <a:avLst/>
          </a:prstGeom>
          <a:solidFill>
            <a:srgbClr val="0B2545"/>
          </a:solidFill>
          <a:ln w="19050">
            <a:solidFill>
              <a:srgbClr val="FFFFFF"/>
            </a:solidFill>
            <a:prstDash val="solid"/>
          </a:ln>
        </p:spPr>
      </p:sp>
      <p:sp>
        <p:nvSpPr>
          <p:cNvPr id="21" name="Text 19"/>
          <p:cNvSpPr/>
          <p:nvPr/>
        </p:nvSpPr>
        <p:spPr>
          <a:xfrm>
            <a:off x="5394960" y="265176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26 Aug</a:t>
            </a:r>
            <a:endParaRPr lang="en-US" sz="1400" dirty="0"/>
          </a:p>
        </p:txBody>
      </p:sp>
      <p:sp>
        <p:nvSpPr>
          <p:cNvPr id="22" name="Text 20"/>
          <p:cNvSpPr/>
          <p:nvPr/>
        </p:nvSpPr>
        <p:spPr>
          <a:xfrm>
            <a:off x="5394960" y="1417320"/>
            <a:ext cx="1463040" cy="1188720"/>
          </a:xfrm>
          <a:prstGeom prst="rect">
            <a:avLst/>
          </a:prstGeom>
          <a:noFill/>
          <a:ln/>
        </p:spPr>
        <p:txBody>
          <a:bodyPr wrap="square" lIns="0" tIns="0" rIns="0" bIns="0" rtlCol="0" anchor="b"/>
          <a:lstStyle/>
          <a:p>
            <a:pPr algn="ctr" indent="0" marL="0">
              <a:buNone/>
            </a:pPr>
            <a:r>
              <a:rPr lang="en-US" sz="1150" dirty="0">
                <a:solidFill>
                  <a:srgbClr val="1B2733"/>
                </a:solidFill>
                <a:latin typeface="Calibri" pitchFamily="34" charset="0"/>
                <a:ea typeface="Calibri" pitchFamily="34" charset="-122"/>
                <a:cs typeface="Calibri" pitchFamily="34" charset="-120"/>
              </a:rPr>
              <a:t>Objectives fixed; DUGC proposal submitted</a:t>
            </a:r>
            <a:endParaRPr lang="en-US" sz="1150" dirty="0"/>
          </a:p>
        </p:txBody>
      </p:sp>
      <p:sp>
        <p:nvSpPr>
          <p:cNvPr id="23" name="Shape 21"/>
          <p:cNvSpPr/>
          <p:nvPr/>
        </p:nvSpPr>
        <p:spPr>
          <a:xfrm>
            <a:off x="7242048" y="3127248"/>
            <a:ext cx="237744" cy="237744"/>
          </a:xfrm>
          <a:prstGeom prst="ellipse">
            <a:avLst/>
          </a:prstGeom>
          <a:solidFill>
            <a:srgbClr val="0B2545"/>
          </a:solidFill>
          <a:ln w="19050">
            <a:solidFill>
              <a:srgbClr val="FFFFFF"/>
            </a:solidFill>
            <a:prstDash val="solid"/>
          </a:ln>
        </p:spPr>
      </p:sp>
      <p:sp>
        <p:nvSpPr>
          <p:cNvPr id="24" name="Text 22"/>
          <p:cNvSpPr/>
          <p:nvPr/>
        </p:nvSpPr>
        <p:spPr>
          <a:xfrm>
            <a:off x="6629400" y="347472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28 Aug</a:t>
            </a:r>
            <a:endParaRPr lang="en-US" sz="1400" dirty="0"/>
          </a:p>
        </p:txBody>
      </p:sp>
      <p:sp>
        <p:nvSpPr>
          <p:cNvPr id="25" name="Text 23"/>
          <p:cNvSpPr/>
          <p:nvPr/>
        </p:nvSpPr>
        <p:spPr>
          <a:xfrm>
            <a:off x="6629400" y="3840480"/>
            <a:ext cx="1463040" cy="1188720"/>
          </a:xfrm>
          <a:prstGeom prst="rect">
            <a:avLst/>
          </a:prstGeom>
          <a:noFill/>
          <a:ln/>
        </p:spPr>
        <p:txBody>
          <a:bodyPr wrap="square" lIns="0" tIns="0" rIns="0" bIns="0" rtlCol="0" anchor="t"/>
          <a:lstStyle/>
          <a:p>
            <a:pPr algn="ctr" indent="0" marL="0">
              <a:buNone/>
            </a:pPr>
            <a:r>
              <a:rPr lang="en-US" sz="1150" dirty="0">
                <a:solidFill>
                  <a:srgbClr val="1B2733"/>
                </a:solidFill>
                <a:latin typeface="Calibri" pitchFamily="34" charset="0"/>
                <a:ea typeface="Calibri" pitchFamily="34" charset="-122"/>
                <a:cs typeface="Calibri" pitchFamily="34" charset="-120"/>
              </a:rPr>
              <a:t>Mentor points us to TerraTorch &amp; Prithvi-EO-2.0 examples</a:t>
            </a:r>
            <a:endParaRPr lang="en-US" sz="1150" dirty="0"/>
          </a:p>
        </p:txBody>
      </p:sp>
      <p:sp>
        <p:nvSpPr>
          <p:cNvPr id="26" name="Shape 24"/>
          <p:cNvSpPr/>
          <p:nvPr/>
        </p:nvSpPr>
        <p:spPr>
          <a:xfrm>
            <a:off x="8476488" y="3127248"/>
            <a:ext cx="237744" cy="237744"/>
          </a:xfrm>
          <a:prstGeom prst="ellipse">
            <a:avLst/>
          </a:prstGeom>
          <a:solidFill>
            <a:srgbClr val="0B2545"/>
          </a:solidFill>
          <a:ln w="19050">
            <a:solidFill>
              <a:srgbClr val="FFFFFF"/>
            </a:solidFill>
            <a:prstDash val="solid"/>
          </a:ln>
        </p:spPr>
      </p:sp>
      <p:sp>
        <p:nvSpPr>
          <p:cNvPr id="27" name="Text 25"/>
          <p:cNvSpPr/>
          <p:nvPr/>
        </p:nvSpPr>
        <p:spPr>
          <a:xfrm>
            <a:off x="7863840" y="265176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6 Sep</a:t>
            </a:r>
            <a:endParaRPr lang="en-US" sz="1400" dirty="0"/>
          </a:p>
        </p:txBody>
      </p:sp>
      <p:sp>
        <p:nvSpPr>
          <p:cNvPr id="28" name="Text 26"/>
          <p:cNvSpPr/>
          <p:nvPr/>
        </p:nvSpPr>
        <p:spPr>
          <a:xfrm>
            <a:off x="7863840" y="1417320"/>
            <a:ext cx="1463040" cy="1188720"/>
          </a:xfrm>
          <a:prstGeom prst="rect">
            <a:avLst/>
          </a:prstGeom>
          <a:noFill/>
          <a:ln/>
        </p:spPr>
        <p:txBody>
          <a:bodyPr wrap="square" lIns="0" tIns="0" rIns="0" bIns="0" rtlCol="0" anchor="b"/>
          <a:lstStyle/>
          <a:p>
            <a:pPr algn="ctr" indent="0" marL="0">
              <a:buNone/>
            </a:pPr>
            <a:r>
              <a:rPr lang="en-US" sz="1150" dirty="0">
                <a:solidFill>
                  <a:srgbClr val="1B2733"/>
                </a:solidFill>
                <a:latin typeface="Calibri" pitchFamily="34" charset="0"/>
                <a:ea typeface="Calibri" pitchFamily="34" charset="-122"/>
                <a:cs typeface="Calibri" pitchFamily="34" charset="-120"/>
              </a:rPr>
              <a:t>Indian flood fine-tuning catalogue shared for review</a:t>
            </a:r>
            <a:endParaRPr lang="en-US" sz="1150" dirty="0"/>
          </a:p>
        </p:txBody>
      </p:sp>
      <p:sp>
        <p:nvSpPr>
          <p:cNvPr id="29" name="Shape 27"/>
          <p:cNvSpPr/>
          <p:nvPr/>
        </p:nvSpPr>
        <p:spPr>
          <a:xfrm>
            <a:off x="9710928" y="3127248"/>
            <a:ext cx="237744" cy="237744"/>
          </a:xfrm>
          <a:prstGeom prst="ellipse">
            <a:avLst/>
          </a:prstGeom>
          <a:solidFill>
            <a:srgbClr val="0B2545"/>
          </a:solidFill>
          <a:ln w="19050">
            <a:solidFill>
              <a:srgbClr val="FFFFFF"/>
            </a:solidFill>
            <a:prstDash val="solid"/>
          </a:ln>
        </p:spPr>
      </p:sp>
      <p:sp>
        <p:nvSpPr>
          <p:cNvPr id="30" name="Text 28"/>
          <p:cNvSpPr/>
          <p:nvPr/>
        </p:nvSpPr>
        <p:spPr>
          <a:xfrm>
            <a:off x="9098280" y="347472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10 Sep</a:t>
            </a:r>
            <a:endParaRPr lang="en-US" sz="1400" dirty="0"/>
          </a:p>
        </p:txBody>
      </p:sp>
      <p:sp>
        <p:nvSpPr>
          <p:cNvPr id="31" name="Text 29"/>
          <p:cNvSpPr/>
          <p:nvPr/>
        </p:nvSpPr>
        <p:spPr>
          <a:xfrm>
            <a:off x="9098280" y="3840480"/>
            <a:ext cx="1463040" cy="1188720"/>
          </a:xfrm>
          <a:prstGeom prst="rect">
            <a:avLst/>
          </a:prstGeom>
          <a:noFill/>
          <a:ln/>
        </p:spPr>
        <p:txBody>
          <a:bodyPr wrap="square" lIns="0" tIns="0" rIns="0" bIns="0" rtlCol="0" anchor="t"/>
          <a:lstStyle/>
          <a:p>
            <a:pPr algn="ctr" indent="0" marL="0">
              <a:buNone/>
            </a:pPr>
            <a:r>
              <a:rPr lang="en-US" sz="1150" dirty="0">
                <a:solidFill>
                  <a:srgbClr val="1B2733"/>
                </a:solidFill>
                <a:latin typeface="Calibri" pitchFamily="34" charset="0"/>
                <a:ea typeface="Calibri" pitchFamily="34" charset="-122"/>
                <a:cs typeface="Calibri" pitchFamily="34" charset="-120"/>
              </a:rPr>
              <a:t>FastFlood validation benchmark shared</a:t>
            </a:r>
            <a:endParaRPr lang="en-US" sz="1150" dirty="0"/>
          </a:p>
        </p:txBody>
      </p:sp>
      <p:sp>
        <p:nvSpPr>
          <p:cNvPr id="32" name="Shape 30"/>
          <p:cNvSpPr/>
          <p:nvPr/>
        </p:nvSpPr>
        <p:spPr>
          <a:xfrm>
            <a:off x="10945368" y="3127248"/>
            <a:ext cx="237744" cy="237744"/>
          </a:xfrm>
          <a:prstGeom prst="ellipse">
            <a:avLst/>
          </a:prstGeom>
          <a:solidFill>
            <a:srgbClr val="E8A33D"/>
          </a:solidFill>
          <a:ln w="19050">
            <a:solidFill>
              <a:srgbClr val="FFFFFF"/>
            </a:solidFill>
            <a:prstDash val="solid"/>
          </a:ln>
        </p:spPr>
      </p:sp>
      <p:sp>
        <p:nvSpPr>
          <p:cNvPr id="33" name="Text 31"/>
          <p:cNvSpPr/>
          <p:nvPr/>
        </p:nvSpPr>
        <p:spPr>
          <a:xfrm>
            <a:off x="10332720" y="2651760"/>
            <a:ext cx="1463040" cy="365760"/>
          </a:xfrm>
          <a:prstGeom prst="rect">
            <a:avLst/>
          </a:prstGeom>
          <a:noFill/>
          <a:ln/>
        </p:spPr>
        <p:txBody>
          <a:bodyPr wrap="square" lIns="0" tIns="0" rIns="0" bIns="0" rtlCol="0" anchor="ctr"/>
          <a:lstStyle/>
          <a:p>
            <a:pPr algn="ctr" indent="0" marL="0">
              <a:buNone/>
            </a:pPr>
            <a:r>
              <a:rPr lang="en-US" sz="1400" b="1" dirty="0">
                <a:solidFill>
                  <a:srgbClr val="13A89E"/>
                </a:solidFill>
                <a:latin typeface="Calibri" pitchFamily="34" charset="0"/>
                <a:ea typeface="Calibri" pitchFamily="34" charset="-122"/>
                <a:cs typeface="Calibri" pitchFamily="34" charset="-120"/>
              </a:rPr>
              <a:t>23 Sep</a:t>
            </a:r>
            <a:endParaRPr lang="en-US" sz="1400" dirty="0"/>
          </a:p>
        </p:txBody>
      </p:sp>
      <p:sp>
        <p:nvSpPr>
          <p:cNvPr id="34" name="Text 32"/>
          <p:cNvSpPr/>
          <p:nvPr/>
        </p:nvSpPr>
        <p:spPr>
          <a:xfrm>
            <a:off x="10332720" y="1417320"/>
            <a:ext cx="1463040" cy="1188720"/>
          </a:xfrm>
          <a:prstGeom prst="rect">
            <a:avLst/>
          </a:prstGeom>
          <a:noFill/>
          <a:ln/>
        </p:spPr>
        <p:txBody>
          <a:bodyPr wrap="square" lIns="0" tIns="0" rIns="0" bIns="0" rtlCol="0" anchor="b"/>
          <a:lstStyle/>
          <a:p>
            <a:pPr algn="ctr" indent="0" marL="0">
              <a:buNone/>
            </a:pPr>
            <a:r>
              <a:rPr lang="en-US" sz="1150" dirty="0">
                <a:solidFill>
                  <a:srgbClr val="1B2733"/>
                </a:solidFill>
                <a:latin typeface="Calibri" pitchFamily="34" charset="0"/>
                <a:ea typeface="Calibri" pitchFamily="34" charset="-122"/>
                <a:cs typeface="Calibri" pitchFamily="34" charset="-120"/>
              </a:rPr>
              <a:t>Fine-tuning complete; progress review</a:t>
            </a:r>
            <a:endParaRPr lang="en-US" sz="1150" dirty="0"/>
          </a:p>
        </p:txBody>
      </p:sp>
      <p:sp>
        <p:nvSpPr>
          <p:cNvPr id="35" name="Text 33"/>
          <p:cNvSpPr/>
          <p:nvPr/>
        </p:nvSpPr>
        <p:spPr>
          <a:xfrm>
            <a:off x="548640" y="5577840"/>
            <a:ext cx="11064240" cy="45720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Regular progress reviews with the supervisor, TA and ClimMaTech mentors: 5, 7, 11, 14, 21 and 28 Aug, and 23 Sep.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Problem &amp; motivation</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Why India needs its own flood-mapping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48640" y="1554480"/>
            <a:ext cx="3566160" cy="2194560"/>
          </a:xfrm>
          <a:prstGeom prst="rect">
            <a:avLst/>
          </a:prstGeom>
          <a:solidFill>
            <a:srgbClr val="EEF4F8"/>
          </a:solidFill>
          <a:ln w="12700">
            <a:solidFill>
              <a:srgbClr val="EEF4F8"/>
            </a:solidFill>
            <a:prstDash val="solid"/>
          </a:ln>
        </p:spPr>
      </p:sp>
      <p:sp>
        <p:nvSpPr>
          <p:cNvPr id="8" name="Shape 6"/>
          <p:cNvSpPr/>
          <p:nvPr/>
        </p:nvSpPr>
        <p:spPr>
          <a:xfrm>
            <a:off x="548640" y="1554480"/>
            <a:ext cx="73152" cy="2194560"/>
          </a:xfrm>
          <a:prstGeom prst="rect">
            <a:avLst/>
          </a:prstGeom>
          <a:solidFill>
            <a:srgbClr val="13A89E"/>
          </a:solidFill>
          <a:ln w="12700">
            <a:solidFill>
              <a:srgbClr val="13A89E"/>
            </a:solidFill>
            <a:prstDash val="solid"/>
          </a:ln>
        </p:spPr>
      </p:sp>
      <p:sp>
        <p:nvSpPr>
          <p:cNvPr id="9" name="Text 7"/>
          <p:cNvSpPr/>
          <p:nvPr/>
        </p:nvSpPr>
        <p:spPr>
          <a:xfrm>
            <a:off x="777240"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Recurring monsoon floods</a:t>
            </a:r>
            <a:endParaRPr lang="en-US" sz="1700" dirty="0"/>
          </a:p>
        </p:txBody>
      </p:sp>
      <p:sp>
        <p:nvSpPr>
          <p:cNvPr id="10" name="Text 8"/>
          <p:cNvSpPr/>
          <p:nvPr/>
        </p:nvSpPr>
        <p:spPr>
          <a:xfrm>
            <a:off x="777240"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Monsoon floods recur every year across the Ganga, Brahmaputra and Mahanadi basins, disrupting lives, crops and infrastructure.</a:t>
            </a:r>
            <a:endParaRPr lang="en-US" sz="1400" dirty="0"/>
          </a:p>
        </p:txBody>
      </p:sp>
      <p:sp>
        <p:nvSpPr>
          <p:cNvPr id="11" name="Shape 9"/>
          <p:cNvSpPr/>
          <p:nvPr/>
        </p:nvSpPr>
        <p:spPr>
          <a:xfrm>
            <a:off x="4315968" y="1554480"/>
            <a:ext cx="3566160" cy="2194560"/>
          </a:xfrm>
          <a:prstGeom prst="rect">
            <a:avLst/>
          </a:prstGeom>
          <a:solidFill>
            <a:srgbClr val="EEF4F8"/>
          </a:solidFill>
          <a:ln w="12700">
            <a:solidFill>
              <a:srgbClr val="EEF4F8"/>
            </a:solidFill>
            <a:prstDash val="solid"/>
          </a:ln>
        </p:spPr>
      </p:sp>
      <p:sp>
        <p:nvSpPr>
          <p:cNvPr id="12" name="Shape 10"/>
          <p:cNvSpPr/>
          <p:nvPr/>
        </p:nvSpPr>
        <p:spPr>
          <a:xfrm>
            <a:off x="4315968" y="1554480"/>
            <a:ext cx="73152" cy="2194560"/>
          </a:xfrm>
          <a:prstGeom prst="rect">
            <a:avLst/>
          </a:prstGeom>
          <a:solidFill>
            <a:srgbClr val="1F6FB2"/>
          </a:solidFill>
          <a:ln w="12700">
            <a:solidFill>
              <a:srgbClr val="1F6FB2"/>
            </a:solidFill>
            <a:prstDash val="solid"/>
          </a:ln>
        </p:spPr>
      </p:sp>
      <p:sp>
        <p:nvSpPr>
          <p:cNvPr id="13" name="Text 11"/>
          <p:cNvSpPr/>
          <p:nvPr/>
        </p:nvSpPr>
        <p:spPr>
          <a:xfrm>
            <a:off x="4544568"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Mapping is slow &amp; manual</a:t>
            </a:r>
            <a:endParaRPr lang="en-US" sz="1700" dirty="0"/>
          </a:p>
        </p:txBody>
      </p:sp>
      <p:sp>
        <p:nvSpPr>
          <p:cNvPr id="14" name="Text 12"/>
          <p:cNvSpPr/>
          <p:nvPr/>
        </p:nvSpPr>
        <p:spPr>
          <a:xfrm>
            <a:off x="4544568"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Official flood maps (NDEM, ISRO/NRSC) are produced by analysts; responders need extents during the event, not days later.</a:t>
            </a:r>
            <a:endParaRPr lang="en-US" sz="1400" dirty="0"/>
          </a:p>
        </p:txBody>
      </p:sp>
      <p:sp>
        <p:nvSpPr>
          <p:cNvPr id="15" name="Shape 13"/>
          <p:cNvSpPr/>
          <p:nvPr/>
        </p:nvSpPr>
        <p:spPr>
          <a:xfrm>
            <a:off x="8083296" y="1554480"/>
            <a:ext cx="3566160" cy="2194560"/>
          </a:xfrm>
          <a:prstGeom prst="rect">
            <a:avLst/>
          </a:prstGeom>
          <a:solidFill>
            <a:srgbClr val="EEF4F8"/>
          </a:solidFill>
          <a:ln w="12700">
            <a:solidFill>
              <a:srgbClr val="EEF4F8"/>
            </a:solidFill>
            <a:prstDash val="solid"/>
          </a:ln>
        </p:spPr>
      </p:sp>
      <p:sp>
        <p:nvSpPr>
          <p:cNvPr id="16" name="Shape 14"/>
          <p:cNvSpPr/>
          <p:nvPr/>
        </p:nvSpPr>
        <p:spPr>
          <a:xfrm>
            <a:off x="8083296" y="1554480"/>
            <a:ext cx="73152" cy="2194560"/>
          </a:xfrm>
          <a:prstGeom prst="rect">
            <a:avLst/>
          </a:prstGeom>
          <a:solidFill>
            <a:srgbClr val="E8A33D"/>
          </a:solidFill>
          <a:ln w="12700">
            <a:solidFill>
              <a:srgbClr val="E8A33D"/>
            </a:solidFill>
            <a:prstDash val="solid"/>
          </a:ln>
        </p:spPr>
      </p:sp>
      <p:sp>
        <p:nvSpPr>
          <p:cNvPr id="17" name="Text 15"/>
          <p:cNvSpPr/>
          <p:nvPr/>
        </p:nvSpPr>
        <p:spPr>
          <a:xfrm>
            <a:off x="8311896"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Global models miss India</a:t>
            </a:r>
            <a:endParaRPr lang="en-US" sz="1700" dirty="0"/>
          </a:p>
        </p:txBody>
      </p:sp>
      <p:sp>
        <p:nvSpPr>
          <p:cNvPr id="18" name="Text 16"/>
          <p:cNvSpPr/>
          <p:nvPr/>
        </p:nvSpPr>
        <p:spPr>
          <a:xfrm>
            <a:off x="8311896"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Prithvi’s flood model was tuned on Sen1Floods11 (non-Indian). Indian terrain, turbid rivers and monsoon clouds shift its behaviour.</a:t>
            </a:r>
            <a:endParaRPr lang="en-US" sz="1400" dirty="0"/>
          </a:p>
        </p:txBody>
      </p:sp>
      <p:sp>
        <p:nvSpPr>
          <p:cNvPr id="19" name="Shape 17"/>
          <p:cNvSpPr/>
          <p:nvPr/>
        </p:nvSpPr>
        <p:spPr>
          <a:xfrm>
            <a:off x="548640" y="4114800"/>
            <a:ext cx="11100816" cy="2011680"/>
          </a:xfrm>
          <a:prstGeom prst="rect">
            <a:avLst/>
          </a:prstGeom>
          <a:solidFill>
            <a:srgbClr val="0B2545"/>
          </a:solidFill>
          <a:ln/>
        </p:spPr>
      </p:sp>
      <p:sp>
        <p:nvSpPr>
          <p:cNvPr id="20" name="Text 18"/>
          <p:cNvSpPr/>
          <p:nvPr/>
        </p:nvSpPr>
        <p:spPr>
          <a:xfrm>
            <a:off x="822960" y="4251960"/>
            <a:ext cx="10607040" cy="1737360"/>
          </a:xfrm>
          <a:prstGeom prst="rect">
            <a:avLst/>
          </a:prstGeom>
          <a:noFill/>
          <a:ln/>
        </p:spPr>
        <p:txBody>
          <a:bodyPr wrap="square" lIns="0" tIns="0" rIns="0" bIns="0" rtlCol="0" anchor="t"/>
          <a:lstStyle/>
          <a:p>
            <a:pPr indent="0" marL="0">
              <a:buNone/>
            </a:pPr>
            <a:r>
              <a:rPr lang="en-US" sz="1800" b="1" dirty="0">
                <a:solidFill>
                  <a:srgbClr val="13A89E"/>
                </a:solidFill>
                <a:latin typeface="Calibri" pitchFamily="34" charset="0"/>
                <a:ea typeface="Calibri" pitchFamily="34" charset="-122"/>
                <a:cs typeface="Calibri" pitchFamily="34" charset="-120"/>
              </a:rPr>
              <a:t>Objective</a:t>
            </a:r>
            <a:endParaRPr lang="en-US" sz="1800" dirty="0"/>
          </a:p>
          <a:p>
            <a:pPr indent="0" marL="0">
              <a:buNone/>
            </a:pPr>
            <a:r>
              <a:rPr lang="en-US" sz="1700" dirty="0">
                <a:solidFill>
                  <a:srgbClr val="FFFFFF"/>
                </a:solidFill>
                <a:latin typeface="Calibri" pitchFamily="34" charset="0"/>
                <a:ea typeface="Calibri" pitchFamily="34" charset="-122"/>
                <a:cs typeface="Calibri" pitchFamily="34" charset="-120"/>
              </a:rPr>
              <a:t>Adapt the Prithvi-EO-2.0 foundation model to Indian flood events so that, given a new Sentinel-2 image, it produces a reliable per-pixel flood-extent map that can feed a hydrological information system for flood response.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Our approach: fine-tune, don’t train from scratch</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Transfer learning from an IBM–NASA Earth-observation foundation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48640" y="1645920"/>
            <a:ext cx="2594610" cy="1005840"/>
          </a:xfrm>
          <a:prstGeom prst="rect">
            <a:avLst/>
          </a:prstGeom>
          <a:solidFill>
            <a:srgbClr val="0B2545"/>
          </a:solidFill>
          <a:ln w="12700">
            <a:solidFill>
              <a:srgbClr val="0B2545"/>
            </a:solidFill>
            <a:prstDash val="solid"/>
          </a:ln>
        </p:spPr>
      </p:sp>
      <p:sp>
        <p:nvSpPr>
          <p:cNvPr id="8" name="Text 6"/>
          <p:cNvSpPr/>
          <p:nvPr/>
        </p:nvSpPr>
        <p:spPr>
          <a:xfrm>
            <a:off x="54864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Prithvi-EO-2.0</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Global pre-training</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(IBM &amp; NASA)</a:t>
            </a:r>
            <a:endParaRPr lang="en-US" sz="1300" dirty="0"/>
          </a:p>
        </p:txBody>
      </p:sp>
      <p:sp>
        <p:nvSpPr>
          <p:cNvPr id="9" name="Text 7"/>
          <p:cNvSpPr/>
          <p:nvPr/>
        </p:nvSpPr>
        <p:spPr>
          <a:xfrm>
            <a:off x="312496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0" name="Shape 8"/>
          <p:cNvSpPr/>
          <p:nvPr/>
        </p:nvSpPr>
        <p:spPr>
          <a:xfrm>
            <a:off x="3371850" y="1645920"/>
            <a:ext cx="2594610" cy="1005840"/>
          </a:xfrm>
          <a:prstGeom prst="rect">
            <a:avLst/>
          </a:prstGeom>
          <a:solidFill>
            <a:srgbClr val="0B2545"/>
          </a:solidFill>
          <a:ln w="12700">
            <a:solidFill>
              <a:srgbClr val="0B2545"/>
            </a:solidFill>
            <a:prstDash val="solid"/>
          </a:ln>
        </p:spPr>
      </p:sp>
      <p:sp>
        <p:nvSpPr>
          <p:cNvPr id="11" name="Text 9"/>
          <p:cNvSpPr/>
          <p:nvPr/>
        </p:nvSpPr>
        <p:spPr>
          <a:xfrm>
            <a:off x="337185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Sen1Floods11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 fine-tune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(public checkpoint)</a:t>
            </a:r>
            <a:endParaRPr lang="en-US" sz="1300" dirty="0"/>
          </a:p>
        </p:txBody>
      </p:sp>
      <p:sp>
        <p:nvSpPr>
          <p:cNvPr id="12" name="Text 10"/>
          <p:cNvSpPr/>
          <p:nvPr/>
        </p:nvSpPr>
        <p:spPr>
          <a:xfrm>
            <a:off x="594817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3" name="Shape 11"/>
          <p:cNvSpPr/>
          <p:nvPr/>
        </p:nvSpPr>
        <p:spPr>
          <a:xfrm>
            <a:off x="6195060" y="1645920"/>
            <a:ext cx="2594610" cy="1005840"/>
          </a:xfrm>
          <a:prstGeom prst="rect">
            <a:avLst/>
          </a:prstGeom>
          <a:solidFill>
            <a:srgbClr val="0B2545"/>
          </a:solidFill>
          <a:ln w="12700">
            <a:solidFill>
              <a:srgbClr val="0B2545"/>
            </a:solidFill>
            <a:prstDash val="solid"/>
          </a:ln>
        </p:spPr>
      </p:sp>
      <p:sp>
        <p:nvSpPr>
          <p:cNvPr id="14" name="Text 12"/>
          <p:cNvSpPr/>
          <p:nvPr/>
        </p:nvSpPr>
        <p:spPr>
          <a:xfrm>
            <a:off x="619506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Our India fine-tune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~100 Indian flood events</a:t>
            </a:r>
            <a:endParaRPr lang="en-US" sz="1300" dirty="0"/>
          </a:p>
        </p:txBody>
      </p:sp>
      <p:sp>
        <p:nvSpPr>
          <p:cNvPr id="15" name="Text 13"/>
          <p:cNvSpPr/>
          <p:nvPr/>
        </p:nvSpPr>
        <p:spPr>
          <a:xfrm>
            <a:off x="877138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6" name="Shape 14"/>
          <p:cNvSpPr/>
          <p:nvPr/>
        </p:nvSpPr>
        <p:spPr>
          <a:xfrm>
            <a:off x="9018270" y="1645920"/>
            <a:ext cx="2594610" cy="1005840"/>
          </a:xfrm>
          <a:prstGeom prst="rect">
            <a:avLst/>
          </a:prstGeom>
          <a:solidFill>
            <a:srgbClr val="13A89E"/>
          </a:solidFill>
          <a:ln w="12700">
            <a:solidFill>
              <a:srgbClr val="0B2545"/>
            </a:solidFill>
            <a:prstDash val="solid"/>
          </a:ln>
        </p:spPr>
      </p:sp>
      <p:sp>
        <p:nvSpPr>
          <p:cNvPr id="17" name="Text 15"/>
          <p:cNvSpPr/>
          <p:nvPr/>
        </p:nvSpPr>
        <p:spPr>
          <a:xfrm>
            <a:off x="901827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Prithvi Flood-IN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India-calibrated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 mapper</a:t>
            </a:r>
            <a:endParaRPr lang="en-US" sz="1300" dirty="0"/>
          </a:p>
        </p:txBody>
      </p:sp>
      <p:sp>
        <p:nvSpPr>
          <p:cNvPr id="18" name="Text 16"/>
          <p:cNvSpPr/>
          <p:nvPr/>
        </p:nvSpPr>
        <p:spPr>
          <a:xfrm>
            <a:off x="548640" y="3017520"/>
            <a:ext cx="11064240" cy="3200400"/>
          </a:xfrm>
          <a:prstGeom prst="rect">
            <a:avLst/>
          </a:prstGeom>
          <a:noFill/>
          <a:ln/>
        </p:spPr>
        <p:txBody>
          <a:bodyPr wrap="square" lIns="50800" tIns="50800" rIns="50800" bIns="50800" rtlCol="0" anchor="t"/>
          <a:lstStyle/>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Base checkpoint: ibm-nasa-geospatial/Prithvi-EO-2.0-300M-TL-Sen1Floods11 (Hugging Face)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~300 million parameters, Vision Transformer (ViT) encoder: already “understands” land from space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Training from zero would need far more data and compute than a student team has; fine-tuning adapts existing knowledge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Task: semantic segmentation, i.e. a flood / no-flood label for every pixel</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Full fine-tune (encoder + decoder unfrozen) using IBM’s open-source TerraTorch library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Model architecture</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Reused the published Sen1Floods11 architecture and weights, built in TerraTorch</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48640" y="1645920"/>
            <a:ext cx="2057400" cy="1920240"/>
          </a:xfrm>
          <a:prstGeom prst="rect">
            <a:avLst/>
          </a:prstGeom>
          <a:solidFill>
            <a:srgbClr val="5B6B7B"/>
          </a:solidFill>
          <a:ln/>
        </p:spPr>
      </p:sp>
      <p:sp>
        <p:nvSpPr>
          <p:cNvPr id="8" name="Text 6"/>
          <p:cNvSpPr/>
          <p:nvPr/>
        </p:nvSpPr>
        <p:spPr>
          <a:xfrm>
            <a:off x="548640"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Input</a:t>
            </a:r>
            <a:endParaRPr lang="en-US" sz="1800" dirty="0"/>
          </a:p>
        </p:txBody>
      </p:sp>
      <p:sp>
        <p:nvSpPr>
          <p:cNvPr id="9" name="Text 7"/>
          <p:cNvSpPr/>
          <p:nvPr/>
        </p:nvSpPr>
        <p:spPr>
          <a:xfrm>
            <a:off x="640080"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6-band Sentinel-2 chip</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224×224 (train) · 512×512 (eval)</a:t>
            </a:r>
            <a:endParaRPr lang="en-US" sz="1300" dirty="0"/>
          </a:p>
        </p:txBody>
      </p:sp>
      <p:sp>
        <p:nvSpPr>
          <p:cNvPr id="10" name="Text 8"/>
          <p:cNvSpPr/>
          <p:nvPr/>
        </p:nvSpPr>
        <p:spPr>
          <a:xfrm>
            <a:off x="2587752"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1" name="Shape 9"/>
          <p:cNvSpPr/>
          <p:nvPr/>
        </p:nvSpPr>
        <p:spPr>
          <a:xfrm>
            <a:off x="2807208" y="1645920"/>
            <a:ext cx="2057400" cy="1920240"/>
          </a:xfrm>
          <a:prstGeom prst="rect">
            <a:avLst/>
          </a:prstGeom>
          <a:solidFill>
            <a:srgbClr val="0B2545"/>
          </a:solidFill>
          <a:ln/>
        </p:spPr>
      </p:sp>
      <p:sp>
        <p:nvSpPr>
          <p:cNvPr id="12" name="Text 10"/>
          <p:cNvSpPr/>
          <p:nvPr/>
        </p:nvSpPr>
        <p:spPr>
          <a:xfrm>
            <a:off x="2807208"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Encoder</a:t>
            </a:r>
            <a:endParaRPr lang="en-US" sz="1800" dirty="0"/>
          </a:p>
        </p:txBody>
      </p:sp>
      <p:sp>
        <p:nvSpPr>
          <p:cNvPr id="13" name="Text 11"/>
          <p:cNvSpPr/>
          <p:nvPr/>
        </p:nvSpPr>
        <p:spPr>
          <a:xfrm>
            <a:off x="2898648"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Prithvi-EO-2.0 ViT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~300M params (fine-tuned)</a:t>
            </a:r>
            <a:endParaRPr lang="en-US" sz="1300" dirty="0"/>
          </a:p>
        </p:txBody>
      </p:sp>
      <p:sp>
        <p:nvSpPr>
          <p:cNvPr id="14" name="Text 12"/>
          <p:cNvSpPr/>
          <p:nvPr/>
        </p:nvSpPr>
        <p:spPr>
          <a:xfrm>
            <a:off x="4846320"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5" name="Shape 13"/>
          <p:cNvSpPr/>
          <p:nvPr/>
        </p:nvSpPr>
        <p:spPr>
          <a:xfrm>
            <a:off x="5065776" y="1645920"/>
            <a:ext cx="2057400" cy="1920240"/>
          </a:xfrm>
          <a:prstGeom prst="rect">
            <a:avLst/>
          </a:prstGeom>
          <a:solidFill>
            <a:srgbClr val="1F6FB2"/>
          </a:solidFill>
          <a:ln/>
        </p:spPr>
      </p:sp>
      <p:sp>
        <p:nvSpPr>
          <p:cNvPr id="16" name="Text 14"/>
          <p:cNvSpPr/>
          <p:nvPr/>
        </p:nvSpPr>
        <p:spPr>
          <a:xfrm>
            <a:off x="5065776"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Neck</a:t>
            </a:r>
            <a:endParaRPr lang="en-US" sz="1800" dirty="0"/>
          </a:p>
        </p:txBody>
      </p:sp>
      <p:sp>
        <p:nvSpPr>
          <p:cNvPr id="17" name="Text 15"/>
          <p:cNvSpPr/>
          <p:nvPr/>
        </p:nvSpPr>
        <p:spPr>
          <a:xfrm>
            <a:off x="5157216"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Select layers 5, 11, 17, 23 → tokens to image → feature pyramid</a:t>
            </a:r>
            <a:endParaRPr lang="en-US" sz="1300" dirty="0"/>
          </a:p>
        </p:txBody>
      </p:sp>
      <p:sp>
        <p:nvSpPr>
          <p:cNvPr id="18" name="Text 16"/>
          <p:cNvSpPr/>
          <p:nvPr/>
        </p:nvSpPr>
        <p:spPr>
          <a:xfrm>
            <a:off x="7104888"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9" name="Shape 17"/>
          <p:cNvSpPr/>
          <p:nvPr/>
        </p:nvSpPr>
        <p:spPr>
          <a:xfrm>
            <a:off x="7324344" y="1645920"/>
            <a:ext cx="2057400" cy="1920240"/>
          </a:xfrm>
          <a:prstGeom prst="rect">
            <a:avLst/>
          </a:prstGeom>
          <a:solidFill>
            <a:srgbClr val="1F6FB2"/>
          </a:solidFill>
          <a:ln/>
        </p:spPr>
      </p:sp>
      <p:sp>
        <p:nvSpPr>
          <p:cNvPr id="20" name="Text 18"/>
          <p:cNvSpPr/>
          <p:nvPr/>
        </p:nvSpPr>
        <p:spPr>
          <a:xfrm>
            <a:off x="7324344"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Decoder</a:t>
            </a:r>
            <a:endParaRPr lang="en-US" sz="1800" dirty="0"/>
          </a:p>
        </p:txBody>
      </p:sp>
      <p:sp>
        <p:nvSpPr>
          <p:cNvPr id="21" name="Text 19"/>
          <p:cNvSpPr/>
          <p:nvPr/>
        </p:nvSpPr>
        <p:spPr>
          <a:xfrm>
            <a:off x="7415784"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UperNet, 256 channels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merges multi-scale features</a:t>
            </a:r>
            <a:endParaRPr lang="en-US" sz="1300" dirty="0"/>
          </a:p>
        </p:txBody>
      </p:sp>
      <p:sp>
        <p:nvSpPr>
          <p:cNvPr id="22" name="Text 20"/>
          <p:cNvSpPr/>
          <p:nvPr/>
        </p:nvSpPr>
        <p:spPr>
          <a:xfrm>
            <a:off x="9363456"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23" name="Shape 21"/>
          <p:cNvSpPr/>
          <p:nvPr/>
        </p:nvSpPr>
        <p:spPr>
          <a:xfrm>
            <a:off x="9582912" y="1645920"/>
            <a:ext cx="2057400" cy="1920240"/>
          </a:xfrm>
          <a:prstGeom prst="rect">
            <a:avLst/>
          </a:prstGeom>
          <a:solidFill>
            <a:srgbClr val="13A89E"/>
          </a:solidFill>
          <a:ln/>
        </p:spPr>
      </p:sp>
      <p:sp>
        <p:nvSpPr>
          <p:cNvPr id="24" name="Text 22"/>
          <p:cNvSpPr/>
          <p:nvPr/>
        </p:nvSpPr>
        <p:spPr>
          <a:xfrm>
            <a:off x="9582912"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Head</a:t>
            </a:r>
            <a:endParaRPr lang="en-US" sz="1800" dirty="0"/>
          </a:p>
        </p:txBody>
      </p:sp>
      <p:sp>
        <p:nvSpPr>
          <p:cNvPr id="25" name="Text 23"/>
          <p:cNvSpPr/>
          <p:nvPr/>
        </p:nvSpPr>
        <p:spPr>
          <a:xfrm>
            <a:off x="9674352"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Per-pixel classifier</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[no-flood, flood] · dropout 0.1</a:t>
            </a:r>
            <a:endParaRPr lang="en-US" sz="1300" dirty="0"/>
          </a:p>
        </p:txBody>
      </p:sp>
      <p:sp>
        <p:nvSpPr>
          <p:cNvPr id="26" name="Text 24"/>
          <p:cNvSpPr/>
          <p:nvPr/>
        </p:nvSpPr>
        <p:spPr>
          <a:xfrm>
            <a:off x="548640" y="3931920"/>
            <a:ext cx="548640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Input bands (in order)</a:t>
            </a:r>
            <a:endParaRPr lang="en-US" sz="1700" dirty="0"/>
          </a:p>
        </p:txBody>
      </p:sp>
      <p:sp>
        <p:nvSpPr>
          <p:cNvPr id="27" name="Shape 25"/>
          <p:cNvSpPr/>
          <p:nvPr/>
        </p:nvSpPr>
        <p:spPr>
          <a:xfrm>
            <a:off x="548640" y="4389120"/>
            <a:ext cx="1719072" cy="868680"/>
          </a:xfrm>
          <a:prstGeom prst="rect">
            <a:avLst/>
          </a:prstGeom>
          <a:solidFill>
            <a:srgbClr val="EEF4F8"/>
          </a:solidFill>
          <a:ln/>
        </p:spPr>
      </p:sp>
      <p:sp>
        <p:nvSpPr>
          <p:cNvPr id="28" name="Text 26"/>
          <p:cNvSpPr/>
          <p:nvPr/>
        </p:nvSpPr>
        <p:spPr>
          <a:xfrm>
            <a:off x="548640"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B02</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Blue</a:t>
            </a:r>
            <a:endParaRPr lang="en-US" sz="1700" dirty="0"/>
          </a:p>
        </p:txBody>
      </p:sp>
      <p:sp>
        <p:nvSpPr>
          <p:cNvPr id="29" name="Shape 27"/>
          <p:cNvSpPr/>
          <p:nvPr/>
        </p:nvSpPr>
        <p:spPr>
          <a:xfrm>
            <a:off x="2404872" y="4389120"/>
            <a:ext cx="1719072" cy="868680"/>
          </a:xfrm>
          <a:prstGeom prst="rect">
            <a:avLst/>
          </a:prstGeom>
          <a:solidFill>
            <a:srgbClr val="EEF4F8"/>
          </a:solidFill>
          <a:ln/>
        </p:spPr>
      </p:sp>
      <p:sp>
        <p:nvSpPr>
          <p:cNvPr id="30" name="Text 28"/>
          <p:cNvSpPr/>
          <p:nvPr/>
        </p:nvSpPr>
        <p:spPr>
          <a:xfrm>
            <a:off x="2404872"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B03</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Green</a:t>
            </a:r>
            <a:endParaRPr lang="en-US" sz="1700" dirty="0"/>
          </a:p>
        </p:txBody>
      </p:sp>
      <p:sp>
        <p:nvSpPr>
          <p:cNvPr id="31" name="Shape 29"/>
          <p:cNvSpPr/>
          <p:nvPr/>
        </p:nvSpPr>
        <p:spPr>
          <a:xfrm>
            <a:off x="4261104" y="4389120"/>
            <a:ext cx="1719072" cy="868680"/>
          </a:xfrm>
          <a:prstGeom prst="rect">
            <a:avLst/>
          </a:prstGeom>
          <a:solidFill>
            <a:srgbClr val="EEF4F8"/>
          </a:solidFill>
          <a:ln/>
        </p:spPr>
      </p:sp>
      <p:sp>
        <p:nvSpPr>
          <p:cNvPr id="32" name="Text 30"/>
          <p:cNvSpPr/>
          <p:nvPr/>
        </p:nvSpPr>
        <p:spPr>
          <a:xfrm>
            <a:off x="4261104"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B04</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Red</a:t>
            </a:r>
            <a:endParaRPr lang="en-US" sz="1700" dirty="0"/>
          </a:p>
        </p:txBody>
      </p:sp>
      <p:sp>
        <p:nvSpPr>
          <p:cNvPr id="33" name="Shape 31"/>
          <p:cNvSpPr/>
          <p:nvPr/>
        </p:nvSpPr>
        <p:spPr>
          <a:xfrm>
            <a:off x="6117336" y="4389120"/>
            <a:ext cx="1719072" cy="868680"/>
          </a:xfrm>
          <a:prstGeom prst="rect">
            <a:avLst/>
          </a:prstGeom>
          <a:solidFill>
            <a:srgbClr val="EEF4F8"/>
          </a:solidFill>
          <a:ln/>
        </p:spPr>
      </p:sp>
      <p:sp>
        <p:nvSpPr>
          <p:cNvPr id="34" name="Text 32"/>
          <p:cNvSpPr/>
          <p:nvPr/>
        </p:nvSpPr>
        <p:spPr>
          <a:xfrm>
            <a:off x="6117336"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B8A</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NIR narrow</a:t>
            </a:r>
            <a:endParaRPr lang="en-US" sz="1700" dirty="0"/>
          </a:p>
        </p:txBody>
      </p:sp>
      <p:sp>
        <p:nvSpPr>
          <p:cNvPr id="35" name="Shape 33"/>
          <p:cNvSpPr/>
          <p:nvPr/>
        </p:nvSpPr>
        <p:spPr>
          <a:xfrm>
            <a:off x="7973568" y="4389120"/>
            <a:ext cx="1719072" cy="868680"/>
          </a:xfrm>
          <a:prstGeom prst="rect">
            <a:avLst/>
          </a:prstGeom>
          <a:solidFill>
            <a:srgbClr val="13A89E"/>
          </a:solidFill>
          <a:ln/>
        </p:spPr>
      </p:sp>
      <p:sp>
        <p:nvSpPr>
          <p:cNvPr id="36" name="Text 34"/>
          <p:cNvSpPr/>
          <p:nvPr/>
        </p:nvSpPr>
        <p:spPr>
          <a:xfrm>
            <a:off x="7973568" y="4389120"/>
            <a:ext cx="1719072"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B11</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SWIR-1</a:t>
            </a:r>
            <a:endParaRPr lang="en-US" sz="1700" dirty="0"/>
          </a:p>
        </p:txBody>
      </p:sp>
      <p:sp>
        <p:nvSpPr>
          <p:cNvPr id="37" name="Shape 35"/>
          <p:cNvSpPr/>
          <p:nvPr/>
        </p:nvSpPr>
        <p:spPr>
          <a:xfrm>
            <a:off x="9829800" y="4389120"/>
            <a:ext cx="1719072" cy="868680"/>
          </a:xfrm>
          <a:prstGeom prst="rect">
            <a:avLst/>
          </a:prstGeom>
          <a:solidFill>
            <a:srgbClr val="13A89E"/>
          </a:solidFill>
          <a:ln/>
        </p:spPr>
      </p:sp>
      <p:sp>
        <p:nvSpPr>
          <p:cNvPr id="38" name="Text 36"/>
          <p:cNvSpPr/>
          <p:nvPr/>
        </p:nvSpPr>
        <p:spPr>
          <a:xfrm>
            <a:off x="9829800" y="4389120"/>
            <a:ext cx="1719072"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B12</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SWIR-2</a:t>
            </a:r>
            <a:endParaRPr lang="en-US" sz="1700" dirty="0"/>
          </a:p>
        </p:txBody>
      </p:sp>
      <p:sp>
        <p:nvSpPr>
          <p:cNvPr id="39" name="Text 37"/>
          <p:cNvSpPr/>
          <p:nvPr/>
        </p:nvSpPr>
        <p:spPr>
          <a:xfrm>
            <a:off x="548640" y="5440680"/>
            <a:ext cx="11064240" cy="54864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Shortwave-infrared bands (SWIR-1, SWIR-2) carry the strongest water signal: water absorbs strongly in this part of the spectrum.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Building the Indian flood dataset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Sentinel-2 six-band image + NDEM flood map → 512 × 512 training tiles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48640" y="1554480"/>
            <a:ext cx="5852160" cy="960120"/>
          </a:xfrm>
          <a:prstGeom prst="rect">
            <a:avLst/>
          </a:prstGeom>
          <a:solidFill>
            <a:srgbClr val="0B2545"/>
          </a:solidFill>
          <a:ln/>
        </p:spPr>
      </p:sp>
      <p:sp>
        <p:nvSpPr>
          <p:cNvPr id="8" name="Text 6"/>
          <p:cNvSpPr/>
          <p:nvPr/>
        </p:nvSpPr>
        <p:spPr>
          <a:xfrm>
            <a:off x="548640" y="1554480"/>
            <a:ext cx="585216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221</a:t>
            </a:r>
            <a:endParaRPr lang="en-US" sz="3000" dirty="0"/>
          </a:p>
        </p:txBody>
      </p:sp>
      <p:sp>
        <p:nvSpPr>
          <p:cNvPr id="9" name="Text 7"/>
          <p:cNvSpPr/>
          <p:nvPr/>
        </p:nvSpPr>
        <p:spPr>
          <a:xfrm>
            <a:off x="6675120" y="1691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events in initial flood spreadsheet (only 5 directly usable)</a:t>
            </a:r>
            <a:endParaRPr lang="en-US" sz="1500" dirty="0"/>
          </a:p>
        </p:txBody>
      </p:sp>
      <p:sp>
        <p:nvSpPr>
          <p:cNvPr id="10" name="Shape 8"/>
          <p:cNvSpPr/>
          <p:nvPr/>
        </p:nvSpPr>
        <p:spPr>
          <a:xfrm>
            <a:off x="960120" y="2697480"/>
            <a:ext cx="5029200" cy="960120"/>
          </a:xfrm>
          <a:prstGeom prst="rect">
            <a:avLst/>
          </a:prstGeom>
          <a:solidFill>
            <a:srgbClr val="1F6FB2"/>
          </a:solidFill>
          <a:ln/>
        </p:spPr>
      </p:sp>
      <p:sp>
        <p:nvSpPr>
          <p:cNvPr id="11" name="Text 9"/>
          <p:cNvSpPr/>
          <p:nvPr/>
        </p:nvSpPr>
        <p:spPr>
          <a:xfrm>
            <a:off x="960120" y="2697480"/>
            <a:ext cx="502920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1,022</a:t>
            </a:r>
            <a:endParaRPr lang="en-US" sz="3000" dirty="0"/>
          </a:p>
        </p:txBody>
      </p:sp>
      <p:sp>
        <p:nvSpPr>
          <p:cNvPr id="12" name="Text 10"/>
          <p:cNvSpPr/>
          <p:nvPr/>
        </p:nvSpPr>
        <p:spPr>
          <a:xfrm>
            <a:off x="6675120" y="2834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NDEM flood-extent maps screened (2021–2026)</a:t>
            </a:r>
            <a:endParaRPr lang="en-US" sz="1500" dirty="0"/>
          </a:p>
        </p:txBody>
      </p:sp>
      <p:sp>
        <p:nvSpPr>
          <p:cNvPr id="13" name="Shape 11"/>
          <p:cNvSpPr/>
          <p:nvPr/>
        </p:nvSpPr>
        <p:spPr>
          <a:xfrm>
            <a:off x="1371600" y="3840480"/>
            <a:ext cx="4206240" cy="960120"/>
          </a:xfrm>
          <a:prstGeom prst="rect">
            <a:avLst/>
          </a:prstGeom>
          <a:solidFill>
            <a:srgbClr val="1C8FA8"/>
          </a:solidFill>
          <a:ln/>
        </p:spPr>
      </p:sp>
      <p:sp>
        <p:nvSpPr>
          <p:cNvPr id="14" name="Text 12"/>
          <p:cNvSpPr/>
          <p:nvPr/>
        </p:nvSpPr>
        <p:spPr>
          <a:xfrm>
            <a:off x="1371600" y="3840480"/>
            <a:ext cx="420624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180</a:t>
            </a:r>
            <a:endParaRPr lang="en-US" sz="3000" dirty="0"/>
          </a:p>
        </p:txBody>
      </p:sp>
      <p:sp>
        <p:nvSpPr>
          <p:cNvPr id="15" name="Text 13"/>
          <p:cNvSpPr/>
          <p:nvPr/>
        </p:nvSpPr>
        <p:spPr>
          <a:xfrm>
            <a:off x="6675120" y="3977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matched image–map pairs across ~100 real flood events</a:t>
            </a:r>
            <a:endParaRPr lang="en-US" sz="1500" dirty="0"/>
          </a:p>
        </p:txBody>
      </p:sp>
      <p:sp>
        <p:nvSpPr>
          <p:cNvPr id="16" name="Shape 14"/>
          <p:cNvSpPr/>
          <p:nvPr/>
        </p:nvSpPr>
        <p:spPr>
          <a:xfrm>
            <a:off x="1783080" y="4983480"/>
            <a:ext cx="3383280" cy="960120"/>
          </a:xfrm>
          <a:prstGeom prst="rect">
            <a:avLst/>
          </a:prstGeom>
          <a:solidFill>
            <a:srgbClr val="13A89E"/>
          </a:solidFill>
          <a:ln/>
        </p:spPr>
      </p:sp>
      <p:sp>
        <p:nvSpPr>
          <p:cNvPr id="17" name="Text 15"/>
          <p:cNvSpPr/>
          <p:nvPr/>
        </p:nvSpPr>
        <p:spPr>
          <a:xfrm>
            <a:off x="1783080" y="4983480"/>
            <a:ext cx="3383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3,584</a:t>
            </a:r>
            <a:endParaRPr lang="en-US" sz="3000" dirty="0"/>
          </a:p>
        </p:txBody>
      </p:sp>
      <p:sp>
        <p:nvSpPr>
          <p:cNvPr id="18" name="Text 16"/>
          <p:cNvSpPr/>
          <p:nvPr/>
        </p:nvSpPr>
        <p:spPr>
          <a:xfrm>
            <a:off x="6675120" y="5120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512×512 chips (2,401 with flood, 1,183 without)</a:t>
            </a:r>
            <a:endParaRPr lang="en-US" sz="1500" dirty="0"/>
          </a:p>
        </p:txBody>
      </p:sp>
      <p:sp>
        <p:nvSpPr>
          <p:cNvPr id="19" name="Text 17"/>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Sources: images from ESA Sentinel-2 (free); ground truth from NDEM (ISRO/NRSC) official flood maps. Pairs rejected when imagery was missing, cloud-covered, or did not overlap the mapped flood.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Data quality &amp; label design</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Making sure the model learns the right thing</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48640" y="1554480"/>
            <a:ext cx="5440680" cy="1417320"/>
          </a:xfrm>
          <a:prstGeom prst="rect">
            <a:avLst/>
          </a:prstGeom>
          <a:solidFill>
            <a:srgbClr val="EEF4F8"/>
          </a:solidFill>
          <a:ln w="12700">
            <a:solidFill>
              <a:srgbClr val="EEF4F8"/>
            </a:solidFill>
            <a:prstDash val="solid"/>
          </a:ln>
        </p:spPr>
      </p:sp>
      <p:sp>
        <p:nvSpPr>
          <p:cNvPr id="8" name="Shape 6"/>
          <p:cNvSpPr/>
          <p:nvPr/>
        </p:nvSpPr>
        <p:spPr>
          <a:xfrm>
            <a:off x="548640" y="1554480"/>
            <a:ext cx="73152" cy="1417320"/>
          </a:xfrm>
          <a:prstGeom prst="rect">
            <a:avLst/>
          </a:prstGeom>
          <a:solidFill>
            <a:srgbClr val="13A89E"/>
          </a:solidFill>
          <a:ln w="12700">
            <a:solidFill>
              <a:srgbClr val="13A89E"/>
            </a:solidFill>
            <a:prstDash val="solid"/>
          </a:ln>
        </p:spPr>
      </p:sp>
      <p:sp>
        <p:nvSpPr>
          <p:cNvPr id="9" name="Text 7"/>
          <p:cNvSpPr/>
          <p:nvPr/>
        </p:nvSpPr>
        <p:spPr>
          <a:xfrm>
            <a:off x="777240"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Date, event &amp; area matching</a:t>
            </a:r>
            <a:endParaRPr lang="en-US" sz="1700" dirty="0"/>
          </a:p>
        </p:txBody>
      </p:sp>
      <p:sp>
        <p:nvSpPr>
          <p:cNvPr id="10" name="Text 8"/>
          <p:cNvSpPr/>
          <p:nvPr/>
        </p:nvSpPr>
        <p:spPr>
          <a:xfrm>
            <a:off x="777240" y="21031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Each Sentinel-2 image checked against its NDEM map for same flood event, acquisition during the flood, and geographic overlap.</a:t>
            </a:r>
            <a:endParaRPr lang="en-US" sz="1400" dirty="0"/>
          </a:p>
        </p:txBody>
      </p:sp>
      <p:sp>
        <p:nvSpPr>
          <p:cNvPr id="11" name="Shape 9"/>
          <p:cNvSpPr/>
          <p:nvPr/>
        </p:nvSpPr>
        <p:spPr>
          <a:xfrm>
            <a:off x="6199632" y="1554480"/>
            <a:ext cx="5440680" cy="141732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1417320"/>
          </a:xfrm>
          <a:prstGeom prst="rect">
            <a:avLst/>
          </a:prstGeom>
          <a:solidFill>
            <a:srgbClr val="1F6FB2"/>
          </a:solidFill>
          <a:ln w="12700">
            <a:solidFill>
              <a:srgbClr val="1F6FB2"/>
            </a:solidFill>
            <a:prstDash val="solid"/>
          </a:ln>
        </p:spPr>
      </p:sp>
      <p:sp>
        <p:nvSpPr>
          <p:cNvPr id="13" name="Text 11"/>
          <p:cNvSpPr/>
          <p:nvPr/>
        </p:nvSpPr>
        <p:spPr>
          <a:xfrm>
            <a:off x="6428232"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Cloud masking</a:t>
            </a:r>
            <a:endParaRPr lang="en-US" sz="1700" dirty="0"/>
          </a:p>
        </p:txBody>
      </p:sp>
      <p:sp>
        <p:nvSpPr>
          <p:cNvPr id="14" name="Text 12"/>
          <p:cNvSpPr/>
          <p:nvPr/>
        </p:nvSpPr>
        <p:spPr>
          <a:xfrm>
            <a:off x="6428232" y="21031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Cloud and cloud-shadow pixels set to ignore: we cannot verify what lies underneath, so the model is not trained on a guess.</a:t>
            </a:r>
            <a:endParaRPr lang="en-US" sz="1400" dirty="0"/>
          </a:p>
        </p:txBody>
      </p:sp>
      <p:sp>
        <p:nvSpPr>
          <p:cNvPr id="15" name="Shape 13"/>
          <p:cNvSpPr/>
          <p:nvPr/>
        </p:nvSpPr>
        <p:spPr>
          <a:xfrm>
            <a:off x="548640" y="3154680"/>
            <a:ext cx="5440680" cy="1417320"/>
          </a:xfrm>
          <a:prstGeom prst="rect">
            <a:avLst/>
          </a:prstGeom>
          <a:solidFill>
            <a:srgbClr val="EEF4F8"/>
          </a:solidFill>
          <a:ln w="12700">
            <a:solidFill>
              <a:srgbClr val="EEF4F8"/>
            </a:solidFill>
            <a:prstDash val="solid"/>
          </a:ln>
        </p:spPr>
      </p:sp>
      <p:sp>
        <p:nvSpPr>
          <p:cNvPr id="16" name="Shape 14"/>
          <p:cNvSpPr/>
          <p:nvPr/>
        </p:nvSpPr>
        <p:spPr>
          <a:xfrm>
            <a:off x="548640" y="3154680"/>
            <a:ext cx="73152" cy="1417320"/>
          </a:xfrm>
          <a:prstGeom prst="rect">
            <a:avLst/>
          </a:prstGeom>
          <a:solidFill>
            <a:srgbClr val="E8A33D"/>
          </a:solidFill>
          <a:ln w="12700">
            <a:solidFill>
              <a:srgbClr val="E8A33D"/>
            </a:solidFill>
            <a:prstDash val="solid"/>
          </a:ln>
        </p:spPr>
      </p:sp>
      <p:sp>
        <p:nvSpPr>
          <p:cNvPr id="17" name="Text 15"/>
          <p:cNvSpPr/>
          <p:nvPr/>
        </p:nvSpPr>
        <p:spPr>
          <a:xfrm>
            <a:off x="777240" y="32644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Permanent water = ignore</a:t>
            </a:r>
            <a:endParaRPr lang="en-US" sz="1700" dirty="0"/>
          </a:p>
        </p:txBody>
      </p:sp>
      <p:sp>
        <p:nvSpPr>
          <p:cNvPr id="18" name="Text 16"/>
          <p:cNvSpPr/>
          <p:nvPr/>
        </p:nvSpPr>
        <p:spPr>
          <a:xfrm>
            <a:off x="777240" y="37033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NDEM marks only newly flooded land. Rivers and lakes are set to ignore so the model does not learn that “rivers are dry land”.</a:t>
            </a:r>
            <a:endParaRPr lang="en-US" sz="1400" dirty="0"/>
          </a:p>
        </p:txBody>
      </p:sp>
      <p:sp>
        <p:nvSpPr>
          <p:cNvPr id="19" name="Shape 17"/>
          <p:cNvSpPr/>
          <p:nvPr/>
        </p:nvSpPr>
        <p:spPr>
          <a:xfrm>
            <a:off x="6199632" y="3154680"/>
            <a:ext cx="5440680" cy="1417320"/>
          </a:xfrm>
          <a:prstGeom prst="rect">
            <a:avLst/>
          </a:prstGeom>
          <a:solidFill>
            <a:srgbClr val="EEF4F8"/>
          </a:solidFill>
          <a:ln w="12700">
            <a:solidFill>
              <a:srgbClr val="EEF4F8"/>
            </a:solidFill>
            <a:prstDash val="solid"/>
          </a:ln>
        </p:spPr>
      </p:sp>
      <p:sp>
        <p:nvSpPr>
          <p:cNvPr id="20" name="Shape 18"/>
          <p:cNvSpPr/>
          <p:nvPr/>
        </p:nvSpPr>
        <p:spPr>
          <a:xfrm>
            <a:off x="6199632" y="3154680"/>
            <a:ext cx="73152" cy="1417320"/>
          </a:xfrm>
          <a:prstGeom prst="rect">
            <a:avLst/>
          </a:prstGeom>
          <a:solidFill>
            <a:srgbClr val="13A89E"/>
          </a:solidFill>
          <a:ln w="12700">
            <a:solidFill>
              <a:srgbClr val="13A89E"/>
            </a:solidFill>
            <a:prstDash val="solid"/>
          </a:ln>
        </p:spPr>
      </p:sp>
      <p:sp>
        <p:nvSpPr>
          <p:cNvPr id="21" name="Text 19"/>
          <p:cNvSpPr/>
          <p:nvPr/>
        </p:nvSpPr>
        <p:spPr>
          <a:xfrm>
            <a:off x="6428232" y="32644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Clipping &amp; visual QC</a:t>
            </a:r>
            <a:endParaRPr lang="en-US" sz="1700" dirty="0"/>
          </a:p>
        </p:txBody>
      </p:sp>
      <p:sp>
        <p:nvSpPr>
          <p:cNvPr id="22" name="Text 20"/>
          <p:cNvSpPr/>
          <p:nvPr/>
        </p:nvSpPr>
        <p:spPr>
          <a:xfrm>
            <a:off x="6428232" y="37033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Maps clipped to the image footprint: 1.9 GB → 625 MB. Flood outlines overlaid on images and checked by eye.</a:t>
            </a:r>
            <a:endParaRPr lang="en-US" sz="1400" dirty="0"/>
          </a:p>
        </p:txBody>
      </p:sp>
      <p:sp>
        <p:nvSpPr>
          <p:cNvPr id="23" name="Text 21"/>
          <p:cNvSpPr/>
          <p:nvPr/>
        </p:nvSpPr>
        <p:spPr>
          <a:xfrm>
            <a:off x="548640" y="4800600"/>
            <a:ext cx="54864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Label values per pixel</a:t>
            </a:r>
            <a:endParaRPr lang="en-US" sz="1600" dirty="0"/>
          </a:p>
        </p:txBody>
      </p:sp>
      <p:sp>
        <p:nvSpPr>
          <p:cNvPr id="24" name="Shape 22"/>
          <p:cNvSpPr/>
          <p:nvPr/>
        </p:nvSpPr>
        <p:spPr>
          <a:xfrm>
            <a:off x="548640" y="5257800"/>
            <a:ext cx="2011680" cy="685800"/>
          </a:xfrm>
          <a:prstGeom prst="rect">
            <a:avLst/>
          </a:prstGeom>
          <a:solidFill>
            <a:srgbClr val="1F6FB2"/>
          </a:solidFill>
          <a:ln/>
        </p:spPr>
      </p:sp>
      <p:sp>
        <p:nvSpPr>
          <p:cNvPr id="25" name="Text 23"/>
          <p:cNvSpPr/>
          <p:nvPr/>
        </p:nvSpPr>
        <p:spPr>
          <a:xfrm>
            <a:off x="548640" y="5257800"/>
            <a:ext cx="201168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a:t>
            </a:r>
            <a:pPr algn="ctr" indent="0" marL="0">
              <a:buNone/>
            </a:pPr>
            <a:r>
              <a:rPr lang="en-US" sz="1400" dirty="0">
                <a:solidFill>
                  <a:srgbClr val="FFFFFF"/>
                </a:solidFill>
                <a:latin typeface="Calibri" pitchFamily="34" charset="0"/>
                <a:ea typeface="Calibri" pitchFamily="34" charset="-122"/>
                <a:cs typeface="Calibri" pitchFamily="34" charset="-120"/>
              </a:rPr>
              <a:t>Flood</a:t>
            </a:r>
            <a:endParaRPr lang="en-US" sz="2000" dirty="0"/>
          </a:p>
        </p:txBody>
      </p:sp>
      <p:sp>
        <p:nvSpPr>
          <p:cNvPr id="26" name="Shape 24"/>
          <p:cNvSpPr/>
          <p:nvPr/>
        </p:nvSpPr>
        <p:spPr>
          <a:xfrm>
            <a:off x="2743200" y="5257800"/>
            <a:ext cx="2011680" cy="685800"/>
          </a:xfrm>
          <a:prstGeom prst="rect">
            <a:avLst/>
          </a:prstGeom>
          <a:solidFill>
            <a:srgbClr val="8FA3B5"/>
          </a:solidFill>
          <a:ln/>
        </p:spPr>
      </p:sp>
      <p:sp>
        <p:nvSpPr>
          <p:cNvPr id="27" name="Text 25"/>
          <p:cNvSpPr/>
          <p:nvPr/>
        </p:nvSpPr>
        <p:spPr>
          <a:xfrm>
            <a:off x="2743200" y="5257800"/>
            <a:ext cx="201168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  </a:t>
            </a:r>
            <a:pPr algn="ctr" indent="0" marL="0">
              <a:buNone/>
            </a:pPr>
            <a:r>
              <a:rPr lang="en-US" sz="1400" dirty="0">
                <a:solidFill>
                  <a:srgbClr val="FFFFFF"/>
                </a:solidFill>
                <a:latin typeface="Calibri" pitchFamily="34" charset="0"/>
                <a:ea typeface="Calibri" pitchFamily="34" charset="-122"/>
                <a:cs typeface="Calibri" pitchFamily="34" charset="-120"/>
              </a:rPr>
              <a:t>Dry land</a:t>
            </a:r>
            <a:endParaRPr lang="en-US" sz="2000" dirty="0"/>
          </a:p>
        </p:txBody>
      </p:sp>
      <p:sp>
        <p:nvSpPr>
          <p:cNvPr id="28" name="Shape 26"/>
          <p:cNvSpPr/>
          <p:nvPr/>
        </p:nvSpPr>
        <p:spPr>
          <a:xfrm>
            <a:off x="4937760" y="5257800"/>
            <a:ext cx="6675120" cy="685800"/>
          </a:xfrm>
          <a:prstGeom prst="rect">
            <a:avLst/>
          </a:prstGeom>
          <a:solidFill>
            <a:srgbClr val="5B6B7B"/>
          </a:solidFill>
          <a:ln/>
        </p:spPr>
      </p:sp>
      <p:sp>
        <p:nvSpPr>
          <p:cNvPr id="29" name="Text 27"/>
          <p:cNvSpPr/>
          <p:nvPr/>
        </p:nvSpPr>
        <p:spPr>
          <a:xfrm>
            <a:off x="4937760" y="5257800"/>
            <a:ext cx="667512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a:t>
            </a:r>
            <a:pPr algn="ctr" indent="0" marL="0">
              <a:buNone/>
            </a:pPr>
            <a:r>
              <a:rPr lang="en-US" sz="1400" dirty="0">
                <a:solidFill>
                  <a:srgbClr val="FFFFFF"/>
                </a:solidFill>
                <a:latin typeface="Calibri" pitchFamily="34" charset="0"/>
                <a:ea typeface="Calibri" pitchFamily="34" charset="-122"/>
                <a:cs typeface="Calibri" pitchFamily="34" charset="-120"/>
              </a:rPr>
              <a:t>Ignore: cloud / shadow / permanent water / unmapped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Event-wise train / validation / test split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No flood event appears in more than one split, which prevents data leakage</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28800"/>
                <a:gridCol w="1463040"/>
                <a:gridCol w="1463040"/>
                <a:gridCol w="1463040"/>
                <a:gridCol w="484632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Split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Events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Images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Chips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Purpose</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Train</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72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130</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2,635</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Model learns from these</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Validation</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18</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212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Checked every epoch; selects best checkpoint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Test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32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737</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Held out; used once for final scoring</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206240"/>
            <a:ext cx="11064240" cy="1737360"/>
          </a:xfrm>
          <a:prstGeom prst="rect">
            <a:avLst/>
          </a:prstGeom>
          <a:solidFill>
            <a:srgbClr val="EEF4F8"/>
          </a:solidFill>
          <a:ln w="12700">
            <a:solidFill>
              <a:srgbClr val="EEF4F8"/>
            </a:solidFill>
            <a:prstDash val="solid"/>
          </a:ln>
        </p:spPr>
      </p:sp>
      <p:sp>
        <p:nvSpPr>
          <p:cNvPr id="9" name="Shape 6"/>
          <p:cNvSpPr/>
          <p:nvPr/>
        </p:nvSpPr>
        <p:spPr>
          <a:xfrm>
            <a:off x="548640" y="4206240"/>
            <a:ext cx="73152" cy="1737360"/>
          </a:xfrm>
          <a:prstGeom prst="rect">
            <a:avLst/>
          </a:prstGeom>
          <a:solidFill>
            <a:srgbClr val="13A89E"/>
          </a:solidFill>
          <a:ln w="12700">
            <a:solidFill>
              <a:srgbClr val="13A89E"/>
            </a:solidFill>
            <a:prstDash val="solid"/>
          </a:ln>
        </p:spPr>
      </p:sp>
      <p:sp>
        <p:nvSpPr>
          <p:cNvPr id="10" name="Text 7"/>
          <p:cNvSpPr/>
          <p:nvPr/>
        </p:nvSpPr>
        <p:spPr>
          <a:xfrm>
            <a:off x="777240" y="4315968"/>
            <a:ext cx="1069848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Why split by event, not by image?</a:t>
            </a:r>
            <a:endParaRPr lang="en-US" sz="1700" dirty="0"/>
          </a:p>
        </p:txBody>
      </p:sp>
      <p:sp>
        <p:nvSpPr>
          <p:cNvPr id="11" name="Text 8"/>
          <p:cNvSpPr/>
          <p:nvPr/>
        </p:nvSpPr>
        <p:spPr>
          <a:xfrm>
            <a:off x="777240" y="4754880"/>
            <a:ext cx="10698480" cy="10972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Two images of the same flood look very similar. If one sits in training and the other in testing, the model can score well by recognising the scene rather than understanding floods. Grouping by event makes the test score an honest estimate of performance on a new flood.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Training configuration &amp; environment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Full fine-tune on free-tier Google Colab (Tesla T4)</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2194560"/>
                <a:gridCol w="4572000"/>
              </a:tblGrid>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Loss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Cross-entropy, ignore_index = −1</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Optimizer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AdamW, LR 5×10⁻⁵, weight decay 0.05</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Scheduler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Cosine annealing</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Backbone / decoder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Both unfrozen (full fine-tune)</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Batch · crop</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8 · random 224×224 crop from 512×512 chip</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16-bit mixed</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Epochs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Max 20; early stop at 15 (patience 8)</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Checkpoint</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Best val. flood IoU → epoch 7 (0.299)</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8" name="Shape 5"/>
          <p:cNvSpPr/>
          <p:nvPr/>
        </p:nvSpPr>
        <p:spPr>
          <a:xfrm>
            <a:off x="7589520" y="1554480"/>
            <a:ext cx="4050792" cy="4023360"/>
          </a:xfrm>
          <a:prstGeom prst="rect">
            <a:avLst/>
          </a:prstGeom>
          <a:solidFill>
            <a:srgbClr val="EEF4F8"/>
          </a:solidFill>
          <a:ln w="12700">
            <a:solidFill>
              <a:srgbClr val="EEF4F8"/>
            </a:solidFill>
            <a:prstDash val="solid"/>
          </a:ln>
        </p:spPr>
      </p:sp>
      <p:sp>
        <p:nvSpPr>
          <p:cNvPr id="9" name="Shape 6"/>
          <p:cNvSpPr/>
          <p:nvPr/>
        </p:nvSpPr>
        <p:spPr>
          <a:xfrm>
            <a:off x="7589520" y="1554480"/>
            <a:ext cx="73152" cy="4023360"/>
          </a:xfrm>
          <a:prstGeom prst="rect">
            <a:avLst/>
          </a:prstGeom>
          <a:solidFill>
            <a:srgbClr val="1F6FB2"/>
          </a:solidFill>
          <a:ln w="12700">
            <a:solidFill>
              <a:srgbClr val="1F6FB2"/>
            </a:solidFill>
            <a:prstDash val="solid"/>
          </a:ln>
        </p:spPr>
      </p:sp>
      <p:sp>
        <p:nvSpPr>
          <p:cNvPr id="10" name="Text 7"/>
          <p:cNvSpPr/>
          <p:nvPr/>
        </p:nvSpPr>
        <p:spPr>
          <a:xfrm>
            <a:off x="7818120" y="1664208"/>
            <a:ext cx="3685032"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Environment</a:t>
            </a:r>
            <a:endParaRPr lang="en-US" sz="1700" dirty="0"/>
          </a:p>
        </p:txBody>
      </p:sp>
      <p:sp>
        <p:nvSpPr>
          <p:cNvPr id="11" name="Text 8"/>
          <p:cNvSpPr/>
          <p:nvPr/>
        </p:nvSpPr>
        <p:spPr>
          <a:xfrm>
            <a:off x="7818120" y="2103120"/>
            <a:ext cx="3685032" cy="33832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GPU: NVIDIA Tesla T4 (15 GB), peak use 7.1 GB</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RAM: 12.7 GB (shared VM)</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Python 3.13, PyTorch 2.6, TerraTorch 0.99.8, Lightning 2.5, rasterio 1.4</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Storage: Google Drive for persistence, local disk for training I/O</a:t>
            </a:r>
            <a:endParaRPr lang="en-US" sz="1400" dirty="0"/>
          </a:p>
        </p:txBody>
      </p:sp>
      <p:sp>
        <p:nvSpPr>
          <p:cNvPr id="12" name="Text 9"/>
          <p:cNvSpPr/>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Small learning rate on purpose: we are refining a competent model, not training from random weights.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Engineering challenges we solved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Diagnosed by inspecting the live VM (processes, memory, disk I/O), always resumed from a verified checkpoint</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548640" y="1554480"/>
            <a:ext cx="5449824" cy="1417320"/>
          </a:xfrm>
          <a:prstGeom prst="rect">
            <a:avLst/>
          </a:prstGeom>
          <a:solidFill>
            <a:srgbClr val="EEF4F8"/>
          </a:solidFill>
          <a:ln w="12700">
            <a:solidFill>
              <a:srgbClr val="EEF4F8"/>
            </a:solidFill>
            <a:prstDash val="solid"/>
          </a:ln>
        </p:spPr>
      </p:sp>
      <p:sp>
        <p:nvSpPr>
          <p:cNvPr id="8" name="Shape 6"/>
          <p:cNvSpPr/>
          <p:nvPr/>
        </p:nvSpPr>
        <p:spPr>
          <a:xfrm>
            <a:off x="548640" y="1554480"/>
            <a:ext cx="73152" cy="1417320"/>
          </a:xfrm>
          <a:prstGeom prst="rect">
            <a:avLst/>
          </a:prstGeom>
          <a:solidFill>
            <a:srgbClr val="13A89E"/>
          </a:solidFill>
          <a:ln w="12700">
            <a:solidFill>
              <a:srgbClr val="13A89E"/>
            </a:solidFill>
            <a:prstDash val="solid"/>
          </a:ln>
        </p:spPr>
      </p:sp>
      <p:sp>
        <p:nvSpPr>
          <p:cNvPr id="9" name="Text 7"/>
          <p:cNvSpPr/>
          <p:nvPr/>
        </p:nvSpPr>
        <p:spPr>
          <a:xfrm>
            <a:off x="777240" y="1664208"/>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Library version mismatch</a:t>
            </a:r>
            <a:endParaRPr lang="en-US" sz="1700" dirty="0"/>
          </a:p>
        </p:txBody>
      </p:sp>
      <p:sp>
        <p:nvSpPr>
          <p:cNvPr id="10" name="Text 8"/>
          <p:cNvSpPr/>
          <p:nvPr/>
        </p:nvSpPr>
        <p:spPr>
          <a:xfrm>
            <a:off x="777240" y="2103120"/>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Pre-installed torchaudio clashed with pinned torch → pinned all versions in requirements.txt.</a:t>
            </a:r>
            <a:endParaRPr lang="en-US" sz="1400" dirty="0"/>
          </a:p>
        </p:txBody>
      </p:sp>
      <p:sp>
        <p:nvSpPr>
          <p:cNvPr id="11" name="Shape 9"/>
          <p:cNvSpPr/>
          <p:nvPr/>
        </p:nvSpPr>
        <p:spPr>
          <a:xfrm>
            <a:off x="6199632" y="1554480"/>
            <a:ext cx="5449824" cy="141732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1417320"/>
          </a:xfrm>
          <a:prstGeom prst="rect">
            <a:avLst/>
          </a:prstGeom>
          <a:solidFill>
            <a:srgbClr val="1F6FB2"/>
          </a:solidFill>
          <a:ln w="12700">
            <a:solidFill>
              <a:srgbClr val="1F6FB2"/>
            </a:solidFill>
            <a:prstDash val="solid"/>
          </a:ln>
        </p:spPr>
      </p:sp>
      <p:sp>
        <p:nvSpPr>
          <p:cNvPr id="13" name="Text 11"/>
          <p:cNvSpPr/>
          <p:nvPr/>
        </p:nvSpPr>
        <p:spPr>
          <a:xfrm>
            <a:off x="6428232" y="1664208"/>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Reflectance scaling</a:t>
            </a:r>
            <a:endParaRPr lang="en-US" sz="1700" dirty="0"/>
          </a:p>
        </p:txBody>
      </p:sp>
      <p:sp>
        <p:nvSpPr>
          <p:cNvPr id="14" name="Text 12"/>
          <p:cNvSpPr/>
          <p:nvPr/>
        </p:nvSpPr>
        <p:spPr>
          <a:xfrm>
            <a:off x="6428232" y="2103120"/>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Input values did not match pre-training normalisation, making the model nearly useless → rescaled to expected range.</a:t>
            </a:r>
            <a:endParaRPr lang="en-US" sz="1400" dirty="0"/>
          </a:p>
        </p:txBody>
      </p:sp>
      <p:sp>
        <p:nvSpPr>
          <p:cNvPr id="15" name="Shape 13"/>
          <p:cNvSpPr/>
          <p:nvPr/>
        </p:nvSpPr>
        <p:spPr>
          <a:xfrm>
            <a:off x="548640" y="3127248"/>
            <a:ext cx="5449824" cy="1417320"/>
          </a:xfrm>
          <a:prstGeom prst="rect">
            <a:avLst/>
          </a:prstGeom>
          <a:solidFill>
            <a:srgbClr val="EEF4F8"/>
          </a:solidFill>
          <a:ln w="12700">
            <a:solidFill>
              <a:srgbClr val="EEF4F8"/>
            </a:solidFill>
            <a:prstDash val="solid"/>
          </a:ln>
        </p:spPr>
      </p:sp>
      <p:sp>
        <p:nvSpPr>
          <p:cNvPr id="16" name="Shape 14"/>
          <p:cNvSpPr/>
          <p:nvPr/>
        </p:nvSpPr>
        <p:spPr>
          <a:xfrm>
            <a:off x="548640" y="3127248"/>
            <a:ext cx="73152" cy="1417320"/>
          </a:xfrm>
          <a:prstGeom prst="rect">
            <a:avLst/>
          </a:prstGeom>
          <a:solidFill>
            <a:srgbClr val="E8A33D"/>
          </a:solidFill>
          <a:ln w="12700">
            <a:solidFill>
              <a:srgbClr val="E8A33D"/>
            </a:solidFill>
            <a:prstDash val="solid"/>
          </a:ln>
        </p:spPr>
      </p:sp>
      <p:sp>
        <p:nvSpPr>
          <p:cNvPr id="17" name="Text 15"/>
          <p:cNvSpPr/>
          <p:nvPr/>
        </p:nvSpPr>
        <p:spPr>
          <a:xfrm>
            <a:off x="777240" y="3236976"/>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Validation plotting crash</a:t>
            </a:r>
            <a:endParaRPr lang="en-US" sz="1700" dirty="0"/>
          </a:p>
        </p:txBody>
      </p:sp>
      <p:sp>
        <p:nvSpPr>
          <p:cNvPr id="18" name="Text 16"/>
          <p:cNvSpPr/>
          <p:nvPr/>
        </p:nvSpPr>
        <p:spPr>
          <a:xfrm>
            <a:off x="777240" y="3675888"/>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Default debug plotting needed an interface our dataset lacked → disabled (plot_on_val = False).</a:t>
            </a:r>
            <a:endParaRPr lang="en-US" sz="1400" dirty="0"/>
          </a:p>
        </p:txBody>
      </p:sp>
      <p:sp>
        <p:nvSpPr>
          <p:cNvPr id="19" name="Shape 17"/>
          <p:cNvSpPr/>
          <p:nvPr/>
        </p:nvSpPr>
        <p:spPr>
          <a:xfrm>
            <a:off x="6199632" y="3127248"/>
            <a:ext cx="5449824" cy="1417320"/>
          </a:xfrm>
          <a:prstGeom prst="rect">
            <a:avLst/>
          </a:prstGeom>
          <a:solidFill>
            <a:srgbClr val="EEF4F8"/>
          </a:solidFill>
          <a:ln w="12700">
            <a:solidFill>
              <a:srgbClr val="EEF4F8"/>
            </a:solidFill>
            <a:prstDash val="solid"/>
          </a:ln>
        </p:spPr>
      </p:sp>
      <p:sp>
        <p:nvSpPr>
          <p:cNvPr id="20" name="Shape 18"/>
          <p:cNvSpPr/>
          <p:nvPr/>
        </p:nvSpPr>
        <p:spPr>
          <a:xfrm>
            <a:off x="6199632" y="3127248"/>
            <a:ext cx="73152" cy="1417320"/>
          </a:xfrm>
          <a:prstGeom prst="rect">
            <a:avLst/>
          </a:prstGeom>
          <a:solidFill>
            <a:srgbClr val="D1495B"/>
          </a:solidFill>
          <a:ln w="12700">
            <a:solidFill>
              <a:srgbClr val="D1495B"/>
            </a:solidFill>
            <a:prstDash val="solid"/>
          </a:ln>
        </p:spPr>
      </p:sp>
      <p:sp>
        <p:nvSpPr>
          <p:cNvPr id="21" name="Text 19"/>
          <p:cNvSpPr/>
          <p:nvPr/>
        </p:nvSpPr>
        <p:spPr>
          <a:xfrm>
            <a:off x="6428232" y="3236976"/>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Zombie process corrupting checkpoints</a:t>
            </a:r>
            <a:endParaRPr lang="en-US" sz="1700" dirty="0"/>
          </a:p>
        </p:txBody>
      </p:sp>
      <p:sp>
        <p:nvSpPr>
          <p:cNvPr id="22" name="Text 20"/>
          <p:cNvSpPr/>
          <p:nvPr/>
        </p:nvSpPr>
        <p:spPr>
          <a:xfrm>
            <a:off x="6428232" y="3675888"/>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After a Colab disconnect a stale process kept writing to Drive → killed it, restored last intact checkpoint, save locally first then sync.</a:t>
            </a:r>
            <a:endParaRPr lang="en-US" sz="1400" dirty="0"/>
          </a:p>
        </p:txBody>
      </p:sp>
      <p:sp>
        <p:nvSpPr>
          <p:cNvPr id="23" name="Shape 21"/>
          <p:cNvSpPr/>
          <p:nvPr/>
        </p:nvSpPr>
        <p:spPr>
          <a:xfrm>
            <a:off x="548640" y="4700016"/>
            <a:ext cx="11100816" cy="1417320"/>
          </a:xfrm>
          <a:prstGeom prst="rect">
            <a:avLst/>
          </a:prstGeom>
          <a:solidFill>
            <a:srgbClr val="EEF4F8"/>
          </a:solidFill>
          <a:ln w="12700">
            <a:solidFill>
              <a:srgbClr val="EEF4F8"/>
            </a:solidFill>
            <a:prstDash val="solid"/>
          </a:ln>
        </p:spPr>
      </p:sp>
      <p:sp>
        <p:nvSpPr>
          <p:cNvPr id="24" name="Shape 22"/>
          <p:cNvSpPr/>
          <p:nvPr/>
        </p:nvSpPr>
        <p:spPr>
          <a:xfrm>
            <a:off x="548640" y="4700016"/>
            <a:ext cx="73152" cy="1417320"/>
          </a:xfrm>
          <a:prstGeom prst="rect">
            <a:avLst/>
          </a:prstGeom>
          <a:solidFill>
            <a:srgbClr val="0B2545"/>
          </a:solidFill>
          <a:ln w="12700">
            <a:solidFill>
              <a:srgbClr val="0B2545"/>
            </a:solidFill>
            <a:prstDash val="solid"/>
          </a:ln>
        </p:spPr>
      </p:sp>
      <p:sp>
        <p:nvSpPr>
          <p:cNvPr id="25" name="Text 23"/>
          <p:cNvSpPr/>
          <p:nvPr/>
        </p:nvSpPr>
        <p:spPr>
          <a:xfrm>
            <a:off x="777240" y="4809744"/>
            <a:ext cx="10735056"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Silent RAM exhaustion</a:t>
            </a:r>
            <a:endParaRPr lang="en-US" sz="1700" dirty="0"/>
          </a:p>
        </p:txBody>
      </p:sp>
      <p:sp>
        <p:nvSpPr>
          <p:cNvPr id="26" name="Text 24"/>
          <p:cNvSpPr/>
          <p:nvPr/>
        </p:nvSpPr>
        <p:spPr>
          <a:xfrm>
            <a:off x="777240" y="5248656"/>
            <a:ext cx="10735056"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Data-loader workers filled 12 GB RAM and the OS killed training without an error → num_workers = 0 for stability.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Evaluation methodology</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Same code, same metrics, same 737-chip test set: only the model weights change</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554480"/>
            <a:ext cx="2651760" cy="694944"/>
          </a:xfrm>
          <a:prstGeom prst="rect">
            <a:avLst/>
          </a:prstGeom>
          <a:solidFill>
            <a:srgbClr val="13A89E"/>
          </a:solidFill>
          <a:ln/>
        </p:spPr>
      </p:sp>
      <p:sp>
        <p:nvSpPr>
          <p:cNvPr id="8" name="Text 6"/>
          <p:cNvSpPr/>
          <p:nvPr/>
        </p:nvSpPr>
        <p:spPr>
          <a:xfrm>
            <a:off x="548640" y="1554480"/>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IoU</a:t>
            </a:r>
            <a:endParaRPr lang="en-US" sz="1500" dirty="0"/>
          </a:p>
        </p:txBody>
      </p:sp>
      <p:sp>
        <p:nvSpPr>
          <p:cNvPr id="9" name="Text 7"/>
          <p:cNvSpPr/>
          <p:nvPr/>
        </p:nvSpPr>
        <p:spPr>
          <a:xfrm>
            <a:off x="3383280" y="1554480"/>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Overlap ÷ union of predicted and true flood area. Primary metric: cannot be gamed by predicting “no flood” everywhere.</a:t>
            </a:r>
            <a:endParaRPr lang="en-US" sz="1300" dirty="0"/>
          </a:p>
        </p:txBody>
      </p:sp>
      <p:sp>
        <p:nvSpPr>
          <p:cNvPr id="10" name="Shape 8"/>
          <p:cNvSpPr/>
          <p:nvPr/>
        </p:nvSpPr>
        <p:spPr>
          <a:xfrm>
            <a:off x="548640" y="2359152"/>
            <a:ext cx="2651760" cy="694944"/>
          </a:xfrm>
          <a:prstGeom prst="rect">
            <a:avLst/>
          </a:prstGeom>
          <a:solidFill>
            <a:srgbClr val="0B2545"/>
          </a:solidFill>
          <a:ln/>
        </p:spPr>
      </p:sp>
      <p:sp>
        <p:nvSpPr>
          <p:cNvPr id="11" name="Text 9"/>
          <p:cNvSpPr/>
          <p:nvPr/>
        </p:nvSpPr>
        <p:spPr>
          <a:xfrm>
            <a:off x="548640" y="2359152"/>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Precision</a:t>
            </a:r>
            <a:endParaRPr lang="en-US" sz="1500" dirty="0"/>
          </a:p>
        </p:txBody>
      </p:sp>
      <p:sp>
        <p:nvSpPr>
          <p:cNvPr id="12" name="Text 10"/>
          <p:cNvSpPr/>
          <p:nvPr/>
        </p:nvSpPr>
        <p:spPr>
          <a:xfrm>
            <a:off x="3383280" y="2359152"/>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Of pixels predicted as flood, fraction truly flooded (false-alarm rate).</a:t>
            </a:r>
            <a:endParaRPr lang="en-US" sz="1300" dirty="0"/>
          </a:p>
        </p:txBody>
      </p:sp>
      <p:sp>
        <p:nvSpPr>
          <p:cNvPr id="13" name="Shape 11"/>
          <p:cNvSpPr/>
          <p:nvPr/>
        </p:nvSpPr>
        <p:spPr>
          <a:xfrm>
            <a:off x="548640" y="3163824"/>
            <a:ext cx="2651760" cy="694944"/>
          </a:xfrm>
          <a:prstGeom prst="rect">
            <a:avLst/>
          </a:prstGeom>
          <a:solidFill>
            <a:srgbClr val="0B2545"/>
          </a:solidFill>
          <a:ln/>
        </p:spPr>
      </p:sp>
      <p:sp>
        <p:nvSpPr>
          <p:cNvPr id="14" name="Text 12"/>
          <p:cNvSpPr/>
          <p:nvPr/>
        </p:nvSpPr>
        <p:spPr>
          <a:xfrm>
            <a:off x="548640" y="3163824"/>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Recall</a:t>
            </a:r>
            <a:endParaRPr lang="en-US" sz="1500" dirty="0"/>
          </a:p>
        </p:txBody>
      </p:sp>
      <p:sp>
        <p:nvSpPr>
          <p:cNvPr id="15" name="Text 13"/>
          <p:cNvSpPr/>
          <p:nvPr/>
        </p:nvSpPr>
        <p:spPr>
          <a:xfrm>
            <a:off x="3383280" y="3163824"/>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Of truly flooded pixels, fraction detected (missed-flood rate).</a:t>
            </a:r>
            <a:endParaRPr lang="en-US" sz="1300" dirty="0"/>
          </a:p>
        </p:txBody>
      </p:sp>
      <p:sp>
        <p:nvSpPr>
          <p:cNvPr id="16" name="Shape 14"/>
          <p:cNvSpPr/>
          <p:nvPr/>
        </p:nvSpPr>
        <p:spPr>
          <a:xfrm>
            <a:off x="548640" y="3968496"/>
            <a:ext cx="2651760" cy="694944"/>
          </a:xfrm>
          <a:prstGeom prst="rect">
            <a:avLst/>
          </a:prstGeom>
          <a:solidFill>
            <a:srgbClr val="0B2545"/>
          </a:solidFill>
          <a:ln/>
        </p:spPr>
      </p:sp>
      <p:sp>
        <p:nvSpPr>
          <p:cNvPr id="17" name="Text 15"/>
          <p:cNvSpPr/>
          <p:nvPr/>
        </p:nvSpPr>
        <p:spPr>
          <a:xfrm>
            <a:off x="548640" y="3968496"/>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F1-score</a:t>
            </a:r>
            <a:endParaRPr lang="en-US" sz="1500" dirty="0"/>
          </a:p>
        </p:txBody>
      </p:sp>
      <p:sp>
        <p:nvSpPr>
          <p:cNvPr id="18" name="Text 16"/>
          <p:cNvSpPr/>
          <p:nvPr/>
        </p:nvSpPr>
        <p:spPr>
          <a:xfrm>
            <a:off x="3383280" y="3968496"/>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Harmonic mean of precision and recall.</a:t>
            </a:r>
            <a:endParaRPr lang="en-US" sz="1300" dirty="0"/>
          </a:p>
        </p:txBody>
      </p:sp>
      <p:sp>
        <p:nvSpPr>
          <p:cNvPr id="19" name="Shape 17"/>
          <p:cNvSpPr/>
          <p:nvPr/>
        </p:nvSpPr>
        <p:spPr>
          <a:xfrm>
            <a:off x="548640" y="4773168"/>
            <a:ext cx="2651760" cy="694944"/>
          </a:xfrm>
          <a:prstGeom prst="rect">
            <a:avLst/>
          </a:prstGeom>
          <a:solidFill>
            <a:srgbClr val="0B2545"/>
          </a:solidFill>
          <a:ln/>
        </p:spPr>
      </p:sp>
      <p:sp>
        <p:nvSpPr>
          <p:cNvPr id="20" name="Text 18"/>
          <p:cNvSpPr/>
          <p:nvPr/>
        </p:nvSpPr>
        <p:spPr>
          <a:xfrm>
            <a:off x="548640" y="4773168"/>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Confusion matrix &amp; inference time</a:t>
            </a:r>
            <a:endParaRPr lang="en-US" sz="1500" dirty="0"/>
          </a:p>
        </p:txBody>
      </p:sp>
      <p:sp>
        <p:nvSpPr>
          <p:cNvPr id="21" name="Text 19"/>
          <p:cNvSpPr/>
          <p:nvPr/>
        </p:nvSpPr>
        <p:spPr>
          <a:xfrm>
            <a:off x="3383280" y="4773168"/>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Error breakdown and speed for operational use.</a:t>
            </a:r>
            <a:endParaRPr lang="en-US" sz="1300" dirty="0"/>
          </a:p>
        </p:txBody>
      </p:sp>
      <p:sp>
        <p:nvSpPr>
          <p:cNvPr id="22" name="Shape 20"/>
          <p:cNvSpPr/>
          <p:nvPr/>
        </p:nvSpPr>
        <p:spPr>
          <a:xfrm>
            <a:off x="7589520" y="1554480"/>
            <a:ext cx="4050792" cy="3931920"/>
          </a:xfrm>
          <a:prstGeom prst="rect">
            <a:avLst/>
          </a:prstGeom>
          <a:solidFill>
            <a:srgbClr val="EEF4F8"/>
          </a:solidFill>
          <a:ln w="12700">
            <a:solidFill>
              <a:srgbClr val="EEF4F8"/>
            </a:solidFill>
            <a:prstDash val="solid"/>
          </a:ln>
        </p:spPr>
      </p:sp>
      <p:sp>
        <p:nvSpPr>
          <p:cNvPr id="23" name="Shape 21"/>
          <p:cNvSpPr/>
          <p:nvPr/>
        </p:nvSpPr>
        <p:spPr>
          <a:xfrm>
            <a:off x="7589520" y="1554480"/>
            <a:ext cx="73152" cy="3931920"/>
          </a:xfrm>
          <a:prstGeom prst="rect">
            <a:avLst/>
          </a:prstGeom>
          <a:solidFill>
            <a:srgbClr val="1F6FB2"/>
          </a:solidFill>
          <a:ln w="12700">
            <a:solidFill>
              <a:srgbClr val="1F6FB2"/>
            </a:solidFill>
            <a:prstDash val="solid"/>
          </a:ln>
        </p:spPr>
      </p:sp>
      <p:sp>
        <p:nvSpPr>
          <p:cNvPr id="24" name="Text 22"/>
          <p:cNvSpPr/>
          <p:nvPr/>
        </p:nvSpPr>
        <p:spPr>
          <a:xfrm>
            <a:off x="7818120" y="1664208"/>
            <a:ext cx="3685032"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Fair scoring rules</a:t>
            </a:r>
            <a:endParaRPr lang="en-US" sz="1700" dirty="0"/>
          </a:p>
        </p:txBody>
      </p:sp>
      <p:sp>
        <p:nvSpPr>
          <p:cNvPr id="25" name="Text 23"/>
          <p:cNvSpPr/>
          <p:nvPr/>
        </p:nvSpPr>
        <p:spPr>
          <a:xfrm>
            <a:off x="7818120" y="2103120"/>
            <a:ext cx="3685032" cy="3291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 Scored only on the held-out test set: 16 unseen events, 32 images</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Cloud and permanent-water ignore pixels excluded</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Metrics pooled across all test pixels, plus per-event breakdown</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Visual check: image | NDEM truth | prediction | error map (hits, false alarms, misses)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Results: baseline vs fine-tuned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Held-out test set of 16 unseen Indian flood events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14</a:t>
            </a:r>
            <a:endParaRPr lang="en-US" sz="1000" dirty="0"/>
          </a:p>
        </p:txBody>
      </p:sp>
      <p:graphicFrame>
        <p:nvGraphicFramePr>
          <p:cNvPr id="7" name="Chart 0" descr=""/>
          <p:cNvGraphicFramePr/>
          <p:nvPr/>
        </p:nvGraphicFramePr>
        <p:xfrm>
          <a:off x="457200" y="1463040"/>
          <a:ext cx="63093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040880" y="1554480"/>
          <a:ext cx="4663440" cy="914400"/>
        </p:xfrm>
        <a:graphic>
          <a:graphicData uri="http://schemas.openxmlformats.org/drawingml/2006/table">
            <a:tbl>
              <a:tblPr/>
              <a:tblGrid>
                <a:gridCol w="1463040"/>
                <a:gridCol w="1005840"/>
                <a:gridCol w="1005840"/>
                <a:gridCol w="118872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Metric</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Base</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Ours</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Δ</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IoU</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0.337</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0.375</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13A89E"/>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Precision</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0.391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0.560</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13A89E"/>
                          </a:solidFill>
                          <a:latin typeface="Calibri" pitchFamily="34" charset="0"/>
                          <a:ea typeface="Calibri" pitchFamily="34" charset="-122"/>
                          <a:cs typeface="Calibri" pitchFamily="34" charset="-120"/>
                        </a:rPr>
                        <a:t>+43%</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Recall</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0.711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0.532</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D1495B"/>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9" name="Text 5"/>
          <p:cNvSpPr/>
          <p:nvPr/>
        </p:nvSpPr>
        <p:spPr>
          <a:xfrm>
            <a:off x="6949440" y="3566160"/>
            <a:ext cx="4754880" cy="2743200"/>
          </a:xfrm>
          <a:prstGeom prst="rect">
            <a:avLst/>
          </a:prstGeom>
          <a:noFill/>
          <a:ln/>
        </p:spPr>
        <p:txBody>
          <a:bodyPr wrap="square" lIns="50800" tIns="50800" rIns="50800" bIns="50800" rtlCol="0" anchor="t"/>
          <a:lstStyle/>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Baseline was over-eager: caught most floods, but only 39% of its flood calls were correct</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Fine-tuning recalibrated it to Indian conditions: far fewer false alarms</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Net effect on IoU, the primary metric, is a clear +11% gain</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Precision–recall trade-off is a design choice tied to the end use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Inference workflow</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From a new satellite pass to an actionable flood map</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48640" y="1737360"/>
            <a:ext cx="1653540" cy="1005840"/>
          </a:xfrm>
          <a:prstGeom prst="rect">
            <a:avLst/>
          </a:prstGeom>
          <a:solidFill>
            <a:srgbClr val="0B2545"/>
          </a:solidFill>
          <a:ln w="12700">
            <a:solidFill>
              <a:srgbClr val="0B2545"/>
            </a:solidFill>
            <a:prstDash val="solid"/>
          </a:ln>
        </p:spPr>
      </p:sp>
      <p:sp>
        <p:nvSpPr>
          <p:cNvPr id="8" name="Text 6"/>
          <p:cNvSpPr/>
          <p:nvPr/>
        </p:nvSpPr>
        <p:spPr>
          <a:xfrm>
            <a:off x="54864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New Sentinel-2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image</a:t>
            </a:r>
            <a:endParaRPr lang="en-US" sz="1300" dirty="0"/>
          </a:p>
        </p:txBody>
      </p:sp>
      <p:sp>
        <p:nvSpPr>
          <p:cNvPr id="9" name="Text 7"/>
          <p:cNvSpPr/>
          <p:nvPr/>
        </p:nvSpPr>
        <p:spPr>
          <a:xfrm>
            <a:off x="218389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0" name="Shape 8"/>
          <p:cNvSpPr/>
          <p:nvPr/>
        </p:nvSpPr>
        <p:spPr>
          <a:xfrm>
            <a:off x="2430780" y="1737360"/>
            <a:ext cx="1653540" cy="1005840"/>
          </a:xfrm>
          <a:prstGeom prst="rect">
            <a:avLst/>
          </a:prstGeom>
          <a:solidFill>
            <a:srgbClr val="0B2545"/>
          </a:solidFill>
          <a:ln w="12700">
            <a:solidFill>
              <a:srgbClr val="0B2545"/>
            </a:solidFill>
            <a:prstDash val="solid"/>
          </a:ln>
        </p:spPr>
      </p:sp>
      <p:sp>
        <p:nvSpPr>
          <p:cNvPr id="11" name="Text 9"/>
          <p:cNvSpPr/>
          <p:nvPr/>
        </p:nvSpPr>
        <p:spPr>
          <a:xfrm>
            <a:off x="243078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Six-band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12" name="Text 10"/>
          <p:cNvSpPr/>
          <p:nvPr/>
        </p:nvSpPr>
        <p:spPr>
          <a:xfrm>
            <a:off x="406603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3" name="Shape 11"/>
          <p:cNvSpPr/>
          <p:nvPr/>
        </p:nvSpPr>
        <p:spPr>
          <a:xfrm>
            <a:off x="4312920" y="1737360"/>
            <a:ext cx="1653540" cy="1005840"/>
          </a:xfrm>
          <a:prstGeom prst="rect">
            <a:avLst/>
          </a:prstGeom>
          <a:solidFill>
            <a:srgbClr val="0B2545"/>
          </a:solidFill>
          <a:ln w="12700">
            <a:solidFill>
              <a:srgbClr val="0B2545"/>
            </a:solidFill>
            <a:prstDash val="solid"/>
          </a:ln>
        </p:spPr>
      </p:sp>
      <p:sp>
        <p:nvSpPr>
          <p:cNvPr id="14" name="Text 12"/>
          <p:cNvSpPr/>
          <p:nvPr/>
        </p:nvSpPr>
        <p:spPr>
          <a:xfrm>
            <a:off x="431292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Cloud / ignore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masking</a:t>
            </a:r>
            <a:endParaRPr lang="en-US" sz="1300" dirty="0"/>
          </a:p>
        </p:txBody>
      </p:sp>
      <p:sp>
        <p:nvSpPr>
          <p:cNvPr id="15" name="Text 13"/>
          <p:cNvSpPr/>
          <p:nvPr/>
        </p:nvSpPr>
        <p:spPr>
          <a:xfrm>
            <a:off x="594817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6" name="Shape 14"/>
          <p:cNvSpPr/>
          <p:nvPr/>
        </p:nvSpPr>
        <p:spPr>
          <a:xfrm>
            <a:off x="6195060" y="1737360"/>
            <a:ext cx="1653540" cy="1005840"/>
          </a:xfrm>
          <a:prstGeom prst="rect">
            <a:avLst/>
          </a:prstGeom>
          <a:solidFill>
            <a:srgbClr val="0B2545"/>
          </a:solidFill>
          <a:ln w="12700">
            <a:solidFill>
              <a:srgbClr val="0B2545"/>
            </a:solidFill>
            <a:prstDash val="solid"/>
          </a:ln>
        </p:spPr>
      </p:sp>
      <p:sp>
        <p:nvSpPr>
          <p:cNvPr id="17" name="Text 15"/>
          <p:cNvSpPr/>
          <p:nvPr/>
        </p:nvSpPr>
        <p:spPr>
          <a:xfrm>
            <a:off x="619506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Fine-tuned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Prithvi model</a:t>
            </a:r>
            <a:endParaRPr lang="en-US" sz="1300" dirty="0"/>
          </a:p>
        </p:txBody>
      </p:sp>
      <p:sp>
        <p:nvSpPr>
          <p:cNvPr id="18" name="Text 16"/>
          <p:cNvSpPr/>
          <p:nvPr/>
        </p:nvSpPr>
        <p:spPr>
          <a:xfrm>
            <a:off x="783031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9" name="Shape 17"/>
          <p:cNvSpPr/>
          <p:nvPr/>
        </p:nvSpPr>
        <p:spPr>
          <a:xfrm>
            <a:off x="8077200" y="1737360"/>
            <a:ext cx="1653540" cy="1005840"/>
          </a:xfrm>
          <a:prstGeom prst="rect">
            <a:avLst/>
          </a:prstGeom>
          <a:solidFill>
            <a:srgbClr val="0B2545"/>
          </a:solidFill>
          <a:ln w="12700">
            <a:solidFill>
              <a:srgbClr val="0B2545"/>
            </a:solidFill>
            <a:prstDash val="solid"/>
          </a:ln>
        </p:spPr>
      </p:sp>
      <p:sp>
        <p:nvSpPr>
          <p:cNvPr id="20" name="Text 18"/>
          <p:cNvSpPr/>
          <p:nvPr/>
        </p:nvSpPr>
        <p:spPr>
          <a:xfrm>
            <a:off x="807720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Flood-probability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map</a:t>
            </a:r>
            <a:endParaRPr lang="en-US" sz="1300" dirty="0"/>
          </a:p>
        </p:txBody>
      </p:sp>
      <p:sp>
        <p:nvSpPr>
          <p:cNvPr id="21" name="Text 19"/>
          <p:cNvSpPr/>
          <p:nvPr/>
        </p:nvSpPr>
        <p:spPr>
          <a:xfrm>
            <a:off x="971245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22" name="Shape 20"/>
          <p:cNvSpPr/>
          <p:nvPr/>
        </p:nvSpPr>
        <p:spPr>
          <a:xfrm>
            <a:off x="9959340" y="1737360"/>
            <a:ext cx="1653540" cy="1005840"/>
          </a:xfrm>
          <a:prstGeom prst="rect">
            <a:avLst/>
          </a:prstGeom>
          <a:solidFill>
            <a:srgbClr val="13A89E"/>
          </a:solidFill>
          <a:ln w="12700">
            <a:solidFill>
              <a:srgbClr val="0B2545"/>
            </a:solidFill>
            <a:prstDash val="solid"/>
          </a:ln>
        </p:spPr>
      </p:sp>
      <p:sp>
        <p:nvSpPr>
          <p:cNvPr id="23" name="Text 21"/>
          <p:cNvSpPr/>
          <p:nvPr/>
        </p:nvSpPr>
        <p:spPr>
          <a:xfrm>
            <a:off x="995934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Georeferenced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flood-extent map</a:t>
            </a:r>
            <a:endParaRPr lang="en-US" sz="1300" dirty="0"/>
          </a:p>
        </p:txBody>
      </p:sp>
      <p:sp>
        <p:nvSpPr>
          <p:cNvPr id="24" name="Text 22"/>
          <p:cNvSpPr/>
          <p:nvPr/>
        </p:nvSpPr>
        <p:spPr>
          <a:xfrm>
            <a:off x="548640" y="3154680"/>
            <a:ext cx="1097280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Overlay layers for decision support</a:t>
            </a:r>
            <a:endParaRPr lang="en-US" sz="1800" dirty="0"/>
          </a:p>
        </p:txBody>
      </p:sp>
      <p:sp>
        <p:nvSpPr>
          <p:cNvPr id="25" name="Shape 23"/>
          <p:cNvSpPr/>
          <p:nvPr/>
        </p:nvSpPr>
        <p:spPr>
          <a:xfrm>
            <a:off x="548640" y="3657600"/>
            <a:ext cx="2057400" cy="1097280"/>
          </a:xfrm>
          <a:prstGeom prst="rect">
            <a:avLst/>
          </a:prstGeom>
          <a:solidFill>
            <a:srgbClr val="EEF4F8"/>
          </a:solidFill>
          <a:ln w="19050">
            <a:solidFill>
              <a:srgbClr val="13A89E"/>
            </a:solidFill>
            <a:prstDash val="solid"/>
          </a:ln>
        </p:spPr>
      </p:sp>
      <p:sp>
        <p:nvSpPr>
          <p:cNvPr id="26" name="Text 24"/>
          <p:cNvSpPr/>
          <p:nvPr/>
        </p:nvSpPr>
        <p:spPr>
          <a:xfrm>
            <a:off x="548640"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Dams &amp; reservoir releases</a:t>
            </a:r>
            <a:endParaRPr lang="en-US" sz="1400" dirty="0"/>
          </a:p>
        </p:txBody>
      </p:sp>
      <p:sp>
        <p:nvSpPr>
          <p:cNvPr id="27" name="Shape 25"/>
          <p:cNvSpPr/>
          <p:nvPr/>
        </p:nvSpPr>
        <p:spPr>
          <a:xfrm>
            <a:off x="2807208" y="3657600"/>
            <a:ext cx="2057400" cy="1097280"/>
          </a:xfrm>
          <a:prstGeom prst="rect">
            <a:avLst/>
          </a:prstGeom>
          <a:solidFill>
            <a:srgbClr val="EEF4F8"/>
          </a:solidFill>
          <a:ln w="19050">
            <a:solidFill>
              <a:srgbClr val="13A89E"/>
            </a:solidFill>
            <a:prstDash val="solid"/>
          </a:ln>
        </p:spPr>
      </p:sp>
      <p:sp>
        <p:nvSpPr>
          <p:cNvPr id="28" name="Text 26"/>
          <p:cNvSpPr/>
          <p:nvPr/>
        </p:nvSpPr>
        <p:spPr>
          <a:xfrm>
            <a:off x="2807208"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Water-level sensors / gauges</a:t>
            </a:r>
            <a:endParaRPr lang="en-US" sz="1400" dirty="0"/>
          </a:p>
        </p:txBody>
      </p:sp>
      <p:sp>
        <p:nvSpPr>
          <p:cNvPr id="29" name="Shape 27"/>
          <p:cNvSpPr/>
          <p:nvPr/>
        </p:nvSpPr>
        <p:spPr>
          <a:xfrm>
            <a:off x="5065776" y="3657600"/>
            <a:ext cx="2057400" cy="1097280"/>
          </a:xfrm>
          <a:prstGeom prst="rect">
            <a:avLst/>
          </a:prstGeom>
          <a:solidFill>
            <a:srgbClr val="EEF4F8"/>
          </a:solidFill>
          <a:ln w="19050">
            <a:solidFill>
              <a:srgbClr val="13A89E"/>
            </a:solidFill>
            <a:prstDash val="solid"/>
          </a:ln>
        </p:spPr>
      </p:sp>
      <p:sp>
        <p:nvSpPr>
          <p:cNvPr id="30" name="Text 28"/>
          <p:cNvSpPr/>
          <p:nvPr/>
        </p:nvSpPr>
        <p:spPr>
          <a:xfrm>
            <a:off x="5065776"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Roads &amp; bridges</a:t>
            </a:r>
            <a:endParaRPr lang="en-US" sz="1400" dirty="0"/>
          </a:p>
        </p:txBody>
      </p:sp>
      <p:sp>
        <p:nvSpPr>
          <p:cNvPr id="31" name="Shape 29"/>
          <p:cNvSpPr/>
          <p:nvPr/>
        </p:nvSpPr>
        <p:spPr>
          <a:xfrm>
            <a:off x="7324344" y="3657600"/>
            <a:ext cx="2057400" cy="1097280"/>
          </a:xfrm>
          <a:prstGeom prst="rect">
            <a:avLst/>
          </a:prstGeom>
          <a:solidFill>
            <a:srgbClr val="EEF4F8"/>
          </a:solidFill>
          <a:ln w="19050">
            <a:solidFill>
              <a:srgbClr val="13A89E"/>
            </a:solidFill>
            <a:prstDash val="solid"/>
          </a:ln>
        </p:spPr>
      </p:sp>
      <p:sp>
        <p:nvSpPr>
          <p:cNvPr id="32" name="Text 30"/>
          <p:cNvSpPr/>
          <p:nvPr/>
        </p:nvSpPr>
        <p:spPr>
          <a:xfrm>
            <a:off x="7324344"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Villages &amp; population</a:t>
            </a:r>
            <a:endParaRPr lang="en-US" sz="1400" dirty="0"/>
          </a:p>
        </p:txBody>
      </p:sp>
      <p:sp>
        <p:nvSpPr>
          <p:cNvPr id="33" name="Shape 31"/>
          <p:cNvSpPr/>
          <p:nvPr/>
        </p:nvSpPr>
        <p:spPr>
          <a:xfrm>
            <a:off x="9582912" y="3657600"/>
            <a:ext cx="2057400" cy="1097280"/>
          </a:xfrm>
          <a:prstGeom prst="rect">
            <a:avLst/>
          </a:prstGeom>
          <a:solidFill>
            <a:srgbClr val="EEF4F8"/>
          </a:solidFill>
          <a:ln w="19050">
            <a:solidFill>
              <a:srgbClr val="13A89E"/>
            </a:solidFill>
            <a:prstDash val="solid"/>
          </a:ln>
        </p:spPr>
      </p:sp>
      <p:sp>
        <p:nvSpPr>
          <p:cNvPr id="34" name="Text 32"/>
          <p:cNvSpPr/>
          <p:nvPr/>
        </p:nvSpPr>
        <p:spPr>
          <a:xfrm>
            <a:off x="9582912"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Critical infrastructure (hospitals, shelters, power)</a:t>
            </a:r>
            <a:endParaRPr lang="en-US" sz="1400" dirty="0"/>
          </a:p>
        </p:txBody>
      </p:sp>
      <p:sp>
        <p:nvSpPr>
          <p:cNvPr id="35" name="Shape 33"/>
          <p:cNvSpPr/>
          <p:nvPr/>
        </p:nvSpPr>
        <p:spPr>
          <a:xfrm>
            <a:off x="548640" y="5029200"/>
            <a:ext cx="11064240" cy="1097280"/>
          </a:xfrm>
          <a:prstGeom prst="rect">
            <a:avLst/>
          </a:prstGeom>
          <a:solidFill>
            <a:srgbClr val="0B2545"/>
          </a:solidFill>
          <a:ln/>
        </p:spPr>
      </p:sp>
      <p:sp>
        <p:nvSpPr>
          <p:cNvPr id="36" name="Text 34"/>
          <p:cNvSpPr/>
          <p:nvPr/>
        </p:nvSpPr>
        <p:spPr>
          <a:xfrm>
            <a:off x="822960" y="5029200"/>
            <a:ext cx="1051560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new six-band image goes into the trained model, which marks flooded locations and outputs a flood-extent map. Overlaid on roads, villages, dams, sensors and infrastructure, it supports during-event flood-response decisions.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Where Prithvi Flood-IN can be applied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Application pathways we have researched for the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48640" y="1508760"/>
            <a:ext cx="3566160" cy="2194560"/>
          </a:xfrm>
          <a:prstGeom prst="rect">
            <a:avLst/>
          </a:prstGeom>
          <a:solidFill>
            <a:srgbClr val="EEF4F8"/>
          </a:solidFill>
          <a:ln w="12700">
            <a:solidFill>
              <a:srgbClr val="EEF4F8"/>
            </a:solidFill>
            <a:prstDash val="solid"/>
          </a:ln>
        </p:spPr>
      </p:sp>
      <p:sp>
        <p:nvSpPr>
          <p:cNvPr id="8" name="Shape 6"/>
          <p:cNvSpPr/>
          <p:nvPr/>
        </p:nvSpPr>
        <p:spPr>
          <a:xfrm>
            <a:off x="548640" y="1508760"/>
            <a:ext cx="73152" cy="2194560"/>
          </a:xfrm>
          <a:prstGeom prst="rect">
            <a:avLst/>
          </a:prstGeom>
          <a:solidFill>
            <a:srgbClr val="13A89E"/>
          </a:solidFill>
          <a:ln w="12700">
            <a:solidFill>
              <a:srgbClr val="13A89E"/>
            </a:solidFill>
            <a:prstDash val="solid"/>
          </a:ln>
        </p:spPr>
      </p:sp>
      <p:sp>
        <p:nvSpPr>
          <p:cNvPr id="9" name="Text 7"/>
          <p:cNvSpPr/>
          <p:nvPr/>
        </p:nvSpPr>
        <p:spPr>
          <a:xfrm>
            <a:off x="777240"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Mahanadi basin HIS</a:t>
            </a:r>
            <a:endParaRPr lang="en-US" sz="1700" dirty="0"/>
          </a:p>
        </p:txBody>
      </p:sp>
      <p:sp>
        <p:nvSpPr>
          <p:cNvPr id="10" name="Text 8"/>
          <p:cNvSpPr/>
          <p:nvPr/>
        </p:nvSpPr>
        <p:spPr>
          <a:xfrm>
            <a:off x="777240"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Near-real-time inundation layer for the AI-enabled Hydrological Information System; combine with Hirakud reservoir releases and CWC gauge data.</a:t>
            </a:r>
            <a:endParaRPr lang="en-US" sz="1400" dirty="0"/>
          </a:p>
        </p:txBody>
      </p:sp>
      <p:sp>
        <p:nvSpPr>
          <p:cNvPr id="11" name="Shape 9"/>
          <p:cNvSpPr/>
          <p:nvPr/>
        </p:nvSpPr>
        <p:spPr>
          <a:xfrm>
            <a:off x="4315968" y="1508760"/>
            <a:ext cx="3566160" cy="2194560"/>
          </a:xfrm>
          <a:prstGeom prst="rect">
            <a:avLst/>
          </a:prstGeom>
          <a:solidFill>
            <a:srgbClr val="EEF4F8"/>
          </a:solidFill>
          <a:ln w="12700">
            <a:solidFill>
              <a:srgbClr val="EEF4F8"/>
            </a:solidFill>
            <a:prstDash val="solid"/>
          </a:ln>
        </p:spPr>
      </p:sp>
      <p:sp>
        <p:nvSpPr>
          <p:cNvPr id="12" name="Shape 10"/>
          <p:cNvSpPr/>
          <p:nvPr/>
        </p:nvSpPr>
        <p:spPr>
          <a:xfrm>
            <a:off x="4315968" y="1508760"/>
            <a:ext cx="73152" cy="2194560"/>
          </a:xfrm>
          <a:prstGeom prst="rect">
            <a:avLst/>
          </a:prstGeom>
          <a:solidFill>
            <a:srgbClr val="1F6FB2"/>
          </a:solidFill>
          <a:ln w="12700">
            <a:solidFill>
              <a:srgbClr val="1F6FB2"/>
            </a:solidFill>
            <a:prstDash val="solid"/>
          </a:ln>
        </p:spPr>
      </p:sp>
      <p:sp>
        <p:nvSpPr>
          <p:cNvPr id="13" name="Text 11"/>
          <p:cNvSpPr/>
          <p:nvPr/>
        </p:nvSpPr>
        <p:spPr>
          <a:xfrm>
            <a:off x="4544568"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Disaster response</a:t>
            </a:r>
            <a:endParaRPr lang="en-US" sz="1700" dirty="0"/>
          </a:p>
        </p:txBody>
      </p:sp>
      <p:sp>
        <p:nvSpPr>
          <p:cNvPr id="14" name="Text 12"/>
          <p:cNvSpPr/>
          <p:nvPr/>
        </p:nvSpPr>
        <p:spPr>
          <a:xfrm>
            <a:off x="4544568"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Flood-extent maps for NDMA / SDMA and district control rooms: evacuation planning, relief routing, identifying cut-off villages and roads.</a:t>
            </a:r>
            <a:endParaRPr lang="en-US" sz="1400" dirty="0"/>
          </a:p>
        </p:txBody>
      </p:sp>
      <p:sp>
        <p:nvSpPr>
          <p:cNvPr id="15" name="Shape 13"/>
          <p:cNvSpPr/>
          <p:nvPr/>
        </p:nvSpPr>
        <p:spPr>
          <a:xfrm>
            <a:off x="8083296" y="1508760"/>
            <a:ext cx="3566160" cy="2194560"/>
          </a:xfrm>
          <a:prstGeom prst="rect">
            <a:avLst/>
          </a:prstGeom>
          <a:solidFill>
            <a:srgbClr val="EEF4F8"/>
          </a:solidFill>
          <a:ln w="12700">
            <a:solidFill>
              <a:srgbClr val="EEF4F8"/>
            </a:solidFill>
            <a:prstDash val="solid"/>
          </a:ln>
        </p:spPr>
      </p:sp>
      <p:sp>
        <p:nvSpPr>
          <p:cNvPr id="16" name="Shape 14"/>
          <p:cNvSpPr/>
          <p:nvPr/>
        </p:nvSpPr>
        <p:spPr>
          <a:xfrm>
            <a:off x="8083296" y="1508760"/>
            <a:ext cx="73152" cy="2194560"/>
          </a:xfrm>
          <a:prstGeom prst="rect">
            <a:avLst/>
          </a:prstGeom>
          <a:solidFill>
            <a:srgbClr val="E8A33D"/>
          </a:solidFill>
          <a:ln w="12700">
            <a:solidFill>
              <a:srgbClr val="E8A33D"/>
            </a:solidFill>
            <a:prstDash val="solid"/>
          </a:ln>
        </p:spPr>
      </p:sp>
      <p:sp>
        <p:nvSpPr>
          <p:cNvPr id="17" name="Text 15"/>
          <p:cNvSpPr/>
          <p:nvPr/>
        </p:nvSpPr>
        <p:spPr>
          <a:xfrm>
            <a:off x="8311896"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Agriculture &amp; insurance</a:t>
            </a:r>
            <a:endParaRPr lang="en-US" sz="1700" dirty="0"/>
          </a:p>
        </p:txBody>
      </p:sp>
      <p:sp>
        <p:nvSpPr>
          <p:cNvPr id="18" name="Text 16"/>
          <p:cNvSpPr/>
          <p:nvPr/>
        </p:nvSpPr>
        <p:spPr>
          <a:xfrm>
            <a:off x="8311896"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Estimate inundated cropland per district to speed crop-loss assessment and insurance claims (e.g. PMFBY).</a:t>
            </a:r>
            <a:endParaRPr lang="en-US" sz="1400" dirty="0"/>
          </a:p>
        </p:txBody>
      </p:sp>
      <p:sp>
        <p:nvSpPr>
          <p:cNvPr id="19" name="Shape 17"/>
          <p:cNvSpPr/>
          <p:nvPr/>
        </p:nvSpPr>
        <p:spPr>
          <a:xfrm>
            <a:off x="548640" y="3886200"/>
            <a:ext cx="3566160" cy="2194560"/>
          </a:xfrm>
          <a:prstGeom prst="rect">
            <a:avLst/>
          </a:prstGeom>
          <a:solidFill>
            <a:srgbClr val="EEF4F8"/>
          </a:solidFill>
          <a:ln w="12700">
            <a:solidFill>
              <a:srgbClr val="EEF4F8"/>
            </a:solidFill>
            <a:prstDash val="solid"/>
          </a:ln>
        </p:spPr>
      </p:sp>
      <p:sp>
        <p:nvSpPr>
          <p:cNvPr id="20" name="Shape 18"/>
          <p:cNvSpPr/>
          <p:nvPr/>
        </p:nvSpPr>
        <p:spPr>
          <a:xfrm>
            <a:off x="548640" y="3886200"/>
            <a:ext cx="73152" cy="2194560"/>
          </a:xfrm>
          <a:prstGeom prst="rect">
            <a:avLst/>
          </a:prstGeom>
          <a:solidFill>
            <a:srgbClr val="0B2545"/>
          </a:solidFill>
          <a:ln w="12700">
            <a:solidFill>
              <a:srgbClr val="0B2545"/>
            </a:solidFill>
            <a:prstDash val="solid"/>
          </a:ln>
        </p:spPr>
      </p:sp>
      <p:sp>
        <p:nvSpPr>
          <p:cNvPr id="21" name="Text 19"/>
          <p:cNvSpPr/>
          <p:nvPr/>
        </p:nvSpPr>
        <p:spPr>
          <a:xfrm>
            <a:off x="777240"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Infrastructure risk</a:t>
            </a:r>
            <a:endParaRPr lang="en-US" sz="1700" dirty="0"/>
          </a:p>
        </p:txBody>
      </p:sp>
      <p:sp>
        <p:nvSpPr>
          <p:cNvPr id="22" name="Text 20"/>
          <p:cNvSpPr/>
          <p:nvPr/>
        </p:nvSpPr>
        <p:spPr>
          <a:xfrm>
            <a:off x="777240"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Flag flooded roads, bridges, substations, hospitals and schools; prioritise restoration.</a:t>
            </a:r>
            <a:endParaRPr lang="en-US" sz="1400" dirty="0"/>
          </a:p>
        </p:txBody>
      </p:sp>
      <p:sp>
        <p:nvSpPr>
          <p:cNvPr id="23" name="Shape 21"/>
          <p:cNvSpPr/>
          <p:nvPr/>
        </p:nvSpPr>
        <p:spPr>
          <a:xfrm>
            <a:off x="4315968" y="3886200"/>
            <a:ext cx="3566160" cy="2194560"/>
          </a:xfrm>
          <a:prstGeom prst="rect">
            <a:avLst/>
          </a:prstGeom>
          <a:solidFill>
            <a:srgbClr val="EEF4F8"/>
          </a:solidFill>
          <a:ln w="12700">
            <a:solidFill>
              <a:srgbClr val="EEF4F8"/>
            </a:solidFill>
            <a:prstDash val="solid"/>
          </a:ln>
        </p:spPr>
      </p:sp>
      <p:sp>
        <p:nvSpPr>
          <p:cNvPr id="24" name="Shape 22"/>
          <p:cNvSpPr/>
          <p:nvPr/>
        </p:nvSpPr>
        <p:spPr>
          <a:xfrm>
            <a:off x="4315968" y="3886200"/>
            <a:ext cx="73152" cy="2194560"/>
          </a:xfrm>
          <a:prstGeom prst="rect">
            <a:avLst/>
          </a:prstGeom>
          <a:solidFill>
            <a:srgbClr val="1C8FA8"/>
          </a:solidFill>
          <a:ln w="12700">
            <a:solidFill>
              <a:srgbClr val="1C8FA8"/>
            </a:solidFill>
            <a:prstDash val="solid"/>
          </a:ln>
        </p:spPr>
      </p:sp>
      <p:sp>
        <p:nvSpPr>
          <p:cNvPr id="25" name="Text 23"/>
          <p:cNvSpPr/>
          <p:nvPr/>
        </p:nvSpPr>
        <p:spPr>
          <a:xfrm>
            <a:off x="4544568"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Hydrological model validation</a:t>
            </a:r>
            <a:endParaRPr lang="en-US" sz="1700" dirty="0"/>
          </a:p>
        </p:txBody>
      </p:sp>
      <p:sp>
        <p:nvSpPr>
          <p:cNvPr id="26" name="Text 24"/>
          <p:cNvSpPr/>
          <p:nvPr/>
        </p:nvSpPr>
        <p:spPr>
          <a:xfrm>
            <a:off x="4544568"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Observed flood extents to calibrate and validate hydrodynamic / rainfall-runoff model simulations.</a:t>
            </a:r>
            <a:endParaRPr lang="en-US" sz="1400" dirty="0"/>
          </a:p>
        </p:txBody>
      </p:sp>
      <p:sp>
        <p:nvSpPr>
          <p:cNvPr id="27" name="Shape 25"/>
          <p:cNvSpPr/>
          <p:nvPr/>
        </p:nvSpPr>
        <p:spPr>
          <a:xfrm>
            <a:off x="8083296" y="3886200"/>
            <a:ext cx="3566160" cy="2194560"/>
          </a:xfrm>
          <a:prstGeom prst="rect">
            <a:avLst/>
          </a:prstGeom>
          <a:solidFill>
            <a:srgbClr val="EEF4F8"/>
          </a:solidFill>
          <a:ln w="12700">
            <a:solidFill>
              <a:srgbClr val="EEF4F8"/>
            </a:solidFill>
            <a:prstDash val="solid"/>
          </a:ln>
        </p:spPr>
      </p:sp>
      <p:sp>
        <p:nvSpPr>
          <p:cNvPr id="28" name="Shape 26"/>
          <p:cNvSpPr/>
          <p:nvPr/>
        </p:nvSpPr>
        <p:spPr>
          <a:xfrm>
            <a:off x="8083296" y="3886200"/>
            <a:ext cx="73152" cy="2194560"/>
          </a:xfrm>
          <a:prstGeom prst="rect">
            <a:avLst/>
          </a:prstGeom>
          <a:solidFill>
            <a:srgbClr val="D1495B"/>
          </a:solidFill>
          <a:ln w="12700">
            <a:solidFill>
              <a:srgbClr val="D1495B"/>
            </a:solidFill>
            <a:prstDash val="solid"/>
          </a:ln>
        </p:spPr>
      </p:sp>
      <p:sp>
        <p:nvSpPr>
          <p:cNvPr id="29" name="Text 27"/>
          <p:cNvSpPr/>
          <p:nvPr/>
        </p:nvSpPr>
        <p:spPr>
          <a:xfrm>
            <a:off x="8311896"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Flood-risk planning</a:t>
            </a:r>
            <a:endParaRPr lang="en-US" sz="1700" dirty="0"/>
          </a:p>
        </p:txBody>
      </p:sp>
      <p:sp>
        <p:nvSpPr>
          <p:cNvPr id="30" name="Text 28"/>
          <p:cNvSpPr/>
          <p:nvPr/>
        </p:nvSpPr>
        <p:spPr>
          <a:xfrm>
            <a:off x="8311896"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Build multi-year inundation frequency maps to support zoning, embankment planning and climate-risk studies.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Physics track: the Saint-Venant equations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1-D shallow-water equations governing unsteady open-channel flow, the basis of flood routing</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17</a:t>
            </a:r>
            <a:endParaRPr lang="en-US" sz="1000" dirty="0"/>
          </a:p>
        </p:txBody>
      </p:sp>
      <p:sp>
        <p:nvSpPr>
          <p:cNvPr id="7" name="Shape 5"/>
          <p:cNvSpPr/>
          <p:nvPr/>
        </p:nvSpPr>
        <p:spPr>
          <a:xfrm>
            <a:off x="548640" y="1508760"/>
            <a:ext cx="6583680" cy="2651760"/>
          </a:xfrm>
          <a:prstGeom prst="rect">
            <a:avLst/>
          </a:prstGeom>
          <a:solidFill>
            <a:srgbClr val="0B2545"/>
          </a:solidFill>
          <a:ln/>
        </p:spPr>
      </p:sp>
      <p:sp>
        <p:nvSpPr>
          <p:cNvPr id="8" name="Text 6"/>
          <p:cNvSpPr/>
          <p:nvPr/>
        </p:nvSpPr>
        <p:spPr>
          <a:xfrm>
            <a:off x="822960" y="1645920"/>
            <a:ext cx="6217920" cy="2468880"/>
          </a:xfrm>
          <a:prstGeom prst="rect">
            <a:avLst/>
          </a:prstGeom>
          <a:noFill/>
          <a:ln/>
        </p:spPr>
        <p:txBody>
          <a:bodyPr wrap="square" lIns="0" tIns="0" rIns="0" bIns="0" rtlCol="0" anchor="t"/>
          <a:lstStyle/>
          <a:p>
            <a:pPr indent="0" marL="0">
              <a:buNone/>
            </a:pPr>
            <a:r>
              <a:rPr lang="en-US" sz="1500" b="1" dirty="0">
                <a:solidFill>
                  <a:srgbClr val="13A89E"/>
                </a:solidFill>
                <a:latin typeface="Calibri" pitchFamily="34" charset="0"/>
                <a:ea typeface="Calibri" pitchFamily="34" charset="-122"/>
                <a:cs typeface="Calibri" pitchFamily="34" charset="-120"/>
              </a:rPr>
              <a:t>Continuity (mass)</a:t>
            </a:r>
            <a:endParaRPr lang="en-US" sz="1500" dirty="0"/>
          </a:p>
          <a:p>
            <a:pPr indent="0" marL="0">
              <a:spcAft>
                <a:spcPts val="1200"/>
              </a:spcAft>
              <a:buNone/>
            </a:pPr>
            <a:r>
              <a:rPr lang="en-US" sz="2400" dirty="0">
                <a:solidFill>
                  <a:srgbClr val="FFFFFF"/>
                </a:solidFill>
                <a:latin typeface="Calibri" pitchFamily="34" charset="0"/>
                <a:ea typeface="Calibri" pitchFamily="34" charset="-122"/>
                <a:cs typeface="Calibri" pitchFamily="34" charset="-120"/>
              </a:rPr>
              <a:t>∂A/∂t + ∂Q/∂x = q</a:t>
            </a:r>
            <a:endParaRPr lang="en-US" sz="1500" dirty="0"/>
          </a:p>
          <a:p>
            <a:pPr indent="0" marL="0">
              <a:buNone/>
            </a:pPr>
            <a:r>
              <a:rPr lang="en-US" sz="1500" b="1" dirty="0">
                <a:solidFill>
                  <a:srgbClr val="13A89E"/>
                </a:solidFill>
                <a:latin typeface="Calibri" pitchFamily="34" charset="0"/>
                <a:ea typeface="Calibri" pitchFamily="34" charset="-122"/>
                <a:cs typeface="Calibri" pitchFamily="34" charset="-120"/>
              </a:rPr>
              <a:t>Momentum</a:t>
            </a:r>
            <a:endParaRPr lang="en-US" sz="1500" dirty="0"/>
          </a:p>
          <a:p>
            <a:pPr indent="0" marL="0">
              <a:buNone/>
            </a:pPr>
            <a:r>
              <a:rPr lang="en-US" sz="2200" dirty="0">
                <a:solidFill>
                  <a:srgbClr val="FFFFFF"/>
                </a:solidFill>
                <a:latin typeface="Calibri" pitchFamily="34" charset="0"/>
                <a:ea typeface="Calibri" pitchFamily="34" charset="-122"/>
                <a:cs typeface="Calibri" pitchFamily="34" charset="-120"/>
              </a:rPr>
              <a:t>∂Q/∂t + ∂(Q</a:t>
            </a:r>
            <a:pPr indent="0" marL="0">
              <a:buNone/>
            </a:pPr>
            <a:r>
              <a:rPr lang="en-US" sz="2200" baseline="30000" dirty="0">
                <a:solidFill>
                  <a:srgbClr val="FFFFFF"/>
                </a:solidFill>
                <a:latin typeface="Calibri" pitchFamily="34" charset="0"/>
                <a:ea typeface="Calibri" pitchFamily="34" charset="-122"/>
                <a:cs typeface="Calibri" pitchFamily="34" charset="-120"/>
              </a:rPr>
              <a:t>2</a:t>
            </a:r>
            <a:pPr indent="0" marL="0">
              <a:buNone/>
            </a:pPr>
            <a:r>
              <a:rPr lang="en-US" sz="2200" dirty="0">
                <a:solidFill>
                  <a:srgbClr val="FFFFFF"/>
                </a:solidFill>
                <a:latin typeface="Calibri" pitchFamily="34" charset="0"/>
                <a:ea typeface="Calibri" pitchFamily="34" charset="-122"/>
                <a:cs typeface="Calibri" pitchFamily="34" charset="-120"/>
              </a:rPr>
              <a:t>/A)/∂x + gA ∂h/∂x = gA (S</a:t>
            </a:r>
            <a:pPr indent="0" marL="0">
              <a:buNone/>
            </a:pPr>
            <a:r>
              <a:rPr lang="en-US" sz="2200" baseline="-40000" dirty="0">
                <a:solidFill>
                  <a:srgbClr val="FFFFFF"/>
                </a:solidFill>
                <a:latin typeface="Calibri" pitchFamily="34" charset="0"/>
                <a:ea typeface="Calibri" pitchFamily="34" charset="-122"/>
                <a:cs typeface="Calibri" pitchFamily="34" charset="-120"/>
              </a:rPr>
              <a:t>0</a:t>
            </a:r>
            <a:pPr indent="0" marL="0">
              <a:buNone/>
            </a:pPr>
            <a:r>
              <a:rPr lang="en-US" sz="2200" dirty="0">
                <a:solidFill>
                  <a:srgbClr val="FFFFFF"/>
                </a:solidFill>
                <a:latin typeface="Calibri" pitchFamily="34" charset="0"/>
                <a:ea typeface="Calibri" pitchFamily="34" charset="-122"/>
                <a:cs typeface="Calibri" pitchFamily="34" charset="-120"/>
              </a:rPr>
              <a:t> − S</a:t>
            </a:r>
            <a:pPr indent="0" marL="0">
              <a:buNone/>
            </a:pPr>
            <a:r>
              <a:rPr lang="en-US" sz="2200" baseline="-40000" dirty="0">
                <a:solidFill>
                  <a:srgbClr val="FFFFFF"/>
                </a:solidFill>
                <a:latin typeface="Calibri" pitchFamily="34" charset="0"/>
                <a:ea typeface="Calibri" pitchFamily="34" charset="-122"/>
                <a:cs typeface="Calibri" pitchFamily="34" charset="-120"/>
              </a:rPr>
              <a:t>f</a:t>
            </a:r>
            <a:pPr indent="0" marL="0">
              <a:spcAft>
                <a:spcPts val="1200"/>
              </a:spcAft>
              <a:buNone/>
            </a:pPr>
            <a:r>
              <a:rPr lang="en-US" sz="2200" dirty="0">
                <a:solidFill>
                  <a:srgbClr val="FFFFFF"/>
                </a:solidFill>
                <a:latin typeface="Calibri" pitchFamily="34" charset="0"/>
                <a:ea typeface="Calibri" pitchFamily="34" charset="-122"/>
                <a:cs typeface="Calibri" pitchFamily="34" charset="-120"/>
              </a:rPr>
              <a:t>)</a:t>
            </a:r>
            <a:endParaRPr lang="en-US" sz="1500" dirty="0"/>
          </a:p>
          <a:p>
            <a:pPr indent="0" marL="0">
              <a:buNone/>
            </a:pPr>
            <a:r>
              <a:rPr lang="en-US" sz="1600" dirty="0">
                <a:solidFill>
                  <a:srgbClr val="CFE3F0"/>
                </a:solidFill>
                <a:latin typeface="Calibri" pitchFamily="34" charset="0"/>
                <a:ea typeface="Calibri" pitchFamily="34" charset="-122"/>
                <a:cs typeface="Calibri" pitchFamily="34" charset="-120"/>
              </a:rPr>
              <a:t>Friction (Manning):  S</a:t>
            </a:r>
            <a:pPr indent="0" marL="0">
              <a:buNone/>
            </a:pPr>
            <a:r>
              <a:rPr lang="en-US" sz="1600" baseline="-40000" dirty="0">
                <a:solidFill>
                  <a:srgbClr val="FFFFFF"/>
                </a:solidFill>
                <a:latin typeface="Calibri" pitchFamily="34" charset="0"/>
                <a:ea typeface="Calibri" pitchFamily="34" charset="-122"/>
                <a:cs typeface="Calibri" pitchFamily="34" charset="-120"/>
              </a:rPr>
              <a:t>f</a:t>
            </a:r>
            <a:pPr indent="0" marL="0">
              <a:buNone/>
            </a:pPr>
            <a:r>
              <a:rPr lang="en-US" sz="1600" dirty="0">
                <a:solidFill>
                  <a:srgbClr val="CFE3F0"/>
                </a:solidFill>
                <a:latin typeface="Calibri" pitchFamily="34" charset="0"/>
                <a:ea typeface="Calibri" pitchFamily="34" charset="-122"/>
                <a:cs typeface="Calibri" pitchFamily="34" charset="-120"/>
              </a:rPr>
              <a:t> = n</a:t>
            </a:r>
            <a:pPr indent="0" marL="0">
              <a:buNone/>
            </a:pPr>
            <a:r>
              <a:rPr lang="en-US" sz="1600" baseline="30000" dirty="0">
                <a:solidFill>
                  <a:srgbClr val="FFFFFF"/>
                </a:solidFill>
                <a:latin typeface="Calibri" pitchFamily="34" charset="0"/>
                <a:ea typeface="Calibri" pitchFamily="34" charset="-122"/>
                <a:cs typeface="Calibri" pitchFamily="34" charset="-120"/>
              </a:rPr>
              <a:t>2</a:t>
            </a:r>
            <a:pPr indent="0" marL="0">
              <a:buNone/>
            </a:pPr>
            <a:r>
              <a:rPr lang="en-US" sz="1600" dirty="0">
                <a:solidFill>
                  <a:srgbClr val="CFE3F0"/>
                </a:solidFill>
                <a:latin typeface="Calibri" pitchFamily="34" charset="0"/>
                <a:ea typeface="Calibri" pitchFamily="34" charset="-122"/>
                <a:cs typeface="Calibri" pitchFamily="34" charset="-120"/>
              </a:rPr>
              <a:t> Q|Q| / (A</a:t>
            </a:r>
            <a:pPr indent="0" marL="0">
              <a:buNone/>
            </a:pPr>
            <a:r>
              <a:rPr lang="en-US" sz="1600" baseline="30000" dirty="0">
                <a:solidFill>
                  <a:srgbClr val="FFFFFF"/>
                </a:solidFill>
                <a:latin typeface="Calibri" pitchFamily="34" charset="0"/>
                <a:ea typeface="Calibri" pitchFamily="34" charset="-122"/>
                <a:cs typeface="Calibri" pitchFamily="34" charset="-120"/>
              </a:rPr>
              <a:t>2</a:t>
            </a:r>
            <a:pPr indent="0" marL="0">
              <a:buNone/>
            </a:pPr>
            <a:r>
              <a:rPr lang="en-US" sz="1600" dirty="0">
                <a:solidFill>
                  <a:srgbClr val="CFE3F0"/>
                </a:solidFill>
                <a:latin typeface="Calibri" pitchFamily="34" charset="0"/>
                <a:ea typeface="Calibri" pitchFamily="34" charset="-122"/>
                <a:cs typeface="Calibri" pitchFamily="34" charset="-120"/>
              </a:rPr>
              <a:t> R</a:t>
            </a:r>
            <a:pPr indent="0" marL="0">
              <a:buNone/>
            </a:pPr>
            <a:r>
              <a:rPr lang="en-US" sz="1600" baseline="30000" dirty="0">
                <a:solidFill>
                  <a:srgbClr val="FFFFFF"/>
                </a:solidFill>
                <a:latin typeface="Calibri" pitchFamily="34" charset="0"/>
                <a:ea typeface="Calibri" pitchFamily="34" charset="-122"/>
                <a:cs typeface="Calibri" pitchFamily="34" charset="-120"/>
              </a:rPr>
              <a:t>4/3</a:t>
            </a:r>
            <a:pPr indent="0" marL="0">
              <a:buNone/>
            </a:pPr>
            <a:r>
              <a:rPr lang="en-US" sz="1600" dirty="0">
                <a:solidFill>
                  <a:srgbClr val="CFE3F0"/>
                </a:solidFill>
                <a:latin typeface="Calibri" pitchFamily="34" charset="0"/>
                <a:ea typeface="Calibri" pitchFamily="34" charset="-122"/>
                <a:cs typeface="Calibri" pitchFamily="34" charset="-120"/>
              </a:rPr>
              <a:t>)</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06640" y="1508760"/>
          <a:ext cx="4233672" cy="914400"/>
        </p:xfrm>
        <a:graphic>
          <a:graphicData uri="http://schemas.openxmlformats.org/drawingml/2006/table">
            <a:tbl>
              <a:tblPr/>
              <a:tblGrid>
                <a:gridCol w="914400"/>
                <a:gridCol w="3319272"/>
              </a:tblGrid>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Flow area (m²)</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Q</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Discharge (m³/s)</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h</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Water depth (m)</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q</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Lateral inflow per unit length</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S₀</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Bed slope</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Sf</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Friction slope</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374904">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n, R</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Manning coefficient, hydraulic radius</a:t>
                      </a:r>
                      <a:endParaRPr lang="en-US" sz="13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10" name="Text 7"/>
          <p:cNvSpPr/>
          <p:nvPr/>
        </p:nvSpPr>
        <p:spPr>
          <a:xfrm>
            <a:off x="548640" y="4389120"/>
            <a:ext cx="1097280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Simplifications used in practice</a:t>
            </a:r>
            <a:endParaRPr lang="en-US" sz="1700" dirty="0"/>
          </a:p>
        </p:txBody>
      </p:sp>
      <p:sp>
        <p:nvSpPr>
          <p:cNvPr id="11" name="Shape 8"/>
          <p:cNvSpPr/>
          <p:nvPr/>
        </p:nvSpPr>
        <p:spPr>
          <a:xfrm>
            <a:off x="548640" y="4800600"/>
            <a:ext cx="3566160" cy="1371600"/>
          </a:xfrm>
          <a:prstGeom prst="rect">
            <a:avLst/>
          </a:prstGeom>
          <a:solidFill>
            <a:srgbClr val="EEF4F8"/>
          </a:solidFill>
          <a:ln w="12700">
            <a:solidFill>
              <a:srgbClr val="EEF4F8"/>
            </a:solidFill>
            <a:prstDash val="solid"/>
          </a:ln>
        </p:spPr>
      </p:sp>
      <p:sp>
        <p:nvSpPr>
          <p:cNvPr id="12" name="Shape 9"/>
          <p:cNvSpPr/>
          <p:nvPr/>
        </p:nvSpPr>
        <p:spPr>
          <a:xfrm>
            <a:off x="548640" y="4800600"/>
            <a:ext cx="73152" cy="1371600"/>
          </a:xfrm>
          <a:prstGeom prst="rect">
            <a:avLst/>
          </a:prstGeom>
          <a:solidFill>
            <a:srgbClr val="13A89E"/>
          </a:solidFill>
          <a:ln w="12700">
            <a:solidFill>
              <a:srgbClr val="13A89E"/>
            </a:solidFill>
            <a:prstDash val="solid"/>
          </a:ln>
        </p:spPr>
      </p:sp>
      <p:sp>
        <p:nvSpPr>
          <p:cNvPr id="13" name="Text 10"/>
          <p:cNvSpPr/>
          <p:nvPr/>
        </p:nvSpPr>
        <p:spPr>
          <a:xfrm>
            <a:off x="777240" y="49103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Kinematic wave</a:t>
            </a:r>
            <a:endParaRPr lang="en-US" sz="1700" dirty="0"/>
          </a:p>
        </p:txBody>
      </p:sp>
      <p:sp>
        <p:nvSpPr>
          <p:cNvPr id="14" name="Text 11"/>
          <p:cNvSpPr/>
          <p:nvPr/>
        </p:nvSpPr>
        <p:spPr>
          <a:xfrm>
            <a:off x="777240" y="5349240"/>
            <a:ext cx="32004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Friction = gravity; no backwater. Steep rivers.</a:t>
            </a:r>
            <a:endParaRPr lang="en-US" sz="1400" dirty="0"/>
          </a:p>
        </p:txBody>
      </p:sp>
      <p:sp>
        <p:nvSpPr>
          <p:cNvPr id="15" name="Shape 12"/>
          <p:cNvSpPr/>
          <p:nvPr/>
        </p:nvSpPr>
        <p:spPr>
          <a:xfrm>
            <a:off x="4315968" y="4800600"/>
            <a:ext cx="3566160" cy="1371600"/>
          </a:xfrm>
          <a:prstGeom prst="rect">
            <a:avLst/>
          </a:prstGeom>
          <a:solidFill>
            <a:srgbClr val="EEF4F8"/>
          </a:solidFill>
          <a:ln w="12700">
            <a:solidFill>
              <a:srgbClr val="EEF4F8"/>
            </a:solidFill>
            <a:prstDash val="solid"/>
          </a:ln>
        </p:spPr>
      </p:sp>
      <p:sp>
        <p:nvSpPr>
          <p:cNvPr id="16" name="Shape 13"/>
          <p:cNvSpPr/>
          <p:nvPr/>
        </p:nvSpPr>
        <p:spPr>
          <a:xfrm>
            <a:off x="4315968" y="4800600"/>
            <a:ext cx="73152" cy="1371600"/>
          </a:xfrm>
          <a:prstGeom prst="rect">
            <a:avLst/>
          </a:prstGeom>
          <a:solidFill>
            <a:srgbClr val="1F6FB2"/>
          </a:solidFill>
          <a:ln w="12700">
            <a:solidFill>
              <a:srgbClr val="1F6FB2"/>
            </a:solidFill>
            <a:prstDash val="solid"/>
          </a:ln>
        </p:spPr>
      </p:sp>
      <p:sp>
        <p:nvSpPr>
          <p:cNvPr id="17" name="Text 14"/>
          <p:cNvSpPr/>
          <p:nvPr/>
        </p:nvSpPr>
        <p:spPr>
          <a:xfrm>
            <a:off x="4544568" y="49103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Diffusive wave</a:t>
            </a:r>
            <a:endParaRPr lang="en-US" sz="1700" dirty="0"/>
          </a:p>
        </p:txBody>
      </p:sp>
      <p:sp>
        <p:nvSpPr>
          <p:cNvPr id="18" name="Text 15"/>
          <p:cNvSpPr/>
          <p:nvPr/>
        </p:nvSpPr>
        <p:spPr>
          <a:xfrm>
            <a:off x="4544568" y="5349240"/>
            <a:ext cx="32004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Adds the pressure (depth-gradient) term; captures attenuation.</a:t>
            </a:r>
            <a:endParaRPr lang="en-US" sz="1400" dirty="0"/>
          </a:p>
        </p:txBody>
      </p:sp>
      <p:sp>
        <p:nvSpPr>
          <p:cNvPr id="19" name="Shape 16"/>
          <p:cNvSpPr/>
          <p:nvPr/>
        </p:nvSpPr>
        <p:spPr>
          <a:xfrm>
            <a:off x="8083296" y="4800600"/>
            <a:ext cx="3566160" cy="1371600"/>
          </a:xfrm>
          <a:prstGeom prst="rect">
            <a:avLst/>
          </a:prstGeom>
          <a:solidFill>
            <a:srgbClr val="EEF4F8"/>
          </a:solidFill>
          <a:ln w="12700">
            <a:solidFill>
              <a:srgbClr val="EEF4F8"/>
            </a:solidFill>
            <a:prstDash val="solid"/>
          </a:ln>
        </p:spPr>
      </p:sp>
      <p:sp>
        <p:nvSpPr>
          <p:cNvPr id="20" name="Shape 17"/>
          <p:cNvSpPr/>
          <p:nvPr/>
        </p:nvSpPr>
        <p:spPr>
          <a:xfrm>
            <a:off x="8083296" y="4800600"/>
            <a:ext cx="73152" cy="1371600"/>
          </a:xfrm>
          <a:prstGeom prst="rect">
            <a:avLst/>
          </a:prstGeom>
          <a:solidFill>
            <a:srgbClr val="0B2545"/>
          </a:solidFill>
          <a:ln w="12700">
            <a:solidFill>
              <a:srgbClr val="0B2545"/>
            </a:solidFill>
            <a:prstDash val="solid"/>
          </a:ln>
        </p:spPr>
      </p:sp>
      <p:sp>
        <p:nvSpPr>
          <p:cNvPr id="21" name="Text 18"/>
          <p:cNvSpPr/>
          <p:nvPr/>
        </p:nvSpPr>
        <p:spPr>
          <a:xfrm>
            <a:off x="8311896" y="49103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Dynamic wave</a:t>
            </a:r>
            <a:endParaRPr lang="en-US" sz="1700" dirty="0"/>
          </a:p>
        </p:txBody>
      </p:sp>
      <p:sp>
        <p:nvSpPr>
          <p:cNvPr id="22" name="Text 19"/>
          <p:cNvSpPr/>
          <p:nvPr/>
        </p:nvSpPr>
        <p:spPr>
          <a:xfrm>
            <a:off x="8311896" y="5349240"/>
            <a:ext cx="3200400" cy="7315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Full equations; needed for tides, dam-break, flat reaches.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Applications of the Saint-Venant equations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Where the equations are used, and how they connect to our ML flood maps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548640" y="1508760"/>
            <a:ext cx="3566160" cy="2194560"/>
          </a:xfrm>
          <a:prstGeom prst="rect">
            <a:avLst/>
          </a:prstGeom>
          <a:solidFill>
            <a:srgbClr val="EEF4F8"/>
          </a:solidFill>
          <a:ln w="12700">
            <a:solidFill>
              <a:srgbClr val="EEF4F8"/>
            </a:solidFill>
            <a:prstDash val="solid"/>
          </a:ln>
        </p:spPr>
      </p:sp>
      <p:sp>
        <p:nvSpPr>
          <p:cNvPr id="8" name="Shape 6"/>
          <p:cNvSpPr/>
          <p:nvPr/>
        </p:nvSpPr>
        <p:spPr>
          <a:xfrm>
            <a:off x="548640" y="1508760"/>
            <a:ext cx="73152" cy="2194560"/>
          </a:xfrm>
          <a:prstGeom prst="rect">
            <a:avLst/>
          </a:prstGeom>
          <a:solidFill>
            <a:srgbClr val="13A89E"/>
          </a:solidFill>
          <a:ln w="12700">
            <a:solidFill>
              <a:srgbClr val="13A89E"/>
            </a:solidFill>
            <a:prstDash val="solid"/>
          </a:ln>
        </p:spPr>
      </p:sp>
      <p:sp>
        <p:nvSpPr>
          <p:cNvPr id="9" name="Text 7"/>
          <p:cNvSpPr/>
          <p:nvPr/>
        </p:nvSpPr>
        <p:spPr>
          <a:xfrm>
            <a:off x="777240"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Flood routing &amp; forecasting</a:t>
            </a:r>
            <a:endParaRPr lang="en-US" sz="1700" dirty="0"/>
          </a:p>
        </p:txBody>
      </p:sp>
      <p:sp>
        <p:nvSpPr>
          <p:cNvPr id="10" name="Text 8"/>
          <p:cNvSpPr/>
          <p:nvPr/>
        </p:nvSpPr>
        <p:spPr>
          <a:xfrm>
            <a:off x="777240"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Propagating an upstream flood hydrograph downstream to predict peak discharge, stage and arrival time.</a:t>
            </a:r>
            <a:endParaRPr lang="en-US" sz="1400" dirty="0"/>
          </a:p>
        </p:txBody>
      </p:sp>
      <p:sp>
        <p:nvSpPr>
          <p:cNvPr id="11" name="Shape 9"/>
          <p:cNvSpPr/>
          <p:nvPr/>
        </p:nvSpPr>
        <p:spPr>
          <a:xfrm>
            <a:off x="4315968" y="1508760"/>
            <a:ext cx="3566160" cy="2194560"/>
          </a:xfrm>
          <a:prstGeom prst="rect">
            <a:avLst/>
          </a:prstGeom>
          <a:solidFill>
            <a:srgbClr val="EEF4F8"/>
          </a:solidFill>
          <a:ln w="12700">
            <a:solidFill>
              <a:srgbClr val="EEF4F8"/>
            </a:solidFill>
            <a:prstDash val="solid"/>
          </a:ln>
        </p:spPr>
      </p:sp>
      <p:sp>
        <p:nvSpPr>
          <p:cNvPr id="12" name="Shape 10"/>
          <p:cNvSpPr/>
          <p:nvPr/>
        </p:nvSpPr>
        <p:spPr>
          <a:xfrm>
            <a:off x="4315968" y="1508760"/>
            <a:ext cx="73152" cy="2194560"/>
          </a:xfrm>
          <a:prstGeom prst="rect">
            <a:avLst/>
          </a:prstGeom>
          <a:solidFill>
            <a:srgbClr val="1F6FB2"/>
          </a:solidFill>
          <a:ln w="12700">
            <a:solidFill>
              <a:srgbClr val="1F6FB2"/>
            </a:solidFill>
            <a:prstDash val="solid"/>
          </a:ln>
        </p:spPr>
      </p:sp>
      <p:sp>
        <p:nvSpPr>
          <p:cNvPr id="13" name="Text 11"/>
          <p:cNvSpPr/>
          <p:nvPr/>
        </p:nvSpPr>
        <p:spPr>
          <a:xfrm>
            <a:off x="4544568"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Dam-break &amp; reservoir release</a:t>
            </a:r>
            <a:endParaRPr lang="en-US" sz="1700" dirty="0"/>
          </a:p>
        </p:txBody>
      </p:sp>
      <p:sp>
        <p:nvSpPr>
          <p:cNvPr id="14" name="Text 12"/>
          <p:cNvSpPr/>
          <p:nvPr/>
        </p:nvSpPr>
        <p:spPr>
          <a:xfrm>
            <a:off x="4544568"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Simulating release or failure waves below dams; directly relevant to reservoir operations such as those seen at Pawna.</a:t>
            </a:r>
            <a:endParaRPr lang="en-US" sz="1400" dirty="0"/>
          </a:p>
        </p:txBody>
      </p:sp>
      <p:sp>
        <p:nvSpPr>
          <p:cNvPr id="15" name="Shape 13"/>
          <p:cNvSpPr/>
          <p:nvPr/>
        </p:nvSpPr>
        <p:spPr>
          <a:xfrm>
            <a:off x="8083296" y="1508760"/>
            <a:ext cx="3566160" cy="2194560"/>
          </a:xfrm>
          <a:prstGeom prst="rect">
            <a:avLst/>
          </a:prstGeom>
          <a:solidFill>
            <a:srgbClr val="EEF4F8"/>
          </a:solidFill>
          <a:ln w="12700">
            <a:solidFill>
              <a:srgbClr val="EEF4F8"/>
            </a:solidFill>
            <a:prstDash val="solid"/>
          </a:ln>
        </p:spPr>
      </p:sp>
      <p:sp>
        <p:nvSpPr>
          <p:cNvPr id="16" name="Shape 14"/>
          <p:cNvSpPr/>
          <p:nvPr/>
        </p:nvSpPr>
        <p:spPr>
          <a:xfrm>
            <a:off x="8083296" y="1508760"/>
            <a:ext cx="73152" cy="2194560"/>
          </a:xfrm>
          <a:prstGeom prst="rect">
            <a:avLst/>
          </a:prstGeom>
          <a:solidFill>
            <a:srgbClr val="E8A33D"/>
          </a:solidFill>
          <a:ln w="12700">
            <a:solidFill>
              <a:srgbClr val="E8A33D"/>
            </a:solidFill>
            <a:prstDash val="solid"/>
          </a:ln>
        </p:spPr>
      </p:sp>
      <p:sp>
        <p:nvSpPr>
          <p:cNvPr id="17" name="Text 15"/>
          <p:cNvSpPr/>
          <p:nvPr/>
        </p:nvSpPr>
        <p:spPr>
          <a:xfrm>
            <a:off x="8311896"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Inundation modelling</a:t>
            </a:r>
            <a:endParaRPr lang="en-US" sz="1700" dirty="0"/>
          </a:p>
        </p:txBody>
      </p:sp>
      <p:sp>
        <p:nvSpPr>
          <p:cNvPr id="18" name="Text 16"/>
          <p:cNvSpPr/>
          <p:nvPr/>
        </p:nvSpPr>
        <p:spPr>
          <a:xfrm>
            <a:off x="8311896"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1-D/2-D hydrodynamic models (e.g. HEC-RAS, LISFLOOD-FP) predict flood extent and depth on the floodplain.</a:t>
            </a:r>
            <a:endParaRPr lang="en-US" sz="1400" dirty="0"/>
          </a:p>
        </p:txBody>
      </p:sp>
      <p:sp>
        <p:nvSpPr>
          <p:cNvPr id="19" name="Shape 17"/>
          <p:cNvSpPr/>
          <p:nvPr/>
        </p:nvSpPr>
        <p:spPr>
          <a:xfrm>
            <a:off x="548640" y="3886200"/>
            <a:ext cx="3566160" cy="2194560"/>
          </a:xfrm>
          <a:prstGeom prst="rect">
            <a:avLst/>
          </a:prstGeom>
          <a:solidFill>
            <a:srgbClr val="EEF4F8"/>
          </a:solidFill>
          <a:ln w="12700">
            <a:solidFill>
              <a:srgbClr val="EEF4F8"/>
            </a:solidFill>
            <a:prstDash val="solid"/>
          </a:ln>
        </p:spPr>
      </p:sp>
      <p:sp>
        <p:nvSpPr>
          <p:cNvPr id="20" name="Shape 18"/>
          <p:cNvSpPr/>
          <p:nvPr/>
        </p:nvSpPr>
        <p:spPr>
          <a:xfrm>
            <a:off x="548640" y="3886200"/>
            <a:ext cx="73152" cy="2194560"/>
          </a:xfrm>
          <a:prstGeom prst="rect">
            <a:avLst/>
          </a:prstGeom>
          <a:solidFill>
            <a:srgbClr val="0B2545"/>
          </a:solidFill>
          <a:ln w="12700">
            <a:solidFill>
              <a:srgbClr val="0B2545"/>
            </a:solidFill>
            <a:prstDash val="solid"/>
          </a:ln>
        </p:spPr>
      </p:sp>
      <p:sp>
        <p:nvSpPr>
          <p:cNvPr id="21" name="Text 19"/>
          <p:cNvSpPr/>
          <p:nvPr/>
        </p:nvSpPr>
        <p:spPr>
          <a:xfrm>
            <a:off x="777240"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River engineering</a:t>
            </a:r>
            <a:endParaRPr lang="en-US" sz="1700" dirty="0"/>
          </a:p>
        </p:txBody>
      </p:sp>
      <p:sp>
        <p:nvSpPr>
          <p:cNvPr id="22" name="Text 20"/>
          <p:cNvSpPr/>
          <p:nvPr/>
        </p:nvSpPr>
        <p:spPr>
          <a:xfrm>
            <a:off x="777240"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Designing embankments, bridges and channel works for design floods; backwater analysis.</a:t>
            </a:r>
            <a:endParaRPr lang="en-US" sz="1400" dirty="0"/>
          </a:p>
        </p:txBody>
      </p:sp>
      <p:sp>
        <p:nvSpPr>
          <p:cNvPr id="23" name="Shape 21"/>
          <p:cNvSpPr/>
          <p:nvPr/>
        </p:nvSpPr>
        <p:spPr>
          <a:xfrm>
            <a:off x="4315968" y="3886200"/>
            <a:ext cx="3566160" cy="2194560"/>
          </a:xfrm>
          <a:prstGeom prst="rect">
            <a:avLst/>
          </a:prstGeom>
          <a:solidFill>
            <a:srgbClr val="EEF4F8"/>
          </a:solidFill>
          <a:ln w="12700">
            <a:solidFill>
              <a:srgbClr val="EEF4F8"/>
            </a:solidFill>
            <a:prstDash val="solid"/>
          </a:ln>
        </p:spPr>
      </p:sp>
      <p:sp>
        <p:nvSpPr>
          <p:cNvPr id="24" name="Shape 22"/>
          <p:cNvSpPr/>
          <p:nvPr/>
        </p:nvSpPr>
        <p:spPr>
          <a:xfrm>
            <a:off x="4315968" y="3886200"/>
            <a:ext cx="73152" cy="2194560"/>
          </a:xfrm>
          <a:prstGeom prst="rect">
            <a:avLst/>
          </a:prstGeom>
          <a:solidFill>
            <a:srgbClr val="1C8FA8"/>
          </a:solidFill>
          <a:ln w="12700">
            <a:solidFill>
              <a:srgbClr val="1C8FA8"/>
            </a:solidFill>
            <a:prstDash val="solid"/>
          </a:ln>
        </p:spPr>
      </p:sp>
      <p:sp>
        <p:nvSpPr>
          <p:cNvPr id="25" name="Text 23"/>
          <p:cNvSpPr/>
          <p:nvPr/>
        </p:nvSpPr>
        <p:spPr>
          <a:xfrm>
            <a:off x="4544568"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Irrigation &amp; canal operation</a:t>
            </a:r>
            <a:endParaRPr lang="en-US" sz="1700" dirty="0"/>
          </a:p>
        </p:txBody>
      </p:sp>
      <p:sp>
        <p:nvSpPr>
          <p:cNvPr id="26" name="Text 24"/>
          <p:cNvSpPr/>
          <p:nvPr/>
        </p:nvSpPr>
        <p:spPr>
          <a:xfrm>
            <a:off x="4544568"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Unsteady flow control in canals and gate-scheduling.</a:t>
            </a:r>
            <a:endParaRPr lang="en-US" sz="1400" dirty="0"/>
          </a:p>
        </p:txBody>
      </p:sp>
      <p:sp>
        <p:nvSpPr>
          <p:cNvPr id="27" name="Shape 25"/>
          <p:cNvSpPr/>
          <p:nvPr/>
        </p:nvSpPr>
        <p:spPr>
          <a:xfrm>
            <a:off x="8083296" y="3886200"/>
            <a:ext cx="3566160" cy="2194560"/>
          </a:xfrm>
          <a:prstGeom prst="rect">
            <a:avLst/>
          </a:prstGeom>
          <a:solidFill>
            <a:srgbClr val="EEF4F8"/>
          </a:solidFill>
          <a:ln w="12700">
            <a:solidFill>
              <a:srgbClr val="EEF4F8"/>
            </a:solidFill>
            <a:prstDash val="solid"/>
          </a:ln>
        </p:spPr>
      </p:sp>
      <p:sp>
        <p:nvSpPr>
          <p:cNvPr id="28" name="Shape 26"/>
          <p:cNvSpPr/>
          <p:nvPr/>
        </p:nvSpPr>
        <p:spPr>
          <a:xfrm>
            <a:off x="8083296" y="3886200"/>
            <a:ext cx="73152" cy="2194560"/>
          </a:xfrm>
          <a:prstGeom prst="rect">
            <a:avLst/>
          </a:prstGeom>
          <a:solidFill>
            <a:srgbClr val="D1495B"/>
          </a:solidFill>
          <a:ln w="12700">
            <a:solidFill>
              <a:srgbClr val="D1495B"/>
            </a:solidFill>
            <a:prstDash val="solid"/>
          </a:ln>
        </p:spPr>
      </p:sp>
      <p:sp>
        <p:nvSpPr>
          <p:cNvPr id="29" name="Text 27"/>
          <p:cNvSpPr/>
          <p:nvPr/>
        </p:nvSpPr>
        <p:spPr>
          <a:xfrm>
            <a:off x="8311896"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Link to Prithvi Flood-IN</a:t>
            </a:r>
            <a:endParaRPr lang="en-US" sz="1700" dirty="0"/>
          </a:p>
        </p:txBody>
      </p:sp>
      <p:sp>
        <p:nvSpPr>
          <p:cNvPr id="30" name="Text 28"/>
          <p:cNvSpPr/>
          <p:nvPr/>
        </p:nvSpPr>
        <p:spPr>
          <a:xfrm>
            <a:off x="8311896"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Satellite-derived flood extents act as observations to calibrate and validate SVE-based models; the two are complementary.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Code basis: physics-informed neural network (PINN) for Saint-Venant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Mentor-provided code base (github.com/Barbhuiya12/PINN), conda env pinn_sve, TensorFlow 1.15 / Python 3.7</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548640" y="1508760"/>
            <a:ext cx="548640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How a PINN solves the SVE</a:t>
            </a:r>
            <a:endParaRPr lang="en-US" sz="1700" dirty="0"/>
          </a:p>
        </p:txBody>
      </p:sp>
      <p:sp>
        <p:nvSpPr>
          <p:cNvPr id="8" name="Text 6"/>
          <p:cNvSpPr/>
          <p:nvPr/>
        </p:nvSpPr>
        <p:spPr>
          <a:xfrm>
            <a:off x="548640" y="1920240"/>
            <a:ext cx="5577840" cy="2651760"/>
          </a:xfrm>
          <a:prstGeom prst="rect">
            <a:avLst/>
          </a:prstGeom>
          <a:noFill/>
          <a:ln/>
        </p:spPr>
        <p:txBody>
          <a:bodyPr wrap="square" lIns="50800" tIns="50800" rIns="50800" bIns="50800" rtlCol="0" anchor="t"/>
          <a:lstStyle/>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A neural network maps (x, t) → (A, Q) or (h, Q)</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Automatic differentiation gives ∂/∂x and ∂/∂t of the outputs</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Loss = data misfit (observed gauges / reference solution) + PDE residual of continuity &amp; momentum + boundary / initial conditions</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Needs sparse data: physics fills the gaps between gauges</a:t>
            </a:r>
            <a:endParaRPr lang="en-US" sz="1400" dirty="0"/>
          </a:p>
        </p:txBody>
      </p:sp>
      <p:sp>
        <p:nvSpPr>
          <p:cNvPr id="9" name="Text 7"/>
          <p:cNvSpPr/>
          <p:nvPr/>
        </p:nvSpPr>
        <p:spPr>
          <a:xfrm>
            <a:off x="548640" y="4526280"/>
            <a:ext cx="548640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Workflow in the code base</a:t>
            </a:r>
            <a:endParaRPr lang="en-US" sz="1700" dirty="0"/>
          </a:p>
        </p:txBody>
      </p:sp>
      <p:sp>
        <p:nvSpPr>
          <p:cNvPr id="10" name="Shape 8"/>
          <p:cNvSpPr/>
          <p:nvPr/>
        </p:nvSpPr>
        <p:spPr>
          <a:xfrm>
            <a:off x="548640" y="4937760"/>
            <a:ext cx="1257300" cy="1097280"/>
          </a:xfrm>
          <a:prstGeom prst="rect">
            <a:avLst/>
          </a:prstGeom>
          <a:solidFill>
            <a:srgbClr val="0B2545"/>
          </a:solidFill>
          <a:ln/>
        </p:spPr>
      </p:sp>
      <p:sp>
        <p:nvSpPr>
          <p:cNvPr id="11" name="Text 9"/>
          <p:cNvSpPr/>
          <p:nvPr/>
        </p:nvSpPr>
        <p:spPr>
          <a:xfrm>
            <a:off x="548640" y="4937760"/>
            <a:ext cx="1257300" cy="10972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Setup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verify</a:t>
            </a:r>
            <a:endParaRPr lang="en-US" sz="1200" dirty="0"/>
          </a:p>
        </p:txBody>
      </p:sp>
      <p:sp>
        <p:nvSpPr>
          <p:cNvPr id="12" name="Shape 10"/>
          <p:cNvSpPr/>
          <p:nvPr/>
        </p:nvSpPr>
        <p:spPr>
          <a:xfrm>
            <a:off x="1988820" y="4937760"/>
            <a:ext cx="1257300" cy="1097280"/>
          </a:xfrm>
          <a:prstGeom prst="rect">
            <a:avLst/>
          </a:prstGeom>
          <a:solidFill>
            <a:srgbClr val="1F6FB2"/>
          </a:solidFill>
          <a:ln/>
        </p:spPr>
      </p:sp>
      <p:sp>
        <p:nvSpPr>
          <p:cNvPr id="13" name="Text 11"/>
          <p:cNvSpPr/>
          <p:nvPr/>
        </p:nvSpPr>
        <p:spPr>
          <a:xfrm>
            <a:off x="1988820" y="4937760"/>
            <a:ext cx="1257300" cy="10972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1:</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exploration</a:t>
            </a:r>
            <a:endParaRPr lang="en-US" sz="1200" dirty="0"/>
          </a:p>
        </p:txBody>
      </p:sp>
      <p:sp>
        <p:nvSpPr>
          <p:cNvPr id="14" name="Shape 12"/>
          <p:cNvSpPr/>
          <p:nvPr/>
        </p:nvSpPr>
        <p:spPr>
          <a:xfrm>
            <a:off x="3429000" y="4937760"/>
            <a:ext cx="1257300" cy="1097280"/>
          </a:xfrm>
          <a:prstGeom prst="rect">
            <a:avLst/>
          </a:prstGeom>
          <a:solidFill>
            <a:srgbClr val="0B2545"/>
          </a:solidFill>
          <a:ln/>
        </p:spPr>
      </p:sp>
      <p:sp>
        <p:nvSpPr>
          <p:cNvPr id="15" name="Text 13"/>
          <p:cNvSpPr/>
          <p:nvPr/>
        </p:nvSpPr>
        <p:spPr>
          <a:xfrm>
            <a:off x="3429000" y="4937760"/>
            <a:ext cx="1257300" cy="10972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Training</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(PINN)</a:t>
            </a:r>
            <a:endParaRPr lang="en-US" sz="1200" dirty="0"/>
          </a:p>
        </p:txBody>
      </p:sp>
      <p:sp>
        <p:nvSpPr>
          <p:cNvPr id="16" name="Shape 14"/>
          <p:cNvSpPr/>
          <p:nvPr/>
        </p:nvSpPr>
        <p:spPr>
          <a:xfrm>
            <a:off x="4869180" y="4937760"/>
            <a:ext cx="1257300" cy="1097280"/>
          </a:xfrm>
          <a:prstGeom prst="rect">
            <a:avLst/>
          </a:prstGeom>
          <a:solidFill>
            <a:srgbClr val="1F6FB2"/>
          </a:solidFill>
          <a:ln/>
        </p:spPr>
      </p:sp>
      <p:sp>
        <p:nvSpPr>
          <p:cNvPr id="17" name="Text 15"/>
          <p:cNvSpPr/>
          <p:nvPr/>
        </p:nvSpPr>
        <p:spPr>
          <a:xfrm>
            <a:off x="4869180" y="4937760"/>
            <a:ext cx="1257300" cy="10972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4:</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18" name="Shape 16"/>
          <p:cNvSpPr/>
          <p:nvPr/>
        </p:nvSpPr>
        <p:spPr>
          <a:xfrm>
            <a:off x="6400800" y="1508760"/>
            <a:ext cx="5239512" cy="4663440"/>
          </a:xfrm>
          <a:prstGeom prst="rect">
            <a:avLst/>
          </a:prstGeom>
          <a:solidFill>
            <a:srgbClr val="1E1E2E"/>
          </a:solidFill>
          <a:ln/>
        </p:spPr>
      </p:sp>
      <p:sp>
        <p:nvSpPr>
          <p:cNvPr id="19" name="Text 17"/>
          <p:cNvSpPr/>
          <p:nvPr/>
        </p:nvSpPr>
        <p:spPr>
          <a:xfrm>
            <a:off x="6537960" y="1600200"/>
            <a:ext cx="4983480" cy="4480560"/>
          </a:xfrm>
          <a:prstGeom prst="rect">
            <a:avLst/>
          </a:prstGeom>
          <a:noFill/>
          <a:ln/>
        </p:spPr>
        <p:txBody>
          <a:bodyPr wrap="square" lIns="0" tIns="0" rIns="0" bIns="0" rtlCol="0" anchor="t"/>
          <a:lstStyle/>
          <a:p>
            <a:pPr indent="0" marL="0">
              <a:buNone/>
            </a:pPr>
            <a:r>
              <a:rPr lang="en-US" sz="1050" dirty="0">
                <a:solidFill>
                  <a:srgbClr val="E0E6ED"/>
                </a:solidFill>
                <a:latin typeface="Consolas" pitchFamily="34" charset="0"/>
                <a:ea typeface="Consolas" pitchFamily="34" charset="-122"/>
                <a:cs typeface="Consolas" pitchFamily="34" charset="-120"/>
              </a:rPr>
              <a:t># PDE residual of the Saint-Venant eqs. (sketch)</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def sve_residual(net, x, t):</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A, Q = net(tf.concat([x, t], 1))</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h  = A / B</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A_t = tf.gradients(A, t)[0]</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Q_t = tf.gradients(Q, t)[0]</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Q_x = tf.gradients(Q, x)[0]</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F_x = tf.gradients(Q**2 / A, x)[0]</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h_x = tf.gradients(h, x)[0]</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R  = A / (B + 2*h)</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Sf = n**2 * Q*tf.abs(Q) / (A**2 * R**(4/3))</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r_mass = A_t + Q_x                      # continuity</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r_mom  = Q_t + F_x + g*A*h_x - g*A*(S0 - Sf)</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return r_mass, r_mom</a:t>
            </a:r>
            <a:endParaRPr lang="en-US" sz="1050" dirty="0"/>
          </a:p>
          <a:p>
            <a:pPr indent="0" marL="0">
              <a:buNone/>
            </a:pP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loss = mse(Q_pred, Q_obs)            # gauge data</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 mse(r_mass, 0) + mse(r_mom, 0)  # physics</a:t>
            </a:r>
            <a:endParaRPr lang="en-US" sz="1050" dirty="0"/>
          </a:p>
          <a:p>
            <a:pPr indent="0" marL="0">
              <a:buNone/>
            </a:pPr>
            <a:r>
              <a:rPr lang="en-US" sz="1050" dirty="0">
                <a:solidFill>
                  <a:srgbClr val="E0E6ED"/>
                </a:solidFill>
                <a:latin typeface="Consolas" pitchFamily="34" charset="0"/>
                <a:ea typeface="Consolas" pitchFamily="34" charset="-122"/>
                <a:cs typeface="Consolas" pitchFamily="34" charset="-120"/>
              </a:rPr>
              <a:t>     + mse(bc_pred, bc_obs)            # BC / IC</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Illustrative run: flood-wave routing with the Saint-Venant equations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Our own explicit MacCormack solver on a synthetic 20 km channel (not calibrated to a real river)</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20</a:t>
            </a:r>
            <a:endParaRPr lang="en-US" sz="1000" dirty="0"/>
          </a:p>
        </p:txBody>
      </p:sp>
      <p:graphicFrame>
        <p:nvGraphicFramePr>
          <p:cNvPr id="7" name="Chart 0" descr=""/>
          <p:cNvGraphicFramePr/>
          <p:nvPr/>
        </p:nvGraphicFramePr>
        <p:xfrm>
          <a:off x="457200" y="1417320"/>
          <a:ext cx="694944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680960" y="1554480"/>
          <a:ext cx="3959352" cy="914400"/>
        </p:xfrm>
        <a:graphic>
          <a:graphicData uri="http://schemas.openxmlformats.org/drawingml/2006/table">
            <a:tbl>
              <a:tblPr/>
              <a:tblGrid>
                <a:gridCol w="1280160"/>
                <a:gridCol w="1371600"/>
                <a:gridCol w="1307592"/>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Location</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Peak Q</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Peak time</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r>
              <a:tr h="438912">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km</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400 m³/s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3.0 h</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38912">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8 km</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314 m³/s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3.8 h</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38912">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20 km</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230 m³/s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5.3 h</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9" name="Text 5"/>
          <p:cNvSpPr/>
          <p:nvPr/>
        </p:nvSpPr>
        <p:spPr>
          <a:xfrm>
            <a:off x="7589520" y="3474720"/>
            <a:ext cx="4114800" cy="2743200"/>
          </a:xfrm>
          <a:prstGeom prst="rect">
            <a:avLst/>
          </a:prstGeom>
          <a:noFill/>
          <a:ln/>
        </p:spPr>
        <p:txBody>
          <a:bodyPr wrap="square" lIns="50800" tIns="50800" rIns="50800" bIns="50800" rtlCol="0" anchor="t"/>
          <a:lstStyle/>
          <a:p>
            <a:pPr marL="228600" indent="-228600">
              <a:spcAft>
                <a:spcPts val="800"/>
              </a:spcAft>
              <a:buSzPct val="100000"/>
              <a:buChar char="•"/>
            </a:pPr>
            <a:r>
              <a:rPr lang="en-US" sz="1300" dirty="0">
                <a:solidFill>
                  <a:srgbClr val="1B2733"/>
                </a:solidFill>
                <a:latin typeface="Calibri" pitchFamily="34" charset="0"/>
                <a:ea typeface="Calibri" pitchFamily="34" charset="-122"/>
                <a:cs typeface="Calibri" pitchFamily="34" charset="-120"/>
              </a:rPr>
              <a:t>Setup: B = 50 m, S₀ = 0.0005, n = 0.035; base flow 50 m³/s, Gaussian flood peak 400 m³/s</a:t>
            </a:r>
            <a:endParaRPr lang="en-US" sz="1300" dirty="0"/>
          </a:p>
          <a:p>
            <a:pPr marL="228600" indent="-228600">
              <a:spcAft>
                <a:spcPts val="800"/>
              </a:spcAft>
              <a:buSzPct val="100000"/>
              <a:buChar char="•"/>
            </a:pPr>
            <a:r>
              <a:rPr lang="en-US" sz="1300" dirty="0">
                <a:solidFill>
                  <a:srgbClr val="1B2733"/>
                </a:solidFill>
                <a:latin typeface="Calibri" pitchFamily="34" charset="0"/>
                <a:ea typeface="Calibri" pitchFamily="34" charset="-122"/>
                <a:cs typeface="Calibri" pitchFamily="34" charset="-120"/>
              </a:rPr>
              <a:t>Result: peak attenuates and arrives later downstream (storage + friction)</a:t>
            </a:r>
            <a:endParaRPr lang="en-US" sz="1300" dirty="0"/>
          </a:p>
          <a:p>
            <a:pPr marL="228600" indent="-228600">
              <a:spcAft>
                <a:spcPts val="800"/>
              </a:spcAft>
              <a:buSzPct val="100000"/>
              <a:buChar char="•"/>
            </a:pPr>
            <a:r>
              <a:rPr lang="en-US" sz="1300" dirty="0">
                <a:solidFill>
                  <a:srgbClr val="1B2733"/>
                </a:solidFill>
                <a:latin typeface="Calibri" pitchFamily="34" charset="0"/>
                <a:ea typeface="Calibri" pitchFamily="34" charset="-122"/>
                <a:cs typeface="Calibri" pitchFamily="34" charset="-120"/>
              </a:rPr>
              <a:t>This is the routing behaviour the PINN learns to reproduce from sparse data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Field visit: Pawna Dam</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Site visit to a monsoon-fed reservoir in Maval, Pune district, Maharashtra</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21</a:t>
            </a:r>
            <a:endParaRPr lang="en-US" sz="1000" dirty="0"/>
          </a:p>
        </p:txBody>
      </p:sp>
      <p:pic>
        <p:nvPicPr>
          <p:cNvPr id="7" name="Image 0" descr="/home/claude/pawna.png">    </p:cNvPr>
          <p:cNvPicPr>
            <a:picLocks noChangeAspect="1"/>
          </p:cNvPicPr>
          <p:nvPr/>
        </p:nvPicPr>
        <p:blipFill>
          <a:blip r:embed="rId1"/>
          <a:stretch>
            <a:fillRect/>
          </a:stretch>
        </p:blipFill>
        <p:spPr>
          <a:xfrm>
            <a:off x="548640" y="1463040"/>
            <a:ext cx="6336792" cy="4754880"/>
          </a:xfrm>
          <a:prstGeom prst="rect">
            <a:avLst/>
          </a:prstGeom>
        </p:spPr>
      </p:pic>
      <p:sp>
        <p:nvSpPr>
          <p:cNvPr id="8" name="Shape 5"/>
          <p:cNvSpPr/>
          <p:nvPr/>
        </p:nvSpPr>
        <p:spPr>
          <a:xfrm>
            <a:off x="7178040" y="1463040"/>
            <a:ext cx="4462272" cy="4754880"/>
          </a:xfrm>
          <a:prstGeom prst="rect">
            <a:avLst/>
          </a:prstGeom>
          <a:solidFill>
            <a:srgbClr val="0B2545"/>
          </a:solidFill>
          <a:ln/>
        </p:spPr>
      </p:sp>
      <p:sp>
        <p:nvSpPr>
          <p:cNvPr id="9" name="Text 6"/>
          <p:cNvSpPr/>
          <p:nvPr/>
        </p:nvSpPr>
        <p:spPr>
          <a:xfrm>
            <a:off x="7406640" y="1645920"/>
            <a:ext cx="4023360" cy="4389120"/>
          </a:xfrm>
          <a:prstGeom prst="rect">
            <a:avLst/>
          </a:prstGeom>
          <a:noFill/>
          <a:ln/>
        </p:spPr>
        <p:txBody>
          <a:bodyPr wrap="square" lIns="0" tIns="0" rIns="0" bIns="0" rtlCol="0" anchor="t"/>
          <a:lstStyle/>
          <a:p>
            <a:pPr indent="0" marL="0">
              <a:spcAft>
                <a:spcPts val="600"/>
              </a:spcAft>
              <a:buNone/>
            </a:pPr>
            <a:r>
              <a:rPr lang="en-US" sz="1800" b="1" dirty="0">
                <a:solidFill>
                  <a:srgbClr val="13A89E"/>
                </a:solidFill>
                <a:latin typeface="Calibri" pitchFamily="34" charset="0"/>
                <a:ea typeface="Calibri" pitchFamily="34" charset="-122"/>
                <a:cs typeface="Calibri" pitchFamily="34" charset="-120"/>
              </a:rPr>
              <a:t>Why we went</a:t>
            </a:r>
            <a:endParaRPr lang="en-US" sz="1800" dirty="0"/>
          </a:p>
          <a:p>
            <a:pPr indent="0" marL="0">
              <a:spcAft>
                <a:spcPts val="1400"/>
              </a:spcAft>
              <a:buNone/>
            </a:pPr>
            <a:r>
              <a:rPr lang="en-US" sz="1500" dirty="0">
                <a:solidFill>
                  <a:srgbClr val="FFFFFF"/>
                </a:solidFill>
                <a:latin typeface="Calibri" pitchFamily="34" charset="0"/>
                <a:ea typeface="Calibri" pitchFamily="34" charset="-122"/>
                <a:cs typeface="Calibri" pitchFamily="34" charset="-120"/>
              </a:rPr>
              <a:t>To see how a real reservoir behaves in the monsoon: what our flood maps are meant to support on the ground.</a:t>
            </a:r>
            <a:endParaRPr lang="en-US" sz="1800" dirty="0"/>
          </a:p>
          <a:p>
            <a:pPr indent="0" marL="0">
              <a:spcAft>
                <a:spcPts val="600"/>
              </a:spcAft>
              <a:buNone/>
            </a:pPr>
            <a:r>
              <a:rPr lang="en-US" sz="1800" b="1" dirty="0">
                <a:solidFill>
                  <a:srgbClr val="13A89E"/>
                </a:solidFill>
                <a:latin typeface="Calibri" pitchFamily="34" charset="0"/>
                <a:ea typeface="Calibri" pitchFamily="34" charset="-122"/>
                <a:cs typeface="Calibri" pitchFamily="34" charset="-120"/>
              </a:rPr>
              <a:t>What we observed</a:t>
            </a:r>
            <a:endParaRPr lang="en-US" sz="18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Dam structure, spillway and reservoir during the monsoon</a:t>
            </a:r>
            <a:endParaRPr lang="en-US" sz="18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How water levels are monitored and releases decided</a:t>
            </a:r>
            <a:endParaRPr lang="en-US" sz="18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link between upstream storage and downstream flood risk</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What the dam visit means for our project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Connecting field understanding to Prithvi Flood-IN</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22</a:t>
            </a:r>
            <a:endParaRPr lang="en-US" sz="1000" dirty="0"/>
          </a:p>
        </p:txBody>
      </p:sp>
      <p:sp>
        <p:nvSpPr>
          <p:cNvPr id="7" name="Shape 5"/>
          <p:cNvSpPr/>
          <p:nvPr/>
        </p:nvSpPr>
        <p:spPr>
          <a:xfrm>
            <a:off x="548640" y="1554480"/>
            <a:ext cx="3566160" cy="2286000"/>
          </a:xfrm>
          <a:prstGeom prst="rect">
            <a:avLst/>
          </a:prstGeom>
          <a:solidFill>
            <a:srgbClr val="EEF4F8"/>
          </a:solidFill>
          <a:ln w="12700">
            <a:solidFill>
              <a:srgbClr val="EEF4F8"/>
            </a:solidFill>
            <a:prstDash val="solid"/>
          </a:ln>
        </p:spPr>
      </p:sp>
      <p:sp>
        <p:nvSpPr>
          <p:cNvPr id="8" name="Shape 6"/>
          <p:cNvSpPr/>
          <p:nvPr/>
        </p:nvSpPr>
        <p:spPr>
          <a:xfrm>
            <a:off x="548640" y="1554480"/>
            <a:ext cx="73152" cy="2286000"/>
          </a:xfrm>
          <a:prstGeom prst="rect">
            <a:avLst/>
          </a:prstGeom>
          <a:solidFill>
            <a:srgbClr val="13A89E"/>
          </a:solidFill>
          <a:ln w="12700">
            <a:solidFill>
              <a:srgbClr val="13A89E"/>
            </a:solidFill>
            <a:prstDash val="solid"/>
          </a:ln>
        </p:spPr>
      </p:sp>
      <p:sp>
        <p:nvSpPr>
          <p:cNvPr id="9" name="Text 7"/>
          <p:cNvSpPr/>
          <p:nvPr/>
        </p:nvSpPr>
        <p:spPr>
          <a:xfrm>
            <a:off x="777240"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Releases drive floods</a:t>
            </a:r>
            <a:endParaRPr lang="en-US" sz="1700" dirty="0"/>
          </a:p>
        </p:txBody>
      </p:sp>
      <p:sp>
        <p:nvSpPr>
          <p:cNvPr id="10" name="Text 8"/>
          <p:cNvSpPr/>
          <p:nvPr/>
        </p:nvSpPr>
        <p:spPr>
          <a:xfrm>
            <a:off x="777240" y="2103120"/>
            <a:ext cx="3200400" cy="16459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Reservoir release decisions during heavy rain shape where and when flooding happens downstream.</a:t>
            </a:r>
            <a:endParaRPr lang="en-US" sz="1400" dirty="0"/>
          </a:p>
        </p:txBody>
      </p:sp>
      <p:sp>
        <p:nvSpPr>
          <p:cNvPr id="11" name="Shape 9"/>
          <p:cNvSpPr/>
          <p:nvPr/>
        </p:nvSpPr>
        <p:spPr>
          <a:xfrm>
            <a:off x="4315968" y="1554480"/>
            <a:ext cx="3566160" cy="2286000"/>
          </a:xfrm>
          <a:prstGeom prst="rect">
            <a:avLst/>
          </a:prstGeom>
          <a:solidFill>
            <a:srgbClr val="EEF4F8"/>
          </a:solidFill>
          <a:ln w="12700">
            <a:solidFill>
              <a:srgbClr val="EEF4F8"/>
            </a:solidFill>
            <a:prstDash val="solid"/>
          </a:ln>
        </p:spPr>
      </p:sp>
      <p:sp>
        <p:nvSpPr>
          <p:cNvPr id="12" name="Shape 10"/>
          <p:cNvSpPr/>
          <p:nvPr/>
        </p:nvSpPr>
        <p:spPr>
          <a:xfrm>
            <a:off x="4315968" y="1554480"/>
            <a:ext cx="73152" cy="2286000"/>
          </a:xfrm>
          <a:prstGeom prst="rect">
            <a:avLst/>
          </a:prstGeom>
          <a:solidFill>
            <a:srgbClr val="1F6FB2"/>
          </a:solidFill>
          <a:ln w="12700">
            <a:solidFill>
              <a:srgbClr val="1F6FB2"/>
            </a:solidFill>
            <a:prstDash val="solid"/>
          </a:ln>
        </p:spPr>
      </p:sp>
      <p:sp>
        <p:nvSpPr>
          <p:cNvPr id="13" name="Text 11"/>
          <p:cNvSpPr/>
          <p:nvPr/>
        </p:nvSpPr>
        <p:spPr>
          <a:xfrm>
            <a:off x="4544568"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Maps + gauges together</a:t>
            </a:r>
            <a:endParaRPr lang="en-US" sz="1700" dirty="0"/>
          </a:p>
        </p:txBody>
      </p:sp>
      <p:sp>
        <p:nvSpPr>
          <p:cNvPr id="14" name="Text 12"/>
          <p:cNvSpPr/>
          <p:nvPr/>
        </p:nvSpPr>
        <p:spPr>
          <a:xfrm>
            <a:off x="4544568" y="2103120"/>
            <a:ext cx="3200400" cy="16459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Satellite flood extents are most useful when combined with reservoir levels and water-level sensors.</a:t>
            </a:r>
            <a:endParaRPr lang="en-US" sz="1400" dirty="0"/>
          </a:p>
        </p:txBody>
      </p:sp>
      <p:sp>
        <p:nvSpPr>
          <p:cNvPr id="15" name="Shape 13"/>
          <p:cNvSpPr/>
          <p:nvPr/>
        </p:nvSpPr>
        <p:spPr>
          <a:xfrm>
            <a:off x="8083296" y="1554480"/>
            <a:ext cx="3566160" cy="2286000"/>
          </a:xfrm>
          <a:prstGeom prst="rect">
            <a:avLst/>
          </a:prstGeom>
          <a:solidFill>
            <a:srgbClr val="EEF4F8"/>
          </a:solidFill>
          <a:ln w="12700">
            <a:solidFill>
              <a:srgbClr val="EEF4F8"/>
            </a:solidFill>
            <a:prstDash val="solid"/>
          </a:ln>
        </p:spPr>
      </p:sp>
      <p:sp>
        <p:nvSpPr>
          <p:cNvPr id="16" name="Shape 14"/>
          <p:cNvSpPr/>
          <p:nvPr/>
        </p:nvSpPr>
        <p:spPr>
          <a:xfrm>
            <a:off x="8083296" y="1554480"/>
            <a:ext cx="73152" cy="2286000"/>
          </a:xfrm>
          <a:prstGeom prst="rect">
            <a:avLst/>
          </a:prstGeom>
          <a:solidFill>
            <a:srgbClr val="E8A33D"/>
          </a:solidFill>
          <a:ln w="12700">
            <a:solidFill>
              <a:srgbClr val="E8A33D"/>
            </a:solidFill>
            <a:prstDash val="solid"/>
          </a:ln>
        </p:spPr>
      </p:sp>
      <p:sp>
        <p:nvSpPr>
          <p:cNvPr id="17" name="Text 15"/>
          <p:cNvSpPr/>
          <p:nvPr/>
        </p:nvSpPr>
        <p:spPr>
          <a:xfrm>
            <a:off x="8311896"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Clouds are real</a:t>
            </a:r>
            <a:endParaRPr lang="en-US" sz="1700" dirty="0"/>
          </a:p>
        </p:txBody>
      </p:sp>
      <p:sp>
        <p:nvSpPr>
          <p:cNvPr id="18" name="Text 16"/>
          <p:cNvSpPr/>
          <p:nvPr/>
        </p:nvSpPr>
        <p:spPr>
          <a:xfrm>
            <a:off x="8311896" y="2103120"/>
            <a:ext cx="3200400" cy="164592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Heavy monsoon cloud over the reservoir that day showed why optical imagery alone is not enough: motivates SAR fusion.</a:t>
            </a:r>
            <a:endParaRPr lang="en-US" sz="1400" dirty="0"/>
          </a:p>
        </p:txBody>
      </p:sp>
      <p:sp>
        <p:nvSpPr>
          <p:cNvPr id="19" name="Shape 17"/>
          <p:cNvSpPr/>
          <p:nvPr/>
        </p:nvSpPr>
        <p:spPr>
          <a:xfrm>
            <a:off x="548640" y="4114800"/>
            <a:ext cx="11100816" cy="2011680"/>
          </a:xfrm>
          <a:prstGeom prst="rect">
            <a:avLst/>
          </a:prstGeom>
          <a:solidFill>
            <a:srgbClr val="0B2545"/>
          </a:solidFill>
          <a:ln/>
        </p:spPr>
      </p:sp>
      <p:sp>
        <p:nvSpPr>
          <p:cNvPr id="20" name="Text 18"/>
          <p:cNvSpPr/>
          <p:nvPr/>
        </p:nvSpPr>
        <p:spPr>
          <a:xfrm>
            <a:off x="822960" y="4251960"/>
            <a:ext cx="10607040" cy="1737360"/>
          </a:xfrm>
          <a:prstGeom prst="rect">
            <a:avLst/>
          </a:prstGeom>
          <a:noFill/>
          <a:ln/>
        </p:spPr>
        <p:txBody>
          <a:bodyPr wrap="square" lIns="0" tIns="0" rIns="0" bIns="0" rtlCol="0" anchor="t"/>
          <a:lstStyle/>
          <a:p>
            <a:pPr indent="0" marL="0">
              <a:buNone/>
            </a:pPr>
            <a:r>
              <a:rPr lang="en-US" sz="1800" b="1" dirty="0">
                <a:solidFill>
                  <a:srgbClr val="13A89E"/>
                </a:solidFill>
                <a:latin typeface="Calibri" pitchFamily="34" charset="0"/>
                <a:ea typeface="Calibri" pitchFamily="34" charset="-122"/>
                <a:cs typeface="Calibri" pitchFamily="34" charset="-120"/>
              </a:rPr>
              <a:t>Impact on our design</a:t>
            </a: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Dam and reservoir data are a core overlay layer in our inference dashboard. For the Mahanadi basin, the same idea applies to Hirakud releases combined with CWC gauge readings and our predicted flood extent.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Limitations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What the current results do and do not show</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23</a:t>
            </a:r>
            <a:endParaRPr lang="en-US" sz="1000" dirty="0"/>
          </a:p>
        </p:txBody>
      </p:sp>
      <p:sp>
        <p:nvSpPr>
          <p:cNvPr id="7" name="Shape 5"/>
          <p:cNvSpPr/>
          <p:nvPr/>
        </p:nvSpPr>
        <p:spPr>
          <a:xfrm>
            <a:off x="548640" y="1554480"/>
            <a:ext cx="5440680" cy="2011680"/>
          </a:xfrm>
          <a:prstGeom prst="rect">
            <a:avLst/>
          </a:prstGeom>
          <a:solidFill>
            <a:srgbClr val="EEF4F8"/>
          </a:solidFill>
          <a:ln w="12700">
            <a:solidFill>
              <a:srgbClr val="EEF4F8"/>
            </a:solidFill>
            <a:prstDash val="solid"/>
          </a:ln>
        </p:spPr>
      </p:sp>
      <p:sp>
        <p:nvSpPr>
          <p:cNvPr id="8" name="Shape 6"/>
          <p:cNvSpPr/>
          <p:nvPr/>
        </p:nvSpPr>
        <p:spPr>
          <a:xfrm>
            <a:off x="548640" y="1554480"/>
            <a:ext cx="73152" cy="2011680"/>
          </a:xfrm>
          <a:prstGeom prst="rect">
            <a:avLst/>
          </a:prstGeom>
          <a:solidFill>
            <a:srgbClr val="E8A33D"/>
          </a:solidFill>
          <a:ln w="12700">
            <a:solidFill>
              <a:srgbClr val="E8A33D"/>
            </a:solidFill>
            <a:prstDash val="solid"/>
          </a:ln>
        </p:spPr>
      </p:sp>
      <p:sp>
        <p:nvSpPr>
          <p:cNvPr id="9" name="Text 7"/>
          <p:cNvSpPr/>
          <p:nvPr/>
        </p:nvSpPr>
        <p:spPr>
          <a:xfrm>
            <a:off x="777240"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Small dataset</a:t>
            </a:r>
            <a:endParaRPr lang="en-US" sz="1700" dirty="0"/>
          </a:p>
        </p:txBody>
      </p:sp>
      <p:sp>
        <p:nvSpPr>
          <p:cNvPr id="10" name="Text 8"/>
          <p:cNvSpPr/>
          <p:nvPr/>
        </p:nvSpPr>
        <p:spPr>
          <a:xfrm>
            <a:off x="777240" y="210312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~100 events is a meaningful pilot, not production scale. More diverse events (regions, seasons, terrain) are needed.</a:t>
            </a:r>
            <a:endParaRPr lang="en-US" sz="1400" dirty="0"/>
          </a:p>
        </p:txBody>
      </p:sp>
      <p:sp>
        <p:nvSpPr>
          <p:cNvPr id="11" name="Shape 9"/>
          <p:cNvSpPr/>
          <p:nvPr/>
        </p:nvSpPr>
        <p:spPr>
          <a:xfrm>
            <a:off x="6199632" y="1554480"/>
            <a:ext cx="5440680" cy="201168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2011680"/>
          </a:xfrm>
          <a:prstGeom prst="rect">
            <a:avLst/>
          </a:prstGeom>
          <a:solidFill>
            <a:srgbClr val="E8A33D"/>
          </a:solidFill>
          <a:ln w="12700">
            <a:solidFill>
              <a:srgbClr val="E8A33D"/>
            </a:solidFill>
            <a:prstDash val="solid"/>
          </a:ln>
        </p:spPr>
      </p:sp>
      <p:sp>
        <p:nvSpPr>
          <p:cNvPr id="13" name="Text 11"/>
          <p:cNvSpPr/>
          <p:nvPr/>
        </p:nvSpPr>
        <p:spPr>
          <a:xfrm>
            <a:off x="6428232"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Optical imagery &amp; clouds</a:t>
            </a:r>
            <a:endParaRPr lang="en-US" sz="1700" dirty="0"/>
          </a:p>
        </p:txBody>
      </p:sp>
      <p:sp>
        <p:nvSpPr>
          <p:cNvPr id="14" name="Text 12"/>
          <p:cNvSpPr/>
          <p:nvPr/>
        </p:nvSpPr>
        <p:spPr>
          <a:xfrm>
            <a:off x="6428232" y="210312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Sentinel-2 cannot see through monsoon cloud, so many during-event scenes are unusable. SAR (Sentinel-1) fusion would help.</a:t>
            </a:r>
            <a:endParaRPr lang="en-US" sz="1400" dirty="0"/>
          </a:p>
        </p:txBody>
      </p:sp>
      <p:sp>
        <p:nvSpPr>
          <p:cNvPr id="15" name="Shape 13"/>
          <p:cNvSpPr/>
          <p:nvPr/>
        </p:nvSpPr>
        <p:spPr>
          <a:xfrm>
            <a:off x="548640" y="3749040"/>
            <a:ext cx="5440680" cy="2011680"/>
          </a:xfrm>
          <a:prstGeom prst="rect">
            <a:avLst/>
          </a:prstGeom>
          <a:solidFill>
            <a:srgbClr val="EEF4F8"/>
          </a:solidFill>
          <a:ln w="12700">
            <a:solidFill>
              <a:srgbClr val="EEF4F8"/>
            </a:solidFill>
            <a:prstDash val="solid"/>
          </a:ln>
        </p:spPr>
      </p:sp>
      <p:sp>
        <p:nvSpPr>
          <p:cNvPr id="16" name="Shape 14"/>
          <p:cNvSpPr/>
          <p:nvPr/>
        </p:nvSpPr>
        <p:spPr>
          <a:xfrm>
            <a:off x="548640" y="3749040"/>
            <a:ext cx="73152" cy="2011680"/>
          </a:xfrm>
          <a:prstGeom prst="rect">
            <a:avLst/>
          </a:prstGeom>
          <a:solidFill>
            <a:srgbClr val="D1495B"/>
          </a:solidFill>
          <a:ln w="12700">
            <a:solidFill>
              <a:srgbClr val="D1495B"/>
            </a:solidFill>
            <a:prstDash val="solid"/>
          </a:ln>
        </p:spPr>
      </p:sp>
      <p:sp>
        <p:nvSpPr>
          <p:cNvPr id="17" name="Text 15"/>
          <p:cNvSpPr/>
          <p:nvPr/>
        </p:nvSpPr>
        <p:spPr>
          <a:xfrm>
            <a:off x="777240" y="385876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Recall dropped</a:t>
            </a:r>
            <a:endParaRPr lang="en-US" sz="1700" dirty="0"/>
          </a:p>
        </p:txBody>
      </p:sp>
      <p:sp>
        <p:nvSpPr>
          <p:cNvPr id="18" name="Text 16"/>
          <p:cNvSpPr/>
          <p:nvPr/>
        </p:nvSpPr>
        <p:spPr>
          <a:xfrm>
            <a:off x="777240" y="429768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The model now misses more real flood area (recall 0.71 → 0.53). Acceptable for mapping; needs tuning for early warning.</a:t>
            </a:r>
            <a:endParaRPr lang="en-US" sz="1400" dirty="0"/>
          </a:p>
        </p:txBody>
      </p:sp>
      <p:sp>
        <p:nvSpPr>
          <p:cNvPr id="19" name="Shape 17"/>
          <p:cNvSpPr/>
          <p:nvPr/>
        </p:nvSpPr>
        <p:spPr>
          <a:xfrm>
            <a:off x="6199632" y="3749040"/>
            <a:ext cx="5440680" cy="2011680"/>
          </a:xfrm>
          <a:prstGeom prst="rect">
            <a:avLst/>
          </a:prstGeom>
          <a:solidFill>
            <a:srgbClr val="EEF4F8"/>
          </a:solidFill>
          <a:ln w="12700">
            <a:solidFill>
              <a:srgbClr val="EEF4F8"/>
            </a:solidFill>
            <a:prstDash val="solid"/>
          </a:ln>
        </p:spPr>
      </p:sp>
      <p:sp>
        <p:nvSpPr>
          <p:cNvPr id="20" name="Shape 18"/>
          <p:cNvSpPr/>
          <p:nvPr/>
        </p:nvSpPr>
        <p:spPr>
          <a:xfrm>
            <a:off x="6199632" y="3749040"/>
            <a:ext cx="73152" cy="2011680"/>
          </a:xfrm>
          <a:prstGeom prst="rect">
            <a:avLst/>
          </a:prstGeom>
          <a:solidFill>
            <a:srgbClr val="5B6B7B"/>
          </a:solidFill>
          <a:ln w="12700">
            <a:solidFill>
              <a:srgbClr val="5B6B7B"/>
            </a:solidFill>
            <a:prstDash val="solid"/>
          </a:ln>
        </p:spPr>
      </p:sp>
      <p:sp>
        <p:nvSpPr>
          <p:cNvPr id="21" name="Text 19"/>
          <p:cNvSpPr/>
          <p:nvPr/>
        </p:nvSpPr>
        <p:spPr>
          <a:xfrm>
            <a:off x="6428232" y="385876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Free-tier compute</a:t>
            </a:r>
            <a:endParaRPr lang="en-US" sz="1700" dirty="0"/>
          </a:p>
        </p:txBody>
      </p:sp>
      <p:sp>
        <p:nvSpPr>
          <p:cNvPr id="22" name="Text 20"/>
          <p:cNvSpPr/>
          <p:nvPr/>
        </p:nvSpPr>
        <p:spPr>
          <a:xfrm>
            <a:off x="6428232" y="429768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Colab disconnects and memory limits constrained experimentation; production runs need stable dedicated compute.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Next steps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Plan for the remainder of the project</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24</a:t>
            </a:r>
            <a:endParaRPr lang="en-US" sz="1000" dirty="0"/>
          </a:p>
        </p:txBody>
      </p:sp>
      <p:sp>
        <p:nvSpPr>
          <p:cNvPr id="7" name="Shape 5"/>
          <p:cNvSpPr/>
          <p:nvPr/>
        </p:nvSpPr>
        <p:spPr>
          <a:xfrm>
            <a:off x="548640" y="1600200"/>
            <a:ext cx="731520" cy="731520"/>
          </a:xfrm>
          <a:prstGeom prst="ellipse">
            <a:avLst/>
          </a:prstGeom>
          <a:solidFill>
            <a:srgbClr val="13A89E"/>
          </a:solidFill>
          <a:ln/>
        </p:spPr>
      </p:sp>
      <p:sp>
        <p:nvSpPr>
          <p:cNvPr id="8" name="Text 6"/>
          <p:cNvSpPr/>
          <p:nvPr/>
        </p:nvSpPr>
        <p:spPr>
          <a:xfrm>
            <a:off x="548640" y="16002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463040" y="15087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Qualitative analysis</a:t>
            </a:r>
            <a:endParaRPr lang="en-US" sz="1700" dirty="0"/>
          </a:p>
        </p:txBody>
      </p:sp>
      <p:sp>
        <p:nvSpPr>
          <p:cNvPr id="10" name="Text 8"/>
          <p:cNvSpPr/>
          <p:nvPr/>
        </p:nvSpPr>
        <p:spPr>
          <a:xfrm>
            <a:off x="1463040" y="19476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Error maps (hits / false alarms / misses) and per-event breakdown to find where the model struggles.</a:t>
            </a:r>
            <a:endParaRPr lang="en-US" sz="1400" dirty="0"/>
          </a:p>
        </p:txBody>
      </p:sp>
      <p:sp>
        <p:nvSpPr>
          <p:cNvPr id="11" name="Shape 9"/>
          <p:cNvSpPr/>
          <p:nvPr/>
        </p:nvSpPr>
        <p:spPr>
          <a:xfrm>
            <a:off x="6199632" y="1600200"/>
            <a:ext cx="731520" cy="731520"/>
          </a:xfrm>
          <a:prstGeom prst="ellipse">
            <a:avLst/>
          </a:prstGeom>
          <a:solidFill>
            <a:srgbClr val="13A89E"/>
          </a:solidFill>
          <a:ln/>
        </p:spPr>
      </p:sp>
      <p:sp>
        <p:nvSpPr>
          <p:cNvPr id="12" name="Text 10"/>
          <p:cNvSpPr/>
          <p:nvPr/>
        </p:nvSpPr>
        <p:spPr>
          <a:xfrm>
            <a:off x="6199632" y="16002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7114032" y="15087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Recover recall</a:t>
            </a:r>
            <a:endParaRPr lang="en-US" sz="1700" dirty="0"/>
          </a:p>
        </p:txBody>
      </p:sp>
      <p:sp>
        <p:nvSpPr>
          <p:cNvPr id="14" name="Text 12"/>
          <p:cNvSpPr/>
          <p:nvPr/>
        </p:nvSpPr>
        <p:spPr>
          <a:xfrm>
            <a:off x="7114032" y="19476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Tune decision threshold on flood probability; explore class-weighted or Dice loss; report F1.</a:t>
            </a:r>
            <a:endParaRPr lang="en-US" sz="1400" dirty="0"/>
          </a:p>
        </p:txBody>
      </p:sp>
      <p:sp>
        <p:nvSpPr>
          <p:cNvPr id="15" name="Shape 13"/>
          <p:cNvSpPr/>
          <p:nvPr/>
        </p:nvSpPr>
        <p:spPr>
          <a:xfrm>
            <a:off x="548640" y="3200400"/>
            <a:ext cx="731520" cy="731520"/>
          </a:xfrm>
          <a:prstGeom prst="ellipse">
            <a:avLst/>
          </a:prstGeom>
          <a:solidFill>
            <a:srgbClr val="13A89E"/>
          </a:solidFill>
          <a:ln/>
        </p:spPr>
      </p:sp>
      <p:sp>
        <p:nvSpPr>
          <p:cNvPr id="16" name="Text 14"/>
          <p:cNvSpPr/>
          <p:nvPr/>
        </p:nvSpPr>
        <p:spPr>
          <a:xfrm>
            <a:off x="548640" y="3200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463040" y="31089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Grow data &amp; benchmark</a:t>
            </a:r>
            <a:endParaRPr lang="en-US" sz="1700" dirty="0"/>
          </a:p>
        </p:txBody>
      </p:sp>
      <p:sp>
        <p:nvSpPr>
          <p:cNvPr id="18" name="Text 16"/>
          <p:cNvSpPr/>
          <p:nvPr/>
        </p:nvSpPr>
        <p:spPr>
          <a:xfrm>
            <a:off x="1463040" y="35478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Screen ~2,680 more NDEM layers; add SAR (Sentinel-1); benchmark against FastFlood validation extents.</a:t>
            </a:r>
            <a:endParaRPr lang="en-US" sz="1400" dirty="0"/>
          </a:p>
        </p:txBody>
      </p:sp>
      <p:sp>
        <p:nvSpPr>
          <p:cNvPr id="19" name="Shape 17"/>
          <p:cNvSpPr/>
          <p:nvPr/>
        </p:nvSpPr>
        <p:spPr>
          <a:xfrm>
            <a:off x="6199632" y="3200400"/>
            <a:ext cx="731520" cy="731520"/>
          </a:xfrm>
          <a:prstGeom prst="ellipse">
            <a:avLst/>
          </a:prstGeom>
          <a:solidFill>
            <a:srgbClr val="13A89E"/>
          </a:solidFill>
          <a:ln/>
        </p:spPr>
      </p:sp>
      <p:sp>
        <p:nvSpPr>
          <p:cNvPr id="20" name="Text 18"/>
          <p:cNvSpPr/>
          <p:nvPr/>
        </p:nvSpPr>
        <p:spPr>
          <a:xfrm>
            <a:off x="6199632" y="3200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p:nvPr/>
        </p:nvSpPr>
        <p:spPr>
          <a:xfrm>
            <a:off x="7114032" y="31089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Mahanadi pilot</a:t>
            </a:r>
            <a:endParaRPr lang="en-US" sz="1700" dirty="0"/>
          </a:p>
        </p:txBody>
      </p:sp>
      <p:sp>
        <p:nvSpPr>
          <p:cNvPr id="22" name="Text 20"/>
          <p:cNvSpPr/>
          <p:nvPr/>
        </p:nvSpPr>
        <p:spPr>
          <a:xfrm>
            <a:off x="7114032" y="35478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Run inference on recent Mahanadi-basin events; validate with ClimMaTech and CWC gauge data.</a:t>
            </a:r>
            <a:endParaRPr lang="en-US" sz="1400" dirty="0"/>
          </a:p>
        </p:txBody>
      </p:sp>
      <p:sp>
        <p:nvSpPr>
          <p:cNvPr id="23" name="Shape 21"/>
          <p:cNvSpPr/>
          <p:nvPr/>
        </p:nvSpPr>
        <p:spPr>
          <a:xfrm>
            <a:off x="548640" y="4800600"/>
            <a:ext cx="731520" cy="731520"/>
          </a:xfrm>
          <a:prstGeom prst="ellipse">
            <a:avLst/>
          </a:prstGeom>
          <a:solidFill>
            <a:srgbClr val="13A89E"/>
          </a:solidFill>
          <a:ln/>
        </p:spPr>
      </p:sp>
      <p:sp>
        <p:nvSpPr>
          <p:cNvPr id="24" name="Text 22"/>
          <p:cNvSpPr/>
          <p:nvPr/>
        </p:nvSpPr>
        <p:spPr>
          <a:xfrm>
            <a:off x="548640" y="4800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5" name="Text 23"/>
          <p:cNvSpPr/>
          <p:nvPr/>
        </p:nvSpPr>
        <p:spPr>
          <a:xfrm>
            <a:off x="1463040" y="47091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Dashboard prototype</a:t>
            </a:r>
            <a:endParaRPr lang="en-US" sz="1700" dirty="0"/>
          </a:p>
        </p:txBody>
      </p:sp>
      <p:sp>
        <p:nvSpPr>
          <p:cNvPr id="26" name="Text 24"/>
          <p:cNvSpPr/>
          <p:nvPr/>
        </p:nvSpPr>
        <p:spPr>
          <a:xfrm>
            <a:off x="1463040" y="51480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Overlay flood extent with dams, sensors, roads, villages and infrastructure for during-event response.</a:t>
            </a:r>
            <a:endParaRPr lang="en-US" sz="1400" dirty="0"/>
          </a:p>
        </p:txBody>
      </p:sp>
      <p:sp>
        <p:nvSpPr>
          <p:cNvPr id="27" name="Shape 25"/>
          <p:cNvSpPr/>
          <p:nvPr/>
        </p:nvSpPr>
        <p:spPr>
          <a:xfrm>
            <a:off x="6199632" y="4800600"/>
            <a:ext cx="731520" cy="731520"/>
          </a:xfrm>
          <a:prstGeom prst="ellipse">
            <a:avLst/>
          </a:prstGeom>
          <a:solidFill>
            <a:srgbClr val="13A89E"/>
          </a:solidFill>
          <a:ln/>
        </p:spPr>
      </p:sp>
      <p:sp>
        <p:nvSpPr>
          <p:cNvPr id="28" name="Text 26"/>
          <p:cNvSpPr/>
          <p:nvPr/>
        </p:nvSpPr>
        <p:spPr>
          <a:xfrm>
            <a:off x="6199632" y="4800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9" name="Text 27"/>
          <p:cNvSpPr/>
          <p:nvPr/>
        </p:nvSpPr>
        <p:spPr>
          <a:xfrm>
            <a:off x="7114032" y="47091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Physics track &amp; final report</a:t>
            </a:r>
            <a:endParaRPr lang="en-US" sz="1700" dirty="0"/>
          </a:p>
        </p:txBody>
      </p:sp>
      <p:sp>
        <p:nvSpPr>
          <p:cNvPr id="30" name="Text 28"/>
          <p:cNvSpPr/>
          <p:nvPr/>
        </p:nvSpPr>
        <p:spPr>
          <a:xfrm>
            <a:off x="7114032" y="51480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Continue PINN–Saint-Venant phases on assigned river reaches; link ML flood extents to the platform; final report &amp; demo.</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References</a:t>
            </a:r>
            <a:endParaRPr lang="en-US" sz="3000" dirty="0"/>
          </a:p>
        </p:txBody>
      </p:sp>
      <p:sp>
        <p:nvSpPr>
          <p:cNvPr id="4" name="Text 2"/>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5" name="Text 3"/>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25</a:t>
            </a:r>
            <a:endParaRPr lang="en-US" sz="1000" dirty="0"/>
          </a:p>
        </p:txBody>
      </p:sp>
      <p:sp>
        <p:nvSpPr>
          <p:cNvPr id="6" name="Text 4"/>
          <p:cNvSpPr/>
          <p:nvPr/>
        </p:nvSpPr>
        <p:spPr>
          <a:xfrm>
            <a:off x="548640" y="1188720"/>
            <a:ext cx="11064240" cy="5120640"/>
          </a:xfrm>
          <a:prstGeom prst="rect">
            <a:avLst/>
          </a:prstGeom>
          <a:noFill/>
          <a:ln/>
        </p:spPr>
        <p:txBody>
          <a:bodyPr wrap="square" lIns="50800" tIns="50800" rIns="50800" bIns="50800" rtlCol="0" anchor="t"/>
          <a:lstStyle/>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Szwarcman, D. et al. (2024). Prithvi-EO-2.0: A Versatile Multi-Temporal Foundation Model for Earth Observation Applications. arXiv:2412.02732.</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Jakubik, J. et al. (2023). Foundation Models for Generalist Geospatial Artificial Intelligence (Prithvi). arXiv:2310.18660.</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Bonafilia, D. et al. (2020). Sen1Floods11: A Georeferenced Dataset to Train and Test Deep Learning Flood Algorithms for Sentinel-1. CVPR Workshops.</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Dosovitskiy, A. et al. (2021). An Image is Worth 16×16 Words: Transformers for Image Recognition at Scale. ICLR.</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Xiao, T. et al. (2018). Unified Perceptual Parsing for Scene Understanding (UperNet). ECCV.</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IBM &amp; NASA. Prithvi-EO-2.0-300M-TL-Sen1Floods11 model card, Hugging Face; TerraTorch library (GitHub).</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NDEM, National Database for Emergency Management, NRSC/ISRO: flood inundation layers.</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ESA Copernicus Sentinel-2 Level-2A surface reflectance data.</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Chow, V.T., Maidment, D.R. &amp; Mays, L.W. (1988). Applied Hydrology. McGraw-Hill (Saint-Venant equations, flood routing).</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Raissi, M., Perdikaris, P. &amp; Karniadakis, G.E. (2019). Physics-informed neural networks. J. Computational Physics, 378, 686–707.</a:t>
            </a:r>
            <a:endParaRPr lang="en-US" sz="1250" dirty="0"/>
          </a:p>
          <a:p>
            <a:pPr marL="228600" indent="-228600">
              <a:spcAft>
                <a:spcPts val="800"/>
              </a:spcAft>
              <a:buSzPct val="100000"/>
              <a:buChar char="•"/>
            </a:pPr>
            <a:r>
              <a:rPr lang="en-US" sz="1250" dirty="0">
                <a:solidFill>
                  <a:srgbClr val="1B2733"/>
                </a:solidFill>
                <a:latin typeface="Calibri" pitchFamily="34" charset="0"/>
                <a:ea typeface="Calibri" pitchFamily="34" charset="-122"/>
                <a:cs typeface="Calibri" pitchFamily="34" charset="-120"/>
              </a:rPr>
              <a:t>Supervisor-shared readings on inundation, flood routing and runoff generation; PINN–SVE code base (github.com/Barbhuiya12/PINN); FastFlood validation (fastflood.org).</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3A89E"/>
          </a:solidFill>
          <a:ln/>
        </p:spPr>
      </p:sp>
      <p:sp>
        <p:nvSpPr>
          <p:cNvPr id="3" name="Text 1"/>
          <p:cNvSpPr/>
          <p:nvPr/>
        </p:nvSpPr>
        <p:spPr>
          <a:xfrm>
            <a:off x="822960" y="2103120"/>
            <a:ext cx="10058400" cy="109728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4" name="Text 2"/>
          <p:cNvSpPr/>
          <p:nvPr/>
        </p:nvSpPr>
        <p:spPr>
          <a:xfrm>
            <a:off x="822960" y="3200400"/>
            <a:ext cx="10058400" cy="548640"/>
          </a:xfrm>
          <a:prstGeom prst="rect">
            <a:avLst/>
          </a:prstGeom>
          <a:noFill/>
          <a:ln/>
        </p:spPr>
        <p:txBody>
          <a:bodyPr wrap="square" rtlCol="0" anchor="ctr"/>
          <a:lstStyle/>
          <a:p>
            <a:pPr indent="0" marL="0">
              <a:buNone/>
            </a:pPr>
            <a:r>
              <a:rPr lang="en-US" sz="2400" dirty="0">
                <a:solidFill>
                  <a:srgbClr val="13A89E"/>
                </a:solidFill>
                <a:latin typeface="Calibri" pitchFamily="34" charset="0"/>
                <a:ea typeface="Calibri" pitchFamily="34" charset="-122"/>
                <a:cs typeface="Calibri" pitchFamily="34" charset="-120"/>
              </a:rPr>
              <a:t>Questions &amp; feedback welcome</a:t>
            </a:r>
            <a:endParaRPr lang="en-US" sz="2400" dirty="0"/>
          </a:p>
        </p:txBody>
      </p:sp>
      <p:sp>
        <p:nvSpPr>
          <p:cNvPr id="5" name="Text 3"/>
          <p:cNvSpPr/>
          <p:nvPr/>
        </p:nvSpPr>
        <p:spPr>
          <a:xfrm>
            <a:off x="822960" y="4206240"/>
            <a:ext cx="10515600" cy="914400"/>
          </a:xfrm>
          <a:prstGeom prst="rect">
            <a:avLst/>
          </a:prstGeom>
          <a:noFill/>
          <a:ln/>
        </p:spPr>
        <p:txBody>
          <a:bodyPr wrap="square" rtlCol="0" anchor="ctr"/>
          <a:lstStyle/>
          <a:p>
            <a:pPr indent="0" marL="0">
              <a:buNone/>
            </a:pPr>
            <a:r>
              <a:rPr lang="en-US" sz="1600" dirty="0">
                <a:solidFill>
                  <a:srgbClr val="CFE3F0"/>
                </a:solidFill>
                <a:latin typeface="Calibri" pitchFamily="34" charset="0"/>
                <a:ea typeface="Calibri" pitchFamily="34" charset="-122"/>
                <a:cs typeface="Calibri" pitchFamily="34" charset="-120"/>
              </a:rPr>
              <a:t>Nikhil Upadhyay · Prakhar Gupta · Prabhat Kumar · Vineet Jangir · Himanshu Shete</a:t>
            </a:r>
            <a:endParaRPr lang="en-US" sz="1600" dirty="0"/>
          </a:p>
          <a:p>
            <a:pPr indent="0" marL="0">
              <a:buNone/>
            </a:pPr>
            <a:r>
              <a:rPr lang="en-US" sz="1600" dirty="0">
                <a:solidFill>
                  <a:srgbClr val="CFE3F0"/>
                </a:solidFill>
                <a:latin typeface="Calibri" pitchFamily="34" charset="0"/>
                <a:ea typeface="Calibri" pitchFamily="34" charset="-122"/>
                <a:cs typeface="Calibri" pitchFamily="34" charset="-120"/>
              </a:rPr>
              <a:t>Prof. Basudev Biswal (IIT Bombay) · Vivek Gupta (ClimMaTech Pvt. Ltd.)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2026-09-23T12:38:25Z</dcterms:created>
  <dcterms:modified xsi:type="dcterms:W3CDTF">2026-09-23T12:38:25Z</dcterms:modified>
</cp:coreProperties>
</file>